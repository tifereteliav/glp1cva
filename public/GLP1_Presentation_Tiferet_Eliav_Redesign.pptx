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פתיחה" id="{71b62e10-93a7-f4ec-2672-910a6590dc43}">
          <p14:sldIdLst>
            <p14:sldId id="256"/>
            <p14:sldId id="257"/>
            <p14:sldId id="258"/>
            <p14:sldId id="259"/>
          </p14:sldIdLst>
        </p14:section>
        <p14:section name="שלב 1" id="{387d437d-0978-0020-d599-d5b90b3daa1f}">
          <p14:sldIdLst>
            <p14:sldId id="260"/>
            <p14:sldId id="261"/>
            <p14:sldId id="262"/>
            <p14:sldId id="263"/>
            <p14:sldId id="264"/>
            <p14:sldId id="265"/>
            <p14:sldId id="266"/>
            <p14:sldId id="267"/>
            <p14:sldId id="268"/>
            <p14:sldId id="269"/>
            <p14:sldId id="270"/>
            <p14:sldId id="271"/>
            <p14:sldId id="272"/>
            <p14:sldId id="273"/>
            <p14:sldId id="274"/>
          </p14:sldIdLst>
        </p14:section>
        <p14:section name="שלב 2" id="{47ca2f06-3e63-6a20-dc37-0c898e3f5dd4}">
          <p14:sldIdLst>
            <p14:sldId id="275"/>
            <p14:sldId id="276"/>
            <p14:sldId id="277"/>
            <p14:sldId id="278"/>
            <p14:sldId id="279"/>
            <p14:sldId id="280"/>
            <p14:sldId id="281"/>
            <p14:sldId id="282"/>
            <p14:sldId id="283"/>
            <p14:sldId id="284"/>
            <p14:sldId id="285"/>
          </p14:sldIdLst>
        </p14:section>
        <p14:section name="שלב 3" id="{d52cf8ed-dbbb-8120-b03b-44fc05d18087}">
          <p14:sldIdLst>
            <p14:sldId id="286"/>
            <p14:sldId id="287"/>
            <p14:sldId id="288"/>
            <p14:sldId id="289"/>
          </p14:sldIdLst>
        </p14:section>
        <p14:section name="שלב 4" id="{02308d38-9f13-592a-66bc-445d4a6e5a72}">
          <p14:sldIdLst>
            <p14:sldId id="290"/>
            <p14:sldId id="291"/>
            <p14:sldId id="292"/>
          </p14:sldIdLst>
        </p14:section>
        <p14:section name="שלב 5" id="{0deae05a-40e9-6164-d0a2-fb74e1e062ee}">
          <p14:sldIdLst>
            <p14:sldId id="293"/>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ECTION-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83ba285b-7ef1-5a4f-9afe-ea04c4b9d63d/scratchpad/assets/icon_color.png">    </p:cNvPr>
          <p:cNvPicPr>
            <a:picLocks noChangeAspect="1"/>
          </p:cNvPicPr>
          <p:nvPr/>
        </p:nvPicPr>
        <p:blipFill>
          <a:blip r:embed="rId1"/>
          <a:stretch>
            <a:fillRect/>
          </a:stretch>
        </p:blipFill>
        <p:spPr>
          <a:xfrm>
            <a:off x="502920" y="329184"/>
            <a:ext cx="603504" cy="691286"/>
          </a:xfrm>
          <a:prstGeom prst="rect">
            <a:avLst/>
          </a:prstGeom>
        </p:spPr>
      </p:pic>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2.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2.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2.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2.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4.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2.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83ba285b-7ef1-5a4f-9afe-ea04c4b9d63d/scratchpad/assets/logo_white.png">    </p:cNvPr>
          <p:cNvPicPr>
            <a:picLocks noChangeAspect="1"/>
          </p:cNvPicPr>
          <p:nvPr/>
        </p:nvPicPr>
        <p:blipFill>
          <a:blip r:embed="rId1"/>
          <a:stretch>
            <a:fillRect/>
          </a:stretch>
        </p:blipFill>
        <p:spPr>
          <a:xfrm>
            <a:off x="10561320" y="320040"/>
            <a:ext cx="1078992" cy="886968"/>
          </a:xfrm>
          <a:prstGeom prst="rect">
            <a:avLst/>
          </a:prstGeom>
        </p:spPr>
      </p:pic>
      <p:pic>
        <p:nvPicPr>
          <p:cNvPr id="3" name="Image 1" descr="/tmp/claude-0/-home-claude/83ba285b-7ef1-5a4f-9afe-ea04c4b9d63d/scratchpad/assets/hero.jpg">    </p:cNvPr>
          <p:cNvPicPr>
            <a:picLocks noChangeAspect="1"/>
          </p:cNvPicPr>
          <p:nvPr/>
        </p:nvPicPr>
        <p:blipFill>
          <a:blip r:embed="rId2"/>
          <a:stretch>
            <a:fillRect/>
          </a:stretch>
        </p:blipFill>
        <p:spPr>
          <a:xfrm>
            <a:off x="548640" y="1325880"/>
            <a:ext cx="6126480" cy="3351276"/>
          </a:xfrm>
          <a:prstGeom prst="rect">
            <a:avLst/>
          </a:prstGeom>
          <a:effectLst>
            <a:outerShdw sx="100000" sy="100000" kx="0" ky="0" algn="bl" rotWithShape="0" blurRad="228600" dist="76200" dir="5400000">
              <a:srgbClr val="000000">
                <a:alpha val="35000"/>
              </a:srgbClr>
            </a:outerShdw>
          </a:effectLst>
        </p:spPr>
      </p:pic>
      <p:sp>
        <p:nvSpPr>
          <p:cNvPr id="4" name="Shape 0"/>
          <p:cNvSpPr/>
          <p:nvPr/>
        </p:nvSpPr>
        <p:spPr>
          <a:xfrm>
            <a:off x="548640" y="4677156"/>
            <a:ext cx="6126480" cy="54864"/>
          </a:xfrm>
          <a:prstGeom prst="rect">
            <a:avLst/>
          </a:prstGeom>
          <a:solidFill>
            <a:srgbClr val="9CC4EE"/>
          </a:solidFill>
          <a:ln/>
        </p:spPr>
      </p:sp>
      <p:sp>
        <p:nvSpPr>
          <p:cNvPr id="5" name="Text 1"/>
          <p:cNvSpPr txBox="1"/>
          <p:nvPr/>
        </p:nvSpPr>
        <p:spPr>
          <a:xfrm>
            <a:off x="7086600" y="1600200"/>
            <a:ext cx="4553712" cy="365760"/>
          </a:xfrm>
          <a:prstGeom prst="rect">
            <a:avLst/>
          </a:prstGeom>
          <a:noFill/>
          <a:ln/>
        </p:spPr>
        <p:txBody>
          <a:bodyPr wrap="square" lIns="0" tIns="0" rIns="0" bIns="0" rtlCol="0" anchor="t"/>
          <a:lstStyle/>
          <a:p>
            <a:pPr algn="r" indent="0" marL="0">
              <a:buNone/>
            </a:pPr>
            <a:r>
              <a:rPr lang="en-US" altLang="en-US" sz="1400" b="1" spc="200" kern="0" dirty="0">
                <a:solidFill>
                  <a:srgbClr val="9CC4EE"/>
                </a:solidFill>
                <a:latin typeface="Arial" pitchFamily="34" charset="0"/>
                <a:ea typeface="Arial" pitchFamily="34" charset="-122"/>
                <a:cs typeface="Arial" pitchFamily="34" charset="-120"/>
              </a:rPr>
              <a:t>TIFERET ELIAV • Diabetes &amp; AI</a:t>
            </a:r>
            <a:endParaRPr lang="en-US" sz="1400" dirty="0"/>
          </a:p>
        </p:txBody>
      </p:sp>
      <p:sp>
        <p:nvSpPr>
          <p:cNvPr id="6" name="Text 2"/>
          <p:cNvSpPr txBox="1"/>
          <p:nvPr/>
        </p:nvSpPr>
        <p:spPr>
          <a:xfrm>
            <a:off x="7086600" y="2011680"/>
            <a:ext cx="4553712" cy="2011680"/>
          </a:xfrm>
          <a:prstGeom prst="rect">
            <a:avLst/>
          </a:prstGeom>
          <a:noFill/>
          <a:ln/>
        </p:spPr>
        <p:txBody>
          <a:bodyPr wrap="square" lIns="0" tIns="0" rIns="0" bIns="0" rtlCol="0" anchor="t"/>
          <a:lstStyle/>
          <a:p>
            <a:pPr rtl="1" algn="r" indent="0" marL="0">
              <a:buNone/>
            </a:pPr>
            <a:r>
              <a:rPr lang="he-IL" altLang="en-US" sz="3000" b="1" dirty="0">
                <a:solidFill>
                  <a:srgbClr val="FFFFFF"/>
                </a:solidFill>
                <a:latin typeface="Arial" pitchFamily="34" charset="0"/>
                <a:ea typeface="Arial" pitchFamily="34" charset="-122"/>
                <a:cs typeface="Arial" pitchFamily="34" charset="-120"/>
              </a:rPr>
              <a:t>סימולציית טיפול ב-GLP1 במטופל הסובל מסוכרת והשמנה וסיבוכים נילווים</a:t>
            </a:r>
            <a:endParaRPr lang="he-IL" sz="3000" dirty="0"/>
          </a:p>
        </p:txBody>
      </p:sp>
      <p:sp>
        <p:nvSpPr>
          <p:cNvPr id="7" name="Text 3"/>
          <p:cNvSpPr txBox="1"/>
          <p:nvPr/>
        </p:nvSpPr>
        <p:spPr>
          <a:xfrm>
            <a:off x="7086600" y="4069080"/>
            <a:ext cx="4553712" cy="868680"/>
          </a:xfrm>
          <a:prstGeom prst="rect">
            <a:avLst/>
          </a:prstGeom>
          <a:noFill/>
          <a:ln/>
        </p:spPr>
        <p:txBody>
          <a:bodyPr wrap="square" lIns="0" tIns="0" rIns="0" bIns="0" rtlCol="0" anchor="t"/>
          <a:lstStyle/>
          <a:p>
            <a:pPr rtl="1" algn="r" indent="0" marL="0">
              <a:buNone/>
            </a:pPr>
            <a:r>
              <a:rPr lang="he-IL" altLang="en-US" sz="1500" dirty="0">
                <a:solidFill>
                  <a:srgbClr val="D6D0F0"/>
                </a:solidFill>
                <a:latin typeface="Arial" pitchFamily="34" charset="0"/>
                <a:ea typeface="Arial" pitchFamily="34" charset="-122"/>
                <a:cs typeface="Arial" pitchFamily="34" charset="-120"/>
              </a:rPr>
              <a:t>עזרו ליעקב (בן 67) שסובל מסוכרת, השמנה וריבוי סיבוכים למצוא את האיזון והדרך המתאימה להצלחה</a:t>
            </a:r>
            <a:endParaRPr lang="he-IL" sz="1500" dirty="0"/>
          </a:p>
        </p:txBody>
      </p:sp>
      <p:sp>
        <p:nvSpPr>
          <p:cNvPr id="8" name="Shape 4"/>
          <p:cNvSpPr/>
          <p:nvPr/>
        </p:nvSpPr>
        <p:spPr>
          <a:xfrm>
            <a:off x="9445752" y="5074920"/>
            <a:ext cx="2194560" cy="411480"/>
          </a:xfrm>
          <a:prstGeom prst="roundRect">
            <a:avLst>
              <a:gd name="adj" fmla="val 48889"/>
            </a:avLst>
          </a:prstGeom>
          <a:solidFill>
            <a:srgbClr val="3A3377"/>
          </a:solidFill>
          <a:ln/>
        </p:spPr>
      </p:sp>
      <p:sp>
        <p:nvSpPr>
          <p:cNvPr id="9" name="Text 5"/>
          <p:cNvSpPr txBox="1"/>
          <p:nvPr/>
        </p:nvSpPr>
        <p:spPr>
          <a:xfrm>
            <a:off x="9445752" y="5074920"/>
            <a:ext cx="2194560" cy="411480"/>
          </a:xfrm>
          <a:prstGeom prst="rect">
            <a:avLst/>
          </a:prstGeom>
          <a:noFill/>
          <a:ln/>
        </p:spPr>
        <p:txBody>
          <a:bodyPr wrap="square" lIns="0" tIns="0" rIns="0" bIns="0" rtlCol="0" anchor="ctr"/>
          <a:lstStyle/>
          <a:p>
            <a:pPr rtl="1" algn="ctr" indent="0" marL="0">
              <a:buNone/>
            </a:pPr>
            <a:r>
              <a:rPr lang="he-IL" altLang="en-US" sz="1250" b="1" dirty="0">
                <a:solidFill>
                  <a:srgbClr val="9CC4EE"/>
                </a:solidFill>
                <a:latin typeface="Arial" pitchFamily="34" charset="0"/>
                <a:ea typeface="Arial" pitchFamily="34" charset="-122"/>
                <a:cs typeface="Arial" pitchFamily="34" charset="-120"/>
              </a:rPr>
              <a:t>סימולציה קלינית מתקדמת</a:t>
            </a:r>
            <a:endParaRPr lang="he-IL" sz="1250" dirty="0"/>
          </a:p>
        </p:txBody>
      </p:sp>
      <p:sp>
        <p:nvSpPr>
          <p:cNvPr id="10" name="Shape 6"/>
          <p:cNvSpPr/>
          <p:nvPr/>
        </p:nvSpPr>
        <p:spPr>
          <a:xfrm>
            <a:off x="548640" y="5715000"/>
            <a:ext cx="914400" cy="685800"/>
          </a:xfrm>
          <a:prstGeom prst="roundRect">
            <a:avLst>
              <a:gd name="adj" fmla="val 16000"/>
            </a:avLst>
          </a:prstGeom>
          <a:solidFill>
            <a:srgbClr val="FFFFFF"/>
          </a:solidFill>
          <a:ln/>
        </p:spPr>
      </p:sp>
      <p:pic>
        <p:nvPicPr>
          <p:cNvPr id="11" name="Image 2" descr="/tmp/claude-0/-home-claude/83ba285b-7ef1-5a4f-9afe-ea04c4b9d63d/scratchpad/assets/novo_logo.png">    </p:cNvPr>
          <p:cNvPicPr>
            <a:picLocks noChangeAspect="1"/>
          </p:cNvPicPr>
          <p:nvPr/>
        </p:nvPicPr>
        <p:blipFill>
          <a:blip r:embed="rId3"/>
          <a:stretch>
            <a:fillRect/>
          </a:stretch>
        </p:blipFill>
        <p:spPr>
          <a:xfrm>
            <a:off x="640080" y="5760720"/>
            <a:ext cx="630936" cy="589788"/>
          </a:xfrm>
          <a:prstGeom prst="rect">
            <a:avLst/>
          </a:prstGeom>
        </p:spPr>
      </p:pic>
      <p:sp>
        <p:nvSpPr>
          <p:cNvPr id="12" name="Text 7"/>
          <p:cNvSpPr txBox="1"/>
          <p:nvPr/>
        </p:nvSpPr>
        <p:spPr>
          <a:xfrm>
            <a:off x="1600200" y="5715000"/>
            <a:ext cx="3200400" cy="685800"/>
          </a:xfrm>
          <a:prstGeom prst="rect">
            <a:avLst/>
          </a:prstGeom>
          <a:noFill/>
          <a:ln/>
        </p:spPr>
        <p:txBody>
          <a:bodyPr wrap="square" lIns="0" tIns="0" rIns="0" bIns="0" rtlCol="0" anchor="ctr"/>
          <a:lstStyle/>
          <a:p>
            <a:pPr rtl="1" algn="l" indent="0" marL="0">
              <a:buNone/>
            </a:pPr>
            <a:r>
              <a:rPr lang="he-IL" altLang="en-US" sz="1200" dirty="0">
                <a:solidFill>
                  <a:srgbClr val="D6D0F0"/>
                </a:solidFill>
                <a:latin typeface="Arial" pitchFamily="34" charset="0"/>
                <a:ea typeface="Arial" pitchFamily="34" charset="-122"/>
                <a:cs typeface="Arial" pitchFamily="34" charset="-120"/>
              </a:rPr>
              <a:t>בחסות חברת נובו נורדיסק</a:t>
            </a:r>
            <a:endParaRPr lang="he-IL"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פתיחה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מפגש קליני מורכב</a:t>
            </a:r>
            <a:endParaRPr lang="he-IL" sz="2600" dirty="0"/>
          </a:p>
        </p:txBody>
      </p:sp>
      <p:sp>
        <p:nvSpPr>
          <p:cNvPr id="5" name="Shape 3"/>
          <p:cNvSpPr/>
          <p:nvPr/>
        </p:nvSpPr>
        <p:spPr>
          <a:xfrm>
            <a:off x="6233008" y="1645920"/>
            <a:ext cx="5410048" cy="2377440"/>
          </a:xfrm>
          <a:prstGeom prst="roundRect">
            <a:avLst>
              <a:gd name="adj" fmla="val 461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8436499" y="1897380"/>
            <a:ext cx="1003065" cy="868680"/>
          </a:xfrm>
          <a:prstGeom prst="hexagon">
            <a:avLst/>
          </a:prstGeom>
          <a:solidFill>
            <a:srgbClr val="4A90D0"/>
          </a:solidFill>
          <a:ln/>
        </p:spPr>
      </p:sp>
      <p:pic>
        <p:nvPicPr>
          <p:cNvPr id="7" name="Image 0" descr="preencoded.png">    </p:cNvPr>
          <p:cNvPicPr>
            <a:picLocks noChangeAspect="1"/>
          </p:cNvPicPr>
          <p:nvPr/>
        </p:nvPicPr>
        <p:blipFill>
          <a:blip r:embed="rId1"/>
          <a:stretch>
            <a:fillRect/>
          </a:stretch>
        </p:blipFill>
        <p:spPr>
          <a:xfrm>
            <a:off x="8738235" y="2131924"/>
            <a:ext cx="399593" cy="399593"/>
          </a:xfrm>
          <a:prstGeom prst="rect">
            <a:avLst/>
          </a:prstGeom>
        </p:spPr>
      </p:pic>
      <p:sp>
        <p:nvSpPr>
          <p:cNvPr id="8" name="Text 5"/>
          <p:cNvSpPr txBox="1"/>
          <p:nvPr/>
        </p:nvSpPr>
        <p:spPr>
          <a:xfrm>
            <a:off x="6415888" y="2907792"/>
            <a:ext cx="5044288" cy="320040"/>
          </a:xfrm>
          <a:prstGeom prst="rect">
            <a:avLst/>
          </a:prstGeom>
          <a:noFill/>
          <a:ln/>
        </p:spPr>
        <p:txBody>
          <a:bodyPr wrap="square" lIns="0" tIns="0" rIns="0" bIns="0" rtlCol="0" anchor="t"/>
          <a:lstStyle/>
          <a:p>
            <a:pPr rtl="1" algn="ctr" indent="0" marL="0">
              <a:buNone/>
            </a:pPr>
            <a:r>
              <a:rPr lang="he-IL" altLang="en-US" sz="1400" b="1" dirty="0">
                <a:solidFill>
                  <a:srgbClr val="6B6785"/>
                </a:solidFill>
                <a:latin typeface="Arial" pitchFamily="34" charset="0"/>
                <a:ea typeface="Arial" pitchFamily="34" charset="-122"/>
                <a:cs typeface="Arial" pitchFamily="34" charset="-120"/>
              </a:rPr>
              <a:t>המטופל</a:t>
            </a:r>
            <a:endParaRPr lang="he-IL" sz="1400" dirty="0"/>
          </a:p>
        </p:txBody>
      </p:sp>
      <p:sp>
        <p:nvSpPr>
          <p:cNvPr id="9" name="Text 6"/>
          <p:cNvSpPr txBox="1"/>
          <p:nvPr/>
        </p:nvSpPr>
        <p:spPr>
          <a:xfrm>
            <a:off x="6461608" y="3246120"/>
            <a:ext cx="4952848" cy="640080"/>
          </a:xfrm>
          <a:prstGeom prst="rect">
            <a:avLst/>
          </a:prstGeom>
          <a:noFill/>
          <a:ln/>
        </p:spPr>
        <p:txBody>
          <a:bodyPr wrap="square" lIns="0" tIns="0" rIns="0" bIns="0" rtlCol="0" anchor="ctr"/>
          <a:lstStyle/>
          <a:p>
            <a:pPr rtl="1" algn="ctr" indent="0" marL="0">
              <a:buNone/>
            </a:pPr>
            <a:r>
              <a:rPr lang="he-IL" altLang="en-US" sz="2200" b="1" dirty="0">
                <a:solidFill>
                  <a:srgbClr val="2B2560"/>
                </a:solidFill>
                <a:latin typeface="Arial" pitchFamily="34" charset="0"/>
                <a:ea typeface="Arial" pitchFamily="34" charset="-122"/>
                <a:cs typeface="Arial" pitchFamily="34" charset="-120"/>
              </a:rPr>
              <a:t>יעקב (בן 67) (BMI 36.1)</a:t>
            </a:r>
            <a:endParaRPr lang="he-IL" sz="2200" dirty="0"/>
          </a:p>
        </p:txBody>
      </p:sp>
      <p:sp>
        <p:nvSpPr>
          <p:cNvPr id="10" name="Shape 7"/>
          <p:cNvSpPr/>
          <p:nvPr/>
        </p:nvSpPr>
        <p:spPr>
          <a:xfrm>
            <a:off x="548640" y="1645920"/>
            <a:ext cx="5410048" cy="2377440"/>
          </a:xfrm>
          <a:prstGeom prst="roundRect">
            <a:avLst>
              <a:gd name="adj" fmla="val 461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1" name="Shape 8"/>
          <p:cNvSpPr/>
          <p:nvPr/>
        </p:nvSpPr>
        <p:spPr>
          <a:xfrm rot="5400000">
            <a:off x="2752131" y="1897380"/>
            <a:ext cx="1003065" cy="868680"/>
          </a:xfrm>
          <a:prstGeom prst="hexagon">
            <a:avLst/>
          </a:prstGeom>
          <a:solidFill>
            <a:srgbClr val="6E4494"/>
          </a:solidFill>
          <a:ln/>
        </p:spPr>
      </p:sp>
      <p:pic>
        <p:nvPicPr>
          <p:cNvPr id="12" name="Image 1" descr="preencoded.png">    </p:cNvPr>
          <p:cNvPicPr>
            <a:picLocks noChangeAspect="1"/>
          </p:cNvPicPr>
          <p:nvPr/>
        </p:nvPicPr>
        <p:blipFill>
          <a:blip r:embed="rId2"/>
          <a:stretch>
            <a:fillRect/>
          </a:stretch>
        </p:blipFill>
        <p:spPr>
          <a:xfrm>
            <a:off x="3053867" y="2131924"/>
            <a:ext cx="399593" cy="399593"/>
          </a:xfrm>
          <a:prstGeom prst="rect">
            <a:avLst/>
          </a:prstGeom>
        </p:spPr>
      </p:pic>
      <p:sp>
        <p:nvSpPr>
          <p:cNvPr id="13" name="Text 9"/>
          <p:cNvSpPr txBox="1"/>
          <p:nvPr/>
        </p:nvSpPr>
        <p:spPr>
          <a:xfrm>
            <a:off x="731520" y="2907792"/>
            <a:ext cx="5044288" cy="320040"/>
          </a:xfrm>
          <a:prstGeom prst="rect">
            <a:avLst/>
          </a:prstGeom>
          <a:noFill/>
          <a:ln/>
        </p:spPr>
        <p:txBody>
          <a:bodyPr wrap="square" lIns="0" tIns="0" rIns="0" bIns="0" rtlCol="0" anchor="t"/>
          <a:lstStyle/>
          <a:p>
            <a:pPr rtl="1" algn="ctr" indent="0" marL="0">
              <a:buNone/>
            </a:pPr>
            <a:r>
              <a:rPr lang="he-IL" altLang="en-US" sz="1400" b="1" dirty="0">
                <a:solidFill>
                  <a:srgbClr val="6B6785"/>
                </a:solidFill>
                <a:latin typeface="Arial" pitchFamily="34" charset="0"/>
                <a:ea typeface="Arial" pitchFamily="34" charset="-122"/>
                <a:cs typeface="Arial" pitchFamily="34" charset="-120"/>
              </a:rPr>
              <a:t>רקע</a:t>
            </a:r>
            <a:endParaRPr lang="he-IL" sz="1400" dirty="0"/>
          </a:p>
        </p:txBody>
      </p:sp>
      <p:sp>
        <p:nvSpPr>
          <p:cNvPr id="14" name="Text 10"/>
          <p:cNvSpPr txBox="1"/>
          <p:nvPr/>
        </p:nvSpPr>
        <p:spPr>
          <a:xfrm>
            <a:off x="777240" y="3246120"/>
            <a:ext cx="4952848" cy="640080"/>
          </a:xfrm>
          <a:prstGeom prst="rect">
            <a:avLst/>
          </a:prstGeom>
          <a:noFill/>
          <a:ln/>
        </p:spPr>
        <p:txBody>
          <a:bodyPr wrap="square" lIns="0" tIns="0" rIns="0" bIns="0" rtlCol="0" anchor="ctr"/>
          <a:lstStyle/>
          <a:p>
            <a:pPr rtl="1" algn="ctr" indent="0" marL="0">
              <a:buNone/>
            </a:pPr>
            <a:r>
              <a:rPr lang="he-IL" altLang="en-US" sz="2200" b="1" dirty="0">
                <a:solidFill>
                  <a:srgbClr val="2B2560"/>
                </a:solidFill>
                <a:latin typeface="Arial" pitchFamily="34" charset="0"/>
                <a:ea typeface="Arial" pitchFamily="34" charset="-122"/>
                <a:cs typeface="Arial" pitchFamily="34" charset="-120"/>
              </a:rPr>
              <a:t>רקע CVA 2023 ו-IHD</a:t>
            </a:r>
            <a:endParaRPr lang="he-IL" sz="2200" dirty="0"/>
          </a:p>
        </p:txBody>
      </p:sp>
      <p:sp>
        <p:nvSpPr>
          <p:cNvPr id="15" name="Shape 11"/>
          <p:cNvSpPr/>
          <p:nvPr/>
        </p:nvSpPr>
        <p:spPr>
          <a:xfrm>
            <a:off x="548640" y="4343400"/>
            <a:ext cx="11094415" cy="1691640"/>
          </a:xfrm>
          <a:prstGeom prst="roundRect">
            <a:avLst>
              <a:gd name="adj" fmla="val 6486"/>
            </a:avLst>
          </a:prstGeom>
          <a:solidFill>
            <a:srgbClr val="2B2560"/>
          </a:solidFill>
          <a:ln/>
          <a:effectLst>
            <a:outerShdw sx="100000" sy="100000" kx="0" ky="0" algn="bl" rotWithShape="0" blurRad="127000" dist="38100" dir="5400000">
              <a:srgbClr val="2B2560">
                <a:alpha val="10000"/>
              </a:srgbClr>
            </a:outerShdw>
          </a:effectLst>
        </p:spPr>
      </p:sp>
      <p:sp>
        <p:nvSpPr>
          <p:cNvPr id="16" name="Shape 12"/>
          <p:cNvSpPr/>
          <p:nvPr/>
        </p:nvSpPr>
        <p:spPr>
          <a:xfrm rot="5400000">
            <a:off x="10554236" y="4800600"/>
            <a:ext cx="897479" cy="777240"/>
          </a:xfrm>
          <a:prstGeom prst="hexagon">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10824210" y="5010455"/>
            <a:ext cx="357530" cy="357530"/>
          </a:xfrm>
          <a:prstGeom prst="rect">
            <a:avLst/>
          </a:prstGeom>
        </p:spPr>
      </p:pic>
      <p:sp>
        <p:nvSpPr>
          <p:cNvPr id="18" name="Text 13"/>
          <p:cNvSpPr txBox="1"/>
          <p:nvPr/>
        </p:nvSpPr>
        <p:spPr>
          <a:xfrm>
            <a:off x="868680" y="4434840"/>
            <a:ext cx="9402775" cy="1508760"/>
          </a:xfrm>
          <a:prstGeom prst="rect">
            <a:avLst/>
          </a:prstGeom>
          <a:noFill/>
          <a:ln/>
        </p:spPr>
        <p:txBody>
          <a:bodyPr wrap="square" lIns="0" tIns="0" rIns="0" bIns="0" rtlCol="0" anchor="ctr"/>
          <a:lstStyle/>
          <a:p>
            <a:pPr rtl="1" algn="r" indent="0" marL="0">
              <a:spcAft>
                <a:spcPts val="600"/>
              </a:spcAft>
              <a:buNone/>
            </a:pPr>
            <a:r>
              <a:rPr lang="he-IL" altLang="en-US" sz="1500" b="1" dirty="0">
                <a:solidFill>
                  <a:srgbClr val="9CC4EE"/>
                </a:solidFill>
                <a:latin typeface="Arial" pitchFamily="34" charset="0"/>
                <a:ea typeface="Arial" pitchFamily="34" charset="-122"/>
                <a:cs typeface="Arial" pitchFamily="34" charset="-120"/>
              </a:rPr>
              <a:t>ניהול הטיפול</a:t>
            </a:r>
            <a:endParaRPr lang="he-IL" sz="1400" dirty="0"/>
          </a:p>
          <a:p>
            <a:pPr rtl="1" algn="r" indent="0" marL="0">
              <a:spcAft>
                <a:spcPts val="600"/>
              </a:spcAft>
              <a:buNone/>
            </a:pPr>
            <a:r>
              <a:rPr lang="he-IL" altLang="en-US" sz="2000" b="1" dirty="0">
                <a:solidFill>
                  <a:srgbClr val="FFFFFF"/>
                </a:solidFill>
                <a:latin typeface="Arial" pitchFamily="34" charset="0"/>
                <a:ea typeface="Arial" pitchFamily="34" charset="-122"/>
                <a:cs typeface="Arial" pitchFamily="34" charset="-120"/>
              </a:rPr>
              <a:t>ניהול טיפול מתקדם, טיטרציית Wegovy 2.4mg, התאמת מינוני אינסולין וניטור רציף ב-Libre 2</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סקירה כללית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המקרה במבט אחד</a:t>
            </a:r>
            <a:endParaRPr lang="he-IL" sz="2600" dirty="0"/>
          </a:p>
        </p:txBody>
      </p:sp>
      <p:sp>
        <p:nvSpPr>
          <p:cNvPr id="5" name="Shape 3"/>
          <p:cNvSpPr/>
          <p:nvPr/>
        </p:nvSpPr>
        <p:spPr>
          <a:xfrm>
            <a:off x="8127797" y="1600200"/>
            <a:ext cx="3515258" cy="443484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9304704" y="1874520"/>
            <a:ext cx="1161443" cy="1005840"/>
          </a:xfrm>
          <a:prstGeom prst="hexagon">
            <a:avLst/>
          </a:prstGeom>
          <a:solidFill>
            <a:srgbClr val="4A90D0"/>
          </a:solidFill>
          <a:ln/>
        </p:spPr>
      </p:sp>
      <p:pic>
        <p:nvPicPr>
          <p:cNvPr id="7" name="Image 0" descr="preencoded.png">    </p:cNvPr>
          <p:cNvPicPr>
            <a:picLocks noChangeAspect="1"/>
          </p:cNvPicPr>
          <p:nvPr/>
        </p:nvPicPr>
        <p:blipFill>
          <a:blip r:embed="rId1"/>
          <a:stretch>
            <a:fillRect/>
          </a:stretch>
        </p:blipFill>
        <p:spPr>
          <a:xfrm>
            <a:off x="9654083" y="2146097"/>
            <a:ext cx="462686" cy="462686"/>
          </a:xfrm>
          <a:prstGeom prst="rect">
            <a:avLst/>
          </a:prstGeom>
        </p:spPr>
      </p:pic>
      <p:sp>
        <p:nvSpPr>
          <p:cNvPr id="8" name="Text 5"/>
          <p:cNvSpPr txBox="1"/>
          <p:nvPr/>
        </p:nvSpPr>
        <p:spPr>
          <a:xfrm>
            <a:off x="8402117" y="3063240"/>
            <a:ext cx="2966618" cy="457200"/>
          </a:xfrm>
          <a:prstGeom prst="rect">
            <a:avLst/>
          </a:prstGeom>
          <a:noFill/>
          <a:ln/>
        </p:spPr>
        <p:txBody>
          <a:bodyPr wrap="square" lIns="0" tIns="0" rIns="0" bIns="0" rtlCol="0" anchor="t"/>
          <a:lstStyle/>
          <a:p>
            <a:pPr rtl="1" algn="ctr" indent="0" marL="0">
              <a:buNone/>
            </a:pPr>
            <a:r>
              <a:rPr lang="he-IL" altLang="en-US" sz="2000" b="1" dirty="0">
                <a:solidFill>
                  <a:srgbClr val="2B2560"/>
                </a:solidFill>
                <a:latin typeface="Arial" pitchFamily="34" charset="0"/>
                <a:ea typeface="Arial" pitchFamily="34" charset="-122"/>
                <a:cs typeface="Arial" pitchFamily="34" charset="-120"/>
              </a:rPr>
              <a:t>פרופיל מטופל מורכב</a:t>
            </a:r>
            <a:endParaRPr lang="he-IL" sz="2000" dirty="0"/>
          </a:p>
        </p:txBody>
      </p:sp>
      <p:sp>
        <p:nvSpPr>
          <p:cNvPr id="9" name="Text 6"/>
          <p:cNvSpPr txBox="1"/>
          <p:nvPr/>
        </p:nvSpPr>
        <p:spPr>
          <a:xfrm>
            <a:off x="8447837" y="3611880"/>
            <a:ext cx="2875178" cy="1371600"/>
          </a:xfrm>
          <a:prstGeom prst="rect">
            <a:avLst/>
          </a:prstGeom>
          <a:noFill/>
          <a:ln/>
        </p:spPr>
        <p:txBody>
          <a:bodyPr wrap="square" lIns="0" tIns="0" rIns="0" bIns="0" rtlCol="0" anchor="t"/>
          <a:lstStyle/>
          <a:p>
            <a:pPr rtl="1" algn="ctr" indent="0" marL="0">
              <a:buNone/>
            </a:pPr>
            <a:r>
              <a:rPr lang="he-IL" altLang="en-US" sz="1700" dirty="0">
                <a:solidFill>
                  <a:srgbClr val="2E2A47"/>
                </a:solidFill>
                <a:latin typeface="Arial" pitchFamily="34" charset="0"/>
                <a:ea typeface="Arial" pitchFamily="34" charset="-122"/>
                <a:cs typeface="Arial" pitchFamily="34" charset="-120"/>
              </a:rPr>
              <a:t>שילוב סוכרת, השמנה (BMI 36.1), רקע מוחי CVA, צנתור IHD, דום נשימה וכיב ברגל</a:t>
            </a:r>
            <a:endParaRPr lang="he-IL" sz="1700" dirty="0"/>
          </a:p>
        </p:txBody>
      </p:sp>
      <p:sp>
        <p:nvSpPr>
          <p:cNvPr id="10" name="Shape 7"/>
          <p:cNvSpPr/>
          <p:nvPr/>
        </p:nvSpPr>
        <p:spPr>
          <a:xfrm>
            <a:off x="8584997" y="5120640"/>
            <a:ext cx="2600858" cy="594360"/>
          </a:xfrm>
          <a:prstGeom prst="roundRect">
            <a:avLst>
              <a:gd name="adj" fmla="val 46154"/>
            </a:avLst>
          </a:prstGeom>
          <a:solidFill>
            <a:srgbClr val="F3F0FA"/>
          </a:solidFill>
          <a:ln/>
        </p:spPr>
      </p:sp>
      <p:sp>
        <p:nvSpPr>
          <p:cNvPr id="11" name="Text 8"/>
          <p:cNvSpPr txBox="1"/>
          <p:nvPr/>
        </p:nvSpPr>
        <p:spPr>
          <a:xfrm>
            <a:off x="8584997" y="5120640"/>
            <a:ext cx="2600858" cy="594360"/>
          </a:xfrm>
          <a:prstGeom prst="rect">
            <a:avLst/>
          </a:prstGeom>
          <a:noFill/>
          <a:ln/>
        </p:spPr>
        <p:txBody>
          <a:bodyPr wrap="square" lIns="0" tIns="0" rIns="0" bIns="0" rtlCol="0" anchor="ctr"/>
          <a:lstStyle/>
          <a:p>
            <a:pPr algn="ctr" indent="0" marL="0">
              <a:buNone/>
            </a:pPr>
            <a:r>
              <a:rPr lang="en-US" altLang="en-US" sz="1800" b="1" dirty="0">
                <a:solidFill>
                  <a:srgbClr val="4A90D0"/>
                </a:solidFill>
                <a:latin typeface="Arial" pitchFamily="34" charset="0"/>
                <a:ea typeface="Arial" pitchFamily="34" charset="-122"/>
                <a:cs typeface="Arial" pitchFamily="34" charset="-120"/>
              </a:rPr>
              <a:t>BMI 36.1</a:t>
            </a:r>
            <a:endParaRPr lang="en-US" sz="1800" dirty="0"/>
          </a:p>
        </p:txBody>
      </p:sp>
      <p:sp>
        <p:nvSpPr>
          <p:cNvPr id="12" name="Shape 9"/>
          <p:cNvSpPr/>
          <p:nvPr/>
        </p:nvSpPr>
        <p:spPr>
          <a:xfrm>
            <a:off x="4338218" y="1600200"/>
            <a:ext cx="3515258" cy="443484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3" name="Shape 10"/>
          <p:cNvSpPr/>
          <p:nvPr/>
        </p:nvSpPr>
        <p:spPr>
          <a:xfrm rot="5400000">
            <a:off x="5515126" y="1874520"/>
            <a:ext cx="1161443" cy="1005840"/>
          </a:xfrm>
          <a:prstGeom prst="hexagon">
            <a:avLst/>
          </a:prstGeom>
          <a:solidFill>
            <a:srgbClr val="5B6BB5"/>
          </a:solidFill>
          <a:ln/>
        </p:spPr>
      </p:sp>
      <p:pic>
        <p:nvPicPr>
          <p:cNvPr id="14" name="Image 1" descr="preencoded.png">    </p:cNvPr>
          <p:cNvPicPr>
            <a:picLocks noChangeAspect="1"/>
          </p:cNvPicPr>
          <p:nvPr/>
        </p:nvPicPr>
        <p:blipFill>
          <a:blip r:embed="rId2"/>
          <a:stretch>
            <a:fillRect/>
          </a:stretch>
        </p:blipFill>
        <p:spPr>
          <a:xfrm>
            <a:off x="5864504" y="2146097"/>
            <a:ext cx="462686" cy="462686"/>
          </a:xfrm>
          <a:prstGeom prst="rect">
            <a:avLst/>
          </a:prstGeom>
        </p:spPr>
      </p:pic>
      <p:sp>
        <p:nvSpPr>
          <p:cNvPr id="15" name="Text 11"/>
          <p:cNvSpPr txBox="1"/>
          <p:nvPr/>
        </p:nvSpPr>
        <p:spPr>
          <a:xfrm>
            <a:off x="4612538" y="3063240"/>
            <a:ext cx="2966618" cy="457200"/>
          </a:xfrm>
          <a:prstGeom prst="rect">
            <a:avLst/>
          </a:prstGeom>
          <a:noFill/>
          <a:ln/>
        </p:spPr>
        <p:txBody>
          <a:bodyPr wrap="square" lIns="0" tIns="0" rIns="0" bIns="0" rtlCol="0" anchor="t"/>
          <a:lstStyle/>
          <a:p>
            <a:pPr rtl="1" algn="ctr" indent="0" marL="0">
              <a:buNone/>
            </a:pPr>
            <a:r>
              <a:rPr lang="he-IL" altLang="en-US" sz="2000" b="1" dirty="0">
                <a:solidFill>
                  <a:srgbClr val="2B2560"/>
                </a:solidFill>
                <a:latin typeface="Arial" pitchFamily="34" charset="0"/>
                <a:ea typeface="Arial" pitchFamily="34" charset="-122"/>
                <a:cs typeface="Arial" pitchFamily="34" charset="-120"/>
              </a:rPr>
              <a:t>התאמת טיפול וטיטרציה</a:t>
            </a:r>
            <a:endParaRPr lang="he-IL" sz="2000" dirty="0"/>
          </a:p>
        </p:txBody>
      </p:sp>
      <p:sp>
        <p:nvSpPr>
          <p:cNvPr id="16" name="Text 12"/>
          <p:cNvSpPr txBox="1"/>
          <p:nvPr/>
        </p:nvSpPr>
        <p:spPr>
          <a:xfrm>
            <a:off x="4658258" y="3611880"/>
            <a:ext cx="2875178" cy="1371600"/>
          </a:xfrm>
          <a:prstGeom prst="rect">
            <a:avLst/>
          </a:prstGeom>
          <a:noFill/>
          <a:ln/>
        </p:spPr>
        <p:txBody>
          <a:bodyPr wrap="square" lIns="0" tIns="0" rIns="0" bIns="0" rtlCol="0" anchor="t"/>
          <a:lstStyle/>
          <a:p>
            <a:pPr rtl="1" algn="ctr" indent="0" marL="0">
              <a:buNone/>
            </a:pPr>
            <a:r>
              <a:rPr lang="he-IL" altLang="en-US" sz="1700" dirty="0">
                <a:solidFill>
                  <a:srgbClr val="2E2A47"/>
                </a:solidFill>
                <a:latin typeface="Arial" pitchFamily="34" charset="0"/>
                <a:ea typeface="Arial" pitchFamily="34" charset="-122"/>
                <a:cs typeface="Arial" pitchFamily="34" charset="-120"/>
              </a:rPr>
              <a:t>טיטרציית Wegovy עד 2.4mg, הפחתת אינסולין בולוס מ-12 ל-8 יחידות לארוחה והורדת בזאלי מ-40 ל-36 יחידות</a:t>
            </a:r>
            <a:endParaRPr lang="he-IL" sz="1700" dirty="0"/>
          </a:p>
        </p:txBody>
      </p:sp>
      <p:sp>
        <p:nvSpPr>
          <p:cNvPr id="17" name="Shape 13"/>
          <p:cNvSpPr/>
          <p:nvPr/>
        </p:nvSpPr>
        <p:spPr>
          <a:xfrm>
            <a:off x="4795418" y="5120640"/>
            <a:ext cx="2600858" cy="594360"/>
          </a:xfrm>
          <a:prstGeom prst="roundRect">
            <a:avLst>
              <a:gd name="adj" fmla="val 46154"/>
            </a:avLst>
          </a:prstGeom>
          <a:solidFill>
            <a:srgbClr val="F3F0FA"/>
          </a:solidFill>
          <a:ln/>
        </p:spPr>
      </p:sp>
      <p:sp>
        <p:nvSpPr>
          <p:cNvPr id="18" name="Text 14"/>
          <p:cNvSpPr txBox="1"/>
          <p:nvPr/>
        </p:nvSpPr>
        <p:spPr>
          <a:xfrm>
            <a:off x="4795418" y="5120640"/>
            <a:ext cx="2600858" cy="594360"/>
          </a:xfrm>
          <a:prstGeom prst="rect">
            <a:avLst/>
          </a:prstGeom>
          <a:noFill/>
          <a:ln/>
        </p:spPr>
        <p:txBody>
          <a:bodyPr wrap="square" lIns="0" tIns="0" rIns="0" bIns="0" rtlCol="0" anchor="ctr"/>
          <a:lstStyle/>
          <a:p>
            <a:pPr algn="ctr" indent="0" marL="0">
              <a:buNone/>
            </a:pPr>
            <a:r>
              <a:rPr lang="en-US" altLang="en-US" sz="1800" b="1" dirty="0">
                <a:solidFill>
                  <a:srgbClr val="5B6BB5"/>
                </a:solidFill>
                <a:latin typeface="Arial" pitchFamily="34" charset="0"/>
                <a:ea typeface="Arial" pitchFamily="34" charset="-122"/>
                <a:cs typeface="Arial" pitchFamily="34" charset="-120"/>
              </a:rPr>
              <a:t>Wegovy 2.4mg</a:t>
            </a:r>
            <a:endParaRPr lang="en-US" sz="1800" dirty="0"/>
          </a:p>
        </p:txBody>
      </p:sp>
      <p:sp>
        <p:nvSpPr>
          <p:cNvPr id="19" name="Shape 15"/>
          <p:cNvSpPr/>
          <p:nvPr/>
        </p:nvSpPr>
        <p:spPr>
          <a:xfrm>
            <a:off x="548640" y="1600200"/>
            <a:ext cx="3515258" cy="443484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0" name="Shape 16"/>
          <p:cNvSpPr/>
          <p:nvPr/>
        </p:nvSpPr>
        <p:spPr>
          <a:xfrm rot="5400000">
            <a:off x="1725547" y="1874520"/>
            <a:ext cx="1161443" cy="1005840"/>
          </a:xfrm>
          <a:prstGeom prst="hexagon">
            <a:avLst/>
          </a:prstGeom>
          <a:solidFill>
            <a:srgbClr val="6E4494"/>
          </a:solidFill>
          <a:ln/>
        </p:spPr>
      </p:sp>
      <p:pic>
        <p:nvPicPr>
          <p:cNvPr id="21" name="Image 2" descr="preencoded.png">    </p:cNvPr>
          <p:cNvPicPr>
            <a:picLocks noChangeAspect="1"/>
          </p:cNvPicPr>
          <p:nvPr/>
        </p:nvPicPr>
        <p:blipFill>
          <a:blip r:embed="rId3"/>
          <a:stretch>
            <a:fillRect/>
          </a:stretch>
        </p:blipFill>
        <p:spPr>
          <a:xfrm>
            <a:off x="2074926" y="2146097"/>
            <a:ext cx="462686" cy="462686"/>
          </a:xfrm>
          <a:prstGeom prst="rect">
            <a:avLst/>
          </a:prstGeom>
        </p:spPr>
      </p:pic>
      <p:sp>
        <p:nvSpPr>
          <p:cNvPr id="22" name="Text 17"/>
          <p:cNvSpPr txBox="1"/>
          <p:nvPr/>
        </p:nvSpPr>
        <p:spPr>
          <a:xfrm>
            <a:off x="822960" y="3063240"/>
            <a:ext cx="2966618" cy="457200"/>
          </a:xfrm>
          <a:prstGeom prst="rect">
            <a:avLst/>
          </a:prstGeom>
          <a:noFill/>
          <a:ln/>
        </p:spPr>
        <p:txBody>
          <a:bodyPr wrap="square" lIns="0" tIns="0" rIns="0" bIns="0" rtlCol="0" anchor="t"/>
          <a:lstStyle/>
          <a:p>
            <a:pPr rtl="1" algn="ctr" indent="0" marL="0">
              <a:buNone/>
            </a:pPr>
            <a:r>
              <a:rPr lang="he-IL" altLang="en-US" sz="2000" b="1" dirty="0">
                <a:solidFill>
                  <a:srgbClr val="2B2560"/>
                </a:solidFill>
                <a:latin typeface="Arial" pitchFamily="34" charset="0"/>
                <a:ea typeface="Arial" pitchFamily="34" charset="-122"/>
                <a:cs typeface="Arial" pitchFamily="34" charset="-120"/>
              </a:rPr>
              <a:t>הישגי חיישן Libre 2</a:t>
            </a:r>
            <a:endParaRPr lang="he-IL" sz="2000" dirty="0"/>
          </a:p>
        </p:txBody>
      </p:sp>
      <p:sp>
        <p:nvSpPr>
          <p:cNvPr id="23" name="Text 18"/>
          <p:cNvSpPr txBox="1"/>
          <p:nvPr/>
        </p:nvSpPr>
        <p:spPr>
          <a:xfrm>
            <a:off x="868680" y="3611880"/>
            <a:ext cx="2875178" cy="1371600"/>
          </a:xfrm>
          <a:prstGeom prst="rect">
            <a:avLst/>
          </a:prstGeom>
          <a:noFill/>
          <a:ln/>
        </p:spPr>
        <p:txBody>
          <a:bodyPr wrap="square" lIns="0" tIns="0" rIns="0" bIns="0" rtlCol="0" anchor="t"/>
          <a:lstStyle/>
          <a:p>
            <a:pPr rtl="1" algn="ctr" indent="0" marL="0">
              <a:buNone/>
            </a:pPr>
            <a:r>
              <a:rPr lang="he-IL" altLang="en-US" sz="1700" dirty="0">
                <a:solidFill>
                  <a:srgbClr val="2E2A47"/>
                </a:solidFill>
                <a:latin typeface="Arial" pitchFamily="34" charset="0"/>
                <a:ea typeface="Arial" pitchFamily="34" charset="-122"/>
                <a:cs typeface="Arial" pitchFamily="34" charset="-120"/>
              </a:rPr>
              <a:t>זינוק ב-TIR מ-30% ל-79%, סוכר ממוצע 116 mg/dL, GMI 6.1% וירידה של 11 ק"ג</a:t>
            </a:r>
            <a:endParaRPr lang="he-IL" sz="1700" dirty="0"/>
          </a:p>
        </p:txBody>
      </p:sp>
      <p:sp>
        <p:nvSpPr>
          <p:cNvPr id="24" name="Shape 19"/>
          <p:cNvSpPr/>
          <p:nvPr/>
        </p:nvSpPr>
        <p:spPr>
          <a:xfrm>
            <a:off x="1005840" y="5120640"/>
            <a:ext cx="2600858" cy="594360"/>
          </a:xfrm>
          <a:prstGeom prst="roundRect">
            <a:avLst>
              <a:gd name="adj" fmla="val 46154"/>
            </a:avLst>
          </a:prstGeom>
          <a:solidFill>
            <a:srgbClr val="F3F0FA"/>
          </a:solidFill>
          <a:ln/>
        </p:spPr>
      </p:sp>
      <p:sp>
        <p:nvSpPr>
          <p:cNvPr id="25" name="Text 20"/>
          <p:cNvSpPr txBox="1"/>
          <p:nvPr/>
        </p:nvSpPr>
        <p:spPr>
          <a:xfrm>
            <a:off x="1005840" y="5120640"/>
            <a:ext cx="2600858" cy="594360"/>
          </a:xfrm>
          <a:prstGeom prst="rect">
            <a:avLst/>
          </a:prstGeom>
          <a:noFill/>
          <a:ln/>
        </p:spPr>
        <p:txBody>
          <a:bodyPr wrap="square" lIns="0" tIns="0" rIns="0" bIns="0" rtlCol="0" anchor="ctr"/>
          <a:lstStyle/>
          <a:p>
            <a:pPr algn="ctr" indent="0" marL="0">
              <a:buNone/>
            </a:pPr>
            <a:r>
              <a:rPr lang="en-US" altLang="en-US" sz="1800" b="1" dirty="0">
                <a:solidFill>
                  <a:srgbClr val="6E4494"/>
                </a:solidFill>
                <a:latin typeface="Arial" pitchFamily="34" charset="0"/>
                <a:ea typeface="Arial" pitchFamily="34" charset="-122"/>
                <a:cs typeface="Arial" pitchFamily="34" charset="-120"/>
              </a:rPr>
              <a:t>TIR 79%</a:t>
            </a:r>
            <a:endParaRPr lang="en-US" sz="18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מבנה הלומדה ומסלול הטיפול במטופל</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מפת הדרך הקלינית</a:t>
            </a:r>
            <a:endParaRPr lang="he-IL" sz="2600" dirty="0"/>
          </a:p>
        </p:txBody>
      </p:sp>
      <p:sp>
        <p:nvSpPr>
          <p:cNvPr id="5" name="Shape 3"/>
          <p:cNvSpPr/>
          <p:nvPr/>
        </p:nvSpPr>
        <p:spPr>
          <a:xfrm>
            <a:off x="1577614" y="2057400"/>
            <a:ext cx="9036467" cy="0"/>
          </a:xfrm>
          <a:prstGeom prst="line">
            <a:avLst/>
          </a:prstGeom>
          <a:noFill/>
          <a:ln w="25400">
            <a:solidFill>
              <a:srgbClr val="C9C2E3"/>
            </a:solidFill>
            <a:prstDash val="dash"/>
          </a:ln>
        </p:spPr>
      </p:sp>
      <p:sp>
        <p:nvSpPr>
          <p:cNvPr id="6" name="Shape 4"/>
          <p:cNvSpPr/>
          <p:nvPr/>
        </p:nvSpPr>
        <p:spPr>
          <a:xfrm>
            <a:off x="9585107" y="2514600"/>
            <a:ext cx="2057949" cy="3520440"/>
          </a:xfrm>
          <a:prstGeom prst="roundRect">
            <a:avLst>
              <a:gd name="adj" fmla="val 5332"/>
            </a:avLst>
          </a:prstGeom>
          <a:solidFill>
            <a:srgbClr val="F3F0FA"/>
          </a:solidFill>
          <a:ln/>
        </p:spPr>
      </p:sp>
      <p:sp>
        <p:nvSpPr>
          <p:cNvPr id="7" name="Shape 5"/>
          <p:cNvSpPr/>
          <p:nvPr/>
        </p:nvSpPr>
        <p:spPr>
          <a:xfrm rot="5400000">
            <a:off x="10112548" y="1623060"/>
            <a:ext cx="1003065" cy="868680"/>
          </a:xfrm>
          <a:prstGeom prst="hexagon">
            <a:avLst/>
          </a:prstGeom>
          <a:solidFill>
            <a:srgbClr val="4A90D0"/>
          </a:solidFill>
          <a:ln/>
        </p:spPr>
      </p:sp>
      <p:sp>
        <p:nvSpPr>
          <p:cNvPr id="8" name="Text 6"/>
          <p:cNvSpPr txBox="1"/>
          <p:nvPr/>
        </p:nvSpPr>
        <p:spPr>
          <a:xfrm>
            <a:off x="10179741" y="1623060"/>
            <a:ext cx="868680" cy="86868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9" name="Text 7"/>
          <p:cNvSpPr txBox="1"/>
          <p:nvPr/>
        </p:nvSpPr>
        <p:spPr>
          <a:xfrm>
            <a:off x="9722267" y="2743200"/>
            <a:ext cx="1783629" cy="274320"/>
          </a:xfrm>
          <a:prstGeom prst="rect">
            <a:avLst/>
          </a:prstGeom>
          <a:noFill/>
          <a:ln/>
        </p:spPr>
        <p:txBody>
          <a:bodyPr wrap="square" lIns="0" tIns="0" rIns="0" bIns="0" rtlCol="0" anchor="t"/>
          <a:lstStyle/>
          <a:p>
            <a:pPr rtl="1" algn="ctr" indent="0" marL="0">
              <a:buNone/>
            </a:pPr>
            <a:r>
              <a:rPr lang="he-IL" altLang="en-US" sz="1300" b="1" dirty="0">
                <a:solidFill>
                  <a:srgbClr val="4A90D0"/>
                </a:solidFill>
                <a:latin typeface="Arial" pitchFamily="34" charset="0"/>
                <a:ea typeface="Arial" pitchFamily="34" charset="-122"/>
                <a:cs typeface="Arial" pitchFamily="34" charset="-120"/>
              </a:rPr>
              <a:t>שלב 1</a:t>
            </a:r>
            <a:endParaRPr lang="he-IL" sz="1300" dirty="0"/>
          </a:p>
        </p:txBody>
      </p:sp>
      <p:sp>
        <p:nvSpPr>
          <p:cNvPr id="10" name="Text 8"/>
          <p:cNvSpPr txBox="1"/>
          <p:nvPr/>
        </p:nvSpPr>
        <p:spPr>
          <a:xfrm>
            <a:off x="9722267" y="3063240"/>
            <a:ext cx="1783629" cy="777240"/>
          </a:xfrm>
          <a:prstGeom prst="rect">
            <a:avLst/>
          </a:prstGeom>
          <a:noFill/>
          <a:ln/>
        </p:spPr>
        <p:txBody>
          <a:bodyPr wrap="square" lIns="0" tIns="0" rIns="0" bIns="0" rtlCol="0" anchor="ctr"/>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ביקור ראשון (חלק א')</a:t>
            </a:r>
            <a:endParaRPr lang="he-IL" sz="1600" dirty="0"/>
          </a:p>
        </p:txBody>
      </p:sp>
      <p:sp>
        <p:nvSpPr>
          <p:cNvPr id="11" name="Text 9"/>
          <p:cNvSpPr txBox="1"/>
          <p:nvPr/>
        </p:nvSpPr>
        <p:spPr>
          <a:xfrm>
            <a:off x="9722267" y="3931920"/>
            <a:ext cx="1783629" cy="201168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קבלת המטופל והערכה ראשונית: אנמנזה, תקשורת מקרבת, מחלות רקע, מעבדה ובדיקה גופנית</a:t>
            </a:r>
            <a:endParaRPr lang="he-IL" sz="1350" dirty="0"/>
          </a:p>
        </p:txBody>
      </p:sp>
      <p:sp>
        <p:nvSpPr>
          <p:cNvPr id="12" name="Shape 10"/>
          <p:cNvSpPr/>
          <p:nvPr/>
        </p:nvSpPr>
        <p:spPr>
          <a:xfrm>
            <a:off x="7325990" y="2514600"/>
            <a:ext cx="2057949" cy="3520440"/>
          </a:xfrm>
          <a:prstGeom prst="roundRect">
            <a:avLst>
              <a:gd name="adj" fmla="val 5332"/>
            </a:avLst>
          </a:prstGeom>
          <a:solidFill>
            <a:srgbClr val="F3F0FA"/>
          </a:solidFill>
          <a:ln/>
        </p:spPr>
      </p:sp>
      <p:sp>
        <p:nvSpPr>
          <p:cNvPr id="13" name="Shape 11"/>
          <p:cNvSpPr/>
          <p:nvPr/>
        </p:nvSpPr>
        <p:spPr>
          <a:xfrm rot="5400000">
            <a:off x="7853432" y="1623060"/>
            <a:ext cx="1003065" cy="868680"/>
          </a:xfrm>
          <a:prstGeom prst="hexagon">
            <a:avLst/>
          </a:prstGeom>
          <a:solidFill>
            <a:srgbClr val="5280C8"/>
          </a:solidFill>
          <a:ln/>
        </p:spPr>
      </p:sp>
      <p:sp>
        <p:nvSpPr>
          <p:cNvPr id="14" name="Text 12"/>
          <p:cNvSpPr txBox="1"/>
          <p:nvPr/>
        </p:nvSpPr>
        <p:spPr>
          <a:xfrm>
            <a:off x="7920624" y="1623060"/>
            <a:ext cx="868680" cy="86868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5" name="Text 13"/>
          <p:cNvSpPr txBox="1"/>
          <p:nvPr/>
        </p:nvSpPr>
        <p:spPr>
          <a:xfrm>
            <a:off x="7463150" y="2743200"/>
            <a:ext cx="1783629" cy="274320"/>
          </a:xfrm>
          <a:prstGeom prst="rect">
            <a:avLst/>
          </a:prstGeom>
          <a:noFill/>
          <a:ln/>
        </p:spPr>
        <p:txBody>
          <a:bodyPr wrap="square" lIns="0" tIns="0" rIns="0" bIns="0" rtlCol="0" anchor="t"/>
          <a:lstStyle/>
          <a:p>
            <a:pPr rtl="1" algn="ctr" indent="0" marL="0">
              <a:buNone/>
            </a:pPr>
            <a:r>
              <a:rPr lang="he-IL" altLang="en-US" sz="1300" b="1" dirty="0">
                <a:solidFill>
                  <a:srgbClr val="5280C8"/>
                </a:solidFill>
                <a:latin typeface="Arial" pitchFamily="34" charset="0"/>
                <a:ea typeface="Arial" pitchFamily="34" charset="-122"/>
                <a:cs typeface="Arial" pitchFamily="34" charset="-120"/>
              </a:rPr>
              <a:t>שלב 2</a:t>
            </a:r>
            <a:endParaRPr lang="he-IL" sz="1300" dirty="0"/>
          </a:p>
        </p:txBody>
      </p:sp>
      <p:sp>
        <p:nvSpPr>
          <p:cNvPr id="16" name="Text 14"/>
          <p:cNvSpPr txBox="1"/>
          <p:nvPr/>
        </p:nvSpPr>
        <p:spPr>
          <a:xfrm>
            <a:off x="7463150" y="3063240"/>
            <a:ext cx="1783629" cy="777240"/>
          </a:xfrm>
          <a:prstGeom prst="rect">
            <a:avLst/>
          </a:prstGeom>
          <a:noFill/>
          <a:ln/>
        </p:spPr>
        <p:txBody>
          <a:bodyPr wrap="square" lIns="0" tIns="0" rIns="0" bIns="0" rtlCol="0" anchor="ctr"/>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ביקור ראשון (חלק ב')</a:t>
            </a:r>
            <a:endParaRPr lang="he-IL" sz="1600" dirty="0"/>
          </a:p>
        </p:txBody>
      </p:sp>
      <p:sp>
        <p:nvSpPr>
          <p:cNvPr id="17" name="Text 15"/>
          <p:cNvSpPr txBox="1"/>
          <p:nvPr/>
        </p:nvSpPr>
        <p:spPr>
          <a:xfrm>
            <a:off x="7463150" y="3931920"/>
            <a:ext cx="1783629" cy="201168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החלטה על אינסולין קצר טווח, פריקת Libre, בדיקת הזרקות, ראיות מחקריות (STEP, SELECT, שב"ן)</a:t>
            </a:r>
            <a:endParaRPr lang="he-IL" sz="1350" dirty="0"/>
          </a:p>
        </p:txBody>
      </p:sp>
      <p:sp>
        <p:nvSpPr>
          <p:cNvPr id="18" name="Shape 16"/>
          <p:cNvSpPr/>
          <p:nvPr/>
        </p:nvSpPr>
        <p:spPr>
          <a:xfrm>
            <a:off x="5066873" y="2514600"/>
            <a:ext cx="2057949" cy="3520440"/>
          </a:xfrm>
          <a:prstGeom prst="roundRect">
            <a:avLst>
              <a:gd name="adj" fmla="val 5332"/>
            </a:avLst>
          </a:prstGeom>
          <a:solidFill>
            <a:srgbClr val="F3F0FA"/>
          </a:solidFill>
          <a:ln/>
        </p:spPr>
      </p:sp>
      <p:sp>
        <p:nvSpPr>
          <p:cNvPr id="19" name="Shape 17"/>
          <p:cNvSpPr/>
          <p:nvPr/>
        </p:nvSpPr>
        <p:spPr>
          <a:xfrm rot="5400000">
            <a:off x="5594315" y="1623060"/>
            <a:ext cx="1003065" cy="868680"/>
          </a:xfrm>
          <a:prstGeom prst="hexagon">
            <a:avLst/>
          </a:prstGeom>
          <a:solidFill>
            <a:srgbClr val="5B6BB5"/>
          </a:solidFill>
          <a:ln/>
        </p:spPr>
      </p:sp>
      <p:sp>
        <p:nvSpPr>
          <p:cNvPr id="20" name="Text 18"/>
          <p:cNvSpPr txBox="1"/>
          <p:nvPr/>
        </p:nvSpPr>
        <p:spPr>
          <a:xfrm>
            <a:off x="5661508" y="1623060"/>
            <a:ext cx="868680" cy="86868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1" name="Text 19"/>
          <p:cNvSpPr txBox="1"/>
          <p:nvPr/>
        </p:nvSpPr>
        <p:spPr>
          <a:xfrm>
            <a:off x="5204033" y="2743200"/>
            <a:ext cx="1783629" cy="274320"/>
          </a:xfrm>
          <a:prstGeom prst="rect">
            <a:avLst/>
          </a:prstGeom>
          <a:noFill/>
          <a:ln/>
        </p:spPr>
        <p:txBody>
          <a:bodyPr wrap="square" lIns="0" tIns="0" rIns="0" bIns="0" rtlCol="0" anchor="t"/>
          <a:lstStyle/>
          <a:p>
            <a:pPr rtl="1" algn="ctr" indent="0" marL="0">
              <a:buNone/>
            </a:pPr>
            <a:r>
              <a:rPr lang="he-IL" altLang="en-US" sz="1300" b="1" dirty="0">
                <a:solidFill>
                  <a:srgbClr val="5B6BB5"/>
                </a:solidFill>
                <a:latin typeface="Arial" pitchFamily="34" charset="0"/>
                <a:ea typeface="Arial" pitchFamily="34" charset="-122"/>
                <a:cs typeface="Arial" pitchFamily="34" charset="-120"/>
              </a:rPr>
              <a:t>שלב 3</a:t>
            </a:r>
            <a:endParaRPr lang="he-IL" sz="1300" dirty="0"/>
          </a:p>
        </p:txBody>
      </p:sp>
      <p:sp>
        <p:nvSpPr>
          <p:cNvPr id="22" name="Text 20"/>
          <p:cNvSpPr txBox="1"/>
          <p:nvPr/>
        </p:nvSpPr>
        <p:spPr>
          <a:xfrm>
            <a:off x="5204033" y="3063240"/>
            <a:ext cx="1783629" cy="777240"/>
          </a:xfrm>
          <a:prstGeom prst="rect">
            <a:avLst/>
          </a:prstGeom>
          <a:noFill/>
          <a:ln/>
        </p:spPr>
        <p:txBody>
          <a:bodyPr wrap="square" lIns="0" tIns="0" rIns="0" bIns="0" rtlCol="0" anchor="ctr"/>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מעקב וויגובי 2.4 מ"ג</a:t>
            </a:r>
            <a:endParaRPr lang="he-IL" sz="1600" dirty="0"/>
          </a:p>
        </p:txBody>
      </p:sp>
      <p:sp>
        <p:nvSpPr>
          <p:cNvPr id="23" name="Text 21"/>
          <p:cNvSpPr txBox="1"/>
          <p:nvPr/>
        </p:nvSpPr>
        <p:spPr>
          <a:xfrm>
            <a:off x="5204033" y="3931920"/>
            <a:ext cx="1783629" cy="201168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סולם מינוני Wegovy, הורדת בולוס מ-12 ל-8 יחידות, הורדת בזאלי מ-40 ל-36 ומניעת היפוגליקמיה</a:t>
            </a:r>
            <a:endParaRPr lang="he-IL" sz="1350" dirty="0"/>
          </a:p>
        </p:txBody>
      </p:sp>
      <p:sp>
        <p:nvSpPr>
          <p:cNvPr id="24" name="Shape 22"/>
          <p:cNvSpPr/>
          <p:nvPr/>
        </p:nvSpPr>
        <p:spPr>
          <a:xfrm>
            <a:off x="2807757" y="2514600"/>
            <a:ext cx="2057949" cy="3520440"/>
          </a:xfrm>
          <a:prstGeom prst="roundRect">
            <a:avLst>
              <a:gd name="adj" fmla="val 5332"/>
            </a:avLst>
          </a:prstGeom>
          <a:solidFill>
            <a:srgbClr val="F3F0FA"/>
          </a:solidFill>
          <a:ln/>
        </p:spPr>
      </p:sp>
      <p:sp>
        <p:nvSpPr>
          <p:cNvPr id="25" name="Shape 23"/>
          <p:cNvSpPr/>
          <p:nvPr/>
        </p:nvSpPr>
        <p:spPr>
          <a:xfrm rot="5400000">
            <a:off x="3335199" y="1623060"/>
            <a:ext cx="1003065" cy="868680"/>
          </a:xfrm>
          <a:prstGeom prst="hexagon">
            <a:avLst/>
          </a:prstGeom>
          <a:solidFill>
            <a:srgbClr val="6658A6"/>
          </a:solidFill>
          <a:ln/>
        </p:spPr>
      </p:sp>
      <p:sp>
        <p:nvSpPr>
          <p:cNvPr id="26" name="Text 24"/>
          <p:cNvSpPr txBox="1"/>
          <p:nvPr/>
        </p:nvSpPr>
        <p:spPr>
          <a:xfrm>
            <a:off x="3402391" y="1623060"/>
            <a:ext cx="868680" cy="86868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5"/>
          <p:cNvSpPr txBox="1"/>
          <p:nvPr/>
        </p:nvSpPr>
        <p:spPr>
          <a:xfrm>
            <a:off x="2944917" y="2743200"/>
            <a:ext cx="1783629" cy="274320"/>
          </a:xfrm>
          <a:prstGeom prst="rect">
            <a:avLst/>
          </a:prstGeom>
          <a:noFill/>
          <a:ln/>
        </p:spPr>
        <p:txBody>
          <a:bodyPr wrap="square" lIns="0" tIns="0" rIns="0" bIns="0" rtlCol="0" anchor="t"/>
          <a:lstStyle/>
          <a:p>
            <a:pPr rtl="1" algn="ctr" indent="0" marL="0">
              <a:buNone/>
            </a:pPr>
            <a:r>
              <a:rPr lang="he-IL" altLang="en-US" sz="1300" b="1" dirty="0">
                <a:solidFill>
                  <a:srgbClr val="6658A6"/>
                </a:solidFill>
                <a:latin typeface="Arial" pitchFamily="34" charset="0"/>
                <a:ea typeface="Arial" pitchFamily="34" charset="-122"/>
                <a:cs typeface="Arial" pitchFamily="34" charset="-120"/>
              </a:rPr>
              <a:t>שלב 4</a:t>
            </a:r>
            <a:endParaRPr lang="he-IL" sz="1300" dirty="0"/>
          </a:p>
        </p:txBody>
      </p:sp>
      <p:sp>
        <p:nvSpPr>
          <p:cNvPr id="28" name="Text 26"/>
          <p:cNvSpPr txBox="1"/>
          <p:nvPr/>
        </p:nvSpPr>
        <p:spPr>
          <a:xfrm>
            <a:off x="2944917" y="3063240"/>
            <a:ext cx="1783629" cy="777240"/>
          </a:xfrm>
          <a:prstGeom prst="rect">
            <a:avLst/>
          </a:prstGeom>
          <a:noFill/>
          <a:ln/>
        </p:spPr>
        <p:txBody>
          <a:bodyPr wrap="square" lIns="0" tIns="0" rIns="0" bIns="0" rtlCol="0" anchor="ctr"/>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מעקב ספטמבר 2026</a:t>
            </a:r>
            <a:endParaRPr lang="he-IL" sz="1600" dirty="0"/>
          </a:p>
        </p:txBody>
      </p:sp>
      <p:sp>
        <p:nvSpPr>
          <p:cNvPr id="29" name="Text 27"/>
          <p:cNvSpPr txBox="1"/>
          <p:nvPr/>
        </p:nvSpPr>
        <p:spPr>
          <a:xfrm>
            <a:off x="2944917" y="3931920"/>
            <a:ext cx="1783629" cy="201168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ניתוח מדדי חיישן Libre 2 / AGP: זינוק ב-TIR מ-30% ל-79%, סוכר ממוצע 116 mg/dL, GMI 6.1% וניתוח פרופיל יממתי מלא</a:t>
            </a:r>
            <a:endParaRPr lang="he-IL" sz="1350" dirty="0"/>
          </a:p>
        </p:txBody>
      </p:sp>
      <p:sp>
        <p:nvSpPr>
          <p:cNvPr id="30" name="Shape 28"/>
          <p:cNvSpPr/>
          <p:nvPr/>
        </p:nvSpPr>
        <p:spPr>
          <a:xfrm>
            <a:off x="548640" y="2514600"/>
            <a:ext cx="2057949" cy="3520440"/>
          </a:xfrm>
          <a:prstGeom prst="roundRect">
            <a:avLst>
              <a:gd name="adj" fmla="val 5332"/>
            </a:avLst>
          </a:prstGeom>
          <a:solidFill>
            <a:srgbClr val="F3F0FA"/>
          </a:solidFill>
          <a:ln/>
        </p:spPr>
      </p:sp>
      <p:sp>
        <p:nvSpPr>
          <p:cNvPr id="31" name="Shape 29"/>
          <p:cNvSpPr/>
          <p:nvPr/>
        </p:nvSpPr>
        <p:spPr>
          <a:xfrm rot="5400000">
            <a:off x="1076082" y="1623060"/>
            <a:ext cx="1003065" cy="868680"/>
          </a:xfrm>
          <a:prstGeom prst="hexagon">
            <a:avLst/>
          </a:prstGeom>
          <a:solidFill>
            <a:srgbClr val="6E4494"/>
          </a:solidFill>
          <a:ln/>
        </p:spPr>
      </p:sp>
      <p:sp>
        <p:nvSpPr>
          <p:cNvPr id="32" name="Text 30"/>
          <p:cNvSpPr txBox="1"/>
          <p:nvPr/>
        </p:nvSpPr>
        <p:spPr>
          <a:xfrm>
            <a:off x="1143274" y="1623060"/>
            <a:ext cx="868680" cy="86868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33" name="Text 31"/>
          <p:cNvSpPr txBox="1"/>
          <p:nvPr/>
        </p:nvSpPr>
        <p:spPr>
          <a:xfrm>
            <a:off x="685800" y="2743200"/>
            <a:ext cx="1783629" cy="274320"/>
          </a:xfrm>
          <a:prstGeom prst="rect">
            <a:avLst/>
          </a:prstGeom>
          <a:noFill/>
          <a:ln/>
        </p:spPr>
        <p:txBody>
          <a:bodyPr wrap="square" lIns="0" tIns="0" rIns="0" bIns="0" rtlCol="0" anchor="t"/>
          <a:lstStyle/>
          <a:p>
            <a:pPr rtl="1" algn="ctr" indent="0" marL="0">
              <a:buNone/>
            </a:pPr>
            <a:r>
              <a:rPr lang="he-IL" altLang="en-US" sz="1300" b="1" dirty="0">
                <a:solidFill>
                  <a:srgbClr val="6E4494"/>
                </a:solidFill>
                <a:latin typeface="Arial" pitchFamily="34" charset="0"/>
                <a:ea typeface="Arial" pitchFamily="34" charset="-122"/>
                <a:cs typeface="Arial" pitchFamily="34" charset="-120"/>
              </a:rPr>
              <a:t>שלב 5</a:t>
            </a:r>
            <a:endParaRPr lang="he-IL" sz="1300" dirty="0"/>
          </a:p>
        </p:txBody>
      </p:sp>
      <p:sp>
        <p:nvSpPr>
          <p:cNvPr id="34" name="Text 32"/>
          <p:cNvSpPr txBox="1"/>
          <p:nvPr/>
        </p:nvSpPr>
        <p:spPr>
          <a:xfrm>
            <a:off x="685800" y="3063240"/>
            <a:ext cx="1783629" cy="777240"/>
          </a:xfrm>
          <a:prstGeom prst="rect">
            <a:avLst/>
          </a:prstGeom>
          <a:noFill/>
          <a:ln/>
        </p:spPr>
        <p:txBody>
          <a:bodyPr wrap="square" lIns="0" tIns="0" rIns="0" bIns="0" rtlCol="0" anchor="ctr"/>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סיכום מקרה</a:t>
            </a:r>
            <a:endParaRPr lang="he-IL" sz="1600" dirty="0"/>
          </a:p>
        </p:txBody>
      </p:sp>
      <p:sp>
        <p:nvSpPr>
          <p:cNvPr id="35" name="Text 33"/>
          <p:cNvSpPr txBox="1"/>
          <p:nvPr/>
        </p:nvSpPr>
        <p:spPr>
          <a:xfrm>
            <a:off x="685800" y="3931920"/>
            <a:ext cx="1783629" cy="201168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הטבה במשקל, בשינה ובפצע כף הרגל, הפחתת סיכון טרשתי ועקרונות לפרקטיקה</a:t>
            </a:r>
            <a:endParaRPr lang="he-IL" sz="13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sp>
      <p:sp>
        <p:nvSpPr>
          <p:cNvPr id="3" name="Shape 1"/>
          <p:cNvSpPr/>
          <p:nvPr/>
        </p:nvSpPr>
        <p:spPr>
          <a:xfrm rot="5400000">
            <a:off x="1300364" y="2377440"/>
            <a:ext cx="2428473" cy="2103120"/>
          </a:xfrm>
          <a:prstGeom prst="hexagon">
            <a:avLst/>
          </a:prstGeom>
          <a:ln w="25400">
            <a:solidFill>
              <a:srgbClr val="9CC4EE"/>
            </a:solidFill>
            <a:prstDash val="solid"/>
          </a:ln>
        </p:spPr>
      </p:sp>
      <p:sp>
        <p:nvSpPr>
          <p:cNvPr id="4" name="Text 2"/>
          <p:cNvSpPr txBox="1"/>
          <p:nvPr/>
        </p:nvSpPr>
        <p:spPr>
          <a:xfrm>
            <a:off x="1463040" y="2743200"/>
            <a:ext cx="2103120" cy="1371600"/>
          </a:xfrm>
          <a:prstGeom prst="rect">
            <a:avLst/>
          </a:prstGeom>
          <a:noFill/>
          <a:ln/>
        </p:spPr>
        <p:txBody>
          <a:bodyPr wrap="square" lIns="0" tIns="0" rIns="0" bIns="0" rtlCol="0" anchor="ctr"/>
          <a:lstStyle/>
          <a:p>
            <a:pPr algn="ctr" indent="0" marL="0">
              <a:buNone/>
            </a:pPr>
            <a:r>
              <a:rPr lang="en-US" altLang="en-US" sz="6000" b="1" dirty="0">
                <a:solidFill>
                  <a:srgbClr val="FFFFFF"/>
                </a:solidFill>
                <a:latin typeface="Arial" pitchFamily="34" charset="0"/>
                <a:ea typeface="Arial" pitchFamily="34" charset="-122"/>
                <a:cs typeface="Arial" pitchFamily="34" charset="-120"/>
              </a:rPr>
              <a:t>01</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rtl="1" algn="r" indent="0" marL="0">
              <a:buNone/>
            </a:pPr>
            <a:r>
              <a:rPr lang="he-IL" altLang="en-US" sz="2000" b="1" dirty="0">
                <a:solidFill>
                  <a:srgbClr val="9CC4EE"/>
                </a:solidFill>
                <a:latin typeface="Arial" pitchFamily="34" charset="0"/>
                <a:ea typeface="Arial" pitchFamily="34" charset="-122"/>
                <a:cs typeface="Arial" pitchFamily="34" charset="-120"/>
              </a:rPr>
              <a:t>שלב 1  |  ביקור ראשון (חלק א') • ינואר 2026</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rtl="1" algn="r" indent="0" marL="0">
              <a:buNone/>
            </a:pPr>
            <a:r>
              <a:rPr lang="he-IL" altLang="en-US" sz="4000" b="1" dirty="0">
                <a:solidFill>
                  <a:srgbClr val="FFFFFF"/>
                </a:solidFill>
                <a:latin typeface="Arial" pitchFamily="34" charset="0"/>
                <a:ea typeface="Arial" pitchFamily="34" charset="-122"/>
                <a:cs typeface="Arial" pitchFamily="34" charset="-120"/>
              </a:rPr>
              <a:t>קבלת המטופל והערכה ראשונית</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rtl="1" algn="r" indent="0" marL="0">
              <a:buNone/>
            </a:pPr>
            <a:r>
              <a:rPr lang="he-IL" altLang="en-US" sz="1800" dirty="0">
                <a:solidFill>
                  <a:srgbClr val="D6D0F0"/>
                </a:solidFill>
                <a:latin typeface="Arial" pitchFamily="34" charset="0"/>
                <a:ea typeface="Arial" pitchFamily="34" charset="-122"/>
                <a:cs typeface="Arial" pitchFamily="34" charset="-120"/>
              </a:rPr>
              <a:t>מפגש ראשון במרפאה - אבחנה דיפרנציאלית והערכת בסיס</a:t>
            </a:r>
            <a:endParaRPr lang="he-IL" sz="1800" dirty="0"/>
          </a:p>
        </p:txBody>
      </p:sp>
      <p:pic>
        <p:nvPicPr>
          <p:cNvPr id="8" name="Image 0" descr="/tmp/claude-0/-home-claude/83ba285b-7ef1-5a4f-9afe-ea04c4b9d63d/scratchpad/assets/logo_white.png">    </p:cNvPr>
          <p:cNvPicPr>
            <a:picLocks noChangeAspect="1"/>
          </p:cNvPicPr>
          <p:nvPr/>
        </p:nvPicPr>
        <p:blipFill>
          <a:blip r:embed="rId1"/>
          <a:stretch>
            <a:fillRect/>
          </a:stretch>
        </p:blipFill>
        <p:spPr>
          <a:xfrm>
            <a:off x="10744200" y="5897880"/>
            <a:ext cx="896112" cy="7370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קבלת המטופל – תיאור המטופל ורקע משפחתי</a:t>
            </a:r>
            <a:endParaRPr lang="he-IL" sz="2600" dirty="0"/>
          </a:p>
        </p:txBody>
      </p:sp>
      <p:pic>
        <p:nvPicPr>
          <p:cNvPr id="5" name="Image 0" descr="/tmp/claude-0/-home-claude/83ba285b-7ef1-5a4f-9afe-ea04c4b9d63d/scratchpad/src/ppt/media/image-3-2.png">    </p:cNvPr>
          <p:cNvPicPr>
            <a:picLocks noChangeAspect="1"/>
          </p:cNvPicPr>
          <p:nvPr/>
        </p:nvPicPr>
        <p:blipFill>
          <a:blip r:embed="rId1"/>
          <a:stretch>
            <a:fillRect/>
          </a:stretch>
        </p:blipFill>
        <p:spPr>
          <a:xfrm>
            <a:off x="548640" y="1600200"/>
            <a:ext cx="5486400" cy="3657600"/>
          </a:xfrm>
          <a:prstGeom prst="rect">
            <a:avLst/>
          </a:prstGeom>
          <a:effectLst>
            <a:outerShdw sx="100000" sy="100000" kx="0" ky="0" algn="bl" rotWithShape="0" blurRad="127000" dist="38100" dir="5400000">
              <a:srgbClr val="2B2560">
                <a:alpha val="10000"/>
              </a:srgbClr>
            </a:outerShdw>
          </a:effectLst>
        </p:spPr>
      </p:pic>
      <p:sp>
        <p:nvSpPr>
          <p:cNvPr id="6" name="Shape 3"/>
          <p:cNvSpPr/>
          <p:nvPr/>
        </p:nvSpPr>
        <p:spPr>
          <a:xfrm>
            <a:off x="548640" y="5440680"/>
            <a:ext cx="5486400" cy="640080"/>
          </a:xfrm>
          <a:prstGeom prst="roundRect">
            <a:avLst>
              <a:gd name="adj" fmla="val 17143"/>
            </a:avLst>
          </a:prstGeom>
          <a:solidFill>
            <a:srgbClr val="ECF4FC"/>
          </a:solidFill>
          <a:ln/>
        </p:spPr>
      </p:sp>
      <p:sp>
        <p:nvSpPr>
          <p:cNvPr id="7" name="Text 4"/>
          <p:cNvSpPr txBox="1"/>
          <p:nvPr/>
        </p:nvSpPr>
        <p:spPr>
          <a:xfrm>
            <a:off x="731520" y="5440680"/>
            <a:ext cx="5120640" cy="640080"/>
          </a:xfrm>
          <a:prstGeom prst="rect">
            <a:avLst/>
          </a:prstGeom>
          <a:noFill/>
          <a:ln/>
        </p:spPr>
        <p:txBody>
          <a:bodyPr wrap="square" lIns="0" tIns="0" rIns="0" bIns="0" rtlCol="0" anchor="ctr"/>
          <a:lstStyle/>
          <a:p>
            <a:pPr rtl="1" algn="ctr" indent="0" marL="0">
              <a:buNone/>
            </a:pPr>
            <a:r>
              <a:rPr lang="he-IL" altLang="en-US" sz="1500" b="1" dirty="0">
                <a:solidFill>
                  <a:srgbClr val="6B6785"/>
                </a:solidFill>
                <a:latin typeface="Arial" pitchFamily="34" charset="0"/>
                <a:ea typeface="Arial" pitchFamily="34" charset="-122"/>
                <a:cs typeface="Arial" pitchFamily="34" charset="-120"/>
              </a:rPr>
              <a:t>סטטוס קליני:  </a:t>
            </a:r>
            <a:pPr rtl="1" algn="ctr" indent="0" marL="0">
              <a:buNone/>
            </a:pPr>
            <a:r>
              <a:rPr lang="he-IL" altLang="en-US" sz="1800" b="1" dirty="0">
                <a:solidFill>
                  <a:srgbClr val="4A90D0"/>
                </a:solidFill>
                <a:latin typeface="Arial" pitchFamily="34" charset="0"/>
                <a:ea typeface="Arial" pitchFamily="34" charset="-122"/>
                <a:cs typeface="Arial" pitchFamily="34" charset="-120"/>
              </a:rPr>
              <a:t>סוכרת והשמנה</a:t>
            </a:r>
            <a:endParaRPr lang="he-IL" sz="1500" dirty="0"/>
          </a:p>
        </p:txBody>
      </p:sp>
      <p:sp>
        <p:nvSpPr>
          <p:cNvPr id="8" name="Text 5"/>
          <p:cNvSpPr txBox="1"/>
          <p:nvPr/>
        </p:nvSpPr>
        <p:spPr>
          <a:xfrm>
            <a:off x="6400800" y="1463040"/>
            <a:ext cx="5239512" cy="411480"/>
          </a:xfrm>
          <a:prstGeom prst="rect">
            <a:avLst/>
          </a:prstGeom>
          <a:noFill/>
          <a:ln/>
        </p:spPr>
        <p:txBody>
          <a:bodyPr wrap="square" lIns="0" tIns="0" rIns="0" bIns="0" rtlCol="0" anchor="t"/>
          <a:lstStyle/>
          <a:p>
            <a:pPr rtl="1" algn="r" indent="0" marL="0">
              <a:buNone/>
            </a:pPr>
            <a:r>
              <a:rPr lang="he-IL" altLang="en-US" sz="1900" b="1" dirty="0">
                <a:solidFill>
                  <a:srgbClr val="6E4494"/>
                </a:solidFill>
                <a:latin typeface="Arial" pitchFamily="34" charset="0"/>
                <a:ea typeface="Arial" pitchFamily="34" charset="-122"/>
                <a:cs typeface="Arial" pitchFamily="34" charset="-120"/>
              </a:rPr>
              <a:t>תיאור המטופל והרקע המשפחתי:</a:t>
            </a:r>
            <a:endParaRPr lang="he-IL" sz="1900" dirty="0"/>
          </a:p>
        </p:txBody>
      </p:sp>
      <p:sp>
        <p:nvSpPr>
          <p:cNvPr id="9" name="Shape 6"/>
          <p:cNvSpPr/>
          <p:nvPr/>
        </p:nvSpPr>
        <p:spPr>
          <a:xfrm>
            <a:off x="6400800" y="1965960"/>
            <a:ext cx="5239512" cy="731520"/>
          </a:xfrm>
          <a:prstGeom prst="roundRect">
            <a:avLst>
              <a:gd name="adj" fmla="val 15000"/>
            </a:avLst>
          </a:prstGeom>
          <a:solidFill>
            <a:srgbClr val="FFFFFF"/>
          </a:solidFill>
          <a:ln w="9525">
            <a:solidFill>
              <a:srgbClr val="E3DFF0"/>
            </a:solidFill>
            <a:prstDash val="solid"/>
          </a:ln>
        </p:spPr>
      </p:sp>
      <p:sp>
        <p:nvSpPr>
          <p:cNvPr id="10" name="Shape 7"/>
          <p:cNvSpPr/>
          <p:nvPr/>
        </p:nvSpPr>
        <p:spPr>
          <a:xfrm rot="5400000">
            <a:off x="11002479" y="2080260"/>
            <a:ext cx="580722" cy="502920"/>
          </a:xfrm>
          <a:prstGeom prst="hexagon">
            <a:avLst/>
          </a:prstGeom>
          <a:solidFill>
            <a:srgbClr val="4A90D0"/>
          </a:solidFill>
          <a:ln/>
        </p:spPr>
      </p:sp>
      <p:pic>
        <p:nvPicPr>
          <p:cNvPr id="11" name="Image 1" descr="preencoded.png">    </p:cNvPr>
          <p:cNvPicPr>
            <a:picLocks noChangeAspect="1"/>
          </p:cNvPicPr>
          <p:nvPr/>
        </p:nvPicPr>
        <p:blipFill>
          <a:blip r:embed="rId2"/>
          <a:stretch>
            <a:fillRect/>
          </a:stretch>
        </p:blipFill>
        <p:spPr>
          <a:xfrm>
            <a:off x="11177168" y="2216048"/>
            <a:ext cx="231343" cy="231343"/>
          </a:xfrm>
          <a:prstGeom prst="rect">
            <a:avLst/>
          </a:prstGeom>
        </p:spPr>
      </p:pic>
      <p:sp>
        <p:nvSpPr>
          <p:cNvPr id="12" name="Text 8"/>
          <p:cNvSpPr txBox="1"/>
          <p:nvPr/>
        </p:nvSpPr>
        <p:spPr>
          <a:xfrm>
            <a:off x="6583680" y="2039112"/>
            <a:ext cx="4343400" cy="60350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שם וגיל:</a:t>
            </a:r>
            <a:endParaRPr lang="he-IL" sz="1400" dirty="0"/>
          </a:p>
          <a:p>
            <a:pPr rtl="1" algn="r" indent="0" marL="0">
              <a:buNone/>
            </a:pPr>
            <a:r>
              <a:rPr lang="he-IL" altLang="en-US" sz="1400" dirty="0">
                <a:solidFill>
                  <a:srgbClr val="2E2A47"/>
                </a:solidFill>
                <a:latin typeface="Arial" pitchFamily="34" charset="0"/>
                <a:ea typeface="Arial" pitchFamily="34" charset="-122"/>
                <a:cs typeface="Arial" pitchFamily="34" charset="-120"/>
              </a:rPr>
              <a:t>יעקב, בן 67</a:t>
            </a:r>
            <a:endParaRPr lang="he-IL" sz="1400" dirty="0"/>
          </a:p>
        </p:txBody>
      </p:sp>
      <p:sp>
        <p:nvSpPr>
          <p:cNvPr id="13" name="Shape 9"/>
          <p:cNvSpPr/>
          <p:nvPr/>
        </p:nvSpPr>
        <p:spPr>
          <a:xfrm>
            <a:off x="6400800" y="2788920"/>
            <a:ext cx="5239512" cy="731520"/>
          </a:xfrm>
          <a:prstGeom prst="roundRect">
            <a:avLst>
              <a:gd name="adj" fmla="val 15000"/>
            </a:avLst>
          </a:prstGeom>
          <a:solidFill>
            <a:srgbClr val="FFFFFF"/>
          </a:solidFill>
          <a:ln w="9525">
            <a:solidFill>
              <a:srgbClr val="E3DFF0"/>
            </a:solidFill>
            <a:prstDash val="solid"/>
          </a:ln>
        </p:spPr>
      </p:sp>
      <p:sp>
        <p:nvSpPr>
          <p:cNvPr id="14" name="Shape 10"/>
          <p:cNvSpPr/>
          <p:nvPr/>
        </p:nvSpPr>
        <p:spPr>
          <a:xfrm rot="5400000">
            <a:off x="11002479" y="2903220"/>
            <a:ext cx="580722" cy="502920"/>
          </a:xfrm>
          <a:prstGeom prst="hexagon">
            <a:avLst/>
          </a:prstGeom>
          <a:solidFill>
            <a:srgbClr val="5280C8"/>
          </a:solidFill>
          <a:ln/>
        </p:spPr>
      </p:sp>
      <p:pic>
        <p:nvPicPr>
          <p:cNvPr id="15" name="Image 2" descr="preencoded.png">    </p:cNvPr>
          <p:cNvPicPr>
            <a:picLocks noChangeAspect="1"/>
          </p:cNvPicPr>
          <p:nvPr/>
        </p:nvPicPr>
        <p:blipFill>
          <a:blip r:embed="rId3"/>
          <a:stretch>
            <a:fillRect/>
          </a:stretch>
        </p:blipFill>
        <p:spPr>
          <a:xfrm>
            <a:off x="11177168" y="3039008"/>
            <a:ext cx="231343" cy="231343"/>
          </a:xfrm>
          <a:prstGeom prst="rect">
            <a:avLst/>
          </a:prstGeom>
        </p:spPr>
      </p:pic>
      <p:sp>
        <p:nvSpPr>
          <p:cNvPr id="16" name="Text 11"/>
          <p:cNvSpPr txBox="1"/>
          <p:nvPr/>
        </p:nvSpPr>
        <p:spPr>
          <a:xfrm>
            <a:off x="6583680" y="2862072"/>
            <a:ext cx="4343400" cy="60350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מצב משפחתי:</a:t>
            </a:r>
            <a:endParaRPr lang="he-IL" sz="1400" dirty="0"/>
          </a:p>
          <a:p>
            <a:pPr rtl="1" algn="r" indent="0" marL="0">
              <a:buNone/>
            </a:pPr>
            <a:r>
              <a:rPr lang="he-IL" altLang="en-US" sz="1400" dirty="0">
                <a:solidFill>
                  <a:srgbClr val="2E2A47"/>
                </a:solidFill>
                <a:latin typeface="Arial" pitchFamily="34" charset="0"/>
                <a:ea typeface="Arial" pitchFamily="34" charset="-122"/>
                <a:cs typeface="Arial" pitchFamily="34" charset="-120"/>
              </a:rPr>
              <a:t>נשוי + 8 ילדים</a:t>
            </a:r>
            <a:endParaRPr lang="he-IL" sz="1400" dirty="0"/>
          </a:p>
        </p:txBody>
      </p:sp>
      <p:sp>
        <p:nvSpPr>
          <p:cNvPr id="17" name="Shape 12"/>
          <p:cNvSpPr/>
          <p:nvPr/>
        </p:nvSpPr>
        <p:spPr>
          <a:xfrm>
            <a:off x="6400800" y="3611880"/>
            <a:ext cx="5239512" cy="731520"/>
          </a:xfrm>
          <a:prstGeom prst="roundRect">
            <a:avLst>
              <a:gd name="adj" fmla="val 15000"/>
            </a:avLst>
          </a:prstGeom>
          <a:solidFill>
            <a:srgbClr val="FFFFFF"/>
          </a:solidFill>
          <a:ln w="9525">
            <a:solidFill>
              <a:srgbClr val="E3DFF0"/>
            </a:solidFill>
            <a:prstDash val="solid"/>
          </a:ln>
        </p:spPr>
      </p:sp>
      <p:sp>
        <p:nvSpPr>
          <p:cNvPr id="18" name="Shape 13"/>
          <p:cNvSpPr/>
          <p:nvPr/>
        </p:nvSpPr>
        <p:spPr>
          <a:xfrm rot="5400000">
            <a:off x="11002479" y="3726180"/>
            <a:ext cx="580722" cy="502920"/>
          </a:xfrm>
          <a:prstGeom prst="hexagon">
            <a:avLst/>
          </a:prstGeom>
          <a:solidFill>
            <a:srgbClr val="5B6BB5"/>
          </a:solidFill>
          <a:ln/>
        </p:spPr>
      </p:sp>
      <p:pic>
        <p:nvPicPr>
          <p:cNvPr id="19" name="Image 3" descr="preencoded.png">    </p:cNvPr>
          <p:cNvPicPr>
            <a:picLocks noChangeAspect="1"/>
          </p:cNvPicPr>
          <p:nvPr/>
        </p:nvPicPr>
        <p:blipFill>
          <a:blip r:embed="rId4"/>
          <a:stretch>
            <a:fillRect/>
          </a:stretch>
        </p:blipFill>
        <p:spPr>
          <a:xfrm>
            <a:off x="11177168" y="3861968"/>
            <a:ext cx="231343" cy="231343"/>
          </a:xfrm>
          <a:prstGeom prst="rect">
            <a:avLst/>
          </a:prstGeom>
        </p:spPr>
      </p:pic>
      <p:sp>
        <p:nvSpPr>
          <p:cNvPr id="20" name="Text 14"/>
          <p:cNvSpPr txBox="1"/>
          <p:nvPr/>
        </p:nvSpPr>
        <p:spPr>
          <a:xfrm>
            <a:off x="6583680" y="3685032"/>
            <a:ext cx="4343400" cy="60350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תעסוקה ורקע:</a:t>
            </a:r>
            <a:endParaRPr lang="he-IL" sz="1400" dirty="0"/>
          </a:p>
          <a:p>
            <a:pPr rtl="1" algn="r" indent="0" marL="0">
              <a:buNone/>
            </a:pPr>
            <a:r>
              <a:rPr lang="he-IL" altLang="en-US" sz="1400" dirty="0">
                <a:solidFill>
                  <a:srgbClr val="2E2A47"/>
                </a:solidFill>
                <a:latin typeface="Arial" pitchFamily="34" charset="0"/>
                <a:ea typeface="Arial" pitchFamily="34" charset="-122"/>
                <a:cs typeface="Arial" pitchFamily="34" charset="-120"/>
              </a:rPr>
              <a:t>עובד בישיבה</a:t>
            </a:r>
            <a:endParaRPr lang="he-IL" sz="1400" dirty="0"/>
          </a:p>
        </p:txBody>
      </p:sp>
      <p:sp>
        <p:nvSpPr>
          <p:cNvPr id="21" name="Shape 15"/>
          <p:cNvSpPr/>
          <p:nvPr/>
        </p:nvSpPr>
        <p:spPr>
          <a:xfrm>
            <a:off x="6400800" y="4434840"/>
            <a:ext cx="5239512" cy="731520"/>
          </a:xfrm>
          <a:prstGeom prst="roundRect">
            <a:avLst>
              <a:gd name="adj" fmla="val 15000"/>
            </a:avLst>
          </a:prstGeom>
          <a:solidFill>
            <a:srgbClr val="FFFFFF"/>
          </a:solidFill>
          <a:ln w="9525">
            <a:solidFill>
              <a:srgbClr val="E3DFF0"/>
            </a:solidFill>
            <a:prstDash val="solid"/>
          </a:ln>
        </p:spPr>
      </p:sp>
      <p:sp>
        <p:nvSpPr>
          <p:cNvPr id="22" name="Shape 16"/>
          <p:cNvSpPr/>
          <p:nvPr/>
        </p:nvSpPr>
        <p:spPr>
          <a:xfrm rot="5400000">
            <a:off x="11002479" y="4549140"/>
            <a:ext cx="580722" cy="502920"/>
          </a:xfrm>
          <a:prstGeom prst="hexagon">
            <a:avLst/>
          </a:prstGeom>
          <a:solidFill>
            <a:srgbClr val="6658A6"/>
          </a:solidFill>
          <a:ln/>
        </p:spPr>
      </p:sp>
      <p:pic>
        <p:nvPicPr>
          <p:cNvPr id="23" name="Image 4" descr="preencoded.png">    </p:cNvPr>
          <p:cNvPicPr>
            <a:picLocks noChangeAspect="1"/>
          </p:cNvPicPr>
          <p:nvPr/>
        </p:nvPicPr>
        <p:blipFill>
          <a:blip r:embed="rId5"/>
          <a:stretch>
            <a:fillRect/>
          </a:stretch>
        </p:blipFill>
        <p:spPr>
          <a:xfrm>
            <a:off x="11177168" y="4684928"/>
            <a:ext cx="231343" cy="231343"/>
          </a:xfrm>
          <a:prstGeom prst="rect">
            <a:avLst/>
          </a:prstGeom>
        </p:spPr>
      </p:pic>
      <p:sp>
        <p:nvSpPr>
          <p:cNvPr id="24" name="Text 17"/>
          <p:cNvSpPr txBox="1"/>
          <p:nvPr/>
        </p:nvSpPr>
        <p:spPr>
          <a:xfrm>
            <a:off x="6583680" y="4507992"/>
            <a:ext cx="4343400" cy="60350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היסטוריית סוכרת:</a:t>
            </a:r>
            <a:endParaRPr lang="he-IL" sz="1400" dirty="0"/>
          </a:p>
          <a:p>
            <a:pPr rtl="1" algn="r" indent="0" marL="0">
              <a:buNone/>
            </a:pPr>
            <a:r>
              <a:rPr lang="he-IL" altLang="en-US" sz="1400" dirty="0">
                <a:solidFill>
                  <a:srgbClr val="2E2A47"/>
                </a:solidFill>
                <a:latin typeface="Arial" pitchFamily="34" charset="0"/>
                <a:ea typeface="Arial" pitchFamily="34" charset="-122"/>
                <a:cs typeface="Arial" pitchFamily="34" charset="-120"/>
              </a:rPr>
              <a:t>סוכרת מאובחנת משנת 2011 (כ-15 שנים)</a:t>
            </a:r>
            <a:endParaRPr lang="he-IL" sz="1400" dirty="0"/>
          </a:p>
        </p:txBody>
      </p:sp>
      <p:sp>
        <p:nvSpPr>
          <p:cNvPr id="25" name="Shape 18"/>
          <p:cNvSpPr/>
          <p:nvPr/>
        </p:nvSpPr>
        <p:spPr>
          <a:xfrm>
            <a:off x="6400800" y="5257800"/>
            <a:ext cx="5239512" cy="731520"/>
          </a:xfrm>
          <a:prstGeom prst="roundRect">
            <a:avLst>
              <a:gd name="adj" fmla="val 15000"/>
            </a:avLst>
          </a:prstGeom>
          <a:solidFill>
            <a:srgbClr val="FFFFFF"/>
          </a:solidFill>
          <a:ln w="9525">
            <a:solidFill>
              <a:srgbClr val="E3DFF0"/>
            </a:solidFill>
            <a:prstDash val="solid"/>
          </a:ln>
        </p:spPr>
      </p:sp>
      <p:sp>
        <p:nvSpPr>
          <p:cNvPr id="26" name="Shape 19"/>
          <p:cNvSpPr/>
          <p:nvPr/>
        </p:nvSpPr>
        <p:spPr>
          <a:xfrm rot="5400000">
            <a:off x="11002479" y="5372100"/>
            <a:ext cx="580722" cy="502920"/>
          </a:xfrm>
          <a:prstGeom prst="hexagon">
            <a:avLst/>
          </a:prstGeom>
          <a:solidFill>
            <a:srgbClr val="6E4494"/>
          </a:solidFill>
          <a:ln/>
        </p:spPr>
      </p:sp>
      <p:pic>
        <p:nvPicPr>
          <p:cNvPr id="27" name="Image 5" descr="preencoded.png">    </p:cNvPr>
          <p:cNvPicPr>
            <a:picLocks noChangeAspect="1"/>
          </p:cNvPicPr>
          <p:nvPr/>
        </p:nvPicPr>
        <p:blipFill>
          <a:blip r:embed="rId6"/>
          <a:stretch>
            <a:fillRect/>
          </a:stretch>
        </p:blipFill>
        <p:spPr>
          <a:xfrm>
            <a:off x="11177168" y="5507888"/>
            <a:ext cx="231343" cy="231343"/>
          </a:xfrm>
          <a:prstGeom prst="rect">
            <a:avLst/>
          </a:prstGeom>
        </p:spPr>
      </p:pic>
      <p:sp>
        <p:nvSpPr>
          <p:cNvPr id="28" name="Text 20"/>
          <p:cNvSpPr txBox="1"/>
          <p:nvPr/>
        </p:nvSpPr>
        <p:spPr>
          <a:xfrm>
            <a:off x="6583680" y="5330952"/>
            <a:ext cx="4343400" cy="60350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סיפור משפחתי:</a:t>
            </a:r>
            <a:endParaRPr lang="he-IL" sz="1400" dirty="0"/>
          </a:p>
          <a:p>
            <a:pPr rtl="1" algn="r" indent="0" marL="0">
              <a:buNone/>
            </a:pPr>
            <a:r>
              <a:rPr lang="he-IL" altLang="en-US" sz="1400" dirty="0">
                <a:solidFill>
                  <a:srgbClr val="2E2A47"/>
                </a:solidFill>
                <a:latin typeface="Arial" pitchFamily="34" charset="0"/>
                <a:ea typeface="Arial" pitchFamily="34" charset="-122"/>
                <a:cs typeface="Arial" pitchFamily="34" charset="-120"/>
              </a:rPr>
              <a:t>סוכרת ידועה במשפחה</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קבלת המטופל – רקע רפואי ונתוני פתיחה קריטיים</a:t>
            </a:r>
            <a:endParaRPr lang="he-IL" sz="2600" dirty="0"/>
          </a:p>
        </p:txBody>
      </p:sp>
      <p:sp>
        <p:nvSpPr>
          <p:cNvPr id="5" name="Shape 3"/>
          <p:cNvSpPr/>
          <p:nvPr/>
        </p:nvSpPr>
        <p:spPr>
          <a:xfrm>
            <a:off x="6263640" y="1600200"/>
            <a:ext cx="5376672" cy="1600200"/>
          </a:xfrm>
          <a:prstGeom prst="roundRect">
            <a:avLst>
              <a:gd name="adj" fmla="val 685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10919804" y="2116836"/>
            <a:ext cx="654632" cy="566928"/>
          </a:xfrm>
          <a:prstGeom prst="hexagon">
            <a:avLst/>
          </a:prstGeom>
          <a:solidFill>
            <a:srgbClr val="C24863"/>
          </a:solidFill>
          <a:ln/>
        </p:spPr>
      </p:sp>
      <p:pic>
        <p:nvPicPr>
          <p:cNvPr id="7" name="Image 0" descr="preencoded.png">    </p:cNvPr>
          <p:cNvPicPr>
            <a:picLocks noChangeAspect="1"/>
          </p:cNvPicPr>
          <p:nvPr/>
        </p:nvPicPr>
        <p:blipFill>
          <a:blip r:embed="rId1"/>
          <a:stretch>
            <a:fillRect/>
          </a:stretch>
        </p:blipFill>
        <p:spPr>
          <a:xfrm>
            <a:off x="11116727" y="2269907"/>
            <a:ext cx="260787" cy="260787"/>
          </a:xfrm>
          <a:prstGeom prst="rect">
            <a:avLst/>
          </a:prstGeom>
        </p:spPr>
      </p:pic>
      <p:sp>
        <p:nvSpPr>
          <p:cNvPr id="8" name="Text 5"/>
          <p:cNvSpPr txBox="1"/>
          <p:nvPr/>
        </p:nvSpPr>
        <p:spPr>
          <a:xfrm>
            <a:off x="6446520" y="1709928"/>
            <a:ext cx="4389120" cy="1380744"/>
          </a:xfrm>
          <a:prstGeom prst="rect">
            <a:avLst/>
          </a:prstGeom>
          <a:noFill/>
          <a:ln/>
        </p:spPr>
        <p:txBody>
          <a:bodyPr wrap="square" lIns="0" tIns="0" rIns="0" bIns="0" rtlCol="0" anchor="ctr"/>
          <a:lstStyle/>
          <a:p>
            <a:pPr rtl="1" algn="r" indent="0" marL="0">
              <a:spcAft>
                <a:spcPts val="300"/>
              </a:spcAft>
              <a:buNone/>
            </a:pPr>
            <a:r>
              <a:rPr lang="he-IL" altLang="en-US" sz="1450" b="1" dirty="0">
                <a:solidFill>
                  <a:srgbClr val="C24863"/>
                </a:solidFill>
                <a:latin typeface="Arial" pitchFamily="34" charset="0"/>
                <a:ea typeface="Arial" pitchFamily="34" charset="-122"/>
                <a:cs typeface="Arial" pitchFamily="34" charset="-120"/>
              </a:rPr>
              <a:t>רקע וסקולרי וקרדיווסקולרי:</a:t>
            </a:r>
            <a:endParaRPr lang="he-IL" sz="1450" dirty="0"/>
          </a:p>
          <a:p>
            <a:pPr rtl="1" algn="r" indent="0" marL="0">
              <a:spcAft>
                <a:spcPts val="300"/>
              </a:spcAft>
              <a:buNone/>
            </a:pPr>
            <a:r>
              <a:rPr lang="he-IL" altLang="en-US" sz="1450" dirty="0">
                <a:solidFill>
                  <a:srgbClr val="2E2A47"/>
                </a:solidFill>
                <a:latin typeface="Arial" pitchFamily="34" charset="0"/>
                <a:ea typeface="Arial" pitchFamily="34" charset="-122"/>
                <a:cs typeface="Arial" pitchFamily="34" charset="-120"/>
              </a:rPr>
              <a:t>אירוע מוחי CVA (2023) עם שארית קושי בדיבור ואי יציבות, מחלת לב איסכמית IHD לאחר צנתור (חסימות 40%-50%)</a:t>
            </a:r>
            <a:endParaRPr lang="he-IL" sz="1450" dirty="0"/>
          </a:p>
        </p:txBody>
      </p:sp>
      <p:sp>
        <p:nvSpPr>
          <p:cNvPr id="9" name="Shape 6"/>
          <p:cNvSpPr/>
          <p:nvPr/>
        </p:nvSpPr>
        <p:spPr>
          <a:xfrm>
            <a:off x="6263640" y="3383280"/>
            <a:ext cx="5376672" cy="1188720"/>
          </a:xfrm>
          <a:prstGeom prst="roundRect">
            <a:avLst>
              <a:gd name="adj" fmla="val 923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0" name="Shape 7"/>
          <p:cNvSpPr/>
          <p:nvPr/>
        </p:nvSpPr>
        <p:spPr>
          <a:xfrm rot="5400000">
            <a:off x="10919804" y="3694176"/>
            <a:ext cx="654632" cy="566928"/>
          </a:xfrm>
          <a:prstGeom prst="hexagon">
            <a:avLst/>
          </a:prstGeom>
          <a:solidFill>
            <a:srgbClr val="5B6BB5"/>
          </a:solidFill>
          <a:ln/>
        </p:spPr>
      </p:sp>
      <p:pic>
        <p:nvPicPr>
          <p:cNvPr id="11" name="Image 1" descr="preencoded.png">    </p:cNvPr>
          <p:cNvPicPr>
            <a:picLocks noChangeAspect="1"/>
          </p:cNvPicPr>
          <p:nvPr/>
        </p:nvPicPr>
        <p:blipFill>
          <a:blip r:embed="rId2"/>
          <a:stretch>
            <a:fillRect/>
          </a:stretch>
        </p:blipFill>
        <p:spPr>
          <a:xfrm>
            <a:off x="11116727" y="3847247"/>
            <a:ext cx="260787" cy="260787"/>
          </a:xfrm>
          <a:prstGeom prst="rect">
            <a:avLst/>
          </a:prstGeom>
        </p:spPr>
      </p:pic>
      <p:sp>
        <p:nvSpPr>
          <p:cNvPr id="12" name="Text 8"/>
          <p:cNvSpPr txBox="1"/>
          <p:nvPr/>
        </p:nvSpPr>
        <p:spPr>
          <a:xfrm>
            <a:off x="6446520" y="3493008"/>
            <a:ext cx="4389120" cy="969264"/>
          </a:xfrm>
          <a:prstGeom prst="rect">
            <a:avLst/>
          </a:prstGeom>
          <a:noFill/>
          <a:ln/>
        </p:spPr>
        <p:txBody>
          <a:bodyPr wrap="square" lIns="0" tIns="0" rIns="0" bIns="0" rtlCol="0" anchor="ctr"/>
          <a:lstStyle/>
          <a:p>
            <a:pPr rtl="1" algn="r" indent="0" marL="0">
              <a:spcAft>
                <a:spcPts val="300"/>
              </a:spcAft>
              <a:buNone/>
            </a:pPr>
            <a:r>
              <a:rPr lang="he-IL" altLang="en-US" sz="1450" b="1" dirty="0">
                <a:solidFill>
                  <a:srgbClr val="5B6BB5"/>
                </a:solidFill>
                <a:latin typeface="Arial" pitchFamily="34" charset="0"/>
                <a:ea typeface="Arial" pitchFamily="34" charset="-122"/>
                <a:cs typeface="Arial" pitchFamily="34" charset="-120"/>
              </a:rPr>
              <a:t>תסמונת דום נשימה בשינה (Severe Sleep Apnea):</a:t>
            </a:r>
            <a:endParaRPr lang="he-IL" sz="1450" dirty="0"/>
          </a:p>
          <a:p>
            <a:pPr rtl="1" algn="r" indent="0" marL="0">
              <a:spcAft>
                <a:spcPts val="300"/>
              </a:spcAft>
              <a:buNone/>
            </a:pPr>
            <a:r>
              <a:rPr lang="he-IL" altLang="en-US" sz="1450" dirty="0">
                <a:solidFill>
                  <a:srgbClr val="2E2A47"/>
                </a:solidFill>
                <a:latin typeface="Arial" pitchFamily="34" charset="0"/>
                <a:ea typeface="Arial" pitchFamily="34" charset="-122"/>
                <a:cs typeface="Arial" pitchFamily="34" charset="-120"/>
              </a:rPr>
              <a:t>מאובחנת משנת 2024</a:t>
            </a:r>
            <a:endParaRPr lang="he-IL" sz="1450" dirty="0"/>
          </a:p>
        </p:txBody>
      </p:sp>
      <p:sp>
        <p:nvSpPr>
          <p:cNvPr id="13" name="Shape 9"/>
          <p:cNvSpPr/>
          <p:nvPr/>
        </p:nvSpPr>
        <p:spPr>
          <a:xfrm>
            <a:off x="6263640" y="4754880"/>
            <a:ext cx="5376672" cy="1188720"/>
          </a:xfrm>
          <a:prstGeom prst="roundRect">
            <a:avLst>
              <a:gd name="adj" fmla="val 923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4" name="Shape 10"/>
          <p:cNvSpPr/>
          <p:nvPr/>
        </p:nvSpPr>
        <p:spPr>
          <a:xfrm rot="5400000">
            <a:off x="10919804" y="5065776"/>
            <a:ext cx="654632" cy="566928"/>
          </a:xfrm>
          <a:prstGeom prst="hexagon">
            <a:avLst/>
          </a:prstGeom>
          <a:solidFill>
            <a:srgbClr val="B8741A"/>
          </a:solidFill>
          <a:ln/>
        </p:spPr>
      </p:sp>
      <p:pic>
        <p:nvPicPr>
          <p:cNvPr id="15" name="Image 2" descr="preencoded.png">    </p:cNvPr>
          <p:cNvPicPr>
            <a:picLocks noChangeAspect="1"/>
          </p:cNvPicPr>
          <p:nvPr/>
        </p:nvPicPr>
        <p:blipFill>
          <a:blip r:embed="rId3"/>
          <a:stretch>
            <a:fillRect/>
          </a:stretch>
        </p:blipFill>
        <p:spPr>
          <a:xfrm>
            <a:off x="11116727" y="5218847"/>
            <a:ext cx="260787" cy="260787"/>
          </a:xfrm>
          <a:prstGeom prst="rect">
            <a:avLst/>
          </a:prstGeom>
        </p:spPr>
      </p:pic>
      <p:sp>
        <p:nvSpPr>
          <p:cNvPr id="16" name="Text 11"/>
          <p:cNvSpPr txBox="1"/>
          <p:nvPr/>
        </p:nvSpPr>
        <p:spPr>
          <a:xfrm>
            <a:off x="6446520" y="4864608"/>
            <a:ext cx="4389120" cy="969264"/>
          </a:xfrm>
          <a:prstGeom prst="rect">
            <a:avLst/>
          </a:prstGeom>
          <a:noFill/>
          <a:ln/>
        </p:spPr>
        <p:txBody>
          <a:bodyPr wrap="square" lIns="0" tIns="0" rIns="0" bIns="0" rtlCol="0" anchor="ctr"/>
          <a:lstStyle/>
          <a:p>
            <a:pPr rtl="1" algn="r" indent="0" marL="0">
              <a:spcAft>
                <a:spcPts val="300"/>
              </a:spcAft>
              <a:buNone/>
            </a:pPr>
            <a:r>
              <a:rPr lang="he-IL" altLang="en-US" sz="1450" b="1" dirty="0">
                <a:solidFill>
                  <a:srgbClr val="B8741A"/>
                </a:solidFill>
                <a:latin typeface="Arial" pitchFamily="34" charset="0"/>
                <a:ea typeface="Arial" pitchFamily="34" charset="-122"/>
                <a:cs typeface="Arial" pitchFamily="34" charset="-120"/>
              </a:rPr>
              <a:t>כבד שומני (Fatty Liver):</a:t>
            </a:r>
            <a:endParaRPr lang="he-IL" sz="1450" dirty="0"/>
          </a:p>
          <a:p>
            <a:pPr rtl="1" algn="r" indent="0" marL="0">
              <a:spcAft>
                <a:spcPts val="300"/>
              </a:spcAft>
              <a:buNone/>
            </a:pPr>
            <a:r>
              <a:rPr lang="he-IL" altLang="en-US" sz="1450" dirty="0">
                <a:solidFill>
                  <a:srgbClr val="2E2A47"/>
                </a:solidFill>
                <a:latin typeface="Arial" pitchFamily="34" charset="0"/>
                <a:ea typeface="Arial" pitchFamily="34" charset="-122"/>
                <a:cs typeface="Arial" pitchFamily="34" charset="-120"/>
              </a:rPr>
              <a:t>מאובחן משנת 1994 (למעלה מ-30 שנה)</a:t>
            </a:r>
            <a:endParaRPr lang="he-IL" sz="1450" dirty="0"/>
          </a:p>
        </p:txBody>
      </p:sp>
      <p:sp>
        <p:nvSpPr>
          <p:cNvPr id="17" name="Text 12"/>
          <p:cNvSpPr txBox="1"/>
          <p:nvPr/>
        </p:nvSpPr>
        <p:spPr>
          <a:xfrm>
            <a:off x="548640" y="1554480"/>
            <a:ext cx="5394960" cy="411480"/>
          </a:xfrm>
          <a:prstGeom prst="rect">
            <a:avLst/>
          </a:prstGeom>
          <a:noFill/>
          <a:ln/>
        </p:spPr>
        <p:txBody>
          <a:bodyPr wrap="square" lIns="0" tIns="0" rIns="0" bIns="0" rtlCol="0" anchor="t"/>
          <a:lstStyle/>
          <a:p>
            <a:pPr rtl="1" algn="r" indent="0" marL="0">
              <a:buNone/>
            </a:pPr>
            <a:r>
              <a:rPr lang="he-IL" altLang="en-US" sz="1800" b="1" dirty="0">
                <a:solidFill>
                  <a:srgbClr val="6E4494"/>
                </a:solidFill>
                <a:latin typeface="Arial" pitchFamily="34" charset="0"/>
                <a:ea typeface="Arial" pitchFamily="34" charset="-122"/>
                <a:cs typeface="Arial" pitchFamily="34" charset="-120"/>
              </a:rPr>
              <a:t>נתוני פתיחה קריטיים:</a:t>
            </a:r>
            <a:endParaRPr lang="he-IL" sz="1800" dirty="0"/>
          </a:p>
        </p:txBody>
      </p:sp>
      <p:sp>
        <p:nvSpPr>
          <p:cNvPr id="18" name="Shape 13"/>
          <p:cNvSpPr/>
          <p:nvPr/>
        </p:nvSpPr>
        <p:spPr>
          <a:xfrm>
            <a:off x="548640" y="2057400"/>
            <a:ext cx="5394960" cy="1207008"/>
          </a:xfrm>
          <a:prstGeom prst="roundRect">
            <a:avLst>
              <a:gd name="adj" fmla="val 9091"/>
            </a:avLst>
          </a:prstGeom>
          <a:solidFill>
            <a:srgbClr val="F3F0FA"/>
          </a:solidFill>
          <a:ln/>
        </p:spPr>
      </p:sp>
      <p:sp>
        <p:nvSpPr>
          <p:cNvPr id="19" name="Text 14"/>
          <p:cNvSpPr txBox="1"/>
          <p:nvPr/>
        </p:nvSpPr>
        <p:spPr>
          <a:xfrm>
            <a:off x="3063240" y="2258568"/>
            <a:ext cx="2697480" cy="365760"/>
          </a:xfrm>
          <a:prstGeom prst="rect">
            <a:avLst/>
          </a:prstGeom>
          <a:noFill/>
          <a:ln/>
        </p:spPr>
        <p:txBody>
          <a:bodyPr wrap="square" lIns="0" tIns="0" rIns="0" bIns="0" rtlCol="0" anchor="t"/>
          <a:lstStyle/>
          <a:p>
            <a:pPr rtl="1" algn="r" indent="0" marL="0">
              <a:buNone/>
            </a:pPr>
            <a:r>
              <a:rPr lang="he-IL" altLang="en-US" sz="1600" b="1" dirty="0">
                <a:solidFill>
                  <a:srgbClr val="2B2560"/>
                </a:solidFill>
                <a:latin typeface="Arial" pitchFamily="34" charset="0"/>
                <a:ea typeface="Arial" pitchFamily="34" charset="-122"/>
                <a:cs typeface="Arial" pitchFamily="34" charset="-120"/>
              </a:rPr>
              <a:t>A1C בסיס</a:t>
            </a:r>
            <a:endParaRPr lang="he-IL" sz="1600" dirty="0"/>
          </a:p>
        </p:txBody>
      </p:sp>
      <p:sp>
        <p:nvSpPr>
          <p:cNvPr id="20" name="Text 15"/>
          <p:cNvSpPr txBox="1"/>
          <p:nvPr/>
        </p:nvSpPr>
        <p:spPr>
          <a:xfrm>
            <a:off x="3063240" y="2660904"/>
            <a:ext cx="2697480" cy="365760"/>
          </a:xfrm>
          <a:prstGeom prst="rect">
            <a:avLst/>
          </a:prstGeom>
          <a:noFill/>
          <a:ln/>
        </p:spPr>
        <p:txBody>
          <a:bodyPr wrap="square" lIns="0" tIns="0" rIns="0" bIns="0" rtlCol="0" anchor="t"/>
          <a:lstStyle/>
          <a:p>
            <a:pPr rtl="1" algn="r" indent="0" marL="0">
              <a:buNone/>
            </a:pPr>
            <a:r>
              <a:rPr lang="he-IL" altLang="en-US" sz="1300" dirty="0">
                <a:solidFill>
                  <a:srgbClr val="6B6785"/>
                </a:solidFill>
                <a:latin typeface="Arial" pitchFamily="34" charset="0"/>
                <a:ea typeface="Arial" pitchFamily="34" charset="-122"/>
                <a:cs typeface="Arial" pitchFamily="34" charset="-120"/>
              </a:rPr>
              <a:t>(לא מאוזן באופן קיצוני)</a:t>
            </a:r>
            <a:endParaRPr lang="he-IL" sz="1300" dirty="0"/>
          </a:p>
        </p:txBody>
      </p:sp>
      <p:sp>
        <p:nvSpPr>
          <p:cNvPr id="21" name="Text 16"/>
          <p:cNvSpPr txBox="1"/>
          <p:nvPr/>
        </p:nvSpPr>
        <p:spPr>
          <a:xfrm>
            <a:off x="731520" y="2203704"/>
            <a:ext cx="2194560" cy="914400"/>
          </a:xfrm>
          <a:prstGeom prst="rect">
            <a:avLst/>
          </a:prstGeom>
          <a:noFill/>
          <a:ln/>
        </p:spPr>
        <p:txBody>
          <a:bodyPr wrap="square" lIns="0" tIns="0" rIns="0" bIns="0" rtlCol="0" anchor="ctr"/>
          <a:lstStyle/>
          <a:p>
            <a:pPr algn="l" indent="0" marL="0">
              <a:buNone/>
            </a:pPr>
            <a:r>
              <a:rPr lang="en-US" altLang="en-US" sz="3600" b="1" dirty="0">
                <a:solidFill>
                  <a:srgbClr val="C24863"/>
                </a:solidFill>
                <a:latin typeface="Arial" pitchFamily="34" charset="0"/>
                <a:ea typeface="Arial" pitchFamily="34" charset="-122"/>
                <a:cs typeface="Arial" pitchFamily="34" charset="-120"/>
              </a:rPr>
              <a:t>13.4%</a:t>
            </a:r>
            <a:endParaRPr lang="en-US" sz="3600" dirty="0"/>
          </a:p>
        </p:txBody>
      </p:sp>
      <p:sp>
        <p:nvSpPr>
          <p:cNvPr id="22" name="Shape 17"/>
          <p:cNvSpPr/>
          <p:nvPr/>
        </p:nvSpPr>
        <p:spPr>
          <a:xfrm>
            <a:off x="548640" y="3401568"/>
            <a:ext cx="5394960" cy="1207008"/>
          </a:xfrm>
          <a:prstGeom prst="roundRect">
            <a:avLst>
              <a:gd name="adj" fmla="val 9091"/>
            </a:avLst>
          </a:prstGeom>
          <a:solidFill>
            <a:srgbClr val="F3F0FA"/>
          </a:solidFill>
          <a:ln/>
        </p:spPr>
      </p:sp>
      <p:sp>
        <p:nvSpPr>
          <p:cNvPr id="23" name="Text 18"/>
          <p:cNvSpPr txBox="1"/>
          <p:nvPr/>
        </p:nvSpPr>
        <p:spPr>
          <a:xfrm>
            <a:off x="3063240" y="3602736"/>
            <a:ext cx="2697480" cy="365760"/>
          </a:xfrm>
          <a:prstGeom prst="rect">
            <a:avLst/>
          </a:prstGeom>
          <a:noFill/>
          <a:ln/>
        </p:spPr>
        <p:txBody>
          <a:bodyPr wrap="square" lIns="0" tIns="0" rIns="0" bIns="0" rtlCol="0" anchor="t"/>
          <a:lstStyle/>
          <a:p>
            <a:pPr rtl="1" algn="r" indent="0" marL="0">
              <a:buNone/>
            </a:pPr>
            <a:r>
              <a:rPr lang="he-IL" altLang="en-US" sz="1600" b="1" dirty="0">
                <a:solidFill>
                  <a:srgbClr val="2B2560"/>
                </a:solidFill>
                <a:latin typeface="Arial" pitchFamily="34" charset="0"/>
                <a:ea typeface="Arial" pitchFamily="34" charset="-122"/>
                <a:cs typeface="Arial" pitchFamily="34" charset="-120"/>
              </a:rPr>
              <a:t>משקל בסיס</a:t>
            </a:r>
            <a:endParaRPr lang="he-IL" sz="1600" dirty="0"/>
          </a:p>
        </p:txBody>
      </p:sp>
      <p:sp>
        <p:nvSpPr>
          <p:cNvPr id="24" name="Text 19"/>
          <p:cNvSpPr txBox="1"/>
          <p:nvPr/>
        </p:nvSpPr>
        <p:spPr>
          <a:xfrm>
            <a:off x="3063240" y="4005072"/>
            <a:ext cx="2697480" cy="365760"/>
          </a:xfrm>
          <a:prstGeom prst="rect">
            <a:avLst/>
          </a:prstGeom>
          <a:noFill/>
          <a:ln/>
        </p:spPr>
        <p:txBody>
          <a:bodyPr wrap="square" lIns="0" tIns="0" rIns="0" bIns="0" rtlCol="0" anchor="t"/>
          <a:lstStyle/>
          <a:p>
            <a:pPr rtl="1" algn="r" indent="0" marL="0">
              <a:buNone/>
            </a:pPr>
            <a:r>
              <a:rPr lang="he-IL" altLang="en-US" sz="1300" dirty="0">
                <a:solidFill>
                  <a:srgbClr val="6B6785"/>
                </a:solidFill>
                <a:latin typeface="Arial" pitchFamily="34" charset="0"/>
                <a:ea typeface="Arial" pitchFamily="34" charset="-122"/>
                <a:cs typeface="Arial" pitchFamily="34" charset="-120"/>
              </a:rPr>
              <a:t>גובה: 163 ס"מ</a:t>
            </a:r>
            <a:endParaRPr lang="he-IL" sz="1300" dirty="0"/>
          </a:p>
        </p:txBody>
      </p:sp>
      <p:sp>
        <p:nvSpPr>
          <p:cNvPr id="25" name="Text 20"/>
          <p:cNvSpPr txBox="1"/>
          <p:nvPr/>
        </p:nvSpPr>
        <p:spPr>
          <a:xfrm>
            <a:off x="731520" y="3547872"/>
            <a:ext cx="2194560" cy="914400"/>
          </a:xfrm>
          <a:prstGeom prst="rect">
            <a:avLst/>
          </a:prstGeom>
          <a:noFill/>
          <a:ln/>
        </p:spPr>
        <p:txBody>
          <a:bodyPr wrap="square" lIns="0" tIns="0" rIns="0" bIns="0" rtlCol="0" anchor="ctr"/>
          <a:lstStyle/>
          <a:p>
            <a:pPr rtl="1" algn="l" indent="0" marL="0">
              <a:buNone/>
            </a:pPr>
            <a:r>
              <a:rPr lang="he-IL" altLang="en-US" sz="3600" b="1" dirty="0">
                <a:solidFill>
                  <a:srgbClr val="4A90D0"/>
                </a:solidFill>
                <a:latin typeface="Arial" pitchFamily="34" charset="0"/>
                <a:ea typeface="Arial" pitchFamily="34" charset="-122"/>
                <a:cs typeface="Arial" pitchFamily="34" charset="-120"/>
              </a:rPr>
              <a:t>96 ק"ג</a:t>
            </a:r>
            <a:endParaRPr lang="he-IL" sz="3600" dirty="0"/>
          </a:p>
        </p:txBody>
      </p:sp>
      <p:sp>
        <p:nvSpPr>
          <p:cNvPr id="26" name="Shape 21"/>
          <p:cNvSpPr/>
          <p:nvPr/>
        </p:nvSpPr>
        <p:spPr>
          <a:xfrm>
            <a:off x="548640" y="4745736"/>
            <a:ext cx="5394960" cy="1207008"/>
          </a:xfrm>
          <a:prstGeom prst="roundRect">
            <a:avLst>
              <a:gd name="adj" fmla="val 9091"/>
            </a:avLst>
          </a:prstGeom>
          <a:solidFill>
            <a:srgbClr val="F3F0FA"/>
          </a:solidFill>
          <a:ln/>
        </p:spPr>
      </p:sp>
      <p:sp>
        <p:nvSpPr>
          <p:cNvPr id="27" name="Text 22"/>
          <p:cNvSpPr txBox="1"/>
          <p:nvPr/>
        </p:nvSpPr>
        <p:spPr>
          <a:xfrm>
            <a:off x="3063240" y="4946904"/>
            <a:ext cx="2697480" cy="365760"/>
          </a:xfrm>
          <a:prstGeom prst="rect">
            <a:avLst/>
          </a:prstGeom>
          <a:noFill/>
          <a:ln/>
        </p:spPr>
        <p:txBody>
          <a:bodyPr wrap="square" lIns="0" tIns="0" rIns="0" bIns="0" rtlCol="0" anchor="t"/>
          <a:lstStyle/>
          <a:p>
            <a:pPr rtl="1" algn="r" indent="0" marL="0">
              <a:buNone/>
            </a:pPr>
            <a:r>
              <a:rPr lang="he-IL" altLang="en-US" sz="1600" b="1" dirty="0">
                <a:solidFill>
                  <a:srgbClr val="2B2560"/>
                </a:solidFill>
                <a:latin typeface="Arial" pitchFamily="34" charset="0"/>
                <a:ea typeface="Arial" pitchFamily="34" charset="-122"/>
                <a:cs typeface="Arial" pitchFamily="34" charset="-120"/>
              </a:rPr>
              <a:t>BMI התחלתי</a:t>
            </a:r>
            <a:endParaRPr lang="he-IL" sz="1600" dirty="0"/>
          </a:p>
        </p:txBody>
      </p:sp>
      <p:sp>
        <p:nvSpPr>
          <p:cNvPr id="28" name="Text 23"/>
          <p:cNvSpPr txBox="1"/>
          <p:nvPr/>
        </p:nvSpPr>
        <p:spPr>
          <a:xfrm>
            <a:off x="3063240" y="5349240"/>
            <a:ext cx="2697480" cy="365760"/>
          </a:xfrm>
          <a:prstGeom prst="rect">
            <a:avLst/>
          </a:prstGeom>
          <a:noFill/>
          <a:ln/>
        </p:spPr>
        <p:txBody>
          <a:bodyPr wrap="square" lIns="0" tIns="0" rIns="0" bIns="0" rtlCol="0" anchor="t"/>
          <a:lstStyle/>
          <a:p>
            <a:pPr rtl="1" algn="r" indent="0" marL="0">
              <a:buNone/>
            </a:pPr>
            <a:r>
              <a:rPr lang="he-IL" altLang="en-US" sz="1300" dirty="0">
                <a:solidFill>
                  <a:srgbClr val="6B6785"/>
                </a:solidFill>
                <a:latin typeface="Arial" pitchFamily="34" charset="0"/>
                <a:ea typeface="Arial" pitchFamily="34" charset="-122"/>
                <a:cs typeface="Arial" pitchFamily="34" charset="-120"/>
              </a:rPr>
              <a:t>(השמנה דרגה 2)</a:t>
            </a:r>
            <a:endParaRPr lang="he-IL" sz="1300" dirty="0"/>
          </a:p>
        </p:txBody>
      </p:sp>
      <p:sp>
        <p:nvSpPr>
          <p:cNvPr id="29" name="Text 24"/>
          <p:cNvSpPr txBox="1"/>
          <p:nvPr/>
        </p:nvSpPr>
        <p:spPr>
          <a:xfrm>
            <a:off x="731520" y="4892040"/>
            <a:ext cx="2194560" cy="914400"/>
          </a:xfrm>
          <a:prstGeom prst="rect">
            <a:avLst/>
          </a:prstGeom>
          <a:noFill/>
          <a:ln/>
        </p:spPr>
        <p:txBody>
          <a:bodyPr wrap="square" lIns="0" tIns="0" rIns="0" bIns="0" rtlCol="0" anchor="ctr"/>
          <a:lstStyle/>
          <a:p>
            <a:pPr algn="l" indent="0" marL="0">
              <a:buNone/>
            </a:pPr>
            <a:r>
              <a:rPr lang="en-US" altLang="en-US" sz="3600" b="1" dirty="0">
                <a:solidFill>
                  <a:srgbClr val="5B6BB5"/>
                </a:solidFill>
                <a:latin typeface="Arial" pitchFamily="34" charset="0"/>
                <a:ea typeface="Arial" pitchFamily="34" charset="-122"/>
                <a:cs typeface="Arial" pitchFamily="34" charset="-120"/>
              </a:rPr>
              <a:t>36.1</a:t>
            </a:r>
            <a:endParaRPr lang="en-US" sz="36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מחלות רקע של המטופל (Past Medical History)</a:t>
            </a:r>
            <a:endParaRPr lang="he-IL" sz="2600" dirty="0"/>
          </a:p>
        </p:txBody>
      </p:sp>
      <p:sp>
        <p:nvSpPr>
          <p:cNvPr id="5" name="Text 3"/>
          <p:cNvSpPr txBox="1"/>
          <p:nvPr/>
        </p:nvSpPr>
        <p:spPr>
          <a:xfrm>
            <a:off x="1371600" y="1207008"/>
            <a:ext cx="10268712" cy="320040"/>
          </a:xfrm>
          <a:prstGeom prst="rect">
            <a:avLst/>
          </a:prstGeom>
          <a:noFill/>
          <a:ln/>
        </p:spPr>
        <p:txBody>
          <a:bodyPr wrap="square" lIns="0" tIns="0" rIns="0" bIns="0" rtlCol="0" anchor="t"/>
          <a:lstStyle/>
          <a:p>
            <a:pPr rtl="1" algn="r" indent="0" marL="0">
              <a:buNone/>
            </a:pPr>
            <a:r>
              <a:rPr lang="he-IL" altLang="en-US" sz="1500" dirty="0">
                <a:solidFill>
                  <a:srgbClr val="6B6785"/>
                </a:solidFill>
                <a:latin typeface="Arial" pitchFamily="34" charset="0"/>
                <a:ea typeface="Arial" pitchFamily="34" charset="-122"/>
                <a:cs typeface="Arial" pitchFamily="34" charset="-120"/>
              </a:rPr>
              <a:t>רשימת מחלות רקע ואבחנות מתועדות בתיק הרפואי</a:t>
            </a:r>
            <a:endParaRPr lang="he-IL" sz="1500" dirty="0"/>
          </a:p>
        </p:txBody>
      </p:sp>
      <p:sp>
        <p:nvSpPr>
          <p:cNvPr id="6" name="Shape 4"/>
          <p:cNvSpPr/>
          <p:nvPr/>
        </p:nvSpPr>
        <p:spPr>
          <a:xfrm>
            <a:off x="9006611" y="1691640"/>
            <a:ext cx="2636444" cy="1298448"/>
          </a:xfrm>
          <a:prstGeom prst="roundRect">
            <a:avLst>
              <a:gd name="adj" fmla="val 8451"/>
            </a:avLst>
          </a:prstGeom>
          <a:solidFill>
            <a:srgbClr val="FFFFFF"/>
          </a:solidFill>
          <a:ln w="9525">
            <a:solidFill>
              <a:srgbClr val="E3DFF0"/>
            </a:solidFill>
            <a:prstDash val="solid"/>
          </a:ln>
        </p:spPr>
      </p:sp>
      <p:sp>
        <p:nvSpPr>
          <p:cNvPr id="7" name="Shape 5"/>
          <p:cNvSpPr/>
          <p:nvPr/>
        </p:nvSpPr>
        <p:spPr>
          <a:xfrm>
            <a:off x="10042855" y="1819656"/>
            <a:ext cx="1463040" cy="329184"/>
          </a:xfrm>
          <a:prstGeom prst="roundRect">
            <a:avLst>
              <a:gd name="adj" fmla="val 50000"/>
            </a:avLst>
          </a:prstGeom>
          <a:solidFill>
            <a:srgbClr val="4A90D0"/>
          </a:solidFill>
          <a:ln/>
        </p:spPr>
      </p:sp>
      <p:sp>
        <p:nvSpPr>
          <p:cNvPr id="8" name="Text 6"/>
          <p:cNvSpPr txBox="1"/>
          <p:nvPr/>
        </p:nvSpPr>
        <p:spPr>
          <a:xfrm>
            <a:off x="10042855" y="181965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1992</a:t>
            </a:r>
            <a:endParaRPr lang="en-US" sz="1200" dirty="0"/>
          </a:p>
        </p:txBody>
      </p:sp>
      <p:sp>
        <p:nvSpPr>
          <p:cNvPr id="9" name="Text 7"/>
          <p:cNvSpPr txBox="1"/>
          <p:nvPr/>
        </p:nvSpPr>
        <p:spPr>
          <a:xfrm>
            <a:off x="9143771" y="222199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HYPERLIPIDEMIA UNSPECIFIED</a:t>
            </a:r>
            <a:endParaRPr lang="en-US" sz="1200" dirty="0"/>
          </a:p>
        </p:txBody>
      </p:sp>
      <p:sp>
        <p:nvSpPr>
          <p:cNvPr id="10" name="Text 8"/>
          <p:cNvSpPr txBox="1"/>
          <p:nvPr/>
        </p:nvSpPr>
        <p:spPr>
          <a:xfrm>
            <a:off x="9143771" y="262432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(יתר שומנים בדם)</a:t>
            </a:r>
            <a:endParaRPr lang="he-IL" sz="1200" dirty="0"/>
          </a:p>
        </p:txBody>
      </p:sp>
      <p:sp>
        <p:nvSpPr>
          <p:cNvPr id="11" name="Shape 9"/>
          <p:cNvSpPr/>
          <p:nvPr/>
        </p:nvSpPr>
        <p:spPr>
          <a:xfrm>
            <a:off x="6187288" y="1691640"/>
            <a:ext cx="2636444" cy="1298448"/>
          </a:xfrm>
          <a:prstGeom prst="roundRect">
            <a:avLst>
              <a:gd name="adj" fmla="val 8451"/>
            </a:avLst>
          </a:prstGeom>
          <a:solidFill>
            <a:srgbClr val="FFFFFF"/>
          </a:solidFill>
          <a:ln w="9525">
            <a:solidFill>
              <a:srgbClr val="E3DFF0"/>
            </a:solidFill>
            <a:prstDash val="solid"/>
          </a:ln>
        </p:spPr>
      </p:sp>
      <p:sp>
        <p:nvSpPr>
          <p:cNvPr id="12" name="Shape 10"/>
          <p:cNvSpPr/>
          <p:nvPr/>
        </p:nvSpPr>
        <p:spPr>
          <a:xfrm>
            <a:off x="7223531" y="1819656"/>
            <a:ext cx="1463040" cy="329184"/>
          </a:xfrm>
          <a:prstGeom prst="roundRect">
            <a:avLst>
              <a:gd name="adj" fmla="val 50000"/>
            </a:avLst>
          </a:prstGeom>
          <a:solidFill>
            <a:srgbClr val="4A90D0"/>
          </a:solidFill>
          <a:ln/>
        </p:spPr>
      </p:sp>
      <p:sp>
        <p:nvSpPr>
          <p:cNvPr id="13" name="Text 11"/>
          <p:cNvSpPr txBox="1"/>
          <p:nvPr/>
        </p:nvSpPr>
        <p:spPr>
          <a:xfrm>
            <a:off x="7223531" y="181965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1994</a:t>
            </a:r>
            <a:endParaRPr lang="en-US" sz="1200" dirty="0"/>
          </a:p>
        </p:txBody>
      </p:sp>
      <p:sp>
        <p:nvSpPr>
          <p:cNvPr id="14" name="Text 12"/>
          <p:cNvSpPr txBox="1"/>
          <p:nvPr/>
        </p:nvSpPr>
        <p:spPr>
          <a:xfrm>
            <a:off x="6324448" y="222199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FATTY LIVER</a:t>
            </a:r>
            <a:endParaRPr lang="en-US" sz="1200" dirty="0"/>
          </a:p>
        </p:txBody>
      </p:sp>
      <p:sp>
        <p:nvSpPr>
          <p:cNvPr id="15" name="Text 13"/>
          <p:cNvSpPr txBox="1"/>
          <p:nvPr/>
        </p:nvSpPr>
        <p:spPr>
          <a:xfrm>
            <a:off x="6324448" y="262432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(כבד שומני)</a:t>
            </a:r>
            <a:endParaRPr lang="he-IL" sz="1200" dirty="0"/>
          </a:p>
        </p:txBody>
      </p:sp>
      <p:sp>
        <p:nvSpPr>
          <p:cNvPr id="16" name="Shape 14"/>
          <p:cNvSpPr/>
          <p:nvPr/>
        </p:nvSpPr>
        <p:spPr>
          <a:xfrm>
            <a:off x="3367964" y="1691640"/>
            <a:ext cx="2636444" cy="1298448"/>
          </a:xfrm>
          <a:prstGeom prst="roundRect">
            <a:avLst>
              <a:gd name="adj" fmla="val 8451"/>
            </a:avLst>
          </a:prstGeom>
          <a:solidFill>
            <a:srgbClr val="FFFFFF"/>
          </a:solidFill>
          <a:ln w="9525">
            <a:solidFill>
              <a:srgbClr val="E3DFF0"/>
            </a:solidFill>
            <a:prstDash val="solid"/>
          </a:ln>
        </p:spPr>
      </p:sp>
      <p:sp>
        <p:nvSpPr>
          <p:cNvPr id="17" name="Shape 15"/>
          <p:cNvSpPr/>
          <p:nvPr/>
        </p:nvSpPr>
        <p:spPr>
          <a:xfrm>
            <a:off x="4404208" y="1819656"/>
            <a:ext cx="1463040" cy="329184"/>
          </a:xfrm>
          <a:prstGeom prst="roundRect">
            <a:avLst>
              <a:gd name="adj" fmla="val 50000"/>
            </a:avLst>
          </a:prstGeom>
          <a:solidFill>
            <a:srgbClr val="4A90D0"/>
          </a:solidFill>
          <a:ln/>
        </p:spPr>
      </p:sp>
      <p:sp>
        <p:nvSpPr>
          <p:cNvPr id="18" name="Text 16"/>
          <p:cNvSpPr txBox="1"/>
          <p:nvPr/>
        </p:nvSpPr>
        <p:spPr>
          <a:xfrm>
            <a:off x="4404208" y="1819656"/>
            <a:ext cx="1463040" cy="329184"/>
          </a:xfrm>
          <a:prstGeom prst="rect">
            <a:avLst/>
          </a:prstGeom>
          <a:noFill/>
          <a:ln/>
        </p:spPr>
        <p:txBody>
          <a:bodyPr wrap="square" lIns="0" tIns="0" rIns="0" bIns="0" rtlCol="0" anchor="ctr"/>
          <a:lstStyle/>
          <a:p>
            <a:pPr rtl="1" algn="ctr" indent="0" marL="0">
              <a:buNone/>
            </a:pPr>
            <a:r>
              <a:rPr lang="he-IL" altLang="en-US" sz="1200" b="1" dirty="0">
                <a:solidFill>
                  <a:srgbClr val="FFFFFF"/>
                </a:solidFill>
                <a:latin typeface="Arial" pitchFamily="34" charset="0"/>
                <a:ea typeface="Arial" pitchFamily="34" charset="-122"/>
                <a:cs typeface="Arial" pitchFamily="34" charset="-120"/>
              </a:rPr>
              <a:t>2004 (מאובחן 2011)</a:t>
            </a:r>
            <a:endParaRPr lang="he-IL" sz="1200" dirty="0"/>
          </a:p>
        </p:txBody>
      </p:sp>
      <p:sp>
        <p:nvSpPr>
          <p:cNvPr id="19" name="Text 17"/>
          <p:cNvSpPr txBox="1"/>
          <p:nvPr/>
        </p:nvSpPr>
        <p:spPr>
          <a:xfrm>
            <a:off x="3505124" y="222199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DIABETES MELLITUS NON-INSULIN DEPENDENT</a:t>
            </a:r>
            <a:endParaRPr lang="en-US" sz="1200" dirty="0"/>
          </a:p>
        </p:txBody>
      </p:sp>
      <p:sp>
        <p:nvSpPr>
          <p:cNvPr id="20" name="Shape 18"/>
          <p:cNvSpPr/>
          <p:nvPr/>
        </p:nvSpPr>
        <p:spPr>
          <a:xfrm>
            <a:off x="548640" y="1691640"/>
            <a:ext cx="2636444" cy="1298448"/>
          </a:xfrm>
          <a:prstGeom prst="roundRect">
            <a:avLst>
              <a:gd name="adj" fmla="val 8451"/>
            </a:avLst>
          </a:prstGeom>
          <a:solidFill>
            <a:srgbClr val="FFFFFF"/>
          </a:solidFill>
          <a:ln w="9525">
            <a:solidFill>
              <a:srgbClr val="E3DFF0"/>
            </a:solidFill>
            <a:prstDash val="solid"/>
          </a:ln>
        </p:spPr>
      </p:sp>
      <p:sp>
        <p:nvSpPr>
          <p:cNvPr id="21" name="Shape 19"/>
          <p:cNvSpPr/>
          <p:nvPr/>
        </p:nvSpPr>
        <p:spPr>
          <a:xfrm>
            <a:off x="1584884" y="1819656"/>
            <a:ext cx="1463040" cy="329184"/>
          </a:xfrm>
          <a:prstGeom prst="roundRect">
            <a:avLst>
              <a:gd name="adj" fmla="val 50000"/>
            </a:avLst>
          </a:prstGeom>
          <a:solidFill>
            <a:srgbClr val="5280C8"/>
          </a:solidFill>
          <a:ln/>
        </p:spPr>
      </p:sp>
      <p:sp>
        <p:nvSpPr>
          <p:cNvPr id="22" name="Text 20"/>
          <p:cNvSpPr txBox="1"/>
          <p:nvPr/>
        </p:nvSpPr>
        <p:spPr>
          <a:xfrm>
            <a:off x="1584884" y="181965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2004</a:t>
            </a:r>
            <a:endParaRPr lang="en-US" sz="1200" dirty="0"/>
          </a:p>
        </p:txBody>
      </p:sp>
      <p:sp>
        <p:nvSpPr>
          <p:cNvPr id="23" name="Text 21"/>
          <p:cNvSpPr txBox="1"/>
          <p:nvPr/>
        </p:nvSpPr>
        <p:spPr>
          <a:xfrm>
            <a:off x="685800" y="222199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DISCITIS LUMBAR REGION</a:t>
            </a:r>
            <a:endParaRPr lang="en-US" sz="1200" dirty="0"/>
          </a:p>
        </p:txBody>
      </p:sp>
      <p:sp>
        <p:nvSpPr>
          <p:cNvPr id="24" name="Text 22"/>
          <p:cNvSpPr txBox="1"/>
          <p:nvPr/>
        </p:nvSpPr>
        <p:spPr>
          <a:xfrm>
            <a:off x="685800" y="262432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(L5-L3-S1)</a:t>
            </a:r>
            <a:endParaRPr lang="he-IL" sz="1200" dirty="0"/>
          </a:p>
        </p:txBody>
      </p:sp>
      <p:sp>
        <p:nvSpPr>
          <p:cNvPr id="25" name="Shape 23"/>
          <p:cNvSpPr/>
          <p:nvPr/>
        </p:nvSpPr>
        <p:spPr>
          <a:xfrm>
            <a:off x="9006611" y="3154680"/>
            <a:ext cx="2636444" cy="1298448"/>
          </a:xfrm>
          <a:prstGeom prst="roundRect">
            <a:avLst>
              <a:gd name="adj" fmla="val 8451"/>
            </a:avLst>
          </a:prstGeom>
          <a:solidFill>
            <a:srgbClr val="FFFFFF"/>
          </a:solidFill>
          <a:ln w="9525">
            <a:solidFill>
              <a:srgbClr val="E3DFF0"/>
            </a:solidFill>
            <a:prstDash val="solid"/>
          </a:ln>
        </p:spPr>
      </p:sp>
      <p:sp>
        <p:nvSpPr>
          <p:cNvPr id="26" name="Shape 24"/>
          <p:cNvSpPr/>
          <p:nvPr/>
        </p:nvSpPr>
        <p:spPr>
          <a:xfrm>
            <a:off x="10042855" y="3282696"/>
            <a:ext cx="1463040" cy="329184"/>
          </a:xfrm>
          <a:prstGeom prst="roundRect">
            <a:avLst>
              <a:gd name="adj" fmla="val 50000"/>
            </a:avLst>
          </a:prstGeom>
          <a:solidFill>
            <a:srgbClr val="5280C8"/>
          </a:solidFill>
          <a:ln/>
        </p:spPr>
      </p:sp>
      <p:sp>
        <p:nvSpPr>
          <p:cNvPr id="27" name="Text 25"/>
          <p:cNvSpPr txBox="1"/>
          <p:nvPr/>
        </p:nvSpPr>
        <p:spPr>
          <a:xfrm>
            <a:off x="10042855" y="328269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2012</a:t>
            </a:r>
            <a:endParaRPr lang="en-US" sz="1200" dirty="0"/>
          </a:p>
        </p:txBody>
      </p:sp>
      <p:sp>
        <p:nvSpPr>
          <p:cNvPr id="28" name="Text 26"/>
          <p:cNvSpPr txBox="1"/>
          <p:nvPr/>
        </p:nvSpPr>
        <p:spPr>
          <a:xfrm>
            <a:off x="9143771" y="368503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OBESITY</a:t>
            </a:r>
            <a:endParaRPr lang="en-US" sz="1200" dirty="0"/>
          </a:p>
        </p:txBody>
      </p:sp>
      <p:sp>
        <p:nvSpPr>
          <p:cNvPr id="29" name="Text 27"/>
          <p:cNvSpPr txBox="1"/>
          <p:nvPr/>
        </p:nvSpPr>
        <p:spPr>
          <a:xfrm>
            <a:off x="9143771" y="408736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(BMI 36.1, משקל 96 ק"ג)</a:t>
            </a:r>
            <a:endParaRPr lang="he-IL" sz="1200" dirty="0"/>
          </a:p>
        </p:txBody>
      </p:sp>
      <p:sp>
        <p:nvSpPr>
          <p:cNvPr id="30" name="Shape 28"/>
          <p:cNvSpPr/>
          <p:nvPr/>
        </p:nvSpPr>
        <p:spPr>
          <a:xfrm>
            <a:off x="6187288" y="3154680"/>
            <a:ext cx="2636444" cy="1298448"/>
          </a:xfrm>
          <a:prstGeom prst="roundRect">
            <a:avLst>
              <a:gd name="adj" fmla="val 8451"/>
            </a:avLst>
          </a:prstGeom>
          <a:solidFill>
            <a:srgbClr val="FFFFFF"/>
          </a:solidFill>
          <a:ln w="9525">
            <a:solidFill>
              <a:srgbClr val="E3DFF0"/>
            </a:solidFill>
            <a:prstDash val="solid"/>
          </a:ln>
        </p:spPr>
      </p:sp>
      <p:sp>
        <p:nvSpPr>
          <p:cNvPr id="31" name="Shape 29"/>
          <p:cNvSpPr/>
          <p:nvPr/>
        </p:nvSpPr>
        <p:spPr>
          <a:xfrm>
            <a:off x="7223531" y="3282696"/>
            <a:ext cx="1463040" cy="329184"/>
          </a:xfrm>
          <a:prstGeom prst="roundRect">
            <a:avLst>
              <a:gd name="adj" fmla="val 50000"/>
            </a:avLst>
          </a:prstGeom>
          <a:solidFill>
            <a:srgbClr val="5B6BB5"/>
          </a:solidFill>
          <a:ln/>
        </p:spPr>
      </p:sp>
      <p:sp>
        <p:nvSpPr>
          <p:cNvPr id="32" name="Text 30"/>
          <p:cNvSpPr txBox="1"/>
          <p:nvPr/>
        </p:nvSpPr>
        <p:spPr>
          <a:xfrm>
            <a:off x="7223531" y="328269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33" name="Text 31"/>
          <p:cNvSpPr txBox="1"/>
          <p:nvPr/>
        </p:nvSpPr>
        <p:spPr>
          <a:xfrm>
            <a:off x="6324448" y="368503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RIGHT HEART CARDIAC CATHETERIZATION</a:t>
            </a:r>
            <a:endParaRPr lang="en-US" sz="1200" dirty="0"/>
          </a:p>
        </p:txBody>
      </p:sp>
      <p:sp>
        <p:nvSpPr>
          <p:cNvPr id="34" name="Text 32"/>
          <p:cNvSpPr txBox="1"/>
          <p:nvPr/>
        </p:nvSpPr>
        <p:spPr>
          <a:xfrm>
            <a:off x="6324448" y="408736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(צנתור LAD 50%, RCA 40%)</a:t>
            </a:r>
            <a:endParaRPr lang="he-IL" sz="1200" dirty="0"/>
          </a:p>
        </p:txBody>
      </p:sp>
      <p:sp>
        <p:nvSpPr>
          <p:cNvPr id="35" name="Shape 33"/>
          <p:cNvSpPr/>
          <p:nvPr/>
        </p:nvSpPr>
        <p:spPr>
          <a:xfrm>
            <a:off x="3367964" y="3154680"/>
            <a:ext cx="2636444" cy="1298448"/>
          </a:xfrm>
          <a:prstGeom prst="roundRect">
            <a:avLst>
              <a:gd name="adj" fmla="val 8451"/>
            </a:avLst>
          </a:prstGeom>
          <a:solidFill>
            <a:srgbClr val="FFFFFF"/>
          </a:solidFill>
          <a:ln w="9525">
            <a:solidFill>
              <a:srgbClr val="E3DFF0"/>
            </a:solidFill>
            <a:prstDash val="solid"/>
          </a:ln>
        </p:spPr>
      </p:sp>
      <p:sp>
        <p:nvSpPr>
          <p:cNvPr id="36" name="Shape 34"/>
          <p:cNvSpPr/>
          <p:nvPr/>
        </p:nvSpPr>
        <p:spPr>
          <a:xfrm>
            <a:off x="4404208" y="3282696"/>
            <a:ext cx="1463040" cy="329184"/>
          </a:xfrm>
          <a:prstGeom prst="roundRect">
            <a:avLst>
              <a:gd name="adj" fmla="val 50000"/>
            </a:avLst>
          </a:prstGeom>
          <a:solidFill>
            <a:srgbClr val="5B6BB5"/>
          </a:solidFill>
          <a:ln/>
        </p:spPr>
      </p:sp>
      <p:sp>
        <p:nvSpPr>
          <p:cNvPr id="37" name="Text 35"/>
          <p:cNvSpPr txBox="1"/>
          <p:nvPr/>
        </p:nvSpPr>
        <p:spPr>
          <a:xfrm>
            <a:off x="4404208" y="328269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38" name="Text 36"/>
          <p:cNvSpPr txBox="1"/>
          <p:nvPr/>
        </p:nvSpPr>
        <p:spPr>
          <a:xfrm>
            <a:off x="3505124" y="368503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ISCHEMIC HEART DISEASE</a:t>
            </a:r>
            <a:endParaRPr lang="en-US" sz="1200" dirty="0"/>
          </a:p>
        </p:txBody>
      </p:sp>
      <p:sp>
        <p:nvSpPr>
          <p:cNvPr id="39" name="Text 37"/>
          <p:cNvSpPr txBox="1"/>
          <p:nvPr/>
        </p:nvSpPr>
        <p:spPr>
          <a:xfrm>
            <a:off x="3505124" y="408736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(IHD - מחלת לב כלילית)</a:t>
            </a:r>
            <a:endParaRPr lang="he-IL" sz="1200" dirty="0"/>
          </a:p>
        </p:txBody>
      </p:sp>
      <p:sp>
        <p:nvSpPr>
          <p:cNvPr id="40" name="Shape 38"/>
          <p:cNvSpPr/>
          <p:nvPr/>
        </p:nvSpPr>
        <p:spPr>
          <a:xfrm>
            <a:off x="548640" y="3154680"/>
            <a:ext cx="2636444" cy="1298448"/>
          </a:xfrm>
          <a:prstGeom prst="roundRect">
            <a:avLst>
              <a:gd name="adj" fmla="val 8451"/>
            </a:avLst>
          </a:prstGeom>
          <a:solidFill>
            <a:srgbClr val="FFFFFF"/>
          </a:solidFill>
          <a:ln w="9525">
            <a:solidFill>
              <a:srgbClr val="E3DFF0"/>
            </a:solidFill>
            <a:prstDash val="solid"/>
          </a:ln>
        </p:spPr>
      </p:sp>
      <p:sp>
        <p:nvSpPr>
          <p:cNvPr id="41" name="Shape 39"/>
          <p:cNvSpPr/>
          <p:nvPr/>
        </p:nvSpPr>
        <p:spPr>
          <a:xfrm>
            <a:off x="1584884" y="3282696"/>
            <a:ext cx="1463040" cy="329184"/>
          </a:xfrm>
          <a:prstGeom prst="roundRect">
            <a:avLst>
              <a:gd name="adj" fmla="val 50000"/>
            </a:avLst>
          </a:prstGeom>
          <a:solidFill>
            <a:srgbClr val="5B6BB5"/>
          </a:solidFill>
          <a:ln/>
        </p:spPr>
      </p:sp>
      <p:sp>
        <p:nvSpPr>
          <p:cNvPr id="42" name="Text 40"/>
          <p:cNvSpPr txBox="1"/>
          <p:nvPr/>
        </p:nvSpPr>
        <p:spPr>
          <a:xfrm>
            <a:off x="1584884" y="328269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43" name="Text 41"/>
          <p:cNvSpPr txBox="1"/>
          <p:nvPr/>
        </p:nvSpPr>
        <p:spPr>
          <a:xfrm>
            <a:off x="685800" y="368503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CORONARY ATHEROSCLEROSIS</a:t>
            </a:r>
            <a:endParaRPr lang="en-US" sz="1200" dirty="0"/>
          </a:p>
        </p:txBody>
      </p:sp>
      <p:sp>
        <p:nvSpPr>
          <p:cNvPr id="44" name="Text 42"/>
          <p:cNvSpPr txBox="1"/>
          <p:nvPr/>
        </p:nvSpPr>
        <p:spPr>
          <a:xfrm>
            <a:off x="685800" y="408736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(טרשת עורקים כלילית)</a:t>
            </a:r>
            <a:endParaRPr lang="he-IL" sz="1200" dirty="0"/>
          </a:p>
        </p:txBody>
      </p:sp>
      <p:sp>
        <p:nvSpPr>
          <p:cNvPr id="45" name="Shape 43"/>
          <p:cNvSpPr/>
          <p:nvPr/>
        </p:nvSpPr>
        <p:spPr>
          <a:xfrm>
            <a:off x="9006611" y="4617720"/>
            <a:ext cx="2636444" cy="1298448"/>
          </a:xfrm>
          <a:prstGeom prst="roundRect">
            <a:avLst>
              <a:gd name="adj" fmla="val 8451"/>
            </a:avLst>
          </a:prstGeom>
          <a:solidFill>
            <a:srgbClr val="FFFFFF"/>
          </a:solidFill>
          <a:ln w="9525">
            <a:solidFill>
              <a:srgbClr val="E3DFF0"/>
            </a:solidFill>
            <a:prstDash val="solid"/>
          </a:ln>
        </p:spPr>
      </p:sp>
      <p:sp>
        <p:nvSpPr>
          <p:cNvPr id="46" name="Shape 44"/>
          <p:cNvSpPr/>
          <p:nvPr/>
        </p:nvSpPr>
        <p:spPr>
          <a:xfrm>
            <a:off x="10042855" y="4745736"/>
            <a:ext cx="1463040" cy="329184"/>
          </a:xfrm>
          <a:prstGeom prst="roundRect">
            <a:avLst>
              <a:gd name="adj" fmla="val 50000"/>
            </a:avLst>
          </a:prstGeom>
          <a:solidFill>
            <a:srgbClr val="6658A6"/>
          </a:solidFill>
          <a:ln/>
        </p:spPr>
      </p:sp>
      <p:sp>
        <p:nvSpPr>
          <p:cNvPr id="47" name="Text 45"/>
          <p:cNvSpPr txBox="1"/>
          <p:nvPr/>
        </p:nvSpPr>
        <p:spPr>
          <a:xfrm>
            <a:off x="10042855" y="474573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48" name="Text 46"/>
          <p:cNvSpPr txBox="1"/>
          <p:nvPr/>
        </p:nvSpPr>
        <p:spPr>
          <a:xfrm>
            <a:off x="9143771" y="514807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HYPERURICEMIA</a:t>
            </a:r>
            <a:endParaRPr lang="en-US" sz="1200" dirty="0"/>
          </a:p>
        </p:txBody>
      </p:sp>
      <p:sp>
        <p:nvSpPr>
          <p:cNvPr id="49" name="Text 47"/>
          <p:cNvSpPr txBox="1"/>
          <p:nvPr/>
        </p:nvSpPr>
        <p:spPr>
          <a:xfrm>
            <a:off x="9143771" y="555040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(עודף חומצת שתן בדם)</a:t>
            </a:r>
            <a:endParaRPr lang="he-IL" sz="1200" dirty="0"/>
          </a:p>
        </p:txBody>
      </p:sp>
      <p:sp>
        <p:nvSpPr>
          <p:cNvPr id="50" name="Shape 48"/>
          <p:cNvSpPr/>
          <p:nvPr/>
        </p:nvSpPr>
        <p:spPr>
          <a:xfrm>
            <a:off x="6187288" y="4617720"/>
            <a:ext cx="2636444" cy="1298448"/>
          </a:xfrm>
          <a:prstGeom prst="roundRect">
            <a:avLst>
              <a:gd name="adj" fmla="val 8451"/>
            </a:avLst>
          </a:prstGeom>
          <a:solidFill>
            <a:srgbClr val="FFFFFF"/>
          </a:solidFill>
          <a:ln w="9525">
            <a:solidFill>
              <a:srgbClr val="E3DFF0"/>
            </a:solidFill>
            <a:prstDash val="solid"/>
          </a:ln>
        </p:spPr>
      </p:sp>
      <p:sp>
        <p:nvSpPr>
          <p:cNvPr id="51" name="Shape 49"/>
          <p:cNvSpPr/>
          <p:nvPr/>
        </p:nvSpPr>
        <p:spPr>
          <a:xfrm>
            <a:off x="7223531" y="4745736"/>
            <a:ext cx="1463040" cy="329184"/>
          </a:xfrm>
          <a:prstGeom prst="roundRect">
            <a:avLst>
              <a:gd name="adj" fmla="val 50000"/>
            </a:avLst>
          </a:prstGeom>
          <a:solidFill>
            <a:srgbClr val="6658A6"/>
          </a:solidFill>
          <a:ln/>
        </p:spPr>
      </p:sp>
      <p:sp>
        <p:nvSpPr>
          <p:cNvPr id="52" name="Text 50"/>
          <p:cNvSpPr txBox="1"/>
          <p:nvPr/>
        </p:nvSpPr>
        <p:spPr>
          <a:xfrm>
            <a:off x="7223531" y="474573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2023</a:t>
            </a:r>
            <a:endParaRPr lang="en-US" sz="1200" dirty="0"/>
          </a:p>
        </p:txBody>
      </p:sp>
      <p:sp>
        <p:nvSpPr>
          <p:cNvPr id="53" name="Text 51"/>
          <p:cNvSpPr txBox="1"/>
          <p:nvPr/>
        </p:nvSpPr>
        <p:spPr>
          <a:xfrm>
            <a:off x="6324448" y="514807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CEREBROVASCULAR ACCIDENT - CVA</a:t>
            </a:r>
            <a:endParaRPr lang="en-US" sz="1200" dirty="0"/>
          </a:p>
        </p:txBody>
      </p:sp>
      <p:sp>
        <p:nvSpPr>
          <p:cNvPr id="54" name="Text 52"/>
          <p:cNvSpPr txBox="1"/>
          <p:nvPr/>
        </p:nvSpPr>
        <p:spPr>
          <a:xfrm>
            <a:off x="6324448" y="555040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(אירוע מוחי)</a:t>
            </a:r>
            <a:endParaRPr lang="he-IL" sz="1200" dirty="0"/>
          </a:p>
        </p:txBody>
      </p:sp>
      <p:sp>
        <p:nvSpPr>
          <p:cNvPr id="55" name="Shape 53"/>
          <p:cNvSpPr/>
          <p:nvPr/>
        </p:nvSpPr>
        <p:spPr>
          <a:xfrm>
            <a:off x="3367964" y="4617720"/>
            <a:ext cx="2636444" cy="1298448"/>
          </a:xfrm>
          <a:prstGeom prst="roundRect">
            <a:avLst>
              <a:gd name="adj" fmla="val 8451"/>
            </a:avLst>
          </a:prstGeom>
          <a:solidFill>
            <a:srgbClr val="FFFFFF"/>
          </a:solidFill>
          <a:ln w="9525">
            <a:solidFill>
              <a:srgbClr val="E3DFF0"/>
            </a:solidFill>
            <a:prstDash val="solid"/>
          </a:ln>
        </p:spPr>
      </p:sp>
      <p:sp>
        <p:nvSpPr>
          <p:cNvPr id="56" name="Shape 54"/>
          <p:cNvSpPr/>
          <p:nvPr/>
        </p:nvSpPr>
        <p:spPr>
          <a:xfrm>
            <a:off x="4404208" y="4745736"/>
            <a:ext cx="1463040" cy="329184"/>
          </a:xfrm>
          <a:prstGeom prst="roundRect">
            <a:avLst>
              <a:gd name="adj" fmla="val 50000"/>
            </a:avLst>
          </a:prstGeom>
          <a:solidFill>
            <a:srgbClr val="6E4494"/>
          </a:solidFill>
          <a:ln/>
        </p:spPr>
      </p:sp>
      <p:sp>
        <p:nvSpPr>
          <p:cNvPr id="57" name="Text 55"/>
          <p:cNvSpPr txBox="1"/>
          <p:nvPr/>
        </p:nvSpPr>
        <p:spPr>
          <a:xfrm>
            <a:off x="4404208" y="474573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2024</a:t>
            </a:r>
            <a:endParaRPr lang="en-US" sz="1200" dirty="0"/>
          </a:p>
        </p:txBody>
      </p:sp>
      <p:sp>
        <p:nvSpPr>
          <p:cNvPr id="58" name="Text 56"/>
          <p:cNvSpPr txBox="1"/>
          <p:nvPr/>
        </p:nvSpPr>
        <p:spPr>
          <a:xfrm>
            <a:off x="3505124" y="514807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SLEEP APNEA SEVERE</a:t>
            </a:r>
            <a:endParaRPr lang="en-US" sz="1200" dirty="0"/>
          </a:p>
        </p:txBody>
      </p:sp>
      <p:sp>
        <p:nvSpPr>
          <p:cNvPr id="59" name="Text 57"/>
          <p:cNvSpPr txBox="1"/>
          <p:nvPr/>
        </p:nvSpPr>
        <p:spPr>
          <a:xfrm>
            <a:off x="3505124" y="555040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(דום נשימה בשינה חמור)</a:t>
            </a:r>
            <a:endParaRPr lang="he-IL" sz="1200" dirty="0"/>
          </a:p>
        </p:txBody>
      </p:sp>
      <p:sp>
        <p:nvSpPr>
          <p:cNvPr id="60" name="Shape 58"/>
          <p:cNvSpPr/>
          <p:nvPr/>
        </p:nvSpPr>
        <p:spPr>
          <a:xfrm>
            <a:off x="548640" y="4617720"/>
            <a:ext cx="2636444" cy="1298448"/>
          </a:xfrm>
          <a:prstGeom prst="roundRect">
            <a:avLst>
              <a:gd name="adj" fmla="val 8451"/>
            </a:avLst>
          </a:prstGeom>
          <a:solidFill>
            <a:srgbClr val="FFFFFF"/>
          </a:solidFill>
          <a:ln w="9525">
            <a:solidFill>
              <a:srgbClr val="E3DFF0"/>
            </a:solidFill>
            <a:prstDash val="solid"/>
          </a:ln>
        </p:spPr>
      </p:sp>
      <p:sp>
        <p:nvSpPr>
          <p:cNvPr id="61" name="Shape 59"/>
          <p:cNvSpPr/>
          <p:nvPr/>
        </p:nvSpPr>
        <p:spPr>
          <a:xfrm>
            <a:off x="1584884" y="4745736"/>
            <a:ext cx="1463040" cy="329184"/>
          </a:xfrm>
          <a:prstGeom prst="roundRect">
            <a:avLst>
              <a:gd name="adj" fmla="val 50000"/>
            </a:avLst>
          </a:prstGeom>
          <a:solidFill>
            <a:srgbClr val="6E4494"/>
          </a:solidFill>
          <a:ln/>
        </p:spPr>
      </p:sp>
      <p:sp>
        <p:nvSpPr>
          <p:cNvPr id="62" name="Text 60"/>
          <p:cNvSpPr txBox="1"/>
          <p:nvPr/>
        </p:nvSpPr>
        <p:spPr>
          <a:xfrm>
            <a:off x="1584884" y="4745736"/>
            <a:ext cx="1463040" cy="329184"/>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1977-2012</a:t>
            </a:r>
            <a:endParaRPr lang="en-US" sz="1200" dirty="0"/>
          </a:p>
        </p:txBody>
      </p:sp>
      <p:sp>
        <p:nvSpPr>
          <p:cNvPr id="63" name="Text 61"/>
          <p:cNvSpPr txBox="1"/>
          <p:nvPr/>
        </p:nvSpPr>
        <p:spPr>
          <a:xfrm>
            <a:off x="685800" y="5148072"/>
            <a:ext cx="2362124" cy="411480"/>
          </a:xfrm>
          <a:prstGeom prst="rect">
            <a:avLst/>
          </a:prstGeom>
          <a:noFill/>
          <a:ln/>
        </p:spPr>
        <p:txBody>
          <a:bodyPr wrap="square" lIns="0" tIns="0" rIns="0" bIns="0" rtlCol="0" anchor="t"/>
          <a:lstStyle/>
          <a:p>
            <a:pPr algn="r" indent="0" marL="0">
              <a:buNone/>
            </a:pPr>
            <a:r>
              <a:rPr lang="en-US" altLang="en-US" sz="1200" b="1" dirty="0">
                <a:solidFill>
                  <a:srgbClr val="2B2560"/>
                </a:solidFill>
                <a:latin typeface="Arial" pitchFamily="34" charset="0"/>
                <a:ea typeface="Arial" pitchFamily="34" charset="-122"/>
                <a:cs typeface="Arial" pitchFamily="34" charset="-120"/>
              </a:rPr>
              <a:t>PAST SMOKER</a:t>
            </a:r>
            <a:endParaRPr lang="en-US" sz="1200" dirty="0"/>
          </a:p>
        </p:txBody>
      </p:sp>
      <p:sp>
        <p:nvSpPr>
          <p:cNvPr id="64" name="Text 62"/>
          <p:cNvSpPr txBox="1"/>
          <p:nvPr/>
        </p:nvSpPr>
        <p:spPr>
          <a:xfrm>
            <a:off x="685800" y="5550408"/>
            <a:ext cx="2362124" cy="292608"/>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(עישן בעבר, הפסיק ב-2012)</a:t>
            </a:r>
            <a:endParaRPr lang="he-IL" sz="12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מחלות רקע – תיעוד מהתיק הרפואי</a:t>
            </a:r>
            <a:endParaRPr lang="he-IL" sz="2600" dirty="0"/>
          </a:p>
        </p:txBody>
      </p:sp>
      <p:pic>
        <p:nvPicPr>
          <p:cNvPr id="5" name="Image 0" descr="/tmp/claude-0/-home-claude/83ba285b-7ef1-5a4f-9afe-ea04c4b9d63d/scratchpad/src/ppt/media/image-4-2.jpg">    </p:cNvPr>
          <p:cNvPicPr>
            <a:picLocks noChangeAspect="1"/>
          </p:cNvPicPr>
          <p:nvPr/>
        </p:nvPicPr>
        <p:blipFill>
          <a:blip r:embed="rId1"/>
          <a:stretch>
            <a:fillRect/>
          </a:stretch>
        </p:blipFill>
        <p:spPr>
          <a:xfrm>
            <a:off x="548640" y="1554480"/>
            <a:ext cx="5852160" cy="4389120"/>
          </a:xfrm>
          <a:prstGeom prst="rect">
            <a:avLst/>
          </a:prstGeom>
          <a:effectLst>
            <a:outerShdw sx="100000" sy="100000" kx="0" ky="0" algn="bl" rotWithShape="0" blurRad="127000" dist="38100" dir="5400000">
              <a:srgbClr val="2B2560">
                <a:alpha val="10000"/>
              </a:srgbClr>
            </a:outerShdw>
          </a:effectLst>
        </p:spPr>
      </p:pic>
      <p:sp>
        <p:nvSpPr>
          <p:cNvPr id="6" name="Shape 3"/>
          <p:cNvSpPr/>
          <p:nvPr/>
        </p:nvSpPr>
        <p:spPr>
          <a:xfrm>
            <a:off x="6766560" y="2011680"/>
            <a:ext cx="4873752" cy="3474720"/>
          </a:xfrm>
          <a:prstGeom prst="roundRect">
            <a:avLst>
              <a:gd name="adj" fmla="val 3158"/>
            </a:avLst>
          </a:prstGeom>
          <a:solidFill>
            <a:srgbClr val="2B2560"/>
          </a:solidFill>
          <a:ln/>
          <a:effectLst>
            <a:outerShdw sx="100000" sy="100000" kx="0" ky="0" algn="bl" rotWithShape="0" blurRad="127000" dist="38100" dir="5400000">
              <a:srgbClr val="2B2560">
                <a:alpha val="10000"/>
              </a:srgbClr>
            </a:outerShdw>
          </a:effectLst>
        </p:spPr>
      </p:sp>
      <p:sp>
        <p:nvSpPr>
          <p:cNvPr id="7" name="Shape 4"/>
          <p:cNvSpPr/>
          <p:nvPr/>
        </p:nvSpPr>
        <p:spPr>
          <a:xfrm rot="5400000">
            <a:off x="8728300" y="2286000"/>
            <a:ext cx="950272" cy="822960"/>
          </a:xfrm>
          <a:prstGeom prst="hexagon">
            <a:avLst/>
          </a:prstGeom>
          <a:solidFill>
            <a:srgbClr val="FFFFFF"/>
          </a:solidFill>
          <a:ln/>
        </p:spPr>
      </p:sp>
      <p:pic>
        <p:nvPicPr>
          <p:cNvPr id="8" name="Image 1" descr="preencoded.png">    </p:cNvPr>
          <p:cNvPicPr>
            <a:picLocks noChangeAspect="1"/>
          </p:cNvPicPr>
          <p:nvPr/>
        </p:nvPicPr>
        <p:blipFill>
          <a:blip r:embed="rId2"/>
          <a:stretch>
            <a:fillRect/>
          </a:stretch>
        </p:blipFill>
        <p:spPr>
          <a:xfrm>
            <a:off x="9014155" y="2508199"/>
            <a:ext cx="378562" cy="378562"/>
          </a:xfrm>
          <a:prstGeom prst="rect">
            <a:avLst/>
          </a:prstGeom>
        </p:spPr>
      </p:pic>
      <p:sp>
        <p:nvSpPr>
          <p:cNvPr id="9" name="Text 5"/>
          <p:cNvSpPr txBox="1"/>
          <p:nvPr/>
        </p:nvSpPr>
        <p:spPr>
          <a:xfrm>
            <a:off x="7040880" y="3246120"/>
            <a:ext cx="4325112" cy="411480"/>
          </a:xfrm>
          <a:prstGeom prst="rect">
            <a:avLst/>
          </a:prstGeom>
          <a:noFill/>
          <a:ln/>
        </p:spPr>
        <p:txBody>
          <a:bodyPr wrap="square" lIns="0" tIns="0" rIns="0" bIns="0" rtlCol="0" anchor="t"/>
          <a:lstStyle/>
          <a:p>
            <a:pPr rtl="1" algn="ctr" indent="0" marL="0">
              <a:buNone/>
            </a:pPr>
            <a:r>
              <a:rPr lang="he-IL" altLang="en-US" sz="2000" b="1" dirty="0">
                <a:solidFill>
                  <a:srgbClr val="9CC4EE"/>
                </a:solidFill>
                <a:latin typeface="Arial" pitchFamily="34" charset="0"/>
                <a:ea typeface="Arial" pitchFamily="34" charset="-122"/>
                <a:cs typeface="Arial" pitchFamily="34" charset="-120"/>
              </a:rPr>
              <a:t>משמעות קלינית:</a:t>
            </a:r>
            <a:endParaRPr lang="he-IL" sz="2000" dirty="0"/>
          </a:p>
        </p:txBody>
      </p:sp>
      <p:sp>
        <p:nvSpPr>
          <p:cNvPr id="10" name="Text 6"/>
          <p:cNvSpPr txBox="1"/>
          <p:nvPr/>
        </p:nvSpPr>
        <p:spPr>
          <a:xfrm>
            <a:off x="7040880" y="3703320"/>
            <a:ext cx="4325112" cy="1645920"/>
          </a:xfrm>
          <a:prstGeom prst="rect">
            <a:avLst/>
          </a:prstGeom>
          <a:noFill/>
          <a:ln/>
        </p:spPr>
        <p:txBody>
          <a:bodyPr wrap="square" lIns="0" tIns="0" rIns="0" bIns="0" rtlCol="0" anchor="t"/>
          <a:lstStyle/>
          <a:p>
            <a:pPr rtl="1" algn="ctr" indent="0" marL="0">
              <a:buNone/>
            </a:pPr>
            <a:r>
              <a:rPr lang="he-IL" altLang="en-US" sz="1600" dirty="0">
                <a:solidFill>
                  <a:srgbClr val="FFFFFF"/>
                </a:solidFill>
                <a:latin typeface="Arial" pitchFamily="34" charset="0"/>
                <a:ea typeface="Arial" pitchFamily="34" charset="-122"/>
                <a:cs typeface="Arial" pitchFamily="34" charset="-120"/>
              </a:rPr>
              <a:t>ריבוי תחלואה טרשתית (CVA, IHD, צנתור), השמנה משמעותית וכבד שומני מעמידים את המטופל בסיכון קרדיווסקולרי ומוחי גבוה במיוחד ומחייבים הגנה וסקולרית ממוקדת.</a:t>
            </a:r>
            <a:endParaRPr lang="he-IL" sz="16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בדיקה גופנית ומדדי סימנים חיוניים</a:t>
            </a:r>
            <a:endParaRPr lang="he-IL" sz="2600" dirty="0"/>
          </a:p>
        </p:txBody>
      </p:sp>
      <p:sp>
        <p:nvSpPr>
          <p:cNvPr id="5" name="Shape 3"/>
          <p:cNvSpPr/>
          <p:nvPr/>
        </p:nvSpPr>
        <p:spPr>
          <a:xfrm>
            <a:off x="8127797" y="1554480"/>
            <a:ext cx="3515258" cy="1417320"/>
          </a:xfrm>
          <a:prstGeom prst="roundRect">
            <a:avLst>
              <a:gd name="adj" fmla="val 774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10858539" y="1773936"/>
            <a:ext cx="654632" cy="566928"/>
          </a:xfrm>
          <a:prstGeom prst="hexagon">
            <a:avLst/>
          </a:prstGeom>
          <a:solidFill>
            <a:srgbClr val="C24863"/>
          </a:solidFill>
          <a:ln/>
        </p:spPr>
      </p:sp>
      <p:pic>
        <p:nvPicPr>
          <p:cNvPr id="7" name="Image 0" descr="preencoded.png">    </p:cNvPr>
          <p:cNvPicPr>
            <a:picLocks noChangeAspect="1"/>
          </p:cNvPicPr>
          <p:nvPr/>
        </p:nvPicPr>
        <p:blipFill>
          <a:blip r:embed="rId1"/>
          <a:stretch>
            <a:fillRect/>
          </a:stretch>
        </p:blipFill>
        <p:spPr>
          <a:xfrm>
            <a:off x="11055462" y="1927007"/>
            <a:ext cx="260787" cy="260787"/>
          </a:xfrm>
          <a:prstGeom prst="rect">
            <a:avLst/>
          </a:prstGeom>
        </p:spPr>
      </p:pic>
      <p:sp>
        <p:nvSpPr>
          <p:cNvPr id="8" name="Text 5"/>
          <p:cNvSpPr txBox="1"/>
          <p:nvPr/>
        </p:nvSpPr>
        <p:spPr>
          <a:xfrm>
            <a:off x="8310677" y="1737360"/>
            <a:ext cx="2555138" cy="292608"/>
          </a:xfrm>
          <a:prstGeom prst="rect">
            <a:avLst/>
          </a:prstGeom>
          <a:noFill/>
          <a:ln/>
        </p:spPr>
        <p:txBody>
          <a:bodyPr wrap="square" lIns="0" tIns="0" rIns="0" bIns="0" rtlCol="0" anchor="t"/>
          <a:lstStyle/>
          <a:p>
            <a:pPr rtl="1" algn="r" indent="0" marL="0">
              <a:buNone/>
            </a:pPr>
            <a:r>
              <a:rPr lang="he-IL" altLang="en-US" sz="1400" b="1" dirty="0">
                <a:solidFill>
                  <a:srgbClr val="6B6785"/>
                </a:solidFill>
                <a:latin typeface="Arial" pitchFamily="34" charset="0"/>
                <a:ea typeface="Arial" pitchFamily="34" charset="-122"/>
                <a:cs typeface="Arial" pitchFamily="34" charset="-120"/>
              </a:rPr>
              <a:t>לחץ דם</a:t>
            </a:r>
            <a:endParaRPr lang="he-IL" sz="1400" dirty="0"/>
          </a:p>
        </p:txBody>
      </p:sp>
      <p:sp>
        <p:nvSpPr>
          <p:cNvPr id="9" name="Text 6"/>
          <p:cNvSpPr txBox="1"/>
          <p:nvPr/>
        </p:nvSpPr>
        <p:spPr>
          <a:xfrm>
            <a:off x="8310677" y="2057400"/>
            <a:ext cx="2555138" cy="457200"/>
          </a:xfrm>
          <a:prstGeom prst="rect">
            <a:avLst/>
          </a:prstGeom>
          <a:noFill/>
          <a:ln/>
        </p:spPr>
        <p:txBody>
          <a:bodyPr wrap="square" lIns="0" tIns="0" rIns="0" bIns="0" rtlCol="0" anchor="ctr"/>
          <a:lstStyle/>
          <a:p>
            <a:pPr algn="r" indent="0" marL="0">
              <a:buNone/>
            </a:pPr>
            <a:r>
              <a:rPr lang="en-US" altLang="en-US" sz="2300" b="1" dirty="0">
                <a:solidFill>
                  <a:srgbClr val="2B2560"/>
                </a:solidFill>
                <a:latin typeface="Arial" pitchFamily="34" charset="0"/>
                <a:ea typeface="Arial" pitchFamily="34" charset="-122"/>
                <a:cs typeface="Arial" pitchFamily="34" charset="-120"/>
              </a:rPr>
              <a:t>158/72 mmHg</a:t>
            </a:r>
            <a:endParaRPr lang="en-US" sz="2300" dirty="0"/>
          </a:p>
        </p:txBody>
      </p:sp>
      <p:sp>
        <p:nvSpPr>
          <p:cNvPr id="10" name="Text 7"/>
          <p:cNvSpPr txBox="1"/>
          <p:nvPr/>
        </p:nvSpPr>
        <p:spPr>
          <a:xfrm>
            <a:off x="8310677" y="2560320"/>
            <a:ext cx="3149498" cy="292608"/>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לחץ דם סיסטולי</a:t>
            </a:r>
            <a:endParaRPr lang="he-IL" sz="1300" dirty="0"/>
          </a:p>
        </p:txBody>
      </p:sp>
      <p:sp>
        <p:nvSpPr>
          <p:cNvPr id="11" name="Shape 8"/>
          <p:cNvSpPr/>
          <p:nvPr/>
        </p:nvSpPr>
        <p:spPr>
          <a:xfrm>
            <a:off x="4338218" y="1554480"/>
            <a:ext cx="3515258" cy="1417320"/>
          </a:xfrm>
          <a:prstGeom prst="roundRect">
            <a:avLst>
              <a:gd name="adj" fmla="val 774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2" name="Shape 9"/>
          <p:cNvSpPr/>
          <p:nvPr/>
        </p:nvSpPr>
        <p:spPr>
          <a:xfrm rot="5400000">
            <a:off x="7068961" y="1773936"/>
            <a:ext cx="654632" cy="566928"/>
          </a:xfrm>
          <a:prstGeom prst="hexagon">
            <a:avLst/>
          </a:prstGeom>
          <a:solidFill>
            <a:srgbClr val="4A90D0"/>
          </a:solidFill>
          <a:ln/>
        </p:spPr>
      </p:sp>
      <p:pic>
        <p:nvPicPr>
          <p:cNvPr id="13" name="Image 1" descr="preencoded.png">    </p:cNvPr>
          <p:cNvPicPr>
            <a:picLocks noChangeAspect="1"/>
          </p:cNvPicPr>
          <p:nvPr/>
        </p:nvPicPr>
        <p:blipFill>
          <a:blip r:embed="rId2"/>
          <a:stretch>
            <a:fillRect/>
          </a:stretch>
        </p:blipFill>
        <p:spPr>
          <a:xfrm>
            <a:off x="7265883" y="1927007"/>
            <a:ext cx="260787" cy="260787"/>
          </a:xfrm>
          <a:prstGeom prst="rect">
            <a:avLst/>
          </a:prstGeom>
        </p:spPr>
      </p:pic>
      <p:sp>
        <p:nvSpPr>
          <p:cNvPr id="14" name="Text 10"/>
          <p:cNvSpPr txBox="1"/>
          <p:nvPr/>
        </p:nvSpPr>
        <p:spPr>
          <a:xfrm>
            <a:off x="4521098" y="1737360"/>
            <a:ext cx="2555138" cy="292608"/>
          </a:xfrm>
          <a:prstGeom prst="rect">
            <a:avLst/>
          </a:prstGeom>
          <a:noFill/>
          <a:ln/>
        </p:spPr>
        <p:txBody>
          <a:bodyPr wrap="square" lIns="0" tIns="0" rIns="0" bIns="0" rtlCol="0" anchor="t"/>
          <a:lstStyle/>
          <a:p>
            <a:pPr rtl="1" algn="r" indent="0" marL="0">
              <a:buNone/>
            </a:pPr>
            <a:r>
              <a:rPr lang="he-IL" altLang="en-US" sz="1400" b="1" dirty="0">
                <a:solidFill>
                  <a:srgbClr val="6B6785"/>
                </a:solidFill>
                <a:latin typeface="Arial" pitchFamily="34" charset="0"/>
                <a:ea typeface="Arial" pitchFamily="34" charset="-122"/>
                <a:cs typeface="Arial" pitchFamily="34" charset="-120"/>
              </a:rPr>
              <a:t>דופק</a:t>
            </a:r>
            <a:endParaRPr lang="he-IL" sz="1400" dirty="0"/>
          </a:p>
        </p:txBody>
      </p:sp>
      <p:sp>
        <p:nvSpPr>
          <p:cNvPr id="15" name="Text 11"/>
          <p:cNvSpPr txBox="1"/>
          <p:nvPr/>
        </p:nvSpPr>
        <p:spPr>
          <a:xfrm>
            <a:off x="4521098" y="2057400"/>
            <a:ext cx="2555138" cy="457200"/>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80 פעימות לדקה</a:t>
            </a:r>
            <a:endParaRPr lang="he-IL" sz="2300" dirty="0"/>
          </a:p>
        </p:txBody>
      </p:sp>
      <p:sp>
        <p:nvSpPr>
          <p:cNvPr id="16" name="Text 12"/>
          <p:cNvSpPr txBox="1"/>
          <p:nvPr/>
        </p:nvSpPr>
        <p:spPr>
          <a:xfrm>
            <a:off x="4521098" y="2560320"/>
            <a:ext cx="3149498" cy="292608"/>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(סדיר)</a:t>
            </a:r>
            <a:endParaRPr lang="he-IL" sz="1300" dirty="0"/>
          </a:p>
        </p:txBody>
      </p:sp>
      <p:sp>
        <p:nvSpPr>
          <p:cNvPr id="17" name="Shape 13"/>
          <p:cNvSpPr/>
          <p:nvPr/>
        </p:nvSpPr>
        <p:spPr>
          <a:xfrm>
            <a:off x="548640" y="1554480"/>
            <a:ext cx="3515258" cy="1417320"/>
          </a:xfrm>
          <a:prstGeom prst="roundRect">
            <a:avLst>
              <a:gd name="adj" fmla="val 774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8" name="Shape 14"/>
          <p:cNvSpPr/>
          <p:nvPr/>
        </p:nvSpPr>
        <p:spPr>
          <a:xfrm rot="5400000">
            <a:off x="3279383" y="1773936"/>
            <a:ext cx="654632" cy="566928"/>
          </a:xfrm>
          <a:prstGeom prst="hexagon">
            <a:avLst/>
          </a:prstGeom>
          <a:solidFill>
            <a:srgbClr val="5B6BB5"/>
          </a:solidFill>
          <a:ln/>
        </p:spPr>
      </p:sp>
      <p:pic>
        <p:nvPicPr>
          <p:cNvPr id="19" name="Image 2" descr="preencoded.png">    </p:cNvPr>
          <p:cNvPicPr>
            <a:picLocks noChangeAspect="1"/>
          </p:cNvPicPr>
          <p:nvPr/>
        </p:nvPicPr>
        <p:blipFill>
          <a:blip r:embed="rId3"/>
          <a:stretch>
            <a:fillRect/>
          </a:stretch>
        </p:blipFill>
        <p:spPr>
          <a:xfrm>
            <a:off x="3476305" y="1927007"/>
            <a:ext cx="260787" cy="260787"/>
          </a:xfrm>
          <a:prstGeom prst="rect">
            <a:avLst/>
          </a:prstGeom>
        </p:spPr>
      </p:pic>
      <p:sp>
        <p:nvSpPr>
          <p:cNvPr id="20" name="Text 15"/>
          <p:cNvSpPr txBox="1"/>
          <p:nvPr/>
        </p:nvSpPr>
        <p:spPr>
          <a:xfrm>
            <a:off x="731520" y="1737360"/>
            <a:ext cx="2555138" cy="292608"/>
          </a:xfrm>
          <a:prstGeom prst="rect">
            <a:avLst/>
          </a:prstGeom>
          <a:noFill/>
          <a:ln/>
        </p:spPr>
        <p:txBody>
          <a:bodyPr wrap="square" lIns="0" tIns="0" rIns="0" bIns="0" rtlCol="0" anchor="t"/>
          <a:lstStyle/>
          <a:p>
            <a:pPr rtl="1" algn="r" indent="0" marL="0">
              <a:buNone/>
            </a:pPr>
            <a:r>
              <a:rPr lang="he-IL" altLang="en-US" sz="1400" b="1" dirty="0">
                <a:solidFill>
                  <a:srgbClr val="6B6785"/>
                </a:solidFill>
                <a:latin typeface="Arial" pitchFamily="34" charset="0"/>
                <a:ea typeface="Arial" pitchFamily="34" charset="-122"/>
                <a:cs typeface="Arial" pitchFamily="34" charset="-120"/>
              </a:rPr>
              <a:t>משקל וגובה</a:t>
            </a:r>
            <a:endParaRPr lang="he-IL" sz="1400" dirty="0"/>
          </a:p>
        </p:txBody>
      </p:sp>
      <p:sp>
        <p:nvSpPr>
          <p:cNvPr id="21" name="Text 16"/>
          <p:cNvSpPr txBox="1"/>
          <p:nvPr/>
        </p:nvSpPr>
        <p:spPr>
          <a:xfrm>
            <a:off x="731520" y="2057400"/>
            <a:ext cx="2555138" cy="457200"/>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96 ק"ג | 163 ס"מ</a:t>
            </a:r>
            <a:endParaRPr lang="he-IL" sz="2300" dirty="0"/>
          </a:p>
        </p:txBody>
      </p:sp>
      <p:sp>
        <p:nvSpPr>
          <p:cNvPr id="22" name="Text 17"/>
          <p:cNvSpPr txBox="1"/>
          <p:nvPr/>
        </p:nvSpPr>
        <p:spPr>
          <a:xfrm>
            <a:off x="731520" y="2560320"/>
            <a:ext cx="3149498" cy="292608"/>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משקל בביקור ראשון</a:t>
            </a:r>
            <a:endParaRPr lang="he-IL" sz="1300" dirty="0"/>
          </a:p>
        </p:txBody>
      </p:sp>
      <p:sp>
        <p:nvSpPr>
          <p:cNvPr id="23" name="Shape 18"/>
          <p:cNvSpPr/>
          <p:nvPr/>
        </p:nvSpPr>
        <p:spPr>
          <a:xfrm>
            <a:off x="8127797" y="3154680"/>
            <a:ext cx="3515258" cy="1417320"/>
          </a:xfrm>
          <a:prstGeom prst="roundRect">
            <a:avLst>
              <a:gd name="adj" fmla="val 774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4" name="Shape 19"/>
          <p:cNvSpPr/>
          <p:nvPr/>
        </p:nvSpPr>
        <p:spPr>
          <a:xfrm rot="5400000">
            <a:off x="10858539" y="3374136"/>
            <a:ext cx="654632" cy="566928"/>
          </a:xfrm>
          <a:prstGeom prst="hexagon">
            <a:avLst/>
          </a:prstGeom>
          <a:solidFill>
            <a:srgbClr val="6E4494"/>
          </a:solidFill>
          <a:ln/>
        </p:spPr>
      </p:sp>
      <p:pic>
        <p:nvPicPr>
          <p:cNvPr id="25" name="Image 3" descr="preencoded.png">    </p:cNvPr>
          <p:cNvPicPr>
            <a:picLocks noChangeAspect="1"/>
          </p:cNvPicPr>
          <p:nvPr/>
        </p:nvPicPr>
        <p:blipFill>
          <a:blip r:embed="rId4"/>
          <a:stretch>
            <a:fillRect/>
          </a:stretch>
        </p:blipFill>
        <p:spPr>
          <a:xfrm>
            <a:off x="11055462" y="3527207"/>
            <a:ext cx="260787" cy="260787"/>
          </a:xfrm>
          <a:prstGeom prst="rect">
            <a:avLst/>
          </a:prstGeom>
        </p:spPr>
      </p:pic>
      <p:sp>
        <p:nvSpPr>
          <p:cNvPr id="26" name="Text 20"/>
          <p:cNvSpPr txBox="1"/>
          <p:nvPr/>
        </p:nvSpPr>
        <p:spPr>
          <a:xfrm>
            <a:off x="8310677" y="3337560"/>
            <a:ext cx="2555138" cy="292608"/>
          </a:xfrm>
          <a:prstGeom prst="rect">
            <a:avLst/>
          </a:prstGeom>
          <a:noFill/>
          <a:ln/>
        </p:spPr>
        <p:txBody>
          <a:bodyPr wrap="square" lIns="0" tIns="0" rIns="0" bIns="0" rtlCol="0" anchor="t"/>
          <a:lstStyle/>
          <a:p>
            <a:pPr rtl="1" algn="r" indent="0" marL="0">
              <a:buNone/>
            </a:pPr>
            <a:r>
              <a:rPr lang="he-IL" altLang="en-US" sz="1400" b="1" dirty="0">
                <a:solidFill>
                  <a:srgbClr val="6B6785"/>
                </a:solidFill>
                <a:latin typeface="Arial" pitchFamily="34" charset="0"/>
                <a:ea typeface="Arial" pitchFamily="34" charset="-122"/>
                <a:cs typeface="Arial" pitchFamily="34" charset="-120"/>
              </a:rPr>
              <a:t>BMI (מדד מסת גוף)</a:t>
            </a:r>
            <a:endParaRPr lang="he-IL" sz="1400" dirty="0"/>
          </a:p>
        </p:txBody>
      </p:sp>
      <p:sp>
        <p:nvSpPr>
          <p:cNvPr id="27" name="Text 21"/>
          <p:cNvSpPr txBox="1"/>
          <p:nvPr/>
        </p:nvSpPr>
        <p:spPr>
          <a:xfrm>
            <a:off x="8310677" y="3657600"/>
            <a:ext cx="2555138" cy="457200"/>
          </a:xfrm>
          <a:prstGeom prst="rect">
            <a:avLst/>
          </a:prstGeom>
          <a:noFill/>
          <a:ln/>
        </p:spPr>
        <p:txBody>
          <a:bodyPr wrap="square" lIns="0" tIns="0" rIns="0" bIns="0" rtlCol="0" anchor="ctr"/>
          <a:lstStyle/>
          <a:p>
            <a:pPr algn="r" indent="0" marL="0">
              <a:buNone/>
            </a:pPr>
            <a:r>
              <a:rPr lang="en-US" altLang="en-US" sz="2300" b="1" dirty="0">
                <a:solidFill>
                  <a:srgbClr val="2B2560"/>
                </a:solidFill>
                <a:latin typeface="Arial" pitchFamily="34" charset="0"/>
                <a:ea typeface="Arial" pitchFamily="34" charset="-122"/>
                <a:cs typeface="Arial" pitchFamily="34" charset="-120"/>
              </a:rPr>
              <a:t>36.1</a:t>
            </a:r>
            <a:endParaRPr lang="en-US" sz="2300" dirty="0"/>
          </a:p>
        </p:txBody>
      </p:sp>
      <p:sp>
        <p:nvSpPr>
          <p:cNvPr id="28" name="Text 22"/>
          <p:cNvSpPr txBox="1"/>
          <p:nvPr/>
        </p:nvSpPr>
        <p:spPr>
          <a:xfrm>
            <a:off x="8310677" y="4160520"/>
            <a:ext cx="3149498" cy="292608"/>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היקף מותניים: 98 ס"מ</a:t>
            </a:r>
            <a:endParaRPr lang="he-IL" sz="1300" dirty="0"/>
          </a:p>
        </p:txBody>
      </p:sp>
      <p:sp>
        <p:nvSpPr>
          <p:cNvPr id="29" name="Shape 23"/>
          <p:cNvSpPr/>
          <p:nvPr/>
        </p:nvSpPr>
        <p:spPr>
          <a:xfrm>
            <a:off x="4338218" y="3154680"/>
            <a:ext cx="3515258" cy="1417320"/>
          </a:xfrm>
          <a:prstGeom prst="roundRect">
            <a:avLst>
              <a:gd name="adj" fmla="val 774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30" name="Shape 24"/>
          <p:cNvSpPr/>
          <p:nvPr/>
        </p:nvSpPr>
        <p:spPr>
          <a:xfrm rot="5400000">
            <a:off x="7068961" y="3374136"/>
            <a:ext cx="654632" cy="566928"/>
          </a:xfrm>
          <a:prstGeom prst="hexagon">
            <a:avLst/>
          </a:prstGeom>
          <a:solidFill>
            <a:srgbClr val="5B6BB5"/>
          </a:solidFill>
          <a:ln/>
        </p:spPr>
      </p:sp>
      <p:pic>
        <p:nvPicPr>
          <p:cNvPr id="31" name="Image 4" descr="preencoded.png">    </p:cNvPr>
          <p:cNvPicPr>
            <a:picLocks noChangeAspect="1"/>
          </p:cNvPicPr>
          <p:nvPr/>
        </p:nvPicPr>
        <p:blipFill>
          <a:blip r:embed="rId5"/>
          <a:stretch>
            <a:fillRect/>
          </a:stretch>
        </p:blipFill>
        <p:spPr>
          <a:xfrm>
            <a:off x="7265883" y="3527207"/>
            <a:ext cx="260787" cy="260787"/>
          </a:xfrm>
          <a:prstGeom prst="rect">
            <a:avLst/>
          </a:prstGeom>
        </p:spPr>
      </p:pic>
      <p:sp>
        <p:nvSpPr>
          <p:cNvPr id="32" name="Text 25"/>
          <p:cNvSpPr txBox="1"/>
          <p:nvPr/>
        </p:nvSpPr>
        <p:spPr>
          <a:xfrm>
            <a:off x="4521098" y="3337560"/>
            <a:ext cx="2555138" cy="292608"/>
          </a:xfrm>
          <a:prstGeom prst="rect">
            <a:avLst/>
          </a:prstGeom>
          <a:noFill/>
          <a:ln/>
        </p:spPr>
        <p:txBody>
          <a:bodyPr wrap="square" lIns="0" tIns="0" rIns="0" bIns="0" rtlCol="0" anchor="t"/>
          <a:lstStyle/>
          <a:p>
            <a:pPr rtl="1" algn="r" indent="0" marL="0">
              <a:buNone/>
            </a:pPr>
            <a:r>
              <a:rPr lang="he-IL" altLang="en-US" sz="1400" b="1" dirty="0">
                <a:solidFill>
                  <a:srgbClr val="6B6785"/>
                </a:solidFill>
                <a:latin typeface="Arial" pitchFamily="34" charset="0"/>
                <a:ea typeface="Arial" pitchFamily="34" charset="-122"/>
                <a:cs typeface="Arial" pitchFamily="34" charset="-120"/>
              </a:rPr>
              <a:t>הרגל עישון</a:t>
            </a:r>
            <a:endParaRPr lang="he-IL" sz="1400" dirty="0"/>
          </a:p>
        </p:txBody>
      </p:sp>
      <p:sp>
        <p:nvSpPr>
          <p:cNvPr id="33" name="Text 26"/>
          <p:cNvSpPr txBox="1"/>
          <p:nvPr/>
        </p:nvSpPr>
        <p:spPr>
          <a:xfrm>
            <a:off x="4521098" y="3657600"/>
            <a:ext cx="2555138" cy="457200"/>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מעשן בעבר</a:t>
            </a:r>
            <a:endParaRPr lang="he-IL" sz="2300" dirty="0"/>
          </a:p>
        </p:txBody>
      </p:sp>
      <p:sp>
        <p:nvSpPr>
          <p:cNvPr id="34" name="Text 27"/>
          <p:cNvSpPr txBox="1"/>
          <p:nvPr/>
        </p:nvSpPr>
        <p:spPr>
          <a:xfrm>
            <a:off x="4521098" y="4160520"/>
            <a:ext cx="3149498" cy="292608"/>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(הפסיק ב-2012)</a:t>
            </a:r>
            <a:endParaRPr lang="he-IL" sz="1300" dirty="0"/>
          </a:p>
        </p:txBody>
      </p:sp>
      <p:sp>
        <p:nvSpPr>
          <p:cNvPr id="35" name="Shape 28"/>
          <p:cNvSpPr/>
          <p:nvPr/>
        </p:nvSpPr>
        <p:spPr>
          <a:xfrm>
            <a:off x="548640" y="3154680"/>
            <a:ext cx="3515258" cy="1417320"/>
          </a:xfrm>
          <a:prstGeom prst="roundRect">
            <a:avLst>
              <a:gd name="adj" fmla="val 774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36" name="Shape 29"/>
          <p:cNvSpPr/>
          <p:nvPr/>
        </p:nvSpPr>
        <p:spPr>
          <a:xfrm rot="5400000">
            <a:off x="3279383" y="3374136"/>
            <a:ext cx="654632" cy="566928"/>
          </a:xfrm>
          <a:prstGeom prst="hexagon">
            <a:avLst/>
          </a:prstGeom>
          <a:solidFill>
            <a:srgbClr val="1F8F83"/>
          </a:solidFill>
          <a:ln/>
        </p:spPr>
      </p:sp>
      <p:pic>
        <p:nvPicPr>
          <p:cNvPr id="37" name="Image 5" descr="preencoded.png">    </p:cNvPr>
          <p:cNvPicPr>
            <a:picLocks noChangeAspect="1"/>
          </p:cNvPicPr>
          <p:nvPr/>
        </p:nvPicPr>
        <p:blipFill>
          <a:blip r:embed="rId6"/>
          <a:stretch>
            <a:fillRect/>
          </a:stretch>
        </p:blipFill>
        <p:spPr>
          <a:xfrm>
            <a:off x="3476305" y="3527207"/>
            <a:ext cx="260787" cy="260787"/>
          </a:xfrm>
          <a:prstGeom prst="rect">
            <a:avLst/>
          </a:prstGeom>
        </p:spPr>
      </p:pic>
      <p:sp>
        <p:nvSpPr>
          <p:cNvPr id="38" name="Text 30"/>
          <p:cNvSpPr txBox="1"/>
          <p:nvPr/>
        </p:nvSpPr>
        <p:spPr>
          <a:xfrm>
            <a:off x="731520" y="3337560"/>
            <a:ext cx="2555138" cy="292608"/>
          </a:xfrm>
          <a:prstGeom prst="rect">
            <a:avLst/>
          </a:prstGeom>
          <a:noFill/>
          <a:ln/>
        </p:spPr>
        <p:txBody>
          <a:bodyPr wrap="square" lIns="0" tIns="0" rIns="0" bIns="0" rtlCol="0" anchor="t"/>
          <a:lstStyle/>
          <a:p>
            <a:pPr rtl="1" algn="r" indent="0" marL="0">
              <a:buNone/>
            </a:pPr>
            <a:r>
              <a:rPr lang="he-IL" altLang="en-US" sz="1400" b="1" dirty="0">
                <a:solidFill>
                  <a:srgbClr val="6B6785"/>
                </a:solidFill>
                <a:latin typeface="Arial" pitchFamily="34" charset="0"/>
                <a:ea typeface="Arial" pitchFamily="34" charset="-122"/>
                <a:cs typeface="Arial" pitchFamily="34" charset="-120"/>
              </a:rPr>
              <a:t>בדיקת עיניים (רטינה)</a:t>
            </a:r>
            <a:endParaRPr lang="he-IL" sz="1400" dirty="0"/>
          </a:p>
        </p:txBody>
      </p:sp>
      <p:sp>
        <p:nvSpPr>
          <p:cNvPr id="39" name="Text 31"/>
          <p:cNvSpPr txBox="1"/>
          <p:nvPr/>
        </p:nvSpPr>
        <p:spPr>
          <a:xfrm>
            <a:off x="731520" y="3657600"/>
            <a:ext cx="2555138" cy="457200"/>
          </a:xfrm>
          <a:prstGeom prst="rect">
            <a:avLst/>
          </a:prstGeom>
          <a:noFill/>
          <a:ln/>
        </p:spPr>
        <p:txBody>
          <a:bodyPr wrap="square" lIns="0" tIns="0" rIns="0" bIns="0" rtlCol="0" anchor="ctr"/>
          <a:lstStyle/>
          <a:p>
            <a:pPr algn="r" indent="0" marL="0">
              <a:buNone/>
            </a:pPr>
            <a:r>
              <a:rPr lang="en-US" altLang="en-US" sz="2300" b="1" dirty="0">
                <a:solidFill>
                  <a:srgbClr val="2B2560"/>
                </a:solidFill>
                <a:latin typeface="Arial" pitchFamily="34" charset="0"/>
                <a:ea typeface="Arial" pitchFamily="34" charset="-122"/>
                <a:cs typeface="Arial" pitchFamily="34" charset="-120"/>
              </a:rPr>
              <a:t>NODR</a:t>
            </a:r>
            <a:endParaRPr lang="en-US" sz="2300" dirty="0"/>
          </a:p>
        </p:txBody>
      </p:sp>
      <p:sp>
        <p:nvSpPr>
          <p:cNvPr id="40" name="Text 32"/>
          <p:cNvSpPr txBox="1"/>
          <p:nvPr/>
        </p:nvSpPr>
        <p:spPr>
          <a:xfrm>
            <a:off x="731520" y="4160520"/>
            <a:ext cx="3149498" cy="292608"/>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(ללא רטינופתיה סוכרתית)</a:t>
            </a:r>
            <a:endParaRPr lang="he-IL" sz="1300" dirty="0"/>
          </a:p>
        </p:txBody>
      </p:sp>
      <p:sp>
        <p:nvSpPr>
          <p:cNvPr id="41" name="Shape 33"/>
          <p:cNvSpPr/>
          <p:nvPr/>
        </p:nvSpPr>
        <p:spPr>
          <a:xfrm>
            <a:off x="548640" y="4846320"/>
            <a:ext cx="11094415" cy="1234440"/>
          </a:xfrm>
          <a:prstGeom prst="roundRect">
            <a:avLst>
              <a:gd name="adj" fmla="val 8889"/>
            </a:avLst>
          </a:prstGeom>
          <a:solidFill>
            <a:srgbClr val="FBECEF"/>
          </a:solidFill>
          <a:ln/>
        </p:spPr>
      </p:sp>
      <p:sp>
        <p:nvSpPr>
          <p:cNvPr id="42" name="Shape 34"/>
          <p:cNvSpPr/>
          <p:nvPr/>
        </p:nvSpPr>
        <p:spPr>
          <a:xfrm rot="5400000">
            <a:off x="10803675" y="5180076"/>
            <a:ext cx="654632" cy="566928"/>
          </a:xfrm>
          <a:prstGeom prst="hexagon">
            <a:avLst/>
          </a:prstGeom>
          <a:solidFill>
            <a:srgbClr val="C24863"/>
          </a:solidFill>
          <a:ln/>
        </p:spPr>
      </p:sp>
      <p:pic>
        <p:nvPicPr>
          <p:cNvPr id="43" name="Image 6" descr="preencoded.png">    </p:cNvPr>
          <p:cNvPicPr>
            <a:picLocks noChangeAspect="1"/>
          </p:cNvPicPr>
          <p:nvPr/>
        </p:nvPicPr>
        <p:blipFill>
          <a:blip r:embed="rId7"/>
          <a:stretch>
            <a:fillRect/>
          </a:stretch>
        </p:blipFill>
        <p:spPr>
          <a:xfrm>
            <a:off x="11000598" y="5333147"/>
            <a:ext cx="260787" cy="260787"/>
          </a:xfrm>
          <a:prstGeom prst="rect">
            <a:avLst/>
          </a:prstGeom>
        </p:spPr>
      </p:pic>
      <p:sp>
        <p:nvSpPr>
          <p:cNvPr id="44" name="Text 35"/>
          <p:cNvSpPr txBox="1"/>
          <p:nvPr/>
        </p:nvSpPr>
        <p:spPr>
          <a:xfrm>
            <a:off x="777240" y="4983480"/>
            <a:ext cx="9978847" cy="960120"/>
          </a:xfrm>
          <a:prstGeom prst="rect">
            <a:avLst/>
          </a:prstGeom>
          <a:noFill/>
          <a:ln/>
        </p:spPr>
        <p:txBody>
          <a:bodyPr wrap="square" lIns="0" tIns="0" rIns="0" bIns="0" rtlCol="0" anchor="ctr"/>
          <a:lstStyle/>
          <a:p>
            <a:pPr rtl="1" algn="r" indent="0" marL="0">
              <a:spcAft>
                <a:spcPts val="400"/>
              </a:spcAft>
              <a:buNone/>
            </a:pPr>
            <a:r>
              <a:rPr lang="he-IL" altLang="en-US" sz="1500" b="1" dirty="0">
                <a:solidFill>
                  <a:srgbClr val="C24863"/>
                </a:solidFill>
                <a:latin typeface="Arial" pitchFamily="34" charset="0"/>
                <a:ea typeface="Arial" pitchFamily="34" charset="-122"/>
                <a:cs typeface="Arial" pitchFamily="34" charset="-120"/>
              </a:rPr>
              <a:t>בדיקת כפות רגליים:</a:t>
            </a:r>
            <a:endParaRPr lang="he-IL" sz="1400" dirty="0"/>
          </a:p>
          <a:p>
            <a:pPr rtl="1" algn="r" indent="0" marL="0">
              <a:spcAft>
                <a:spcPts val="400"/>
              </a:spcAft>
              <a:buNone/>
            </a:pPr>
            <a:r>
              <a:rPr lang="he-IL" altLang="en-US" sz="1400" dirty="0">
                <a:solidFill>
                  <a:srgbClr val="2E2A47"/>
                </a:solidFill>
                <a:latin typeface="Arial" pitchFamily="34" charset="0"/>
                <a:ea typeface="Arial" pitchFamily="34" charset="-122"/>
                <a:cs typeface="Arial" pitchFamily="34" charset="-120"/>
              </a:rPr>
              <a:t>דופק טיבאלי חלש ברגל ימין עם נוכחות של כיב פעיל מטופל במרפאת פצע</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בדיקות מעבדה בסיסיות (Baseline Laboratory)</a:t>
            </a:r>
            <a:endParaRPr lang="he-IL" sz="2600" dirty="0"/>
          </a:p>
        </p:txBody>
      </p:sp>
      <p:sp>
        <p:nvSpPr>
          <p:cNvPr id="5" name="Shape 3"/>
          <p:cNvSpPr/>
          <p:nvPr/>
        </p:nvSpPr>
        <p:spPr>
          <a:xfrm>
            <a:off x="8097317" y="1554480"/>
            <a:ext cx="3545738" cy="2103120"/>
          </a:xfrm>
          <a:prstGeom prst="roundRect">
            <a:avLst>
              <a:gd name="adj" fmla="val 5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11154078" y="1755648"/>
            <a:ext cx="337874" cy="292608"/>
          </a:xfrm>
          <a:prstGeom prst="hexagon">
            <a:avLst/>
          </a:prstGeom>
          <a:solidFill>
            <a:srgbClr val="C24863"/>
          </a:solidFill>
          <a:ln/>
        </p:spPr>
      </p:sp>
      <p:sp>
        <p:nvSpPr>
          <p:cNvPr id="7" name="Text 5"/>
          <p:cNvSpPr txBox="1"/>
          <p:nvPr/>
        </p:nvSpPr>
        <p:spPr>
          <a:xfrm>
            <a:off x="8280197" y="1737360"/>
            <a:ext cx="2859938" cy="329184"/>
          </a:xfrm>
          <a:prstGeom prst="rect">
            <a:avLst/>
          </a:prstGeom>
          <a:noFill/>
          <a:ln/>
        </p:spPr>
        <p:txBody>
          <a:bodyPr wrap="square" lIns="0" tIns="0" rIns="0" bIns="0" rtlCol="0" anchor="t"/>
          <a:lstStyle/>
          <a:p>
            <a:pPr rtl="1" algn="r" indent="0" marL="0">
              <a:buNone/>
            </a:pPr>
            <a:r>
              <a:rPr lang="he-IL" altLang="en-US" sz="1500" b="1" dirty="0">
                <a:solidFill>
                  <a:srgbClr val="6B6785"/>
                </a:solidFill>
                <a:latin typeface="Arial" pitchFamily="34" charset="0"/>
                <a:ea typeface="Arial" pitchFamily="34" charset="-122"/>
                <a:cs typeface="Arial" pitchFamily="34" charset="-120"/>
              </a:rPr>
              <a:t>HbA1C בסיס</a:t>
            </a:r>
            <a:endParaRPr lang="he-IL" sz="1500" dirty="0"/>
          </a:p>
        </p:txBody>
      </p:sp>
      <p:sp>
        <p:nvSpPr>
          <p:cNvPr id="8" name="Text 6"/>
          <p:cNvSpPr txBox="1"/>
          <p:nvPr/>
        </p:nvSpPr>
        <p:spPr>
          <a:xfrm>
            <a:off x="8280197" y="2194560"/>
            <a:ext cx="3179978" cy="640080"/>
          </a:xfrm>
          <a:prstGeom prst="rect">
            <a:avLst/>
          </a:prstGeom>
          <a:noFill/>
          <a:ln/>
        </p:spPr>
        <p:txBody>
          <a:bodyPr wrap="square" lIns="0" tIns="0" rIns="0" bIns="0" rtlCol="0" anchor="ctr"/>
          <a:lstStyle/>
          <a:p>
            <a:pPr algn="r" indent="0" marL="0">
              <a:buNone/>
            </a:pPr>
            <a:r>
              <a:rPr lang="en-US" altLang="en-US" sz="3000" b="1" dirty="0">
                <a:solidFill>
                  <a:srgbClr val="C24863"/>
                </a:solidFill>
                <a:latin typeface="Arial" pitchFamily="34" charset="0"/>
                <a:ea typeface="Arial" pitchFamily="34" charset="-122"/>
                <a:cs typeface="Arial" pitchFamily="34" charset="-120"/>
              </a:rPr>
              <a:t>13.4%</a:t>
            </a:r>
            <a:endParaRPr lang="en-US" sz="3000" dirty="0"/>
          </a:p>
        </p:txBody>
      </p:sp>
      <p:sp>
        <p:nvSpPr>
          <p:cNvPr id="9" name="Text 7"/>
          <p:cNvSpPr txBox="1"/>
          <p:nvPr/>
        </p:nvSpPr>
        <p:spPr>
          <a:xfrm>
            <a:off x="8280197" y="2926080"/>
            <a:ext cx="3179978" cy="640080"/>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(דצמבר 2025)</a:t>
            </a:r>
            <a:endParaRPr lang="he-IL" sz="1300" dirty="0"/>
          </a:p>
        </p:txBody>
      </p:sp>
      <p:sp>
        <p:nvSpPr>
          <p:cNvPr id="10" name="Shape 8"/>
          <p:cNvSpPr/>
          <p:nvPr/>
        </p:nvSpPr>
        <p:spPr>
          <a:xfrm>
            <a:off x="4322978" y="1554480"/>
            <a:ext cx="3545738" cy="2103120"/>
          </a:xfrm>
          <a:prstGeom prst="roundRect">
            <a:avLst>
              <a:gd name="adj" fmla="val 5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1" name="Shape 9"/>
          <p:cNvSpPr/>
          <p:nvPr/>
        </p:nvSpPr>
        <p:spPr>
          <a:xfrm rot="5400000">
            <a:off x="7379740" y="1755648"/>
            <a:ext cx="337874" cy="292608"/>
          </a:xfrm>
          <a:prstGeom prst="hexagon">
            <a:avLst/>
          </a:prstGeom>
          <a:solidFill>
            <a:srgbClr val="C24863"/>
          </a:solidFill>
          <a:ln/>
        </p:spPr>
      </p:sp>
      <p:sp>
        <p:nvSpPr>
          <p:cNvPr id="12" name="Text 10"/>
          <p:cNvSpPr txBox="1"/>
          <p:nvPr/>
        </p:nvSpPr>
        <p:spPr>
          <a:xfrm>
            <a:off x="4505858" y="1737360"/>
            <a:ext cx="2859938" cy="329184"/>
          </a:xfrm>
          <a:prstGeom prst="rect">
            <a:avLst/>
          </a:prstGeom>
          <a:noFill/>
          <a:ln/>
        </p:spPr>
        <p:txBody>
          <a:bodyPr wrap="square" lIns="0" tIns="0" rIns="0" bIns="0" rtlCol="0" anchor="t"/>
          <a:lstStyle/>
          <a:p>
            <a:pPr rtl="1" algn="r" indent="0" marL="0">
              <a:buNone/>
            </a:pPr>
            <a:r>
              <a:rPr lang="he-IL" altLang="en-US" sz="1500" b="1" dirty="0">
                <a:solidFill>
                  <a:srgbClr val="6B6785"/>
                </a:solidFill>
                <a:latin typeface="Arial" pitchFamily="34" charset="0"/>
                <a:ea typeface="Arial" pitchFamily="34" charset="-122"/>
                <a:cs typeface="Arial" pitchFamily="34" charset="-120"/>
              </a:rPr>
              <a:t>גלוקוז בצום</a:t>
            </a:r>
            <a:endParaRPr lang="he-IL" sz="1500" dirty="0"/>
          </a:p>
        </p:txBody>
      </p:sp>
      <p:sp>
        <p:nvSpPr>
          <p:cNvPr id="13" name="Text 11"/>
          <p:cNvSpPr txBox="1"/>
          <p:nvPr/>
        </p:nvSpPr>
        <p:spPr>
          <a:xfrm>
            <a:off x="4505858" y="2194560"/>
            <a:ext cx="3179978" cy="640080"/>
          </a:xfrm>
          <a:prstGeom prst="rect">
            <a:avLst/>
          </a:prstGeom>
          <a:noFill/>
          <a:ln/>
        </p:spPr>
        <p:txBody>
          <a:bodyPr wrap="square" lIns="0" tIns="0" rIns="0" bIns="0" rtlCol="0" anchor="ctr"/>
          <a:lstStyle/>
          <a:p>
            <a:pPr algn="r" indent="0" marL="0">
              <a:buNone/>
            </a:pPr>
            <a:r>
              <a:rPr lang="en-US" altLang="en-US" sz="3000" b="1" dirty="0">
                <a:solidFill>
                  <a:srgbClr val="C24863"/>
                </a:solidFill>
                <a:latin typeface="Arial" pitchFamily="34" charset="0"/>
                <a:ea typeface="Arial" pitchFamily="34" charset="-122"/>
                <a:cs typeface="Arial" pitchFamily="34" charset="-120"/>
              </a:rPr>
              <a:t>220 mg/dL</a:t>
            </a:r>
            <a:endParaRPr lang="en-US" sz="3000" dirty="0"/>
          </a:p>
        </p:txBody>
      </p:sp>
      <p:sp>
        <p:nvSpPr>
          <p:cNvPr id="14" name="Text 12"/>
          <p:cNvSpPr txBox="1"/>
          <p:nvPr/>
        </p:nvSpPr>
        <p:spPr>
          <a:xfrm>
            <a:off x="4505858" y="2926080"/>
            <a:ext cx="3179978" cy="640080"/>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תוצאת מעבדה (H)</a:t>
            </a:r>
            <a:endParaRPr lang="he-IL" sz="1300" dirty="0"/>
          </a:p>
        </p:txBody>
      </p:sp>
      <p:sp>
        <p:nvSpPr>
          <p:cNvPr id="15" name="Shape 13"/>
          <p:cNvSpPr/>
          <p:nvPr/>
        </p:nvSpPr>
        <p:spPr>
          <a:xfrm>
            <a:off x="548640" y="1554480"/>
            <a:ext cx="3545738" cy="2103120"/>
          </a:xfrm>
          <a:prstGeom prst="roundRect">
            <a:avLst>
              <a:gd name="adj" fmla="val 5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6" name="Shape 14"/>
          <p:cNvSpPr/>
          <p:nvPr/>
        </p:nvSpPr>
        <p:spPr>
          <a:xfrm rot="5400000">
            <a:off x="3605401" y="1755648"/>
            <a:ext cx="337874" cy="292608"/>
          </a:xfrm>
          <a:prstGeom prst="hexagon">
            <a:avLst/>
          </a:prstGeom>
          <a:solidFill>
            <a:srgbClr val="B8741A"/>
          </a:solidFill>
          <a:ln/>
        </p:spPr>
      </p:sp>
      <p:sp>
        <p:nvSpPr>
          <p:cNvPr id="17" name="Text 15"/>
          <p:cNvSpPr txBox="1"/>
          <p:nvPr/>
        </p:nvSpPr>
        <p:spPr>
          <a:xfrm>
            <a:off x="731520" y="1737360"/>
            <a:ext cx="2859938" cy="329184"/>
          </a:xfrm>
          <a:prstGeom prst="rect">
            <a:avLst/>
          </a:prstGeom>
          <a:noFill/>
          <a:ln/>
        </p:spPr>
        <p:txBody>
          <a:bodyPr wrap="square" lIns="0" tIns="0" rIns="0" bIns="0" rtlCol="0" anchor="t"/>
          <a:lstStyle/>
          <a:p>
            <a:pPr rtl="1" algn="r" indent="0" marL="0">
              <a:buNone/>
            </a:pPr>
            <a:r>
              <a:rPr lang="he-IL" altLang="en-US" sz="1500" b="1" dirty="0">
                <a:solidFill>
                  <a:srgbClr val="6B6785"/>
                </a:solidFill>
                <a:latin typeface="Arial" pitchFamily="34" charset="0"/>
                <a:ea typeface="Arial" pitchFamily="34" charset="-122"/>
                <a:cs typeface="Arial" pitchFamily="34" charset="-120"/>
              </a:rPr>
              <a:t>LDL-Cholesterol</a:t>
            </a:r>
            <a:endParaRPr lang="he-IL" sz="1500" dirty="0"/>
          </a:p>
        </p:txBody>
      </p:sp>
      <p:sp>
        <p:nvSpPr>
          <p:cNvPr id="18" name="Text 16"/>
          <p:cNvSpPr txBox="1"/>
          <p:nvPr/>
        </p:nvSpPr>
        <p:spPr>
          <a:xfrm>
            <a:off x="731520" y="2194560"/>
            <a:ext cx="3179978" cy="640080"/>
          </a:xfrm>
          <a:prstGeom prst="rect">
            <a:avLst/>
          </a:prstGeom>
          <a:noFill/>
          <a:ln/>
        </p:spPr>
        <p:txBody>
          <a:bodyPr wrap="square" lIns="0" tIns="0" rIns="0" bIns="0" rtlCol="0" anchor="ctr"/>
          <a:lstStyle/>
          <a:p>
            <a:pPr algn="r" indent="0" marL="0">
              <a:buNone/>
            </a:pPr>
            <a:r>
              <a:rPr lang="en-US" altLang="en-US" sz="3000" b="1" dirty="0">
                <a:solidFill>
                  <a:srgbClr val="B8741A"/>
                </a:solidFill>
                <a:latin typeface="Arial" pitchFamily="34" charset="0"/>
                <a:ea typeface="Arial" pitchFamily="34" charset="-122"/>
                <a:cs typeface="Arial" pitchFamily="34" charset="-120"/>
              </a:rPr>
              <a:t>121 mg/dL</a:t>
            </a:r>
            <a:endParaRPr lang="en-US" sz="3000" dirty="0"/>
          </a:p>
        </p:txBody>
      </p:sp>
      <p:sp>
        <p:nvSpPr>
          <p:cNvPr id="19" name="Shape 17"/>
          <p:cNvSpPr/>
          <p:nvPr/>
        </p:nvSpPr>
        <p:spPr>
          <a:xfrm>
            <a:off x="6208776" y="3886200"/>
            <a:ext cx="3602736" cy="2103120"/>
          </a:xfrm>
          <a:prstGeom prst="roundRect">
            <a:avLst>
              <a:gd name="adj" fmla="val 5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0" name="Shape 18"/>
          <p:cNvSpPr/>
          <p:nvPr/>
        </p:nvSpPr>
        <p:spPr>
          <a:xfrm rot="5400000">
            <a:off x="9322535" y="4087368"/>
            <a:ext cx="337874" cy="292608"/>
          </a:xfrm>
          <a:prstGeom prst="hexagon">
            <a:avLst/>
          </a:prstGeom>
          <a:solidFill>
            <a:srgbClr val="B8741A"/>
          </a:solidFill>
          <a:ln/>
        </p:spPr>
      </p:sp>
      <p:sp>
        <p:nvSpPr>
          <p:cNvPr id="21" name="Text 19"/>
          <p:cNvSpPr txBox="1"/>
          <p:nvPr/>
        </p:nvSpPr>
        <p:spPr>
          <a:xfrm>
            <a:off x="6391656" y="4069080"/>
            <a:ext cx="2916936" cy="329184"/>
          </a:xfrm>
          <a:prstGeom prst="rect">
            <a:avLst/>
          </a:prstGeom>
          <a:noFill/>
          <a:ln/>
        </p:spPr>
        <p:txBody>
          <a:bodyPr wrap="square" lIns="0" tIns="0" rIns="0" bIns="0" rtlCol="0" anchor="t"/>
          <a:lstStyle/>
          <a:p>
            <a:pPr rtl="1" algn="r" indent="0" marL="0">
              <a:buNone/>
            </a:pPr>
            <a:r>
              <a:rPr lang="he-IL" altLang="en-US" sz="1500" b="1" dirty="0">
                <a:solidFill>
                  <a:srgbClr val="6B6785"/>
                </a:solidFill>
                <a:latin typeface="Arial" pitchFamily="34" charset="0"/>
                <a:ea typeface="Arial" pitchFamily="34" charset="-122"/>
                <a:cs typeface="Arial" pitchFamily="34" charset="-120"/>
              </a:rPr>
              <a:t>ACR (חלבון בשתן)</a:t>
            </a:r>
            <a:endParaRPr lang="he-IL" sz="1500" dirty="0"/>
          </a:p>
        </p:txBody>
      </p:sp>
      <p:sp>
        <p:nvSpPr>
          <p:cNvPr id="22" name="Text 20"/>
          <p:cNvSpPr txBox="1"/>
          <p:nvPr/>
        </p:nvSpPr>
        <p:spPr>
          <a:xfrm>
            <a:off x="6391656" y="4526280"/>
            <a:ext cx="3236976" cy="640080"/>
          </a:xfrm>
          <a:prstGeom prst="rect">
            <a:avLst/>
          </a:prstGeom>
          <a:noFill/>
          <a:ln/>
        </p:spPr>
        <p:txBody>
          <a:bodyPr wrap="square" lIns="0" tIns="0" rIns="0" bIns="0" rtlCol="0" anchor="ctr"/>
          <a:lstStyle/>
          <a:p>
            <a:pPr algn="r" indent="0" marL="0">
              <a:buNone/>
            </a:pPr>
            <a:r>
              <a:rPr lang="en-US" altLang="en-US" sz="3000" b="1" dirty="0">
                <a:solidFill>
                  <a:srgbClr val="B8741A"/>
                </a:solidFill>
                <a:latin typeface="Arial" pitchFamily="34" charset="0"/>
                <a:ea typeface="Arial" pitchFamily="34" charset="-122"/>
                <a:cs typeface="Arial" pitchFamily="34" charset="-120"/>
              </a:rPr>
              <a:t>180 mg/g</a:t>
            </a:r>
            <a:endParaRPr lang="en-US" sz="3000" dirty="0"/>
          </a:p>
        </p:txBody>
      </p:sp>
      <p:sp>
        <p:nvSpPr>
          <p:cNvPr id="23" name="Text 21"/>
          <p:cNvSpPr txBox="1"/>
          <p:nvPr/>
        </p:nvSpPr>
        <p:spPr>
          <a:xfrm>
            <a:off x="6391656" y="5257800"/>
            <a:ext cx="3236976" cy="640080"/>
          </a:xfrm>
          <a:prstGeom prst="rect">
            <a:avLst/>
          </a:prstGeom>
          <a:noFill/>
          <a:ln/>
        </p:spPr>
        <p:txBody>
          <a:bodyPr wrap="square" lIns="0" tIns="0" rIns="0" bIns="0" rtlCol="0" anchor="t"/>
          <a:lstStyle/>
          <a:p>
            <a:pPr rtl="1" algn="r" indent="0" marL="0">
              <a:buNone/>
            </a:pPr>
            <a:r>
              <a:rPr lang="he-IL" altLang="en-US" sz="1300" dirty="0">
                <a:solidFill>
                  <a:srgbClr val="2E2A47"/>
                </a:solidFill>
                <a:latin typeface="Arial" pitchFamily="34" charset="0"/>
                <a:ea typeface="Arial" pitchFamily="34" charset="-122"/>
                <a:cs typeface="Arial" pitchFamily="34" charset="-120"/>
              </a:rPr>
              <a:t>(מיקרואלבומינוריה)</a:t>
            </a:r>
            <a:endParaRPr lang="he-IL" sz="1300" dirty="0"/>
          </a:p>
        </p:txBody>
      </p:sp>
      <p:sp>
        <p:nvSpPr>
          <p:cNvPr id="24" name="Shape 22"/>
          <p:cNvSpPr/>
          <p:nvPr/>
        </p:nvSpPr>
        <p:spPr>
          <a:xfrm>
            <a:off x="2377440" y="3886200"/>
            <a:ext cx="3602736" cy="2103120"/>
          </a:xfrm>
          <a:prstGeom prst="roundRect">
            <a:avLst>
              <a:gd name="adj" fmla="val 5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5" name="Shape 23"/>
          <p:cNvSpPr/>
          <p:nvPr/>
        </p:nvSpPr>
        <p:spPr>
          <a:xfrm rot="5400000">
            <a:off x="5491199" y="4087368"/>
            <a:ext cx="337874" cy="292608"/>
          </a:xfrm>
          <a:prstGeom prst="hexagon">
            <a:avLst/>
          </a:prstGeom>
          <a:solidFill>
            <a:srgbClr val="1F8F83"/>
          </a:solidFill>
          <a:ln/>
        </p:spPr>
      </p:sp>
      <p:sp>
        <p:nvSpPr>
          <p:cNvPr id="26" name="Text 24"/>
          <p:cNvSpPr txBox="1"/>
          <p:nvPr/>
        </p:nvSpPr>
        <p:spPr>
          <a:xfrm>
            <a:off x="2560320" y="4069080"/>
            <a:ext cx="2916936" cy="329184"/>
          </a:xfrm>
          <a:prstGeom prst="rect">
            <a:avLst/>
          </a:prstGeom>
          <a:noFill/>
          <a:ln/>
        </p:spPr>
        <p:txBody>
          <a:bodyPr wrap="square" lIns="0" tIns="0" rIns="0" bIns="0" rtlCol="0" anchor="t"/>
          <a:lstStyle/>
          <a:p>
            <a:pPr rtl="1" algn="r" indent="0" marL="0">
              <a:buNone/>
            </a:pPr>
            <a:r>
              <a:rPr lang="he-IL" altLang="en-US" sz="1500" b="1" dirty="0">
                <a:solidFill>
                  <a:srgbClr val="6B6785"/>
                </a:solidFill>
                <a:latin typeface="Arial" pitchFamily="34" charset="0"/>
                <a:ea typeface="Arial" pitchFamily="34" charset="-122"/>
                <a:cs typeface="Arial" pitchFamily="34" charset="-120"/>
              </a:rPr>
              <a:t>eGFR (תפקוד כליות)</a:t>
            </a:r>
            <a:endParaRPr lang="he-IL" sz="1500" dirty="0"/>
          </a:p>
        </p:txBody>
      </p:sp>
      <p:sp>
        <p:nvSpPr>
          <p:cNvPr id="27" name="Text 25"/>
          <p:cNvSpPr txBox="1"/>
          <p:nvPr/>
        </p:nvSpPr>
        <p:spPr>
          <a:xfrm>
            <a:off x="2560320" y="4526280"/>
            <a:ext cx="3236976" cy="640080"/>
          </a:xfrm>
          <a:prstGeom prst="rect">
            <a:avLst/>
          </a:prstGeom>
          <a:noFill/>
          <a:ln/>
        </p:spPr>
        <p:txBody>
          <a:bodyPr wrap="square" lIns="0" tIns="0" rIns="0" bIns="0" rtlCol="0" anchor="ctr"/>
          <a:lstStyle/>
          <a:p>
            <a:pPr algn="r" indent="0" marL="0">
              <a:buNone/>
            </a:pPr>
            <a:r>
              <a:rPr lang="en-US" altLang="en-US" sz="3000" b="1" dirty="0">
                <a:solidFill>
                  <a:srgbClr val="1F8F83"/>
                </a:solidFill>
                <a:latin typeface="Arial" pitchFamily="34" charset="0"/>
                <a:ea typeface="Arial" pitchFamily="34" charset="-122"/>
                <a:cs typeface="Arial" pitchFamily="34" charset="-120"/>
              </a:rPr>
              <a:t>75 mL/min</a:t>
            </a:r>
            <a:endParaRPr lang="en-US" sz="30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טיפול תרופתי נוכחי בביקור הראשון</a:t>
            </a:r>
            <a:endParaRPr lang="he-IL" sz="2600" dirty="0"/>
          </a:p>
        </p:txBody>
      </p:sp>
      <p:sp>
        <p:nvSpPr>
          <p:cNvPr id="5" name="Shape 3"/>
          <p:cNvSpPr/>
          <p:nvPr/>
        </p:nvSpPr>
        <p:spPr>
          <a:xfrm>
            <a:off x="8127797" y="1508760"/>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10925376" y="1700784"/>
            <a:ext cx="612397" cy="530352"/>
          </a:xfrm>
          <a:prstGeom prst="hexagon">
            <a:avLst/>
          </a:prstGeom>
          <a:solidFill>
            <a:srgbClr val="4A90D0"/>
          </a:solidFill>
          <a:ln/>
        </p:spPr>
      </p:sp>
      <p:pic>
        <p:nvPicPr>
          <p:cNvPr id="7" name="Image 0" descr="preencoded.png">    </p:cNvPr>
          <p:cNvPicPr>
            <a:picLocks noChangeAspect="1"/>
          </p:cNvPicPr>
          <p:nvPr/>
        </p:nvPicPr>
        <p:blipFill>
          <a:blip r:embed="rId1"/>
          <a:stretch>
            <a:fillRect/>
          </a:stretch>
        </p:blipFill>
        <p:spPr>
          <a:xfrm>
            <a:off x="11109594" y="1843979"/>
            <a:ext cx="243962" cy="243962"/>
          </a:xfrm>
          <a:prstGeom prst="rect">
            <a:avLst/>
          </a:prstGeom>
        </p:spPr>
      </p:pic>
      <p:sp>
        <p:nvSpPr>
          <p:cNvPr id="8" name="Text 5"/>
          <p:cNvSpPr txBox="1"/>
          <p:nvPr/>
        </p:nvSpPr>
        <p:spPr>
          <a:xfrm>
            <a:off x="8292389" y="1600200"/>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INS TREGLUDEC 100U/1ML (טרגלודק)</a:t>
            </a:r>
            <a:endParaRPr lang="en-US" sz="1100" dirty="0"/>
          </a:p>
        </p:txBody>
      </p:sp>
      <p:sp>
        <p:nvSpPr>
          <p:cNvPr id="9" name="Text 6"/>
          <p:cNvSpPr txBox="1"/>
          <p:nvPr/>
        </p:nvSpPr>
        <p:spPr>
          <a:xfrm>
            <a:off x="8292389" y="2075688"/>
            <a:ext cx="2600858" cy="274320"/>
          </a:xfrm>
          <a:prstGeom prst="rect">
            <a:avLst/>
          </a:prstGeom>
          <a:noFill/>
          <a:ln/>
        </p:spPr>
        <p:txBody>
          <a:bodyPr wrap="square" lIns="0" tIns="0" rIns="0" bIns="0" rtlCol="0" anchor="t"/>
          <a:lstStyle/>
          <a:p>
            <a:pPr rtl="1" algn="r" indent="0" marL="0">
              <a:buNone/>
            </a:pPr>
            <a:r>
              <a:rPr lang="he-IL" altLang="en-US" sz="1400" b="1" dirty="0">
                <a:solidFill>
                  <a:srgbClr val="4A90D0"/>
                </a:solidFill>
                <a:latin typeface="Arial" pitchFamily="34" charset="0"/>
                <a:ea typeface="Arial" pitchFamily="34" charset="-122"/>
                <a:cs typeface="Arial" pitchFamily="34" charset="-120"/>
              </a:rPr>
              <a:t>40 יחידות פעם ביום</a:t>
            </a:r>
            <a:endParaRPr lang="he-IL" sz="1400" dirty="0"/>
          </a:p>
        </p:txBody>
      </p:sp>
      <p:sp>
        <p:nvSpPr>
          <p:cNvPr id="10" name="Text 7"/>
          <p:cNvSpPr txBox="1"/>
          <p:nvPr/>
        </p:nvSpPr>
        <p:spPr>
          <a:xfrm>
            <a:off x="8292389" y="2377440"/>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אינסולין בזאלי פעם ביום</a:t>
            </a:r>
            <a:endParaRPr lang="he-IL" sz="1200" dirty="0"/>
          </a:p>
        </p:txBody>
      </p:sp>
      <p:sp>
        <p:nvSpPr>
          <p:cNvPr id="11" name="Shape 8"/>
          <p:cNvSpPr/>
          <p:nvPr/>
        </p:nvSpPr>
        <p:spPr>
          <a:xfrm>
            <a:off x="4338218" y="1508760"/>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2" name="Shape 9"/>
          <p:cNvSpPr/>
          <p:nvPr/>
        </p:nvSpPr>
        <p:spPr>
          <a:xfrm rot="5400000">
            <a:off x="7135798" y="1700784"/>
            <a:ext cx="612397" cy="530352"/>
          </a:xfrm>
          <a:prstGeom prst="hexagon">
            <a:avLst/>
          </a:prstGeom>
          <a:solidFill>
            <a:srgbClr val="4A90D0"/>
          </a:solidFill>
          <a:ln/>
        </p:spPr>
      </p:sp>
      <p:pic>
        <p:nvPicPr>
          <p:cNvPr id="13" name="Image 1" descr="preencoded.png">    </p:cNvPr>
          <p:cNvPicPr>
            <a:picLocks noChangeAspect="1"/>
          </p:cNvPicPr>
          <p:nvPr/>
        </p:nvPicPr>
        <p:blipFill>
          <a:blip r:embed="rId2"/>
          <a:stretch>
            <a:fillRect/>
          </a:stretch>
        </p:blipFill>
        <p:spPr>
          <a:xfrm>
            <a:off x="7320016" y="1843979"/>
            <a:ext cx="243962" cy="243962"/>
          </a:xfrm>
          <a:prstGeom prst="rect">
            <a:avLst/>
          </a:prstGeom>
        </p:spPr>
      </p:pic>
      <p:sp>
        <p:nvSpPr>
          <p:cNvPr id="14" name="Text 10"/>
          <p:cNvSpPr txBox="1"/>
          <p:nvPr/>
        </p:nvSpPr>
        <p:spPr>
          <a:xfrm>
            <a:off x="4502810" y="1600200"/>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SEMAGLUTIDE 1MG (סמגלוטייד 1 מ"ג - אוזמפיק)</a:t>
            </a:r>
            <a:endParaRPr lang="en-US" sz="1100" dirty="0"/>
          </a:p>
        </p:txBody>
      </p:sp>
      <p:sp>
        <p:nvSpPr>
          <p:cNvPr id="15" name="Text 11"/>
          <p:cNvSpPr txBox="1"/>
          <p:nvPr/>
        </p:nvSpPr>
        <p:spPr>
          <a:xfrm>
            <a:off x="4502810" y="2075688"/>
            <a:ext cx="2600858" cy="274320"/>
          </a:xfrm>
          <a:prstGeom prst="rect">
            <a:avLst/>
          </a:prstGeom>
          <a:noFill/>
          <a:ln/>
        </p:spPr>
        <p:txBody>
          <a:bodyPr wrap="square" lIns="0" tIns="0" rIns="0" bIns="0" rtlCol="0" anchor="t"/>
          <a:lstStyle/>
          <a:p>
            <a:pPr rtl="1" algn="r" indent="0" marL="0">
              <a:buNone/>
            </a:pPr>
            <a:r>
              <a:rPr lang="he-IL" altLang="en-US" sz="1400" b="1" dirty="0">
                <a:solidFill>
                  <a:srgbClr val="4A90D0"/>
                </a:solidFill>
                <a:latin typeface="Arial" pitchFamily="34" charset="0"/>
                <a:ea typeface="Arial" pitchFamily="34" charset="-122"/>
                <a:cs typeface="Arial" pitchFamily="34" charset="-120"/>
              </a:rPr>
              <a:t>1 מ"ג פעם בשבוע</a:t>
            </a:r>
            <a:endParaRPr lang="he-IL" sz="1400" dirty="0"/>
          </a:p>
        </p:txBody>
      </p:sp>
      <p:sp>
        <p:nvSpPr>
          <p:cNvPr id="16" name="Text 12"/>
          <p:cNvSpPr txBox="1"/>
          <p:nvPr/>
        </p:nvSpPr>
        <p:spPr>
          <a:xfrm>
            <a:off x="4502810" y="2377440"/>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טיפול ב-GLP-1 RA</a:t>
            </a:r>
            <a:endParaRPr lang="he-IL" sz="1200" dirty="0"/>
          </a:p>
        </p:txBody>
      </p:sp>
      <p:sp>
        <p:nvSpPr>
          <p:cNvPr id="17" name="Shape 13"/>
          <p:cNvSpPr/>
          <p:nvPr/>
        </p:nvSpPr>
        <p:spPr>
          <a:xfrm>
            <a:off x="548640" y="1508760"/>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8" name="Shape 14"/>
          <p:cNvSpPr/>
          <p:nvPr/>
        </p:nvSpPr>
        <p:spPr>
          <a:xfrm rot="5400000">
            <a:off x="3346220" y="1700784"/>
            <a:ext cx="612397" cy="530352"/>
          </a:xfrm>
          <a:prstGeom prst="hexagon">
            <a:avLst/>
          </a:prstGeom>
          <a:solidFill>
            <a:srgbClr val="4A90D0"/>
          </a:solidFill>
          <a:ln/>
        </p:spPr>
      </p:sp>
      <p:pic>
        <p:nvPicPr>
          <p:cNvPr id="19" name="Image 2" descr="preencoded.png">    </p:cNvPr>
          <p:cNvPicPr>
            <a:picLocks noChangeAspect="1"/>
          </p:cNvPicPr>
          <p:nvPr/>
        </p:nvPicPr>
        <p:blipFill>
          <a:blip r:embed="rId3"/>
          <a:stretch>
            <a:fillRect/>
          </a:stretch>
        </p:blipFill>
        <p:spPr>
          <a:xfrm>
            <a:off x="3530437" y="1843979"/>
            <a:ext cx="243962" cy="243962"/>
          </a:xfrm>
          <a:prstGeom prst="rect">
            <a:avLst/>
          </a:prstGeom>
        </p:spPr>
      </p:pic>
      <p:sp>
        <p:nvSpPr>
          <p:cNvPr id="20" name="Text 15"/>
          <p:cNvSpPr txBox="1"/>
          <p:nvPr/>
        </p:nvSpPr>
        <p:spPr>
          <a:xfrm>
            <a:off x="713232" y="1600200"/>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JARDIANCE DUO 12.5MG/850MG</a:t>
            </a:r>
            <a:endParaRPr lang="en-US" sz="1100" dirty="0"/>
          </a:p>
        </p:txBody>
      </p:sp>
      <p:sp>
        <p:nvSpPr>
          <p:cNvPr id="21" name="Text 16"/>
          <p:cNvSpPr txBox="1"/>
          <p:nvPr/>
        </p:nvSpPr>
        <p:spPr>
          <a:xfrm>
            <a:off x="713232" y="2075688"/>
            <a:ext cx="2600858" cy="274320"/>
          </a:xfrm>
          <a:prstGeom prst="rect">
            <a:avLst/>
          </a:prstGeom>
          <a:noFill/>
          <a:ln/>
        </p:spPr>
        <p:txBody>
          <a:bodyPr wrap="square" lIns="0" tIns="0" rIns="0" bIns="0" rtlCol="0" anchor="t"/>
          <a:lstStyle/>
          <a:p>
            <a:pPr rtl="1" algn="r" indent="0" marL="0">
              <a:buNone/>
            </a:pPr>
            <a:r>
              <a:rPr lang="he-IL" altLang="en-US" sz="1400" b="1" dirty="0">
                <a:solidFill>
                  <a:srgbClr val="4A90D0"/>
                </a:solidFill>
                <a:latin typeface="Arial" pitchFamily="34" charset="0"/>
                <a:ea typeface="Arial" pitchFamily="34" charset="-122"/>
                <a:cs typeface="Arial" pitchFamily="34" charset="-120"/>
              </a:rPr>
              <a:t>1 טבליה X 2 ביום</a:t>
            </a:r>
            <a:endParaRPr lang="he-IL" sz="1400" dirty="0"/>
          </a:p>
        </p:txBody>
      </p:sp>
      <p:sp>
        <p:nvSpPr>
          <p:cNvPr id="22" name="Text 17"/>
          <p:cNvSpPr txBox="1"/>
          <p:nvPr/>
        </p:nvSpPr>
        <p:spPr>
          <a:xfrm>
            <a:off x="713232" y="2377440"/>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איזון גלוקוז משולב (Empagliflozin + Metformin)</a:t>
            </a:r>
            <a:endParaRPr lang="he-IL" sz="1200" dirty="0"/>
          </a:p>
        </p:txBody>
      </p:sp>
      <p:sp>
        <p:nvSpPr>
          <p:cNvPr id="23" name="Shape 18"/>
          <p:cNvSpPr/>
          <p:nvPr/>
        </p:nvSpPr>
        <p:spPr>
          <a:xfrm>
            <a:off x="8127797" y="3044952"/>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4" name="Shape 19"/>
          <p:cNvSpPr/>
          <p:nvPr/>
        </p:nvSpPr>
        <p:spPr>
          <a:xfrm rot="5400000">
            <a:off x="10925376" y="3236976"/>
            <a:ext cx="612397" cy="530352"/>
          </a:xfrm>
          <a:prstGeom prst="hexagon">
            <a:avLst/>
          </a:prstGeom>
          <a:solidFill>
            <a:srgbClr val="6E4494"/>
          </a:solidFill>
          <a:ln/>
        </p:spPr>
      </p:sp>
      <p:pic>
        <p:nvPicPr>
          <p:cNvPr id="25" name="Image 3" descr="preencoded.png">    </p:cNvPr>
          <p:cNvPicPr>
            <a:picLocks noChangeAspect="1"/>
          </p:cNvPicPr>
          <p:nvPr/>
        </p:nvPicPr>
        <p:blipFill>
          <a:blip r:embed="rId4"/>
          <a:stretch>
            <a:fillRect/>
          </a:stretch>
        </p:blipFill>
        <p:spPr>
          <a:xfrm>
            <a:off x="11109594" y="3380171"/>
            <a:ext cx="243962" cy="243962"/>
          </a:xfrm>
          <a:prstGeom prst="rect">
            <a:avLst/>
          </a:prstGeom>
        </p:spPr>
      </p:pic>
      <p:sp>
        <p:nvSpPr>
          <p:cNvPr id="26" name="Text 20"/>
          <p:cNvSpPr txBox="1"/>
          <p:nvPr/>
        </p:nvSpPr>
        <p:spPr>
          <a:xfrm>
            <a:off x="8292389" y="3136392"/>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ATORVASTATIN TAB 80MG</a:t>
            </a:r>
            <a:endParaRPr lang="en-US" sz="1100" dirty="0"/>
          </a:p>
        </p:txBody>
      </p:sp>
      <p:sp>
        <p:nvSpPr>
          <p:cNvPr id="27" name="Text 21"/>
          <p:cNvSpPr txBox="1"/>
          <p:nvPr/>
        </p:nvSpPr>
        <p:spPr>
          <a:xfrm>
            <a:off x="8292389" y="3611880"/>
            <a:ext cx="2600858" cy="274320"/>
          </a:xfrm>
          <a:prstGeom prst="rect">
            <a:avLst/>
          </a:prstGeom>
          <a:noFill/>
          <a:ln/>
        </p:spPr>
        <p:txBody>
          <a:bodyPr wrap="square" lIns="0" tIns="0" rIns="0" bIns="0" rtlCol="0" anchor="t"/>
          <a:lstStyle/>
          <a:p>
            <a:pPr rtl="1" algn="r" indent="0" marL="0">
              <a:buNone/>
            </a:pPr>
            <a:r>
              <a:rPr lang="he-IL" altLang="en-US" sz="1400" b="1" dirty="0">
                <a:solidFill>
                  <a:srgbClr val="6E4494"/>
                </a:solidFill>
                <a:latin typeface="Arial" pitchFamily="34" charset="0"/>
                <a:ea typeface="Arial" pitchFamily="34" charset="-122"/>
                <a:cs typeface="Arial" pitchFamily="34" charset="-120"/>
              </a:rPr>
              <a:t>1 טבליה ביום</a:t>
            </a:r>
            <a:endParaRPr lang="he-IL" sz="1400" dirty="0"/>
          </a:p>
        </p:txBody>
      </p:sp>
      <p:sp>
        <p:nvSpPr>
          <p:cNvPr id="28" name="Text 22"/>
          <p:cNvSpPr txBox="1"/>
          <p:nvPr/>
        </p:nvSpPr>
        <p:spPr>
          <a:xfrm>
            <a:off x="8292389" y="3913632"/>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הורדת שומנים בדם וכולסטרול (LDL)</a:t>
            </a:r>
            <a:endParaRPr lang="he-IL" sz="1200" dirty="0"/>
          </a:p>
        </p:txBody>
      </p:sp>
      <p:sp>
        <p:nvSpPr>
          <p:cNvPr id="29" name="Shape 23"/>
          <p:cNvSpPr/>
          <p:nvPr/>
        </p:nvSpPr>
        <p:spPr>
          <a:xfrm>
            <a:off x="4338218" y="3044952"/>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30" name="Shape 24"/>
          <p:cNvSpPr/>
          <p:nvPr/>
        </p:nvSpPr>
        <p:spPr>
          <a:xfrm rot="5400000">
            <a:off x="7135798" y="3236976"/>
            <a:ext cx="612397" cy="530352"/>
          </a:xfrm>
          <a:prstGeom prst="hexagon">
            <a:avLst/>
          </a:prstGeom>
          <a:solidFill>
            <a:srgbClr val="6E4494"/>
          </a:solidFill>
          <a:ln/>
        </p:spPr>
      </p:sp>
      <p:pic>
        <p:nvPicPr>
          <p:cNvPr id="31" name="Image 4" descr="preencoded.png">    </p:cNvPr>
          <p:cNvPicPr>
            <a:picLocks noChangeAspect="1"/>
          </p:cNvPicPr>
          <p:nvPr/>
        </p:nvPicPr>
        <p:blipFill>
          <a:blip r:embed="rId5"/>
          <a:stretch>
            <a:fillRect/>
          </a:stretch>
        </p:blipFill>
        <p:spPr>
          <a:xfrm>
            <a:off x="7320016" y="3380171"/>
            <a:ext cx="243962" cy="243962"/>
          </a:xfrm>
          <a:prstGeom prst="rect">
            <a:avLst/>
          </a:prstGeom>
        </p:spPr>
      </p:pic>
      <p:sp>
        <p:nvSpPr>
          <p:cNvPr id="32" name="Text 25"/>
          <p:cNvSpPr txBox="1"/>
          <p:nvPr/>
        </p:nvSpPr>
        <p:spPr>
          <a:xfrm>
            <a:off x="4502810" y="3136392"/>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CARTIA TAB 100MG (אספירין/דילול דם)</a:t>
            </a:r>
            <a:endParaRPr lang="en-US" sz="1100" dirty="0"/>
          </a:p>
        </p:txBody>
      </p:sp>
      <p:sp>
        <p:nvSpPr>
          <p:cNvPr id="33" name="Text 26"/>
          <p:cNvSpPr txBox="1"/>
          <p:nvPr/>
        </p:nvSpPr>
        <p:spPr>
          <a:xfrm>
            <a:off x="4502810" y="3611880"/>
            <a:ext cx="2600858" cy="274320"/>
          </a:xfrm>
          <a:prstGeom prst="rect">
            <a:avLst/>
          </a:prstGeom>
          <a:noFill/>
          <a:ln/>
        </p:spPr>
        <p:txBody>
          <a:bodyPr wrap="square" lIns="0" tIns="0" rIns="0" bIns="0" rtlCol="0" anchor="t"/>
          <a:lstStyle/>
          <a:p>
            <a:pPr rtl="1" algn="r" indent="0" marL="0">
              <a:buNone/>
            </a:pPr>
            <a:r>
              <a:rPr lang="he-IL" altLang="en-US" sz="1400" b="1" dirty="0">
                <a:solidFill>
                  <a:srgbClr val="6E4494"/>
                </a:solidFill>
                <a:latin typeface="Arial" pitchFamily="34" charset="0"/>
                <a:ea typeface="Arial" pitchFamily="34" charset="-122"/>
                <a:cs typeface="Arial" pitchFamily="34" charset="-120"/>
              </a:rPr>
              <a:t>1 טבליה ביום</a:t>
            </a:r>
            <a:endParaRPr lang="he-IL" sz="1400" dirty="0"/>
          </a:p>
        </p:txBody>
      </p:sp>
      <p:sp>
        <p:nvSpPr>
          <p:cNvPr id="34" name="Text 27"/>
          <p:cNvSpPr txBox="1"/>
          <p:nvPr/>
        </p:nvSpPr>
        <p:spPr>
          <a:xfrm>
            <a:off x="4502810" y="3913632"/>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מניעת אירועים קרדיווסקולריים ומוחיים (CVA)</a:t>
            </a:r>
            <a:endParaRPr lang="he-IL" sz="1200" dirty="0"/>
          </a:p>
        </p:txBody>
      </p:sp>
      <p:sp>
        <p:nvSpPr>
          <p:cNvPr id="35" name="Shape 28"/>
          <p:cNvSpPr/>
          <p:nvPr/>
        </p:nvSpPr>
        <p:spPr>
          <a:xfrm>
            <a:off x="548640" y="3044952"/>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36" name="Shape 29"/>
          <p:cNvSpPr/>
          <p:nvPr/>
        </p:nvSpPr>
        <p:spPr>
          <a:xfrm rot="5400000">
            <a:off x="3346220" y="3236976"/>
            <a:ext cx="612397" cy="530352"/>
          </a:xfrm>
          <a:prstGeom prst="hexagon">
            <a:avLst/>
          </a:prstGeom>
          <a:solidFill>
            <a:srgbClr val="5B6BB5"/>
          </a:solidFill>
          <a:ln/>
        </p:spPr>
      </p:sp>
      <p:pic>
        <p:nvPicPr>
          <p:cNvPr id="37" name="Image 5" descr="preencoded.png">    </p:cNvPr>
          <p:cNvPicPr>
            <a:picLocks noChangeAspect="1"/>
          </p:cNvPicPr>
          <p:nvPr/>
        </p:nvPicPr>
        <p:blipFill>
          <a:blip r:embed="rId6"/>
          <a:stretch>
            <a:fillRect/>
          </a:stretch>
        </p:blipFill>
        <p:spPr>
          <a:xfrm>
            <a:off x="3530437" y="3380171"/>
            <a:ext cx="243962" cy="243962"/>
          </a:xfrm>
          <a:prstGeom prst="rect">
            <a:avLst/>
          </a:prstGeom>
        </p:spPr>
      </p:pic>
      <p:sp>
        <p:nvSpPr>
          <p:cNvPr id="38" name="Text 30"/>
          <p:cNvSpPr txBox="1"/>
          <p:nvPr/>
        </p:nvSpPr>
        <p:spPr>
          <a:xfrm>
            <a:off x="713232" y="3136392"/>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OMEPRADEX 20MG CAP</a:t>
            </a:r>
            <a:endParaRPr lang="en-US" sz="1100" dirty="0"/>
          </a:p>
        </p:txBody>
      </p:sp>
      <p:sp>
        <p:nvSpPr>
          <p:cNvPr id="39" name="Text 31"/>
          <p:cNvSpPr txBox="1"/>
          <p:nvPr/>
        </p:nvSpPr>
        <p:spPr>
          <a:xfrm>
            <a:off x="713232" y="3611880"/>
            <a:ext cx="2600858" cy="274320"/>
          </a:xfrm>
          <a:prstGeom prst="rect">
            <a:avLst/>
          </a:prstGeom>
          <a:noFill/>
          <a:ln/>
        </p:spPr>
        <p:txBody>
          <a:bodyPr wrap="square" lIns="0" tIns="0" rIns="0" bIns="0" rtlCol="0" anchor="t"/>
          <a:lstStyle/>
          <a:p>
            <a:pPr rtl="1" algn="r" indent="0" marL="0">
              <a:buNone/>
            </a:pPr>
            <a:r>
              <a:rPr lang="he-IL" altLang="en-US" sz="1400" b="1" dirty="0">
                <a:solidFill>
                  <a:srgbClr val="5B6BB5"/>
                </a:solidFill>
                <a:latin typeface="Arial" pitchFamily="34" charset="0"/>
                <a:ea typeface="Arial" pitchFamily="34" charset="-122"/>
                <a:cs typeface="Arial" pitchFamily="34" charset="-120"/>
              </a:rPr>
              <a:t>1 קפסולה ביום</a:t>
            </a:r>
            <a:endParaRPr lang="he-IL" sz="1400" dirty="0"/>
          </a:p>
        </p:txBody>
      </p:sp>
      <p:sp>
        <p:nvSpPr>
          <p:cNvPr id="40" name="Text 32"/>
          <p:cNvSpPr txBox="1"/>
          <p:nvPr/>
        </p:nvSpPr>
        <p:spPr>
          <a:xfrm>
            <a:off x="713232" y="3913632"/>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הגנה על רירית הקיבה</a:t>
            </a:r>
            <a:endParaRPr lang="he-IL" sz="1200" dirty="0"/>
          </a:p>
        </p:txBody>
      </p:sp>
      <p:sp>
        <p:nvSpPr>
          <p:cNvPr id="41" name="Shape 33"/>
          <p:cNvSpPr/>
          <p:nvPr/>
        </p:nvSpPr>
        <p:spPr>
          <a:xfrm>
            <a:off x="8127797" y="4581144"/>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42" name="Shape 34"/>
          <p:cNvSpPr/>
          <p:nvPr/>
        </p:nvSpPr>
        <p:spPr>
          <a:xfrm rot="5400000">
            <a:off x="10925376" y="4773168"/>
            <a:ext cx="612397" cy="530352"/>
          </a:xfrm>
          <a:prstGeom prst="hexagon">
            <a:avLst/>
          </a:prstGeom>
          <a:solidFill>
            <a:srgbClr val="5B6BB5"/>
          </a:solidFill>
          <a:ln/>
        </p:spPr>
      </p:sp>
      <p:pic>
        <p:nvPicPr>
          <p:cNvPr id="43" name="Image 6" descr="preencoded.png">    </p:cNvPr>
          <p:cNvPicPr>
            <a:picLocks noChangeAspect="1"/>
          </p:cNvPicPr>
          <p:nvPr/>
        </p:nvPicPr>
        <p:blipFill>
          <a:blip r:embed="rId7"/>
          <a:stretch>
            <a:fillRect/>
          </a:stretch>
        </p:blipFill>
        <p:spPr>
          <a:xfrm>
            <a:off x="11109594" y="4916363"/>
            <a:ext cx="243962" cy="243962"/>
          </a:xfrm>
          <a:prstGeom prst="rect">
            <a:avLst/>
          </a:prstGeom>
        </p:spPr>
      </p:pic>
      <p:sp>
        <p:nvSpPr>
          <p:cNvPr id="44" name="Text 35"/>
          <p:cNvSpPr txBox="1"/>
          <p:nvPr/>
        </p:nvSpPr>
        <p:spPr>
          <a:xfrm>
            <a:off x="8292389" y="4672584"/>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BETMIGA PR 25MG TAB</a:t>
            </a:r>
            <a:endParaRPr lang="en-US" sz="1100" dirty="0"/>
          </a:p>
        </p:txBody>
      </p:sp>
      <p:sp>
        <p:nvSpPr>
          <p:cNvPr id="45" name="Text 36"/>
          <p:cNvSpPr txBox="1"/>
          <p:nvPr/>
        </p:nvSpPr>
        <p:spPr>
          <a:xfrm>
            <a:off x="8292389" y="5148072"/>
            <a:ext cx="2600858" cy="274320"/>
          </a:xfrm>
          <a:prstGeom prst="rect">
            <a:avLst/>
          </a:prstGeom>
          <a:noFill/>
          <a:ln/>
        </p:spPr>
        <p:txBody>
          <a:bodyPr wrap="square" lIns="0" tIns="0" rIns="0" bIns="0" rtlCol="0" anchor="t"/>
          <a:lstStyle/>
          <a:p>
            <a:pPr rtl="1" algn="r" indent="0" marL="0">
              <a:buNone/>
            </a:pPr>
            <a:r>
              <a:rPr lang="he-IL" altLang="en-US" sz="1400" b="1" dirty="0">
                <a:solidFill>
                  <a:srgbClr val="5B6BB5"/>
                </a:solidFill>
                <a:latin typeface="Arial" pitchFamily="34" charset="0"/>
                <a:ea typeface="Arial" pitchFamily="34" charset="-122"/>
                <a:cs typeface="Arial" pitchFamily="34" charset="-120"/>
              </a:rPr>
              <a:t>1 טבליה ביום</a:t>
            </a:r>
            <a:endParaRPr lang="he-IL" sz="1400" dirty="0"/>
          </a:p>
        </p:txBody>
      </p:sp>
      <p:sp>
        <p:nvSpPr>
          <p:cNvPr id="46" name="Text 37"/>
          <p:cNvSpPr txBox="1"/>
          <p:nvPr/>
        </p:nvSpPr>
        <p:spPr>
          <a:xfrm>
            <a:off x="8292389" y="5449824"/>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טיפול בשלפוחית השתן</a:t>
            </a:r>
            <a:endParaRPr lang="he-IL" sz="1200" dirty="0"/>
          </a:p>
        </p:txBody>
      </p:sp>
      <p:sp>
        <p:nvSpPr>
          <p:cNvPr id="47" name="Shape 38"/>
          <p:cNvSpPr/>
          <p:nvPr/>
        </p:nvSpPr>
        <p:spPr>
          <a:xfrm>
            <a:off x="4338218" y="4581144"/>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48" name="Shape 39"/>
          <p:cNvSpPr/>
          <p:nvPr/>
        </p:nvSpPr>
        <p:spPr>
          <a:xfrm rot="5400000">
            <a:off x="7135798" y="4773168"/>
            <a:ext cx="612397" cy="530352"/>
          </a:xfrm>
          <a:prstGeom prst="hexagon">
            <a:avLst/>
          </a:prstGeom>
          <a:solidFill>
            <a:srgbClr val="5B6BB5"/>
          </a:solidFill>
          <a:ln/>
        </p:spPr>
      </p:sp>
      <p:pic>
        <p:nvPicPr>
          <p:cNvPr id="49" name="Image 7" descr="preencoded.png">    </p:cNvPr>
          <p:cNvPicPr>
            <a:picLocks noChangeAspect="1"/>
          </p:cNvPicPr>
          <p:nvPr/>
        </p:nvPicPr>
        <p:blipFill>
          <a:blip r:embed="rId8"/>
          <a:stretch>
            <a:fillRect/>
          </a:stretch>
        </p:blipFill>
        <p:spPr>
          <a:xfrm>
            <a:off x="7320016" y="4916363"/>
            <a:ext cx="243962" cy="243962"/>
          </a:xfrm>
          <a:prstGeom prst="rect">
            <a:avLst/>
          </a:prstGeom>
        </p:spPr>
      </p:pic>
      <p:sp>
        <p:nvSpPr>
          <p:cNvPr id="50" name="Text 40"/>
          <p:cNvSpPr txBox="1"/>
          <p:nvPr/>
        </p:nvSpPr>
        <p:spPr>
          <a:xfrm>
            <a:off x="4502810" y="4672584"/>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OMNIC CAP 0.4MG</a:t>
            </a:r>
            <a:endParaRPr lang="en-US" sz="1100" dirty="0"/>
          </a:p>
        </p:txBody>
      </p:sp>
      <p:sp>
        <p:nvSpPr>
          <p:cNvPr id="51" name="Text 41"/>
          <p:cNvSpPr txBox="1"/>
          <p:nvPr/>
        </p:nvSpPr>
        <p:spPr>
          <a:xfrm>
            <a:off x="4502810" y="5148072"/>
            <a:ext cx="2600858" cy="274320"/>
          </a:xfrm>
          <a:prstGeom prst="rect">
            <a:avLst/>
          </a:prstGeom>
          <a:noFill/>
          <a:ln/>
        </p:spPr>
        <p:txBody>
          <a:bodyPr wrap="square" lIns="0" tIns="0" rIns="0" bIns="0" rtlCol="0" anchor="t"/>
          <a:lstStyle/>
          <a:p>
            <a:pPr rtl="1" algn="r" indent="0" marL="0">
              <a:buNone/>
            </a:pPr>
            <a:r>
              <a:rPr lang="he-IL" altLang="en-US" sz="1400" b="1" dirty="0">
                <a:solidFill>
                  <a:srgbClr val="5B6BB5"/>
                </a:solidFill>
                <a:latin typeface="Arial" pitchFamily="34" charset="0"/>
                <a:ea typeface="Arial" pitchFamily="34" charset="-122"/>
                <a:cs typeface="Arial" pitchFamily="34" charset="-120"/>
              </a:rPr>
              <a:t>2 כמוסות ביום</a:t>
            </a:r>
            <a:endParaRPr lang="he-IL" sz="1400" dirty="0"/>
          </a:p>
        </p:txBody>
      </p:sp>
      <p:sp>
        <p:nvSpPr>
          <p:cNvPr id="52" name="Text 42"/>
          <p:cNvSpPr txBox="1"/>
          <p:nvPr/>
        </p:nvSpPr>
        <p:spPr>
          <a:xfrm>
            <a:off x="4502810" y="5449824"/>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טיפול במערכת השתן</a:t>
            </a:r>
            <a:endParaRPr lang="he-IL" sz="1200" dirty="0"/>
          </a:p>
        </p:txBody>
      </p:sp>
      <p:sp>
        <p:nvSpPr>
          <p:cNvPr id="53" name="Shape 43"/>
          <p:cNvSpPr/>
          <p:nvPr/>
        </p:nvSpPr>
        <p:spPr>
          <a:xfrm>
            <a:off x="548640" y="4581144"/>
            <a:ext cx="3515258" cy="1389888"/>
          </a:xfrm>
          <a:prstGeom prst="roundRect">
            <a:avLst>
              <a:gd name="adj" fmla="val 7895"/>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54" name="Shape 44"/>
          <p:cNvSpPr/>
          <p:nvPr/>
        </p:nvSpPr>
        <p:spPr>
          <a:xfrm rot="5400000">
            <a:off x="3346220" y="4773168"/>
            <a:ext cx="612397" cy="530352"/>
          </a:xfrm>
          <a:prstGeom prst="hexagon">
            <a:avLst/>
          </a:prstGeom>
          <a:solidFill>
            <a:srgbClr val="5B6BB5"/>
          </a:solidFill>
          <a:ln/>
        </p:spPr>
      </p:sp>
      <p:pic>
        <p:nvPicPr>
          <p:cNvPr id="55" name="Image 8" descr="preencoded.png">    </p:cNvPr>
          <p:cNvPicPr>
            <a:picLocks noChangeAspect="1"/>
          </p:cNvPicPr>
          <p:nvPr/>
        </p:nvPicPr>
        <p:blipFill>
          <a:blip r:embed="rId9"/>
          <a:stretch>
            <a:fillRect/>
          </a:stretch>
        </p:blipFill>
        <p:spPr>
          <a:xfrm>
            <a:off x="3530437" y="4916363"/>
            <a:ext cx="243962" cy="243962"/>
          </a:xfrm>
          <a:prstGeom prst="rect">
            <a:avLst/>
          </a:prstGeom>
        </p:spPr>
      </p:pic>
      <p:sp>
        <p:nvSpPr>
          <p:cNvPr id="56" name="Text 45"/>
          <p:cNvSpPr txBox="1"/>
          <p:nvPr/>
        </p:nvSpPr>
        <p:spPr>
          <a:xfrm>
            <a:off x="713232" y="4672584"/>
            <a:ext cx="2646578" cy="438912"/>
          </a:xfrm>
          <a:prstGeom prst="rect">
            <a:avLst/>
          </a:prstGeom>
          <a:noFill/>
          <a:ln/>
        </p:spPr>
        <p:txBody>
          <a:bodyPr wrap="square" lIns="0" tIns="0" rIns="0" bIns="0" rtlCol="0" anchor="ctr"/>
          <a:lstStyle/>
          <a:p>
            <a:pPr algn="r" indent="0" marL="0">
              <a:buNone/>
            </a:pPr>
            <a:r>
              <a:rPr lang="en-US" altLang="en-US" sz="1100" b="1" dirty="0">
                <a:solidFill>
                  <a:srgbClr val="2B2560"/>
                </a:solidFill>
                <a:latin typeface="Arial" pitchFamily="34" charset="0"/>
                <a:ea typeface="Arial" pitchFamily="34" charset="-122"/>
                <a:cs typeface="Arial" pitchFamily="34" charset="-120"/>
              </a:rPr>
              <a:t>SERTRALINE 100MG TAB</a:t>
            </a:r>
            <a:endParaRPr lang="en-US" sz="1100" dirty="0"/>
          </a:p>
        </p:txBody>
      </p:sp>
      <p:sp>
        <p:nvSpPr>
          <p:cNvPr id="57" name="Text 46"/>
          <p:cNvSpPr txBox="1"/>
          <p:nvPr/>
        </p:nvSpPr>
        <p:spPr>
          <a:xfrm>
            <a:off x="713232" y="5148072"/>
            <a:ext cx="2600858" cy="274320"/>
          </a:xfrm>
          <a:prstGeom prst="rect">
            <a:avLst/>
          </a:prstGeom>
          <a:noFill/>
          <a:ln/>
        </p:spPr>
        <p:txBody>
          <a:bodyPr wrap="square" lIns="0" tIns="0" rIns="0" bIns="0" rtlCol="0" anchor="t"/>
          <a:lstStyle/>
          <a:p>
            <a:pPr rtl="1" algn="r" indent="0" marL="0">
              <a:buNone/>
            </a:pPr>
            <a:r>
              <a:rPr lang="he-IL" altLang="en-US" sz="1400" b="1" dirty="0">
                <a:solidFill>
                  <a:srgbClr val="5B6BB5"/>
                </a:solidFill>
                <a:latin typeface="Arial" pitchFamily="34" charset="0"/>
                <a:ea typeface="Arial" pitchFamily="34" charset="-122"/>
                <a:cs typeface="Arial" pitchFamily="34" charset="-120"/>
              </a:rPr>
              <a:t>1 טבליה ביום</a:t>
            </a:r>
            <a:endParaRPr lang="he-IL" sz="1400" dirty="0"/>
          </a:p>
        </p:txBody>
      </p:sp>
      <p:sp>
        <p:nvSpPr>
          <p:cNvPr id="58" name="Text 47"/>
          <p:cNvSpPr txBox="1"/>
          <p:nvPr/>
        </p:nvSpPr>
        <p:spPr>
          <a:xfrm>
            <a:off x="713232" y="5449824"/>
            <a:ext cx="3186074" cy="457200"/>
          </a:xfrm>
          <a:prstGeom prst="rect">
            <a:avLst/>
          </a:prstGeom>
          <a:noFill/>
          <a:ln/>
        </p:spPr>
        <p:txBody>
          <a:bodyPr wrap="square" lIns="0" tIns="0" rIns="0" bIns="0" rtlCol="0" anchor="t"/>
          <a:lstStyle/>
          <a:p>
            <a:pPr rtl="1" algn="r" indent="0" marL="0">
              <a:buNone/>
            </a:pPr>
            <a:r>
              <a:rPr lang="he-IL" altLang="en-US" sz="1200" dirty="0">
                <a:solidFill>
                  <a:srgbClr val="6B6785"/>
                </a:solidFill>
                <a:latin typeface="Arial" pitchFamily="34" charset="0"/>
                <a:ea typeface="Arial" pitchFamily="34" charset="-122"/>
                <a:cs typeface="Arial" pitchFamily="34" charset="-120"/>
              </a:rPr>
              <a:t>איזון נפשי ורגשי</a:t>
            </a:r>
            <a:endParaRPr lang="he-IL" sz="12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שלב 1: תזכורת – סיבוכי מחלת ההשמנה (Obesity Complications)</a:t>
            </a:r>
            <a:endParaRPr lang="he-IL" sz="2300" dirty="0"/>
          </a:p>
        </p:txBody>
      </p:sp>
      <p:pic>
        <p:nvPicPr>
          <p:cNvPr id="5" name="Image 0" descr="/tmp/claude-0/-home-claude/83ba285b-7ef1-5a4f-9afe-ea04c4b9d63d/scratchpad/src/ppt/media/image-9-2.png">    </p:cNvPr>
          <p:cNvPicPr>
            <a:picLocks noChangeAspect="1"/>
          </p:cNvPicPr>
          <p:nvPr/>
        </p:nvPicPr>
        <p:blipFill>
          <a:blip r:embed="rId1"/>
          <a:stretch>
            <a:fillRect/>
          </a:stretch>
        </p:blipFill>
        <p:spPr>
          <a:xfrm>
            <a:off x="548640" y="1463040"/>
            <a:ext cx="3108960" cy="4663440"/>
          </a:xfrm>
          <a:prstGeom prst="rect">
            <a:avLst/>
          </a:prstGeom>
          <a:effectLst>
            <a:outerShdw sx="100000" sy="100000" kx="0" ky="0" algn="bl" rotWithShape="0" blurRad="127000" dist="38100" dir="5400000">
              <a:srgbClr val="2B2560">
                <a:alpha val="10000"/>
              </a:srgbClr>
            </a:outerShdw>
          </a:effectLst>
        </p:spPr>
      </p:pic>
      <p:sp>
        <p:nvSpPr>
          <p:cNvPr id="6" name="Text 3"/>
          <p:cNvSpPr txBox="1"/>
          <p:nvPr/>
        </p:nvSpPr>
        <p:spPr>
          <a:xfrm>
            <a:off x="4023360" y="1554480"/>
            <a:ext cx="7616952" cy="457200"/>
          </a:xfrm>
          <a:prstGeom prst="rect">
            <a:avLst/>
          </a:prstGeom>
          <a:noFill/>
          <a:ln/>
        </p:spPr>
        <p:txBody>
          <a:bodyPr wrap="square" lIns="0" tIns="0" rIns="0" bIns="0" rtlCol="0" anchor="t"/>
          <a:lstStyle/>
          <a:p>
            <a:pPr rtl="1" algn="r" indent="0" marL="0">
              <a:buNone/>
            </a:pPr>
            <a:r>
              <a:rPr lang="he-IL" altLang="en-US" sz="2200" b="1" dirty="0">
                <a:solidFill>
                  <a:srgbClr val="6E4494"/>
                </a:solidFill>
                <a:latin typeface="Arial" pitchFamily="34" charset="0"/>
                <a:ea typeface="Arial" pitchFamily="34" charset="-122"/>
                <a:cs typeface="Arial" pitchFamily="34" charset="-120"/>
              </a:rPr>
              <a:t>ההשמנה כמחלה כרונית רב-מערכתית</a:t>
            </a:r>
            <a:endParaRPr lang="he-IL" sz="2200" dirty="0"/>
          </a:p>
        </p:txBody>
      </p:sp>
      <p:sp>
        <p:nvSpPr>
          <p:cNvPr id="7" name="Shape 4"/>
          <p:cNvSpPr/>
          <p:nvPr/>
        </p:nvSpPr>
        <p:spPr>
          <a:xfrm>
            <a:off x="4023360" y="2148840"/>
            <a:ext cx="7616952" cy="1371600"/>
          </a:xfrm>
          <a:prstGeom prst="roundRect">
            <a:avLst>
              <a:gd name="adj" fmla="val 8000"/>
            </a:avLst>
          </a:prstGeom>
          <a:solidFill>
            <a:srgbClr val="F3F0FA"/>
          </a:solidFill>
          <a:ln/>
        </p:spPr>
      </p:sp>
      <p:sp>
        <p:nvSpPr>
          <p:cNvPr id="8" name="Text 5"/>
          <p:cNvSpPr txBox="1"/>
          <p:nvPr/>
        </p:nvSpPr>
        <p:spPr>
          <a:xfrm>
            <a:off x="4297680" y="2240280"/>
            <a:ext cx="7068312" cy="1188720"/>
          </a:xfrm>
          <a:prstGeom prst="rect">
            <a:avLst/>
          </a:prstGeom>
          <a:noFill/>
          <a:ln/>
        </p:spPr>
        <p:txBody>
          <a:bodyPr wrap="square" lIns="0" tIns="0" rIns="0" bIns="0" rtlCol="0" anchor="ctr"/>
          <a:lstStyle/>
          <a:p>
            <a:pPr rtl="1" algn="r" indent="0" marL="0">
              <a:buNone/>
            </a:pPr>
            <a:r>
              <a:rPr lang="he-IL" altLang="en-US" sz="1600" b="1" dirty="0">
                <a:solidFill>
                  <a:srgbClr val="6E4494"/>
                </a:solidFill>
                <a:latin typeface="Arial" pitchFamily="34" charset="0"/>
                <a:ea typeface="Arial" pitchFamily="34" charset="-122"/>
                <a:cs typeface="Arial" pitchFamily="34" charset="-120"/>
              </a:rPr>
              <a:t>מחלת ההשמנה הינה מחלה כרונית רב-מערכתית</a:t>
            </a:r>
            <a:pPr rtl="1" algn="r" indent="0" marL="0">
              <a:buNone/>
            </a:pPr>
            <a:r>
              <a:rPr lang="he-IL" altLang="en-US" sz="1600" dirty="0">
                <a:solidFill>
                  <a:srgbClr val="2B2560"/>
                </a:solidFill>
                <a:latin typeface="Arial" pitchFamily="34" charset="0"/>
                <a:ea typeface="Arial" pitchFamily="34" charset="-122"/>
                <a:cs typeface="Arial" pitchFamily="34" charset="-120"/>
              </a:rPr>
              <a:t> הפוגעת כמעט בכל איבר ותפקוד בגוף, וכוללת סיבוכים מטבוליים (סוכרת, מחלות לב, כבד שומני, דיסליפידמיה) וסיבוכים מכניים (דום נשימה בשינה, שחיקת מפרקים, בעיות בכפות הרגליים ועוד).</a:t>
            </a:r>
            <a:endParaRPr lang="he-IL" sz="1600" dirty="0"/>
          </a:p>
        </p:txBody>
      </p:sp>
      <p:sp>
        <p:nvSpPr>
          <p:cNvPr id="9" name="Shape 6"/>
          <p:cNvSpPr/>
          <p:nvPr/>
        </p:nvSpPr>
        <p:spPr>
          <a:xfrm>
            <a:off x="7923276" y="3703320"/>
            <a:ext cx="3717036" cy="868680"/>
          </a:xfrm>
          <a:prstGeom prst="roundRect">
            <a:avLst>
              <a:gd name="adj" fmla="val 12632"/>
            </a:avLst>
          </a:prstGeom>
          <a:solidFill>
            <a:srgbClr val="FFFFFF"/>
          </a:solidFill>
          <a:ln w="9525">
            <a:solidFill>
              <a:srgbClr val="E3DFF0"/>
            </a:solidFill>
            <a:prstDash val="solid"/>
          </a:ln>
        </p:spPr>
      </p:sp>
      <p:sp>
        <p:nvSpPr>
          <p:cNvPr id="10" name="Shape 7"/>
          <p:cNvSpPr/>
          <p:nvPr/>
        </p:nvSpPr>
        <p:spPr>
          <a:xfrm rot="5400000">
            <a:off x="10965903" y="3886200"/>
            <a:ext cx="580722" cy="502920"/>
          </a:xfrm>
          <a:prstGeom prst="hexagon">
            <a:avLst/>
          </a:prstGeom>
          <a:solidFill>
            <a:srgbClr val="4A90D0"/>
          </a:solidFill>
          <a:ln/>
        </p:spPr>
      </p:sp>
      <p:pic>
        <p:nvPicPr>
          <p:cNvPr id="11" name="Image 1" descr="preencoded.png">    </p:cNvPr>
          <p:cNvPicPr>
            <a:picLocks noChangeAspect="1"/>
          </p:cNvPicPr>
          <p:nvPr/>
        </p:nvPicPr>
        <p:blipFill>
          <a:blip r:embed="rId2"/>
          <a:stretch>
            <a:fillRect/>
          </a:stretch>
        </p:blipFill>
        <p:spPr>
          <a:xfrm>
            <a:off x="11140592" y="4021988"/>
            <a:ext cx="231343" cy="231343"/>
          </a:xfrm>
          <a:prstGeom prst="rect">
            <a:avLst/>
          </a:prstGeom>
        </p:spPr>
      </p:pic>
      <p:sp>
        <p:nvSpPr>
          <p:cNvPr id="12" name="Text 8"/>
          <p:cNvSpPr txBox="1"/>
          <p:nvPr/>
        </p:nvSpPr>
        <p:spPr>
          <a:xfrm>
            <a:off x="8060436" y="3749040"/>
            <a:ext cx="2894076" cy="777240"/>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סיבוכים מטבוליים</a:t>
            </a:r>
            <a:endParaRPr lang="he-IL" sz="1400" dirty="0"/>
          </a:p>
        </p:txBody>
      </p:sp>
      <p:sp>
        <p:nvSpPr>
          <p:cNvPr id="13" name="Shape 9"/>
          <p:cNvSpPr/>
          <p:nvPr/>
        </p:nvSpPr>
        <p:spPr>
          <a:xfrm>
            <a:off x="4023360" y="3703320"/>
            <a:ext cx="3717036" cy="868680"/>
          </a:xfrm>
          <a:prstGeom prst="roundRect">
            <a:avLst>
              <a:gd name="adj" fmla="val 12632"/>
            </a:avLst>
          </a:prstGeom>
          <a:solidFill>
            <a:srgbClr val="FFFFFF"/>
          </a:solidFill>
          <a:ln w="9525">
            <a:solidFill>
              <a:srgbClr val="E3DFF0"/>
            </a:solidFill>
            <a:prstDash val="solid"/>
          </a:ln>
        </p:spPr>
      </p:sp>
      <p:sp>
        <p:nvSpPr>
          <p:cNvPr id="14" name="Shape 10"/>
          <p:cNvSpPr/>
          <p:nvPr/>
        </p:nvSpPr>
        <p:spPr>
          <a:xfrm rot="5400000">
            <a:off x="7065987" y="3886200"/>
            <a:ext cx="580722" cy="502920"/>
          </a:xfrm>
          <a:prstGeom prst="hexagon">
            <a:avLst/>
          </a:prstGeom>
          <a:solidFill>
            <a:srgbClr val="6E4494"/>
          </a:solidFill>
          <a:ln/>
        </p:spPr>
      </p:sp>
      <p:pic>
        <p:nvPicPr>
          <p:cNvPr id="15" name="Image 2" descr="preencoded.png">    </p:cNvPr>
          <p:cNvPicPr>
            <a:picLocks noChangeAspect="1"/>
          </p:cNvPicPr>
          <p:nvPr/>
        </p:nvPicPr>
        <p:blipFill>
          <a:blip r:embed="rId3"/>
          <a:stretch>
            <a:fillRect/>
          </a:stretch>
        </p:blipFill>
        <p:spPr>
          <a:xfrm>
            <a:off x="7240676" y="4021988"/>
            <a:ext cx="231343" cy="231343"/>
          </a:xfrm>
          <a:prstGeom prst="rect">
            <a:avLst/>
          </a:prstGeom>
        </p:spPr>
      </p:pic>
      <p:sp>
        <p:nvSpPr>
          <p:cNvPr id="16" name="Text 11"/>
          <p:cNvSpPr txBox="1"/>
          <p:nvPr/>
        </p:nvSpPr>
        <p:spPr>
          <a:xfrm>
            <a:off x="4160520" y="3749040"/>
            <a:ext cx="2894076" cy="777240"/>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סיבוכים מכניים</a:t>
            </a:r>
            <a:endParaRPr lang="he-IL" sz="1400" dirty="0"/>
          </a:p>
        </p:txBody>
      </p:sp>
      <p:sp>
        <p:nvSpPr>
          <p:cNvPr id="17" name="Shape 12"/>
          <p:cNvSpPr/>
          <p:nvPr/>
        </p:nvSpPr>
        <p:spPr>
          <a:xfrm>
            <a:off x="4023360" y="4754880"/>
            <a:ext cx="7616952" cy="1325880"/>
          </a:xfrm>
          <a:prstGeom prst="roundRect">
            <a:avLst>
              <a:gd name="adj" fmla="val 8276"/>
            </a:avLst>
          </a:prstGeom>
          <a:solidFill>
            <a:srgbClr val="E5F4F2"/>
          </a:solidFill>
          <a:ln/>
        </p:spPr>
      </p:sp>
      <p:sp>
        <p:nvSpPr>
          <p:cNvPr id="18" name="Shape 13"/>
          <p:cNvSpPr/>
          <p:nvPr/>
        </p:nvSpPr>
        <p:spPr>
          <a:xfrm rot="5400000">
            <a:off x="10800932" y="5134356"/>
            <a:ext cx="654632" cy="566928"/>
          </a:xfrm>
          <a:prstGeom prst="hexagon">
            <a:avLst/>
          </a:prstGeom>
          <a:solidFill>
            <a:srgbClr val="1F8F83"/>
          </a:solidFill>
          <a:ln/>
        </p:spPr>
      </p:sp>
      <p:pic>
        <p:nvPicPr>
          <p:cNvPr id="19" name="Image 3" descr="preencoded.png">    </p:cNvPr>
          <p:cNvPicPr>
            <a:picLocks noChangeAspect="1"/>
          </p:cNvPicPr>
          <p:nvPr/>
        </p:nvPicPr>
        <p:blipFill>
          <a:blip r:embed="rId4"/>
          <a:stretch>
            <a:fillRect/>
          </a:stretch>
        </p:blipFill>
        <p:spPr>
          <a:xfrm>
            <a:off x="10997855" y="5287427"/>
            <a:ext cx="260787" cy="260787"/>
          </a:xfrm>
          <a:prstGeom prst="rect">
            <a:avLst/>
          </a:prstGeom>
        </p:spPr>
      </p:pic>
      <p:sp>
        <p:nvSpPr>
          <p:cNvPr id="20" name="Text 14"/>
          <p:cNvSpPr txBox="1"/>
          <p:nvPr/>
        </p:nvSpPr>
        <p:spPr>
          <a:xfrm>
            <a:off x="4251960" y="4892040"/>
            <a:ext cx="6501384" cy="1051560"/>
          </a:xfrm>
          <a:prstGeom prst="rect">
            <a:avLst/>
          </a:prstGeom>
          <a:noFill/>
          <a:ln/>
        </p:spPr>
        <p:txBody>
          <a:bodyPr wrap="square" lIns="0" tIns="0" rIns="0" bIns="0" rtlCol="0" anchor="ctr"/>
          <a:lstStyle/>
          <a:p>
            <a:pPr rtl="1" algn="r" indent="0" marL="0">
              <a:spcAft>
                <a:spcPts val="400"/>
              </a:spcAft>
              <a:buNone/>
            </a:pPr>
            <a:r>
              <a:rPr lang="he-IL" altLang="en-US" sz="1500" b="1" dirty="0">
                <a:solidFill>
                  <a:srgbClr val="1F8F83"/>
                </a:solidFill>
                <a:latin typeface="Arial" pitchFamily="34" charset="0"/>
                <a:ea typeface="Arial" pitchFamily="34" charset="-122"/>
                <a:cs typeface="Arial" pitchFamily="34" charset="-120"/>
              </a:rPr>
              <a:t>מסקנה טיפולית:</a:t>
            </a:r>
            <a:endParaRPr lang="he-IL" sz="1400" dirty="0"/>
          </a:p>
          <a:p>
            <a:pPr rtl="1" algn="r" indent="0" marL="0">
              <a:spcAft>
                <a:spcPts val="400"/>
              </a:spcAft>
              <a:buNone/>
            </a:pPr>
            <a:r>
              <a:rPr lang="he-IL" altLang="en-US" sz="1700" dirty="0">
                <a:solidFill>
                  <a:srgbClr val="2E2A47"/>
                </a:solidFill>
                <a:latin typeface="Arial" pitchFamily="34" charset="0"/>
                <a:ea typeface="Arial" pitchFamily="34" charset="-122"/>
                <a:cs typeface="Arial" pitchFamily="34" charset="-120"/>
              </a:rPr>
              <a:t>טיפול ממוקד בהשמנה באמצעות GLP-1 RA מעניק מענה רב-מערכתי בו-זמנית!</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תזכורת – סיבוכי מחלת ההשמנה לפי מערכות</a:t>
            </a:r>
            <a:endParaRPr lang="he-IL" sz="2600" dirty="0"/>
          </a:p>
        </p:txBody>
      </p:sp>
      <p:sp>
        <p:nvSpPr>
          <p:cNvPr id="5" name="Shape 3"/>
          <p:cNvSpPr/>
          <p:nvPr/>
        </p:nvSpPr>
        <p:spPr>
          <a:xfrm>
            <a:off x="6233008" y="1508760"/>
            <a:ext cx="5410048" cy="4526280"/>
          </a:xfrm>
          <a:prstGeom prst="roundRect">
            <a:avLst>
              <a:gd name="adj" fmla="val 2424"/>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10672072" y="1737360"/>
            <a:ext cx="844686" cy="731520"/>
          </a:xfrm>
          <a:prstGeom prst="hexagon">
            <a:avLst/>
          </a:prstGeom>
          <a:solidFill>
            <a:srgbClr val="4A90D0"/>
          </a:solidFill>
          <a:ln/>
        </p:spPr>
      </p:sp>
      <p:pic>
        <p:nvPicPr>
          <p:cNvPr id="7" name="Image 0" descr="preencoded.png">    </p:cNvPr>
          <p:cNvPicPr>
            <a:picLocks noChangeAspect="1"/>
          </p:cNvPicPr>
          <p:nvPr/>
        </p:nvPicPr>
        <p:blipFill>
          <a:blip r:embed="rId1"/>
          <a:stretch>
            <a:fillRect/>
          </a:stretch>
        </p:blipFill>
        <p:spPr>
          <a:xfrm>
            <a:off x="10926166" y="1934870"/>
            <a:ext cx="336499" cy="336499"/>
          </a:xfrm>
          <a:prstGeom prst="rect">
            <a:avLst/>
          </a:prstGeom>
        </p:spPr>
      </p:pic>
      <p:sp>
        <p:nvSpPr>
          <p:cNvPr id="8" name="Text 5"/>
          <p:cNvSpPr txBox="1"/>
          <p:nvPr/>
        </p:nvSpPr>
        <p:spPr>
          <a:xfrm>
            <a:off x="6507328" y="1737360"/>
            <a:ext cx="3947008" cy="411480"/>
          </a:xfrm>
          <a:prstGeom prst="rect">
            <a:avLst/>
          </a:prstGeom>
          <a:noFill/>
          <a:ln/>
        </p:spPr>
        <p:txBody>
          <a:bodyPr wrap="square" lIns="0" tIns="0" rIns="0" bIns="0" rtlCol="0" anchor="t"/>
          <a:lstStyle/>
          <a:p>
            <a:pPr rtl="1" algn="r" indent="0" marL="0">
              <a:buNone/>
            </a:pPr>
            <a:r>
              <a:rPr lang="he-IL" altLang="en-US" sz="2000" b="1" dirty="0">
                <a:solidFill>
                  <a:srgbClr val="4A90D0"/>
                </a:solidFill>
                <a:latin typeface="Arial" pitchFamily="34" charset="0"/>
                <a:ea typeface="Arial" pitchFamily="34" charset="-122"/>
                <a:cs typeface="Arial" pitchFamily="34" charset="-120"/>
              </a:rPr>
              <a:t>סיבוכים מטבוליים</a:t>
            </a:r>
            <a:endParaRPr lang="he-IL" sz="2000" dirty="0"/>
          </a:p>
        </p:txBody>
      </p:sp>
      <p:sp>
        <p:nvSpPr>
          <p:cNvPr id="9" name="Text 6"/>
          <p:cNvSpPr txBox="1"/>
          <p:nvPr/>
        </p:nvSpPr>
        <p:spPr>
          <a:xfrm>
            <a:off x="6507328" y="2148840"/>
            <a:ext cx="3947008" cy="320040"/>
          </a:xfrm>
          <a:prstGeom prst="rect">
            <a:avLst/>
          </a:prstGeom>
          <a:noFill/>
          <a:ln/>
        </p:spPr>
        <p:txBody>
          <a:bodyPr wrap="square" lIns="0" tIns="0" rIns="0" bIns="0" rtlCol="0" anchor="t"/>
          <a:lstStyle/>
          <a:p>
            <a:pPr rtl="1" algn="r" indent="0" marL="0">
              <a:buNone/>
            </a:pPr>
            <a:r>
              <a:rPr lang="he-IL" altLang="en-US" sz="1300" dirty="0">
                <a:solidFill>
                  <a:srgbClr val="6B6785"/>
                </a:solidFill>
                <a:latin typeface="Arial" pitchFamily="34" charset="0"/>
                <a:ea typeface="Arial" pitchFamily="34" charset="-122"/>
                <a:cs typeface="Arial" pitchFamily="34" charset="-120"/>
              </a:rPr>
              <a:t>השפעה על מערכות פיזיות והתהליכים המטבוליים</a:t>
            </a:r>
            <a:endParaRPr lang="he-IL" sz="1300" dirty="0"/>
          </a:p>
        </p:txBody>
      </p:sp>
      <p:sp>
        <p:nvSpPr>
          <p:cNvPr id="10" name="Shape 7"/>
          <p:cNvSpPr/>
          <p:nvPr/>
        </p:nvSpPr>
        <p:spPr>
          <a:xfrm>
            <a:off x="9029471" y="2743200"/>
            <a:ext cx="2339264" cy="658368"/>
          </a:xfrm>
          <a:prstGeom prst="roundRect">
            <a:avLst>
              <a:gd name="adj" fmla="val 13889"/>
            </a:avLst>
          </a:prstGeom>
          <a:solidFill>
            <a:srgbClr val="ECF4FC"/>
          </a:solidFill>
          <a:ln/>
        </p:spPr>
      </p:sp>
      <p:sp>
        <p:nvSpPr>
          <p:cNvPr id="11" name="Text 8"/>
          <p:cNvSpPr txBox="1"/>
          <p:nvPr/>
        </p:nvSpPr>
        <p:spPr>
          <a:xfrm>
            <a:off x="9139199" y="274320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סוכרת סוג 2</a:t>
            </a:r>
            <a:endParaRPr lang="he-IL" sz="1400" dirty="0"/>
          </a:p>
        </p:txBody>
      </p:sp>
      <p:sp>
        <p:nvSpPr>
          <p:cNvPr id="12" name="Shape 9"/>
          <p:cNvSpPr/>
          <p:nvPr/>
        </p:nvSpPr>
        <p:spPr>
          <a:xfrm>
            <a:off x="9029471" y="3520440"/>
            <a:ext cx="2339264" cy="658368"/>
          </a:xfrm>
          <a:prstGeom prst="roundRect">
            <a:avLst>
              <a:gd name="adj" fmla="val 13889"/>
            </a:avLst>
          </a:prstGeom>
          <a:solidFill>
            <a:srgbClr val="ECF4FC"/>
          </a:solidFill>
          <a:ln/>
        </p:spPr>
      </p:sp>
      <p:sp>
        <p:nvSpPr>
          <p:cNvPr id="13" name="Text 10"/>
          <p:cNvSpPr txBox="1"/>
          <p:nvPr/>
        </p:nvSpPr>
        <p:spPr>
          <a:xfrm>
            <a:off x="9139199" y="352044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מחלות לב וכלי דם</a:t>
            </a:r>
            <a:endParaRPr lang="he-IL" sz="1400" dirty="0"/>
          </a:p>
        </p:txBody>
      </p:sp>
      <p:sp>
        <p:nvSpPr>
          <p:cNvPr id="14" name="Shape 11"/>
          <p:cNvSpPr/>
          <p:nvPr/>
        </p:nvSpPr>
        <p:spPr>
          <a:xfrm>
            <a:off x="9029471" y="4297680"/>
            <a:ext cx="2339264" cy="658368"/>
          </a:xfrm>
          <a:prstGeom prst="roundRect">
            <a:avLst>
              <a:gd name="adj" fmla="val 13889"/>
            </a:avLst>
          </a:prstGeom>
          <a:solidFill>
            <a:srgbClr val="ECF4FC"/>
          </a:solidFill>
          <a:ln/>
        </p:spPr>
      </p:sp>
      <p:sp>
        <p:nvSpPr>
          <p:cNvPr id="15" name="Text 12"/>
          <p:cNvSpPr txBox="1"/>
          <p:nvPr/>
        </p:nvSpPr>
        <p:spPr>
          <a:xfrm>
            <a:off x="9139199" y="429768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כבד שומני (NAFLD)</a:t>
            </a:r>
            <a:endParaRPr lang="he-IL" sz="1400" dirty="0"/>
          </a:p>
        </p:txBody>
      </p:sp>
      <p:sp>
        <p:nvSpPr>
          <p:cNvPr id="16" name="Shape 13"/>
          <p:cNvSpPr/>
          <p:nvPr/>
        </p:nvSpPr>
        <p:spPr>
          <a:xfrm>
            <a:off x="9029471" y="5074920"/>
            <a:ext cx="2339264" cy="658368"/>
          </a:xfrm>
          <a:prstGeom prst="roundRect">
            <a:avLst>
              <a:gd name="adj" fmla="val 13889"/>
            </a:avLst>
          </a:prstGeom>
          <a:solidFill>
            <a:srgbClr val="ECF4FC"/>
          </a:solidFill>
          <a:ln/>
        </p:spPr>
      </p:sp>
      <p:sp>
        <p:nvSpPr>
          <p:cNvPr id="17" name="Text 14"/>
          <p:cNvSpPr txBox="1"/>
          <p:nvPr/>
        </p:nvSpPr>
        <p:spPr>
          <a:xfrm>
            <a:off x="9139199" y="507492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דיסליפידמיה</a:t>
            </a:r>
            <a:endParaRPr lang="he-IL" sz="1400" dirty="0"/>
          </a:p>
        </p:txBody>
      </p:sp>
      <p:sp>
        <p:nvSpPr>
          <p:cNvPr id="18" name="Shape 15"/>
          <p:cNvSpPr/>
          <p:nvPr/>
        </p:nvSpPr>
        <p:spPr>
          <a:xfrm>
            <a:off x="6507328" y="2743200"/>
            <a:ext cx="2339264" cy="658368"/>
          </a:xfrm>
          <a:prstGeom prst="roundRect">
            <a:avLst>
              <a:gd name="adj" fmla="val 13889"/>
            </a:avLst>
          </a:prstGeom>
          <a:solidFill>
            <a:srgbClr val="ECF4FC"/>
          </a:solidFill>
          <a:ln/>
        </p:spPr>
      </p:sp>
      <p:sp>
        <p:nvSpPr>
          <p:cNvPr id="19" name="Text 16"/>
          <p:cNvSpPr txBox="1"/>
          <p:nvPr/>
        </p:nvSpPr>
        <p:spPr>
          <a:xfrm>
            <a:off x="6617056" y="274320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תסמונת מטבולית</a:t>
            </a:r>
            <a:endParaRPr lang="he-IL" sz="1400" dirty="0"/>
          </a:p>
        </p:txBody>
      </p:sp>
      <p:sp>
        <p:nvSpPr>
          <p:cNvPr id="20" name="Shape 17"/>
          <p:cNvSpPr/>
          <p:nvPr/>
        </p:nvSpPr>
        <p:spPr>
          <a:xfrm>
            <a:off x="6507328" y="3520440"/>
            <a:ext cx="2339264" cy="658368"/>
          </a:xfrm>
          <a:prstGeom prst="roundRect">
            <a:avLst>
              <a:gd name="adj" fmla="val 13889"/>
            </a:avLst>
          </a:prstGeom>
          <a:solidFill>
            <a:srgbClr val="ECF4FC"/>
          </a:solidFill>
          <a:ln/>
        </p:spPr>
      </p:sp>
      <p:sp>
        <p:nvSpPr>
          <p:cNvPr id="21" name="Text 18"/>
          <p:cNvSpPr txBox="1"/>
          <p:nvPr/>
        </p:nvSpPr>
        <p:spPr>
          <a:xfrm>
            <a:off x="6617056" y="352044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מחלת כליות כרונית</a:t>
            </a:r>
            <a:endParaRPr lang="he-IL" sz="1400" dirty="0"/>
          </a:p>
        </p:txBody>
      </p:sp>
      <p:sp>
        <p:nvSpPr>
          <p:cNvPr id="22" name="Shape 19"/>
          <p:cNvSpPr/>
          <p:nvPr/>
        </p:nvSpPr>
        <p:spPr>
          <a:xfrm>
            <a:off x="6507328" y="4297680"/>
            <a:ext cx="2339264" cy="658368"/>
          </a:xfrm>
          <a:prstGeom prst="roundRect">
            <a:avLst>
              <a:gd name="adj" fmla="val 13889"/>
            </a:avLst>
          </a:prstGeom>
          <a:solidFill>
            <a:srgbClr val="ECF4FC"/>
          </a:solidFill>
          <a:ln/>
        </p:spPr>
      </p:sp>
      <p:sp>
        <p:nvSpPr>
          <p:cNvPr id="23" name="Text 20"/>
          <p:cNvSpPr txBox="1"/>
          <p:nvPr/>
        </p:nvSpPr>
        <p:spPr>
          <a:xfrm>
            <a:off x="6617056" y="429768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דלקת כרונית בדרגה נמוכה</a:t>
            </a:r>
            <a:endParaRPr lang="he-IL" sz="1400" dirty="0"/>
          </a:p>
        </p:txBody>
      </p:sp>
      <p:sp>
        <p:nvSpPr>
          <p:cNvPr id="24" name="Shape 21"/>
          <p:cNvSpPr/>
          <p:nvPr/>
        </p:nvSpPr>
        <p:spPr>
          <a:xfrm>
            <a:off x="6507328" y="5074920"/>
            <a:ext cx="2339264" cy="658368"/>
          </a:xfrm>
          <a:prstGeom prst="roundRect">
            <a:avLst>
              <a:gd name="adj" fmla="val 13889"/>
            </a:avLst>
          </a:prstGeom>
          <a:solidFill>
            <a:srgbClr val="ECF4FC"/>
          </a:solidFill>
          <a:ln/>
        </p:spPr>
      </p:sp>
      <p:sp>
        <p:nvSpPr>
          <p:cNvPr id="25" name="Text 22"/>
          <p:cNvSpPr txBox="1"/>
          <p:nvPr/>
        </p:nvSpPr>
        <p:spPr>
          <a:xfrm>
            <a:off x="6617056" y="507492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סיכון מוגבר לסוגי סרטן</a:t>
            </a:r>
            <a:endParaRPr lang="he-IL" sz="1400" dirty="0"/>
          </a:p>
        </p:txBody>
      </p:sp>
      <p:sp>
        <p:nvSpPr>
          <p:cNvPr id="26" name="Shape 23"/>
          <p:cNvSpPr/>
          <p:nvPr/>
        </p:nvSpPr>
        <p:spPr>
          <a:xfrm>
            <a:off x="548640" y="1508760"/>
            <a:ext cx="5410048" cy="4526280"/>
          </a:xfrm>
          <a:prstGeom prst="roundRect">
            <a:avLst>
              <a:gd name="adj" fmla="val 2424"/>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7" name="Shape 24"/>
          <p:cNvSpPr/>
          <p:nvPr/>
        </p:nvSpPr>
        <p:spPr>
          <a:xfrm rot="5400000">
            <a:off x="4987705" y="1737360"/>
            <a:ext cx="844686" cy="731520"/>
          </a:xfrm>
          <a:prstGeom prst="hexagon">
            <a:avLst/>
          </a:prstGeom>
          <a:solidFill>
            <a:srgbClr val="6E4494"/>
          </a:solidFill>
          <a:ln/>
        </p:spPr>
      </p:sp>
      <p:pic>
        <p:nvPicPr>
          <p:cNvPr id="28" name="Image 1" descr="preencoded.png">    </p:cNvPr>
          <p:cNvPicPr>
            <a:picLocks noChangeAspect="1"/>
          </p:cNvPicPr>
          <p:nvPr/>
        </p:nvPicPr>
        <p:blipFill>
          <a:blip r:embed="rId2"/>
          <a:stretch>
            <a:fillRect/>
          </a:stretch>
        </p:blipFill>
        <p:spPr>
          <a:xfrm>
            <a:off x="5241798" y="1934870"/>
            <a:ext cx="336499" cy="336499"/>
          </a:xfrm>
          <a:prstGeom prst="rect">
            <a:avLst/>
          </a:prstGeom>
        </p:spPr>
      </p:pic>
      <p:sp>
        <p:nvSpPr>
          <p:cNvPr id="29" name="Text 25"/>
          <p:cNvSpPr txBox="1"/>
          <p:nvPr/>
        </p:nvSpPr>
        <p:spPr>
          <a:xfrm>
            <a:off x="822960" y="1737360"/>
            <a:ext cx="3947008" cy="411480"/>
          </a:xfrm>
          <a:prstGeom prst="rect">
            <a:avLst/>
          </a:prstGeom>
          <a:noFill/>
          <a:ln/>
        </p:spPr>
        <p:txBody>
          <a:bodyPr wrap="square" lIns="0" tIns="0" rIns="0" bIns="0" rtlCol="0" anchor="t"/>
          <a:lstStyle/>
          <a:p>
            <a:pPr rtl="1" algn="r" indent="0" marL="0">
              <a:buNone/>
            </a:pPr>
            <a:r>
              <a:rPr lang="he-IL" altLang="en-US" sz="2000" b="1" dirty="0">
                <a:solidFill>
                  <a:srgbClr val="6E4494"/>
                </a:solidFill>
                <a:latin typeface="Arial" pitchFamily="34" charset="0"/>
                <a:ea typeface="Arial" pitchFamily="34" charset="-122"/>
                <a:cs typeface="Arial" pitchFamily="34" charset="-120"/>
              </a:rPr>
              <a:t>סיבוכים מכניים</a:t>
            </a:r>
            <a:endParaRPr lang="he-IL" sz="2000" dirty="0"/>
          </a:p>
        </p:txBody>
      </p:sp>
      <p:sp>
        <p:nvSpPr>
          <p:cNvPr id="30" name="Text 26"/>
          <p:cNvSpPr txBox="1"/>
          <p:nvPr/>
        </p:nvSpPr>
        <p:spPr>
          <a:xfrm>
            <a:off x="822960" y="2148840"/>
            <a:ext cx="3947008" cy="320040"/>
          </a:xfrm>
          <a:prstGeom prst="rect">
            <a:avLst/>
          </a:prstGeom>
          <a:noFill/>
          <a:ln/>
        </p:spPr>
        <p:txBody>
          <a:bodyPr wrap="square" lIns="0" tIns="0" rIns="0" bIns="0" rtlCol="0" anchor="t"/>
          <a:lstStyle/>
          <a:p>
            <a:pPr rtl="1" algn="r" indent="0" marL="0">
              <a:buNone/>
            </a:pPr>
            <a:r>
              <a:rPr lang="he-IL" altLang="en-US" sz="1300" dirty="0">
                <a:solidFill>
                  <a:srgbClr val="6B6785"/>
                </a:solidFill>
                <a:latin typeface="Arial" pitchFamily="34" charset="0"/>
                <a:ea typeface="Arial" pitchFamily="34" charset="-122"/>
                <a:cs typeface="Arial" pitchFamily="34" charset="-120"/>
              </a:rPr>
              <a:t>השפעה פיזית על מבנה הגוף והתפקוד</a:t>
            </a:r>
            <a:endParaRPr lang="he-IL" sz="1300" dirty="0"/>
          </a:p>
        </p:txBody>
      </p:sp>
      <p:sp>
        <p:nvSpPr>
          <p:cNvPr id="31" name="Shape 27"/>
          <p:cNvSpPr/>
          <p:nvPr/>
        </p:nvSpPr>
        <p:spPr>
          <a:xfrm>
            <a:off x="3345104" y="2743200"/>
            <a:ext cx="2339264" cy="658368"/>
          </a:xfrm>
          <a:prstGeom prst="roundRect">
            <a:avLst>
              <a:gd name="adj" fmla="val 13889"/>
            </a:avLst>
          </a:prstGeom>
          <a:solidFill>
            <a:srgbClr val="F3F0FA"/>
          </a:solidFill>
          <a:ln/>
        </p:spPr>
      </p:sp>
      <p:sp>
        <p:nvSpPr>
          <p:cNvPr id="32" name="Text 28"/>
          <p:cNvSpPr txBox="1"/>
          <p:nvPr/>
        </p:nvSpPr>
        <p:spPr>
          <a:xfrm>
            <a:off x="3454832" y="274320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דום נשימה חסימתי בשינה</a:t>
            </a:r>
            <a:endParaRPr lang="he-IL" sz="1400" dirty="0"/>
          </a:p>
        </p:txBody>
      </p:sp>
      <p:sp>
        <p:nvSpPr>
          <p:cNvPr id="33" name="Shape 29"/>
          <p:cNvSpPr/>
          <p:nvPr/>
        </p:nvSpPr>
        <p:spPr>
          <a:xfrm>
            <a:off x="3345104" y="3520440"/>
            <a:ext cx="2339264" cy="658368"/>
          </a:xfrm>
          <a:prstGeom prst="roundRect">
            <a:avLst>
              <a:gd name="adj" fmla="val 13889"/>
            </a:avLst>
          </a:prstGeom>
          <a:solidFill>
            <a:srgbClr val="F3F0FA"/>
          </a:solidFill>
          <a:ln/>
        </p:spPr>
      </p:sp>
      <p:sp>
        <p:nvSpPr>
          <p:cNvPr id="34" name="Text 30"/>
          <p:cNvSpPr txBox="1"/>
          <p:nvPr/>
        </p:nvSpPr>
        <p:spPr>
          <a:xfrm>
            <a:off x="3454832" y="352044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הפרעות נשימתיות</a:t>
            </a:r>
            <a:endParaRPr lang="he-IL" sz="1400" dirty="0"/>
          </a:p>
        </p:txBody>
      </p:sp>
      <p:sp>
        <p:nvSpPr>
          <p:cNvPr id="35" name="Shape 31"/>
          <p:cNvSpPr/>
          <p:nvPr/>
        </p:nvSpPr>
        <p:spPr>
          <a:xfrm>
            <a:off x="3345104" y="4297680"/>
            <a:ext cx="2339264" cy="658368"/>
          </a:xfrm>
          <a:prstGeom prst="roundRect">
            <a:avLst>
              <a:gd name="adj" fmla="val 13889"/>
            </a:avLst>
          </a:prstGeom>
          <a:solidFill>
            <a:srgbClr val="F3F0FA"/>
          </a:solidFill>
          <a:ln/>
        </p:spPr>
      </p:sp>
      <p:sp>
        <p:nvSpPr>
          <p:cNvPr id="36" name="Text 32"/>
          <p:cNvSpPr txBox="1"/>
          <p:nvPr/>
        </p:nvSpPr>
        <p:spPr>
          <a:xfrm>
            <a:off x="3454832" y="429768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כאבי גב תחתון ועמוד שדרה</a:t>
            </a:r>
            <a:endParaRPr lang="he-IL" sz="1400" dirty="0"/>
          </a:p>
        </p:txBody>
      </p:sp>
      <p:sp>
        <p:nvSpPr>
          <p:cNvPr id="37" name="Shape 33"/>
          <p:cNvSpPr/>
          <p:nvPr/>
        </p:nvSpPr>
        <p:spPr>
          <a:xfrm>
            <a:off x="3345104" y="5074920"/>
            <a:ext cx="2339264" cy="658368"/>
          </a:xfrm>
          <a:prstGeom prst="roundRect">
            <a:avLst>
              <a:gd name="adj" fmla="val 13889"/>
            </a:avLst>
          </a:prstGeom>
          <a:solidFill>
            <a:srgbClr val="F3F0FA"/>
          </a:solidFill>
          <a:ln/>
        </p:spPr>
      </p:sp>
      <p:sp>
        <p:nvSpPr>
          <p:cNvPr id="38" name="Text 34"/>
          <p:cNvSpPr txBox="1"/>
          <p:nvPr/>
        </p:nvSpPr>
        <p:spPr>
          <a:xfrm>
            <a:off x="3454832" y="507492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אוסטיאוארתריטיס (שחיקת מפרקים)</a:t>
            </a:r>
            <a:endParaRPr lang="he-IL" sz="1400" dirty="0"/>
          </a:p>
        </p:txBody>
      </p:sp>
      <p:sp>
        <p:nvSpPr>
          <p:cNvPr id="39" name="Shape 35"/>
          <p:cNvSpPr/>
          <p:nvPr/>
        </p:nvSpPr>
        <p:spPr>
          <a:xfrm>
            <a:off x="822960" y="2743200"/>
            <a:ext cx="2339264" cy="658368"/>
          </a:xfrm>
          <a:prstGeom prst="roundRect">
            <a:avLst>
              <a:gd name="adj" fmla="val 13889"/>
            </a:avLst>
          </a:prstGeom>
          <a:solidFill>
            <a:srgbClr val="F3F0FA"/>
          </a:solidFill>
          <a:ln/>
        </p:spPr>
      </p:sp>
      <p:sp>
        <p:nvSpPr>
          <p:cNvPr id="40" name="Text 36"/>
          <p:cNvSpPr txBox="1"/>
          <p:nvPr/>
        </p:nvSpPr>
        <p:spPr>
          <a:xfrm>
            <a:off x="932688" y="274320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בעיות בכפות הרגליים</a:t>
            </a:r>
            <a:endParaRPr lang="he-IL" sz="1400" dirty="0"/>
          </a:p>
        </p:txBody>
      </p:sp>
      <p:sp>
        <p:nvSpPr>
          <p:cNvPr id="41" name="Shape 37"/>
          <p:cNvSpPr/>
          <p:nvPr/>
        </p:nvSpPr>
        <p:spPr>
          <a:xfrm>
            <a:off x="822960" y="3520440"/>
            <a:ext cx="2339264" cy="658368"/>
          </a:xfrm>
          <a:prstGeom prst="roundRect">
            <a:avLst>
              <a:gd name="adj" fmla="val 13889"/>
            </a:avLst>
          </a:prstGeom>
          <a:solidFill>
            <a:srgbClr val="F3F0FA"/>
          </a:solidFill>
          <a:ln/>
        </p:spPr>
      </p:sp>
      <p:sp>
        <p:nvSpPr>
          <p:cNvPr id="42" name="Text 38"/>
          <p:cNvSpPr txBox="1"/>
          <p:nvPr/>
        </p:nvSpPr>
        <p:spPr>
          <a:xfrm>
            <a:off x="932688" y="352044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הרניה (בקע)</a:t>
            </a:r>
            <a:endParaRPr lang="he-IL" sz="1400" dirty="0"/>
          </a:p>
        </p:txBody>
      </p:sp>
      <p:sp>
        <p:nvSpPr>
          <p:cNvPr id="43" name="Shape 39"/>
          <p:cNvSpPr/>
          <p:nvPr/>
        </p:nvSpPr>
        <p:spPr>
          <a:xfrm>
            <a:off x="822960" y="4297680"/>
            <a:ext cx="2339264" cy="658368"/>
          </a:xfrm>
          <a:prstGeom prst="roundRect">
            <a:avLst>
              <a:gd name="adj" fmla="val 13889"/>
            </a:avLst>
          </a:prstGeom>
          <a:solidFill>
            <a:srgbClr val="F3F0FA"/>
          </a:solidFill>
          <a:ln/>
        </p:spPr>
      </p:sp>
      <p:sp>
        <p:nvSpPr>
          <p:cNvPr id="44" name="Text 40"/>
          <p:cNvSpPr txBox="1"/>
          <p:nvPr/>
        </p:nvSpPr>
        <p:spPr>
          <a:xfrm>
            <a:off x="932688" y="4297680"/>
            <a:ext cx="2119808" cy="658368"/>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ירידה בתפקוד הגופני ואיכות החיים</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1 (חלק א'): תחקור המטופל על ידי האחות (אנמנזה)</a:t>
            </a:r>
            <a:endParaRPr lang="he-IL" sz="2600" dirty="0"/>
          </a:p>
        </p:txBody>
      </p:sp>
      <p:sp>
        <p:nvSpPr>
          <p:cNvPr id="5" name="Text 3"/>
          <p:cNvSpPr txBox="1"/>
          <p:nvPr/>
        </p:nvSpPr>
        <p:spPr>
          <a:xfrm>
            <a:off x="9646920" y="1371600"/>
            <a:ext cx="1993392" cy="274320"/>
          </a:xfrm>
          <a:prstGeom prst="rect">
            <a:avLst/>
          </a:prstGeom>
          <a:noFill/>
          <a:ln/>
        </p:spPr>
        <p:txBody>
          <a:bodyPr wrap="square" lIns="0" tIns="0" rIns="0" bIns="0" rtlCol="0" anchor="t"/>
          <a:lstStyle/>
          <a:p>
            <a:pPr rtl="1" algn="r" indent="0" marL="0">
              <a:buNone/>
            </a:pPr>
            <a:r>
              <a:rPr lang="he-IL" altLang="en-US" sz="1200" b="1" dirty="0">
                <a:solidFill>
                  <a:srgbClr val="6B6785"/>
                </a:solidFill>
                <a:latin typeface="Arial" pitchFamily="34" charset="0"/>
                <a:ea typeface="Arial" pitchFamily="34" charset="-122"/>
                <a:cs typeface="Arial" pitchFamily="34" charset="-120"/>
              </a:rPr>
              <a:t>נושא</a:t>
            </a:r>
            <a:endParaRPr lang="he-IL" sz="1200" dirty="0"/>
          </a:p>
        </p:txBody>
      </p:sp>
      <p:sp>
        <p:nvSpPr>
          <p:cNvPr id="6" name="Text 4"/>
          <p:cNvSpPr txBox="1"/>
          <p:nvPr/>
        </p:nvSpPr>
        <p:spPr>
          <a:xfrm>
            <a:off x="5806440" y="1371600"/>
            <a:ext cx="3657600" cy="274320"/>
          </a:xfrm>
          <a:prstGeom prst="rect">
            <a:avLst/>
          </a:prstGeom>
          <a:noFill/>
          <a:ln/>
        </p:spPr>
        <p:txBody>
          <a:bodyPr wrap="square" lIns="0" tIns="0" rIns="0" bIns="0" rtlCol="0" anchor="t"/>
          <a:lstStyle/>
          <a:p>
            <a:pPr rtl="1" algn="r" indent="0" marL="0">
              <a:buNone/>
            </a:pPr>
            <a:r>
              <a:rPr lang="he-IL" altLang="en-US" sz="1200" b="1" dirty="0">
                <a:solidFill>
                  <a:srgbClr val="6B6785"/>
                </a:solidFill>
                <a:latin typeface="Arial" pitchFamily="34" charset="0"/>
                <a:ea typeface="Arial" pitchFamily="34" charset="-122"/>
                <a:cs typeface="Arial" pitchFamily="34" charset="-120"/>
              </a:rPr>
              <a:t>שאלת האחות</a:t>
            </a:r>
            <a:endParaRPr lang="he-IL" sz="1200" dirty="0"/>
          </a:p>
        </p:txBody>
      </p:sp>
      <p:sp>
        <p:nvSpPr>
          <p:cNvPr id="7" name="Text 5"/>
          <p:cNvSpPr txBox="1"/>
          <p:nvPr/>
        </p:nvSpPr>
        <p:spPr>
          <a:xfrm>
            <a:off x="548640" y="1371600"/>
            <a:ext cx="5074920" cy="274320"/>
          </a:xfrm>
          <a:prstGeom prst="rect">
            <a:avLst/>
          </a:prstGeom>
          <a:noFill/>
          <a:ln/>
        </p:spPr>
        <p:txBody>
          <a:bodyPr wrap="square" lIns="0" tIns="0" rIns="0" bIns="0" rtlCol="0" anchor="t"/>
          <a:lstStyle/>
          <a:p>
            <a:pPr rtl="1" algn="r" indent="0" marL="0">
              <a:buNone/>
            </a:pPr>
            <a:r>
              <a:rPr lang="he-IL" altLang="en-US" sz="1200" b="1" dirty="0">
                <a:solidFill>
                  <a:srgbClr val="6B6785"/>
                </a:solidFill>
                <a:latin typeface="Arial" pitchFamily="34" charset="0"/>
                <a:ea typeface="Arial" pitchFamily="34" charset="-122"/>
                <a:cs typeface="Arial" pitchFamily="34" charset="-120"/>
              </a:rPr>
              <a:t>תשובת יעקב</a:t>
            </a:r>
            <a:endParaRPr lang="he-IL" sz="1200" dirty="0"/>
          </a:p>
        </p:txBody>
      </p:sp>
      <p:sp>
        <p:nvSpPr>
          <p:cNvPr id="8" name="Shape 6"/>
          <p:cNvSpPr/>
          <p:nvPr/>
        </p:nvSpPr>
        <p:spPr>
          <a:xfrm>
            <a:off x="9646920" y="1719072"/>
            <a:ext cx="1993392" cy="1298448"/>
          </a:xfrm>
          <a:prstGeom prst="roundRect">
            <a:avLst>
              <a:gd name="adj" fmla="val 8451"/>
            </a:avLst>
          </a:prstGeom>
          <a:solidFill>
            <a:srgbClr val="F3F0FA"/>
          </a:solidFill>
          <a:ln/>
        </p:spPr>
      </p:sp>
      <p:sp>
        <p:nvSpPr>
          <p:cNvPr id="9" name="Shape 7"/>
          <p:cNvSpPr/>
          <p:nvPr/>
        </p:nvSpPr>
        <p:spPr>
          <a:xfrm rot="5400000">
            <a:off x="10326859" y="1865376"/>
            <a:ext cx="633515" cy="548640"/>
          </a:xfrm>
          <a:prstGeom prst="hexagon">
            <a:avLst/>
          </a:prstGeom>
          <a:solidFill>
            <a:srgbClr val="4A90D0"/>
          </a:solidFill>
          <a:ln/>
        </p:spPr>
      </p:sp>
      <p:pic>
        <p:nvPicPr>
          <p:cNvPr id="10" name="Image 0" descr="preencoded.png">    </p:cNvPr>
          <p:cNvPicPr>
            <a:picLocks noChangeAspect="1"/>
          </p:cNvPicPr>
          <p:nvPr/>
        </p:nvPicPr>
        <p:blipFill>
          <a:blip r:embed="rId1"/>
          <a:stretch>
            <a:fillRect/>
          </a:stretch>
        </p:blipFill>
        <p:spPr>
          <a:xfrm>
            <a:off x="10517429" y="2013509"/>
            <a:ext cx="252374" cy="252374"/>
          </a:xfrm>
          <a:prstGeom prst="rect">
            <a:avLst/>
          </a:prstGeom>
        </p:spPr>
      </p:pic>
      <p:sp>
        <p:nvSpPr>
          <p:cNvPr id="11" name="Text 8"/>
          <p:cNvSpPr txBox="1"/>
          <p:nvPr/>
        </p:nvSpPr>
        <p:spPr>
          <a:xfrm>
            <a:off x="9692640" y="2478024"/>
            <a:ext cx="1901952" cy="457200"/>
          </a:xfrm>
          <a:prstGeom prst="rect">
            <a:avLst/>
          </a:prstGeom>
          <a:noFill/>
          <a:ln/>
        </p:spPr>
        <p:txBody>
          <a:bodyPr wrap="square" lIns="0" tIns="0" rIns="0" bIns="0" rtlCol="0" anchor="t"/>
          <a:lstStyle/>
          <a:p>
            <a:pPr rtl="1" algn="ctr" indent="0" marL="0">
              <a:buNone/>
            </a:pPr>
            <a:r>
              <a:rPr lang="he-IL" altLang="en-US" sz="1300" b="1" dirty="0">
                <a:solidFill>
                  <a:srgbClr val="2B2560"/>
                </a:solidFill>
                <a:latin typeface="Arial" pitchFamily="34" charset="0"/>
                <a:ea typeface="Arial" pitchFamily="34" charset="-122"/>
                <a:cs typeface="Arial" pitchFamily="34" charset="-120"/>
              </a:rPr>
              <a:t>סדר יום ותזונה</a:t>
            </a:r>
            <a:endParaRPr lang="he-IL" sz="1300" dirty="0"/>
          </a:p>
        </p:txBody>
      </p:sp>
      <p:sp>
        <p:nvSpPr>
          <p:cNvPr id="12" name="Shape 9"/>
          <p:cNvSpPr/>
          <p:nvPr/>
        </p:nvSpPr>
        <p:spPr>
          <a:xfrm>
            <a:off x="5806440" y="1719072"/>
            <a:ext cx="3657600" cy="1298448"/>
          </a:xfrm>
          <a:prstGeom prst="roundRect">
            <a:avLst>
              <a:gd name="adj" fmla="val 8451"/>
            </a:avLst>
          </a:prstGeom>
          <a:solidFill>
            <a:srgbClr val="ECF4FC"/>
          </a:solidFill>
          <a:ln/>
        </p:spPr>
      </p:sp>
      <p:sp>
        <p:nvSpPr>
          <p:cNvPr id="13" name="Shape 10"/>
          <p:cNvSpPr/>
          <p:nvPr/>
        </p:nvSpPr>
        <p:spPr>
          <a:xfrm rot="5400000">
            <a:off x="8922270" y="1874520"/>
            <a:ext cx="443460" cy="384048"/>
          </a:xfrm>
          <a:prstGeom prst="hexagon">
            <a:avLst/>
          </a:prstGeom>
          <a:solidFill>
            <a:srgbClr val="4A90D0"/>
          </a:solidFill>
          <a:ln/>
        </p:spPr>
      </p:sp>
      <p:pic>
        <p:nvPicPr>
          <p:cNvPr id="14" name="Image 1" descr="preencoded.png">    </p:cNvPr>
          <p:cNvPicPr>
            <a:picLocks noChangeAspect="1"/>
          </p:cNvPicPr>
          <p:nvPr/>
        </p:nvPicPr>
        <p:blipFill>
          <a:blip r:embed="rId2"/>
          <a:stretch>
            <a:fillRect/>
          </a:stretch>
        </p:blipFill>
        <p:spPr>
          <a:xfrm>
            <a:off x="9055669" y="1978213"/>
            <a:ext cx="176662" cy="176662"/>
          </a:xfrm>
          <a:prstGeom prst="rect">
            <a:avLst/>
          </a:prstGeom>
        </p:spPr>
      </p:pic>
      <p:sp>
        <p:nvSpPr>
          <p:cNvPr id="15" name="Text 11"/>
          <p:cNvSpPr txBox="1"/>
          <p:nvPr/>
        </p:nvSpPr>
        <p:spPr>
          <a:xfrm>
            <a:off x="5989320" y="1856232"/>
            <a:ext cx="2834640" cy="1024128"/>
          </a:xfrm>
          <a:prstGeom prst="rect">
            <a:avLst/>
          </a:prstGeom>
          <a:noFill/>
          <a:ln/>
        </p:spPr>
        <p:txBody>
          <a:bodyPr wrap="square" lIns="0" tIns="0" rIns="0" bIns="0" rtlCol="0" anchor="ctr"/>
          <a:lstStyle/>
          <a:p>
            <a:pPr rtl="1" algn="r" indent="0" marL="0">
              <a:buNone/>
            </a:pPr>
            <a:r>
              <a:rPr lang="he-IL" altLang="en-US" sz="1450" b="1" dirty="0">
                <a:solidFill>
                  <a:srgbClr val="2B2560"/>
                </a:solidFill>
                <a:latin typeface="Arial" pitchFamily="34" charset="0"/>
                <a:ea typeface="Arial" pitchFamily="34" charset="-122"/>
                <a:cs typeface="Arial" pitchFamily="34" charset="-120"/>
              </a:rPr>
              <a:t>1. איך אתה מתנהל ביום יום ומהם הרגלי התזונה שלך?</a:t>
            </a:r>
            <a:endParaRPr lang="he-IL" sz="1450" dirty="0"/>
          </a:p>
        </p:txBody>
      </p:sp>
      <p:sp>
        <p:nvSpPr>
          <p:cNvPr id="16" name="Shape 12"/>
          <p:cNvSpPr/>
          <p:nvPr/>
        </p:nvSpPr>
        <p:spPr>
          <a:xfrm>
            <a:off x="548640" y="1719072"/>
            <a:ext cx="5074920" cy="1298448"/>
          </a:xfrm>
          <a:prstGeom prst="roundRect">
            <a:avLst>
              <a:gd name="adj" fmla="val 845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7" name="Shape 13"/>
          <p:cNvSpPr/>
          <p:nvPr/>
        </p:nvSpPr>
        <p:spPr>
          <a:xfrm rot="5400000">
            <a:off x="5081790" y="1874520"/>
            <a:ext cx="443460" cy="384048"/>
          </a:xfrm>
          <a:prstGeom prst="hexagon">
            <a:avLst/>
          </a:prstGeom>
          <a:solidFill>
            <a:srgbClr val="6E4494"/>
          </a:solidFill>
          <a:ln/>
        </p:spPr>
      </p:sp>
      <p:pic>
        <p:nvPicPr>
          <p:cNvPr id="18" name="Image 2" descr="preencoded.png">    </p:cNvPr>
          <p:cNvPicPr>
            <a:picLocks noChangeAspect="1"/>
          </p:cNvPicPr>
          <p:nvPr/>
        </p:nvPicPr>
        <p:blipFill>
          <a:blip r:embed="rId3"/>
          <a:stretch>
            <a:fillRect/>
          </a:stretch>
        </p:blipFill>
        <p:spPr>
          <a:xfrm>
            <a:off x="5215189" y="1978213"/>
            <a:ext cx="176662" cy="176662"/>
          </a:xfrm>
          <a:prstGeom prst="rect">
            <a:avLst/>
          </a:prstGeom>
        </p:spPr>
      </p:pic>
      <p:sp>
        <p:nvSpPr>
          <p:cNvPr id="19" name="Text 14"/>
          <p:cNvSpPr txBox="1"/>
          <p:nvPr/>
        </p:nvSpPr>
        <p:spPr>
          <a:xfrm>
            <a:off x="731520" y="1856232"/>
            <a:ext cx="4206240" cy="1024128"/>
          </a:xfrm>
          <a:prstGeom prst="rect">
            <a:avLst/>
          </a:prstGeom>
          <a:noFill/>
          <a:ln/>
        </p:spPr>
        <p:txBody>
          <a:bodyPr wrap="square" lIns="0" tIns="0" rIns="0" bIns="0" rtlCol="0" anchor="ctr"/>
          <a:lstStyle/>
          <a:p>
            <a:pPr rtl="1" algn="r" indent="0" marL="0">
              <a:buNone/>
            </a:pPr>
            <a:r>
              <a:rPr lang="he-IL" altLang="en-US" sz="1450" i="1" dirty="0">
                <a:solidFill>
                  <a:srgbClr val="2E2A47"/>
                </a:solidFill>
                <a:latin typeface="Arial" pitchFamily="34" charset="0"/>
                <a:ea typeface="Arial" pitchFamily="34" charset="-122"/>
                <a:cs typeface="Arial" pitchFamily="34" charset="-120"/>
              </a:rPr>
              <a:t>"יש לי עבודה מאוד לחוצה, ואני אוכל בנשנושים ולא באופן מסודר."</a:t>
            </a:r>
            <a:endParaRPr lang="he-IL" sz="1450" dirty="0"/>
          </a:p>
        </p:txBody>
      </p:sp>
      <p:sp>
        <p:nvSpPr>
          <p:cNvPr id="20" name="Shape 15"/>
          <p:cNvSpPr/>
          <p:nvPr/>
        </p:nvSpPr>
        <p:spPr>
          <a:xfrm>
            <a:off x="9646920" y="3200400"/>
            <a:ext cx="1993392" cy="1298448"/>
          </a:xfrm>
          <a:prstGeom prst="roundRect">
            <a:avLst>
              <a:gd name="adj" fmla="val 8451"/>
            </a:avLst>
          </a:prstGeom>
          <a:solidFill>
            <a:srgbClr val="F3F0FA"/>
          </a:solidFill>
          <a:ln/>
        </p:spPr>
      </p:sp>
      <p:sp>
        <p:nvSpPr>
          <p:cNvPr id="21" name="Shape 16"/>
          <p:cNvSpPr/>
          <p:nvPr/>
        </p:nvSpPr>
        <p:spPr>
          <a:xfrm rot="5400000">
            <a:off x="10326859" y="3346704"/>
            <a:ext cx="633515" cy="548640"/>
          </a:xfrm>
          <a:prstGeom prst="hexagon">
            <a:avLst/>
          </a:prstGeom>
          <a:solidFill>
            <a:srgbClr val="5280C8"/>
          </a:solidFill>
          <a:ln/>
        </p:spPr>
      </p:sp>
      <p:pic>
        <p:nvPicPr>
          <p:cNvPr id="22" name="Image 3" descr="preencoded.png">    </p:cNvPr>
          <p:cNvPicPr>
            <a:picLocks noChangeAspect="1"/>
          </p:cNvPicPr>
          <p:nvPr/>
        </p:nvPicPr>
        <p:blipFill>
          <a:blip r:embed="rId4"/>
          <a:stretch>
            <a:fillRect/>
          </a:stretch>
        </p:blipFill>
        <p:spPr>
          <a:xfrm>
            <a:off x="10517429" y="3494837"/>
            <a:ext cx="252374" cy="252374"/>
          </a:xfrm>
          <a:prstGeom prst="rect">
            <a:avLst/>
          </a:prstGeom>
        </p:spPr>
      </p:pic>
      <p:sp>
        <p:nvSpPr>
          <p:cNvPr id="23" name="Text 17"/>
          <p:cNvSpPr txBox="1"/>
          <p:nvPr/>
        </p:nvSpPr>
        <p:spPr>
          <a:xfrm>
            <a:off x="9692640" y="3959352"/>
            <a:ext cx="1901952" cy="457200"/>
          </a:xfrm>
          <a:prstGeom prst="rect">
            <a:avLst/>
          </a:prstGeom>
          <a:noFill/>
          <a:ln/>
        </p:spPr>
        <p:txBody>
          <a:bodyPr wrap="square" lIns="0" tIns="0" rIns="0" bIns="0" rtlCol="0" anchor="t"/>
          <a:lstStyle/>
          <a:p>
            <a:pPr rtl="1" algn="ctr" indent="0" marL="0">
              <a:buNone/>
            </a:pPr>
            <a:r>
              <a:rPr lang="he-IL" altLang="en-US" sz="1300" b="1" dirty="0">
                <a:solidFill>
                  <a:srgbClr val="2B2560"/>
                </a:solidFill>
                <a:latin typeface="Arial" pitchFamily="34" charset="0"/>
                <a:ea typeface="Arial" pitchFamily="34" charset="-122"/>
                <a:cs typeface="Arial" pitchFamily="34" charset="-120"/>
              </a:rPr>
              <a:t>פעילות גופנית</a:t>
            </a:r>
            <a:endParaRPr lang="he-IL" sz="1300" dirty="0"/>
          </a:p>
        </p:txBody>
      </p:sp>
      <p:sp>
        <p:nvSpPr>
          <p:cNvPr id="24" name="Shape 18"/>
          <p:cNvSpPr/>
          <p:nvPr/>
        </p:nvSpPr>
        <p:spPr>
          <a:xfrm>
            <a:off x="5806440" y="3200400"/>
            <a:ext cx="3657600" cy="1298448"/>
          </a:xfrm>
          <a:prstGeom prst="roundRect">
            <a:avLst>
              <a:gd name="adj" fmla="val 8451"/>
            </a:avLst>
          </a:prstGeom>
          <a:solidFill>
            <a:srgbClr val="ECF4FC"/>
          </a:solidFill>
          <a:ln/>
        </p:spPr>
      </p:sp>
      <p:sp>
        <p:nvSpPr>
          <p:cNvPr id="25" name="Shape 19"/>
          <p:cNvSpPr/>
          <p:nvPr/>
        </p:nvSpPr>
        <p:spPr>
          <a:xfrm rot="5400000">
            <a:off x="8922270" y="3355848"/>
            <a:ext cx="443460" cy="384048"/>
          </a:xfrm>
          <a:prstGeom prst="hexagon">
            <a:avLst/>
          </a:prstGeom>
          <a:solidFill>
            <a:srgbClr val="4A90D0"/>
          </a:solidFill>
          <a:ln/>
        </p:spPr>
      </p:sp>
      <p:pic>
        <p:nvPicPr>
          <p:cNvPr id="26" name="Image 4" descr="preencoded.png">    </p:cNvPr>
          <p:cNvPicPr>
            <a:picLocks noChangeAspect="1"/>
          </p:cNvPicPr>
          <p:nvPr/>
        </p:nvPicPr>
        <p:blipFill>
          <a:blip r:embed="rId5"/>
          <a:stretch>
            <a:fillRect/>
          </a:stretch>
        </p:blipFill>
        <p:spPr>
          <a:xfrm>
            <a:off x="9055669" y="3459541"/>
            <a:ext cx="176662" cy="176662"/>
          </a:xfrm>
          <a:prstGeom prst="rect">
            <a:avLst/>
          </a:prstGeom>
        </p:spPr>
      </p:pic>
      <p:sp>
        <p:nvSpPr>
          <p:cNvPr id="27" name="Text 20"/>
          <p:cNvSpPr txBox="1"/>
          <p:nvPr/>
        </p:nvSpPr>
        <p:spPr>
          <a:xfrm>
            <a:off x="5989320" y="3337560"/>
            <a:ext cx="2834640" cy="1024128"/>
          </a:xfrm>
          <a:prstGeom prst="rect">
            <a:avLst/>
          </a:prstGeom>
          <a:noFill/>
          <a:ln/>
        </p:spPr>
        <p:txBody>
          <a:bodyPr wrap="square" lIns="0" tIns="0" rIns="0" bIns="0" rtlCol="0" anchor="ctr"/>
          <a:lstStyle/>
          <a:p>
            <a:pPr rtl="1" algn="r" indent="0" marL="0">
              <a:buNone/>
            </a:pPr>
            <a:r>
              <a:rPr lang="he-IL" altLang="en-US" sz="1450" b="1" dirty="0">
                <a:solidFill>
                  <a:srgbClr val="2B2560"/>
                </a:solidFill>
                <a:latin typeface="Arial" pitchFamily="34" charset="0"/>
                <a:ea typeface="Arial" pitchFamily="34" charset="-122"/>
                <a:cs typeface="Arial" pitchFamily="34" charset="-120"/>
              </a:rPr>
              <a:t>2. האם אתה מבצע פעילות גופנית בחיי היומיום?</a:t>
            </a:r>
            <a:endParaRPr lang="he-IL" sz="1450" dirty="0"/>
          </a:p>
        </p:txBody>
      </p:sp>
      <p:sp>
        <p:nvSpPr>
          <p:cNvPr id="28" name="Shape 21"/>
          <p:cNvSpPr/>
          <p:nvPr/>
        </p:nvSpPr>
        <p:spPr>
          <a:xfrm>
            <a:off x="548640" y="3200400"/>
            <a:ext cx="5074920" cy="1298448"/>
          </a:xfrm>
          <a:prstGeom prst="roundRect">
            <a:avLst>
              <a:gd name="adj" fmla="val 845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9" name="Shape 22"/>
          <p:cNvSpPr/>
          <p:nvPr/>
        </p:nvSpPr>
        <p:spPr>
          <a:xfrm rot="5400000">
            <a:off x="5081790" y="3355848"/>
            <a:ext cx="443460" cy="384048"/>
          </a:xfrm>
          <a:prstGeom prst="hexagon">
            <a:avLst/>
          </a:prstGeom>
          <a:solidFill>
            <a:srgbClr val="6E4494"/>
          </a:solidFill>
          <a:ln/>
        </p:spPr>
      </p:sp>
      <p:pic>
        <p:nvPicPr>
          <p:cNvPr id="30" name="Image 5" descr="preencoded.png">    </p:cNvPr>
          <p:cNvPicPr>
            <a:picLocks noChangeAspect="1"/>
          </p:cNvPicPr>
          <p:nvPr/>
        </p:nvPicPr>
        <p:blipFill>
          <a:blip r:embed="rId6"/>
          <a:stretch>
            <a:fillRect/>
          </a:stretch>
        </p:blipFill>
        <p:spPr>
          <a:xfrm>
            <a:off x="5215189" y="3459541"/>
            <a:ext cx="176662" cy="176662"/>
          </a:xfrm>
          <a:prstGeom prst="rect">
            <a:avLst/>
          </a:prstGeom>
        </p:spPr>
      </p:pic>
      <p:sp>
        <p:nvSpPr>
          <p:cNvPr id="31" name="Text 23"/>
          <p:cNvSpPr txBox="1"/>
          <p:nvPr/>
        </p:nvSpPr>
        <p:spPr>
          <a:xfrm>
            <a:off x="731520" y="3337560"/>
            <a:ext cx="4206240" cy="1024128"/>
          </a:xfrm>
          <a:prstGeom prst="rect">
            <a:avLst/>
          </a:prstGeom>
          <a:noFill/>
          <a:ln/>
        </p:spPr>
        <p:txBody>
          <a:bodyPr wrap="square" lIns="0" tIns="0" rIns="0" bIns="0" rtlCol="0" anchor="ctr"/>
          <a:lstStyle/>
          <a:p>
            <a:pPr rtl="1" algn="r" indent="0" marL="0">
              <a:buNone/>
            </a:pPr>
            <a:r>
              <a:rPr lang="he-IL" altLang="en-US" sz="1450" i="1" dirty="0">
                <a:solidFill>
                  <a:srgbClr val="2E2A47"/>
                </a:solidFill>
                <a:latin typeface="Arial" pitchFamily="34" charset="0"/>
                <a:ea typeface="Arial" pitchFamily="34" charset="-122"/>
                <a:cs typeface="Arial" pitchFamily="34" charset="-120"/>
              </a:rPr>
              <a:t>"אני עושה הרבה הליכות תוך כדי העבודה כי אני רץ ממקום למקום, אבל חוץ מזה אני לא עושה פעילות גופנית כלשהי."</a:t>
            </a:r>
            <a:endParaRPr lang="he-IL" sz="1450" dirty="0"/>
          </a:p>
        </p:txBody>
      </p:sp>
      <p:sp>
        <p:nvSpPr>
          <p:cNvPr id="32" name="Shape 24"/>
          <p:cNvSpPr/>
          <p:nvPr/>
        </p:nvSpPr>
        <p:spPr>
          <a:xfrm>
            <a:off x="9646920" y="4681728"/>
            <a:ext cx="1993392" cy="1298448"/>
          </a:xfrm>
          <a:prstGeom prst="roundRect">
            <a:avLst>
              <a:gd name="adj" fmla="val 8451"/>
            </a:avLst>
          </a:prstGeom>
          <a:solidFill>
            <a:srgbClr val="F3F0FA"/>
          </a:solidFill>
          <a:ln/>
        </p:spPr>
      </p:sp>
      <p:sp>
        <p:nvSpPr>
          <p:cNvPr id="33" name="Shape 25"/>
          <p:cNvSpPr/>
          <p:nvPr/>
        </p:nvSpPr>
        <p:spPr>
          <a:xfrm rot="5400000">
            <a:off x="10326859" y="4828032"/>
            <a:ext cx="633515" cy="548640"/>
          </a:xfrm>
          <a:prstGeom prst="hexagon">
            <a:avLst/>
          </a:prstGeom>
          <a:solidFill>
            <a:srgbClr val="5B6BB5"/>
          </a:solidFill>
          <a:ln/>
        </p:spPr>
      </p:sp>
      <p:pic>
        <p:nvPicPr>
          <p:cNvPr id="34" name="Image 6" descr="preencoded.png">    </p:cNvPr>
          <p:cNvPicPr>
            <a:picLocks noChangeAspect="1"/>
          </p:cNvPicPr>
          <p:nvPr/>
        </p:nvPicPr>
        <p:blipFill>
          <a:blip r:embed="rId7"/>
          <a:stretch>
            <a:fillRect/>
          </a:stretch>
        </p:blipFill>
        <p:spPr>
          <a:xfrm>
            <a:off x="10517429" y="4976165"/>
            <a:ext cx="252374" cy="252374"/>
          </a:xfrm>
          <a:prstGeom prst="rect">
            <a:avLst/>
          </a:prstGeom>
        </p:spPr>
      </p:pic>
      <p:sp>
        <p:nvSpPr>
          <p:cNvPr id="35" name="Text 26"/>
          <p:cNvSpPr txBox="1"/>
          <p:nvPr/>
        </p:nvSpPr>
        <p:spPr>
          <a:xfrm>
            <a:off x="9692640" y="5440680"/>
            <a:ext cx="1901952" cy="457200"/>
          </a:xfrm>
          <a:prstGeom prst="rect">
            <a:avLst/>
          </a:prstGeom>
          <a:noFill/>
          <a:ln/>
        </p:spPr>
        <p:txBody>
          <a:bodyPr wrap="square" lIns="0" tIns="0" rIns="0" bIns="0" rtlCol="0" anchor="t"/>
          <a:lstStyle/>
          <a:p>
            <a:pPr rtl="1" algn="ctr" indent="0" marL="0">
              <a:buNone/>
            </a:pPr>
            <a:r>
              <a:rPr lang="he-IL" altLang="en-US" sz="1300" b="1" dirty="0">
                <a:solidFill>
                  <a:srgbClr val="2B2560"/>
                </a:solidFill>
                <a:latin typeface="Arial" pitchFamily="34" charset="0"/>
                <a:ea typeface="Arial" pitchFamily="34" charset="-122"/>
                <a:cs typeface="Arial" pitchFamily="34" charset="-120"/>
              </a:rPr>
              <a:t>איכות ומשך השינה</a:t>
            </a:r>
            <a:endParaRPr lang="he-IL" sz="1300" dirty="0"/>
          </a:p>
        </p:txBody>
      </p:sp>
      <p:sp>
        <p:nvSpPr>
          <p:cNvPr id="36" name="Shape 27"/>
          <p:cNvSpPr/>
          <p:nvPr/>
        </p:nvSpPr>
        <p:spPr>
          <a:xfrm>
            <a:off x="5806440" y="4681728"/>
            <a:ext cx="3657600" cy="1298448"/>
          </a:xfrm>
          <a:prstGeom prst="roundRect">
            <a:avLst>
              <a:gd name="adj" fmla="val 8451"/>
            </a:avLst>
          </a:prstGeom>
          <a:solidFill>
            <a:srgbClr val="ECF4FC"/>
          </a:solidFill>
          <a:ln/>
        </p:spPr>
      </p:sp>
      <p:sp>
        <p:nvSpPr>
          <p:cNvPr id="37" name="Shape 28"/>
          <p:cNvSpPr/>
          <p:nvPr/>
        </p:nvSpPr>
        <p:spPr>
          <a:xfrm rot="5400000">
            <a:off x="8922270" y="4837176"/>
            <a:ext cx="443460" cy="384048"/>
          </a:xfrm>
          <a:prstGeom prst="hexagon">
            <a:avLst/>
          </a:prstGeom>
          <a:solidFill>
            <a:srgbClr val="4A90D0"/>
          </a:solidFill>
          <a:ln/>
        </p:spPr>
      </p:sp>
      <p:pic>
        <p:nvPicPr>
          <p:cNvPr id="38" name="Image 7" descr="preencoded.png">    </p:cNvPr>
          <p:cNvPicPr>
            <a:picLocks noChangeAspect="1"/>
          </p:cNvPicPr>
          <p:nvPr/>
        </p:nvPicPr>
        <p:blipFill>
          <a:blip r:embed="rId8"/>
          <a:stretch>
            <a:fillRect/>
          </a:stretch>
        </p:blipFill>
        <p:spPr>
          <a:xfrm>
            <a:off x="9055669" y="4940869"/>
            <a:ext cx="176662" cy="176662"/>
          </a:xfrm>
          <a:prstGeom prst="rect">
            <a:avLst/>
          </a:prstGeom>
        </p:spPr>
      </p:pic>
      <p:sp>
        <p:nvSpPr>
          <p:cNvPr id="39" name="Text 29"/>
          <p:cNvSpPr txBox="1"/>
          <p:nvPr/>
        </p:nvSpPr>
        <p:spPr>
          <a:xfrm>
            <a:off x="5989320" y="4818888"/>
            <a:ext cx="2834640" cy="1024128"/>
          </a:xfrm>
          <a:prstGeom prst="rect">
            <a:avLst/>
          </a:prstGeom>
          <a:noFill/>
          <a:ln/>
        </p:spPr>
        <p:txBody>
          <a:bodyPr wrap="square" lIns="0" tIns="0" rIns="0" bIns="0" rtlCol="0" anchor="ctr"/>
          <a:lstStyle/>
          <a:p>
            <a:pPr rtl="1" algn="r" indent="0" marL="0">
              <a:buNone/>
            </a:pPr>
            <a:r>
              <a:rPr lang="he-IL" altLang="en-US" sz="1450" b="1" dirty="0">
                <a:solidFill>
                  <a:srgbClr val="2B2560"/>
                </a:solidFill>
                <a:latin typeface="Arial" pitchFamily="34" charset="0"/>
                <a:ea typeface="Arial" pitchFamily="34" charset="-122"/>
                <a:cs typeface="Arial" pitchFamily="34" charset="-120"/>
              </a:rPr>
              <a:t>3. איך השינה שלך בלילה?</a:t>
            </a:r>
            <a:endParaRPr lang="he-IL" sz="1450" dirty="0"/>
          </a:p>
        </p:txBody>
      </p:sp>
      <p:sp>
        <p:nvSpPr>
          <p:cNvPr id="40" name="Shape 30"/>
          <p:cNvSpPr/>
          <p:nvPr/>
        </p:nvSpPr>
        <p:spPr>
          <a:xfrm>
            <a:off x="548640" y="4681728"/>
            <a:ext cx="5074920" cy="1298448"/>
          </a:xfrm>
          <a:prstGeom prst="roundRect">
            <a:avLst>
              <a:gd name="adj" fmla="val 845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41" name="Shape 31"/>
          <p:cNvSpPr/>
          <p:nvPr/>
        </p:nvSpPr>
        <p:spPr>
          <a:xfrm rot="5400000">
            <a:off x="5081790" y="4837176"/>
            <a:ext cx="443460" cy="384048"/>
          </a:xfrm>
          <a:prstGeom prst="hexagon">
            <a:avLst/>
          </a:prstGeom>
          <a:solidFill>
            <a:srgbClr val="6E4494"/>
          </a:solidFill>
          <a:ln/>
        </p:spPr>
      </p:sp>
      <p:pic>
        <p:nvPicPr>
          <p:cNvPr id="42" name="Image 8" descr="preencoded.png">    </p:cNvPr>
          <p:cNvPicPr>
            <a:picLocks noChangeAspect="1"/>
          </p:cNvPicPr>
          <p:nvPr/>
        </p:nvPicPr>
        <p:blipFill>
          <a:blip r:embed="rId9"/>
          <a:stretch>
            <a:fillRect/>
          </a:stretch>
        </p:blipFill>
        <p:spPr>
          <a:xfrm>
            <a:off x="5215189" y="4940869"/>
            <a:ext cx="176662" cy="176662"/>
          </a:xfrm>
          <a:prstGeom prst="rect">
            <a:avLst/>
          </a:prstGeom>
        </p:spPr>
      </p:pic>
      <p:sp>
        <p:nvSpPr>
          <p:cNvPr id="43" name="Text 32"/>
          <p:cNvSpPr txBox="1"/>
          <p:nvPr/>
        </p:nvSpPr>
        <p:spPr>
          <a:xfrm>
            <a:off x="731520" y="4818888"/>
            <a:ext cx="4206240" cy="1024128"/>
          </a:xfrm>
          <a:prstGeom prst="rect">
            <a:avLst/>
          </a:prstGeom>
          <a:noFill/>
          <a:ln/>
        </p:spPr>
        <p:txBody>
          <a:bodyPr wrap="square" lIns="0" tIns="0" rIns="0" bIns="0" rtlCol="0" anchor="ctr"/>
          <a:lstStyle/>
          <a:p>
            <a:pPr rtl="1" algn="r" indent="0" marL="0">
              <a:buNone/>
            </a:pPr>
            <a:r>
              <a:rPr lang="he-IL" altLang="en-US" sz="1450" i="1" dirty="0">
                <a:solidFill>
                  <a:srgbClr val="2E2A47"/>
                </a:solidFill>
                <a:latin typeface="Arial" pitchFamily="34" charset="0"/>
                <a:ea typeface="Arial" pitchFamily="34" charset="-122"/>
                <a:cs typeface="Arial" pitchFamily="34" charset="-120"/>
              </a:rPr>
              <a:t>"אני לא ישן הרבה, אולי 4 או 5 שעות בלילה, ואני ישן גרוע."</a:t>
            </a:r>
            <a:endParaRPr lang="he-IL" sz="14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שלב 1 (חלק א'): תחקור המטופל על ידי האחות (אנמנזה) (המשך)</a:t>
            </a:r>
            <a:endParaRPr lang="he-IL" sz="2300" dirty="0"/>
          </a:p>
        </p:txBody>
      </p:sp>
      <p:sp>
        <p:nvSpPr>
          <p:cNvPr id="5" name="Text 3"/>
          <p:cNvSpPr txBox="1"/>
          <p:nvPr/>
        </p:nvSpPr>
        <p:spPr>
          <a:xfrm>
            <a:off x="9646920" y="1371600"/>
            <a:ext cx="1993392" cy="274320"/>
          </a:xfrm>
          <a:prstGeom prst="rect">
            <a:avLst/>
          </a:prstGeom>
          <a:noFill/>
          <a:ln/>
        </p:spPr>
        <p:txBody>
          <a:bodyPr wrap="square" lIns="0" tIns="0" rIns="0" bIns="0" rtlCol="0" anchor="t"/>
          <a:lstStyle/>
          <a:p>
            <a:pPr rtl="1" algn="r" indent="0" marL="0">
              <a:buNone/>
            </a:pPr>
            <a:r>
              <a:rPr lang="he-IL" altLang="en-US" sz="1200" b="1" dirty="0">
                <a:solidFill>
                  <a:srgbClr val="6B6785"/>
                </a:solidFill>
                <a:latin typeface="Arial" pitchFamily="34" charset="0"/>
                <a:ea typeface="Arial" pitchFamily="34" charset="-122"/>
                <a:cs typeface="Arial" pitchFamily="34" charset="-120"/>
              </a:rPr>
              <a:t>נושא</a:t>
            </a:r>
            <a:endParaRPr lang="he-IL" sz="1200" dirty="0"/>
          </a:p>
        </p:txBody>
      </p:sp>
      <p:sp>
        <p:nvSpPr>
          <p:cNvPr id="6" name="Text 4"/>
          <p:cNvSpPr txBox="1"/>
          <p:nvPr/>
        </p:nvSpPr>
        <p:spPr>
          <a:xfrm>
            <a:off x="5806440" y="1371600"/>
            <a:ext cx="3657600" cy="274320"/>
          </a:xfrm>
          <a:prstGeom prst="rect">
            <a:avLst/>
          </a:prstGeom>
          <a:noFill/>
          <a:ln/>
        </p:spPr>
        <p:txBody>
          <a:bodyPr wrap="square" lIns="0" tIns="0" rIns="0" bIns="0" rtlCol="0" anchor="t"/>
          <a:lstStyle/>
          <a:p>
            <a:pPr rtl="1" algn="r" indent="0" marL="0">
              <a:buNone/>
            </a:pPr>
            <a:r>
              <a:rPr lang="he-IL" altLang="en-US" sz="1200" b="1" dirty="0">
                <a:solidFill>
                  <a:srgbClr val="6B6785"/>
                </a:solidFill>
                <a:latin typeface="Arial" pitchFamily="34" charset="0"/>
                <a:ea typeface="Arial" pitchFamily="34" charset="-122"/>
                <a:cs typeface="Arial" pitchFamily="34" charset="-120"/>
              </a:rPr>
              <a:t>שאלת האחות</a:t>
            </a:r>
            <a:endParaRPr lang="he-IL" sz="1200" dirty="0"/>
          </a:p>
        </p:txBody>
      </p:sp>
      <p:sp>
        <p:nvSpPr>
          <p:cNvPr id="7" name="Text 5"/>
          <p:cNvSpPr txBox="1"/>
          <p:nvPr/>
        </p:nvSpPr>
        <p:spPr>
          <a:xfrm>
            <a:off x="548640" y="1371600"/>
            <a:ext cx="5074920" cy="274320"/>
          </a:xfrm>
          <a:prstGeom prst="rect">
            <a:avLst/>
          </a:prstGeom>
          <a:noFill/>
          <a:ln/>
        </p:spPr>
        <p:txBody>
          <a:bodyPr wrap="square" lIns="0" tIns="0" rIns="0" bIns="0" rtlCol="0" anchor="t"/>
          <a:lstStyle/>
          <a:p>
            <a:pPr rtl="1" algn="r" indent="0" marL="0">
              <a:buNone/>
            </a:pPr>
            <a:r>
              <a:rPr lang="he-IL" altLang="en-US" sz="1200" b="1" dirty="0">
                <a:solidFill>
                  <a:srgbClr val="6B6785"/>
                </a:solidFill>
                <a:latin typeface="Arial" pitchFamily="34" charset="0"/>
                <a:ea typeface="Arial" pitchFamily="34" charset="-122"/>
                <a:cs typeface="Arial" pitchFamily="34" charset="-120"/>
              </a:rPr>
              <a:t>תשובת יעקב</a:t>
            </a:r>
            <a:endParaRPr lang="he-IL" sz="1200" dirty="0"/>
          </a:p>
        </p:txBody>
      </p:sp>
      <p:sp>
        <p:nvSpPr>
          <p:cNvPr id="8" name="Shape 6"/>
          <p:cNvSpPr/>
          <p:nvPr/>
        </p:nvSpPr>
        <p:spPr>
          <a:xfrm>
            <a:off x="9646920" y="1719072"/>
            <a:ext cx="1993392" cy="1783080"/>
          </a:xfrm>
          <a:prstGeom prst="roundRect">
            <a:avLst>
              <a:gd name="adj" fmla="val 6154"/>
            </a:avLst>
          </a:prstGeom>
          <a:solidFill>
            <a:srgbClr val="F3F0FA"/>
          </a:solidFill>
          <a:ln/>
        </p:spPr>
      </p:sp>
      <p:sp>
        <p:nvSpPr>
          <p:cNvPr id="9" name="Shape 7"/>
          <p:cNvSpPr/>
          <p:nvPr/>
        </p:nvSpPr>
        <p:spPr>
          <a:xfrm rot="5400000">
            <a:off x="10326859" y="2107692"/>
            <a:ext cx="633515" cy="548640"/>
          </a:xfrm>
          <a:prstGeom prst="hexagon">
            <a:avLst/>
          </a:prstGeom>
          <a:solidFill>
            <a:srgbClr val="6658A6"/>
          </a:solidFill>
          <a:ln/>
        </p:spPr>
      </p:sp>
      <p:pic>
        <p:nvPicPr>
          <p:cNvPr id="10" name="Image 0" descr="preencoded.png">    </p:cNvPr>
          <p:cNvPicPr>
            <a:picLocks noChangeAspect="1"/>
          </p:cNvPicPr>
          <p:nvPr/>
        </p:nvPicPr>
        <p:blipFill>
          <a:blip r:embed="rId1"/>
          <a:stretch>
            <a:fillRect/>
          </a:stretch>
        </p:blipFill>
        <p:spPr>
          <a:xfrm>
            <a:off x="10517429" y="2255825"/>
            <a:ext cx="252374" cy="252374"/>
          </a:xfrm>
          <a:prstGeom prst="rect">
            <a:avLst/>
          </a:prstGeom>
        </p:spPr>
      </p:pic>
      <p:sp>
        <p:nvSpPr>
          <p:cNvPr id="11" name="Text 8"/>
          <p:cNvSpPr txBox="1"/>
          <p:nvPr/>
        </p:nvSpPr>
        <p:spPr>
          <a:xfrm>
            <a:off x="9692640" y="2720340"/>
            <a:ext cx="1901952" cy="457200"/>
          </a:xfrm>
          <a:prstGeom prst="rect">
            <a:avLst/>
          </a:prstGeom>
          <a:noFill/>
          <a:ln/>
        </p:spPr>
        <p:txBody>
          <a:bodyPr wrap="square" lIns="0" tIns="0" rIns="0" bIns="0" rtlCol="0" anchor="t"/>
          <a:lstStyle/>
          <a:p>
            <a:pPr rtl="1" algn="ctr" indent="0" marL="0">
              <a:buNone/>
            </a:pPr>
            <a:r>
              <a:rPr lang="he-IL" altLang="en-US" sz="1300" b="1" dirty="0">
                <a:solidFill>
                  <a:srgbClr val="2B2560"/>
                </a:solidFill>
                <a:latin typeface="Arial" pitchFamily="34" charset="0"/>
                <a:ea typeface="Arial" pitchFamily="34" charset="-122"/>
                <a:cs typeface="Arial" pitchFamily="34" charset="-120"/>
              </a:rPr>
              <a:t>חששות וגורמים מטרידים</a:t>
            </a:r>
            <a:endParaRPr lang="he-IL" sz="1300" dirty="0"/>
          </a:p>
        </p:txBody>
      </p:sp>
      <p:sp>
        <p:nvSpPr>
          <p:cNvPr id="12" name="Shape 9"/>
          <p:cNvSpPr/>
          <p:nvPr/>
        </p:nvSpPr>
        <p:spPr>
          <a:xfrm>
            <a:off x="5806440" y="1719072"/>
            <a:ext cx="3657600" cy="1783080"/>
          </a:xfrm>
          <a:prstGeom prst="roundRect">
            <a:avLst>
              <a:gd name="adj" fmla="val 6154"/>
            </a:avLst>
          </a:prstGeom>
          <a:solidFill>
            <a:srgbClr val="ECF4FC"/>
          </a:solidFill>
          <a:ln/>
        </p:spPr>
      </p:sp>
      <p:sp>
        <p:nvSpPr>
          <p:cNvPr id="13" name="Shape 10"/>
          <p:cNvSpPr/>
          <p:nvPr/>
        </p:nvSpPr>
        <p:spPr>
          <a:xfrm rot="5400000">
            <a:off x="8922270" y="1874520"/>
            <a:ext cx="443460" cy="384048"/>
          </a:xfrm>
          <a:prstGeom prst="hexagon">
            <a:avLst/>
          </a:prstGeom>
          <a:solidFill>
            <a:srgbClr val="4A90D0"/>
          </a:solidFill>
          <a:ln/>
        </p:spPr>
      </p:sp>
      <p:pic>
        <p:nvPicPr>
          <p:cNvPr id="14" name="Image 1" descr="preencoded.png">    </p:cNvPr>
          <p:cNvPicPr>
            <a:picLocks noChangeAspect="1"/>
          </p:cNvPicPr>
          <p:nvPr/>
        </p:nvPicPr>
        <p:blipFill>
          <a:blip r:embed="rId2"/>
          <a:stretch>
            <a:fillRect/>
          </a:stretch>
        </p:blipFill>
        <p:spPr>
          <a:xfrm>
            <a:off x="9055669" y="1978213"/>
            <a:ext cx="176662" cy="176662"/>
          </a:xfrm>
          <a:prstGeom prst="rect">
            <a:avLst/>
          </a:prstGeom>
        </p:spPr>
      </p:pic>
      <p:sp>
        <p:nvSpPr>
          <p:cNvPr id="15" name="Text 11"/>
          <p:cNvSpPr txBox="1"/>
          <p:nvPr/>
        </p:nvSpPr>
        <p:spPr>
          <a:xfrm>
            <a:off x="5989320" y="1856232"/>
            <a:ext cx="2834640" cy="1508760"/>
          </a:xfrm>
          <a:prstGeom prst="rect">
            <a:avLst/>
          </a:prstGeom>
          <a:noFill/>
          <a:ln/>
        </p:spPr>
        <p:txBody>
          <a:bodyPr wrap="square" lIns="0" tIns="0" rIns="0" bIns="0" rtlCol="0" anchor="ctr"/>
          <a:lstStyle/>
          <a:p>
            <a:pPr rtl="1" algn="r" indent="0" marL="0">
              <a:buNone/>
            </a:pPr>
            <a:r>
              <a:rPr lang="he-IL" altLang="en-US" sz="1450" b="1" dirty="0">
                <a:solidFill>
                  <a:srgbClr val="2B2560"/>
                </a:solidFill>
                <a:latin typeface="Arial" pitchFamily="34" charset="0"/>
                <a:ea typeface="Arial" pitchFamily="34" charset="-122"/>
                <a:cs typeface="Arial" pitchFamily="34" charset="-120"/>
              </a:rPr>
              <a:t>4. מה הכי מטריד אותך כרגע מבחינה בריאותית?</a:t>
            </a:r>
            <a:endParaRPr lang="he-IL" sz="1450" dirty="0"/>
          </a:p>
        </p:txBody>
      </p:sp>
      <p:sp>
        <p:nvSpPr>
          <p:cNvPr id="16" name="Shape 12"/>
          <p:cNvSpPr/>
          <p:nvPr/>
        </p:nvSpPr>
        <p:spPr>
          <a:xfrm>
            <a:off x="548640" y="1719072"/>
            <a:ext cx="5074920" cy="1783080"/>
          </a:xfrm>
          <a:prstGeom prst="roundRect">
            <a:avLst>
              <a:gd name="adj" fmla="val 6154"/>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7" name="Shape 13"/>
          <p:cNvSpPr/>
          <p:nvPr/>
        </p:nvSpPr>
        <p:spPr>
          <a:xfrm rot="5400000">
            <a:off x="5081790" y="1874520"/>
            <a:ext cx="443460" cy="384048"/>
          </a:xfrm>
          <a:prstGeom prst="hexagon">
            <a:avLst/>
          </a:prstGeom>
          <a:solidFill>
            <a:srgbClr val="6E4494"/>
          </a:solidFill>
          <a:ln/>
        </p:spPr>
      </p:sp>
      <p:pic>
        <p:nvPicPr>
          <p:cNvPr id="18" name="Image 2" descr="preencoded.png">    </p:cNvPr>
          <p:cNvPicPr>
            <a:picLocks noChangeAspect="1"/>
          </p:cNvPicPr>
          <p:nvPr/>
        </p:nvPicPr>
        <p:blipFill>
          <a:blip r:embed="rId3"/>
          <a:stretch>
            <a:fillRect/>
          </a:stretch>
        </p:blipFill>
        <p:spPr>
          <a:xfrm>
            <a:off x="5215189" y="1978213"/>
            <a:ext cx="176662" cy="176662"/>
          </a:xfrm>
          <a:prstGeom prst="rect">
            <a:avLst/>
          </a:prstGeom>
        </p:spPr>
      </p:pic>
      <p:sp>
        <p:nvSpPr>
          <p:cNvPr id="19" name="Text 14"/>
          <p:cNvSpPr txBox="1"/>
          <p:nvPr/>
        </p:nvSpPr>
        <p:spPr>
          <a:xfrm>
            <a:off x="731520" y="1856232"/>
            <a:ext cx="4206240" cy="1508760"/>
          </a:xfrm>
          <a:prstGeom prst="rect">
            <a:avLst/>
          </a:prstGeom>
          <a:noFill/>
          <a:ln/>
        </p:spPr>
        <p:txBody>
          <a:bodyPr wrap="square" lIns="0" tIns="0" rIns="0" bIns="0" rtlCol="0" anchor="ctr"/>
          <a:lstStyle/>
          <a:p>
            <a:pPr rtl="1" algn="r" indent="0" marL="0">
              <a:buNone/>
            </a:pPr>
            <a:r>
              <a:rPr lang="he-IL" altLang="en-US" sz="1450" i="1" dirty="0">
                <a:solidFill>
                  <a:srgbClr val="2E2A47"/>
                </a:solidFill>
                <a:latin typeface="Arial" pitchFamily="34" charset="0"/>
                <a:ea typeface="Arial" pitchFamily="34" charset="-122"/>
                <a:cs typeface="Arial" pitchFamily="34" charset="-120"/>
              </a:rPr>
              <a:t>"אני מאוד מפחד מהפצע שיש לי ברגל, כי יש לי שכן שכרתו לו את הרגל ואני מאוד מפחד מזה."</a:t>
            </a:r>
            <a:endParaRPr lang="he-IL" sz="1450" dirty="0"/>
          </a:p>
        </p:txBody>
      </p:sp>
      <p:sp>
        <p:nvSpPr>
          <p:cNvPr id="20" name="Shape 15"/>
          <p:cNvSpPr/>
          <p:nvPr/>
        </p:nvSpPr>
        <p:spPr>
          <a:xfrm>
            <a:off x="9646920" y="3685032"/>
            <a:ext cx="1993392" cy="1783080"/>
          </a:xfrm>
          <a:prstGeom prst="roundRect">
            <a:avLst>
              <a:gd name="adj" fmla="val 6154"/>
            </a:avLst>
          </a:prstGeom>
          <a:solidFill>
            <a:srgbClr val="F3F0FA"/>
          </a:solidFill>
          <a:ln/>
        </p:spPr>
      </p:sp>
      <p:sp>
        <p:nvSpPr>
          <p:cNvPr id="21" name="Shape 16"/>
          <p:cNvSpPr/>
          <p:nvPr/>
        </p:nvSpPr>
        <p:spPr>
          <a:xfrm rot="5400000">
            <a:off x="10326859" y="4073652"/>
            <a:ext cx="633515" cy="548640"/>
          </a:xfrm>
          <a:prstGeom prst="hexagon">
            <a:avLst/>
          </a:prstGeom>
          <a:solidFill>
            <a:srgbClr val="6E4494"/>
          </a:solidFill>
          <a:ln/>
        </p:spPr>
      </p:sp>
      <p:pic>
        <p:nvPicPr>
          <p:cNvPr id="22" name="Image 3" descr="preencoded.png">    </p:cNvPr>
          <p:cNvPicPr>
            <a:picLocks noChangeAspect="1"/>
          </p:cNvPicPr>
          <p:nvPr/>
        </p:nvPicPr>
        <p:blipFill>
          <a:blip r:embed="rId4"/>
          <a:stretch>
            <a:fillRect/>
          </a:stretch>
        </p:blipFill>
        <p:spPr>
          <a:xfrm>
            <a:off x="10517429" y="4221785"/>
            <a:ext cx="252374" cy="252374"/>
          </a:xfrm>
          <a:prstGeom prst="rect">
            <a:avLst/>
          </a:prstGeom>
        </p:spPr>
      </p:pic>
      <p:sp>
        <p:nvSpPr>
          <p:cNvPr id="23" name="Text 17"/>
          <p:cNvSpPr txBox="1"/>
          <p:nvPr/>
        </p:nvSpPr>
        <p:spPr>
          <a:xfrm>
            <a:off x="9692640" y="4686300"/>
            <a:ext cx="1901952" cy="457200"/>
          </a:xfrm>
          <a:prstGeom prst="rect">
            <a:avLst/>
          </a:prstGeom>
          <a:noFill/>
          <a:ln/>
        </p:spPr>
        <p:txBody>
          <a:bodyPr wrap="square" lIns="0" tIns="0" rIns="0" bIns="0" rtlCol="0" anchor="t"/>
          <a:lstStyle/>
          <a:p>
            <a:pPr rtl="1" algn="ctr" indent="0" marL="0">
              <a:buNone/>
            </a:pPr>
            <a:r>
              <a:rPr lang="he-IL" altLang="en-US" sz="1300" b="1" dirty="0">
                <a:solidFill>
                  <a:srgbClr val="2B2560"/>
                </a:solidFill>
                <a:latin typeface="Arial" pitchFamily="34" charset="0"/>
                <a:ea typeface="Arial" pitchFamily="34" charset="-122"/>
                <a:cs typeface="Arial" pitchFamily="34" charset="-120"/>
              </a:rPr>
              <a:t>היענות לטיפול התרופתי</a:t>
            </a:r>
            <a:endParaRPr lang="he-IL" sz="1300" dirty="0"/>
          </a:p>
        </p:txBody>
      </p:sp>
      <p:sp>
        <p:nvSpPr>
          <p:cNvPr id="24" name="Shape 18"/>
          <p:cNvSpPr/>
          <p:nvPr/>
        </p:nvSpPr>
        <p:spPr>
          <a:xfrm>
            <a:off x="5806440" y="3685032"/>
            <a:ext cx="3657600" cy="1783080"/>
          </a:xfrm>
          <a:prstGeom prst="roundRect">
            <a:avLst>
              <a:gd name="adj" fmla="val 6154"/>
            </a:avLst>
          </a:prstGeom>
          <a:solidFill>
            <a:srgbClr val="ECF4FC"/>
          </a:solidFill>
          <a:ln/>
        </p:spPr>
      </p:sp>
      <p:sp>
        <p:nvSpPr>
          <p:cNvPr id="25" name="Shape 19"/>
          <p:cNvSpPr/>
          <p:nvPr/>
        </p:nvSpPr>
        <p:spPr>
          <a:xfrm rot="5400000">
            <a:off x="8922270" y="3840480"/>
            <a:ext cx="443460" cy="384048"/>
          </a:xfrm>
          <a:prstGeom prst="hexagon">
            <a:avLst/>
          </a:prstGeom>
          <a:solidFill>
            <a:srgbClr val="4A90D0"/>
          </a:solidFill>
          <a:ln/>
        </p:spPr>
      </p:sp>
      <p:pic>
        <p:nvPicPr>
          <p:cNvPr id="26" name="Image 4" descr="preencoded.png">    </p:cNvPr>
          <p:cNvPicPr>
            <a:picLocks noChangeAspect="1"/>
          </p:cNvPicPr>
          <p:nvPr/>
        </p:nvPicPr>
        <p:blipFill>
          <a:blip r:embed="rId5"/>
          <a:stretch>
            <a:fillRect/>
          </a:stretch>
        </p:blipFill>
        <p:spPr>
          <a:xfrm>
            <a:off x="9055669" y="3944173"/>
            <a:ext cx="176662" cy="176662"/>
          </a:xfrm>
          <a:prstGeom prst="rect">
            <a:avLst/>
          </a:prstGeom>
        </p:spPr>
      </p:pic>
      <p:sp>
        <p:nvSpPr>
          <p:cNvPr id="27" name="Text 20"/>
          <p:cNvSpPr txBox="1"/>
          <p:nvPr/>
        </p:nvSpPr>
        <p:spPr>
          <a:xfrm>
            <a:off x="5989320" y="3822192"/>
            <a:ext cx="2834640" cy="1508760"/>
          </a:xfrm>
          <a:prstGeom prst="rect">
            <a:avLst/>
          </a:prstGeom>
          <a:noFill/>
          <a:ln/>
        </p:spPr>
        <p:txBody>
          <a:bodyPr wrap="square" lIns="0" tIns="0" rIns="0" bIns="0" rtlCol="0" anchor="ctr"/>
          <a:lstStyle/>
          <a:p>
            <a:pPr rtl="1" algn="r" indent="0" marL="0">
              <a:buNone/>
            </a:pPr>
            <a:r>
              <a:rPr lang="he-IL" altLang="en-US" sz="1450" b="1" dirty="0">
                <a:solidFill>
                  <a:srgbClr val="2B2560"/>
                </a:solidFill>
                <a:latin typeface="Arial" pitchFamily="34" charset="0"/>
                <a:ea typeface="Arial" pitchFamily="34" charset="-122"/>
                <a:cs typeface="Arial" pitchFamily="34" charset="-120"/>
              </a:rPr>
              <a:t>5. האם אתה מקפיד לקחת את הטיפול התרופתי הקבוע שלך?</a:t>
            </a:r>
            <a:endParaRPr lang="he-IL" sz="1450" dirty="0"/>
          </a:p>
        </p:txBody>
      </p:sp>
      <p:sp>
        <p:nvSpPr>
          <p:cNvPr id="28" name="Shape 21"/>
          <p:cNvSpPr/>
          <p:nvPr/>
        </p:nvSpPr>
        <p:spPr>
          <a:xfrm>
            <a:off x="548640" y="3685032"/>
            <a:ext cx="5074920" cy="1783080"/>
          </a:xfrm>
          <a:prstGeom prst="roundRect">
            <a:avLst>
              <a:gd name="adj" fmla="val 6154"/>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9" name="Shape 22"/>
          <p:cNvSpPr/>
          <p:nvPr/>
        </p:nvSpPr>
        <p:spPr>
          <a:xfrm rot="5400000">
            <a:off x="5081790" y="3840480"/>
            <a:ext cx="443460" cy="384048"/>
          </a:xfrm>
          <a:prstGeom prst="hexagon">
            <a:avLst/>
          </a:prstGeom>
          <a:solidFill>
            <a:srgbClr val="6E4494"/>
          </a:solidFill>
          <a:ln/>
        </p:spPr>
      </p:sp>
      <p:pic>
        <p:nvPicPr>
          <p:cNvPr id="30" name="Image 5" descr="preencoded.png">    </p:cNvPr>
          <p:cNvPicPr>
            <a:picLocks noChangeAspect="1"/>
          </p:cNvPicPr>
          <p:nvPr/>
        </p:nvPicPr>
        <p:blipFill>
          <a:blip r:embed="rId6"/>
          <a:stretch>
            <a:fillRect/>
          </a:stretch>
        </p:blipFill>
        <p:spPr>
          <a:xfrm>
            <a:off x="5215189" y="3944173"/>
            <a:ext cx="176662" cy="176662"/>
          </a:xfrm>
          <a:prstGeom prst="rect">
            <a:avLst/>
          </a:prstGeom>
        </p:spPr>
      </p:pic>
      <p:sp>
        <p:nvSpPr>
          <p:cNvPr id="31" name="Text 23"/>
          <p:cNvSpPr txBox="1"/>
          <p:nvPr/>
        </p:nvSpPr>
        <p:spPr>
          <a:xfrm>
            <a:off x="731520" y="3822192"/>
            <a:ext cx="4206240" cy="1508760"/>
          </a:xfrm>
          <a:prstGeom prst="rect">
            <a:avLst/>
          </a:prstGeom>
          <a:noFill/>
          <a:ln/>
        </p:spPr>
        <p:txBody>
          <a:bodyPr wrap="square" lIns="0" tIns="0" rIns="0" bIns="0" rtlCol="0" anchor="ctr"/>
          <a:lstStyle/>
          <a:p>
            <a:pPr rtl="1" algn="r" indent="0" marL="0">
              <a:buNone/>
            </a:pPr>
            <a:r>
              <a:rPr lang="he-IL" altLang="en-US" sz="1450" i="1" dirty="0">
                <a:solidFill>
                  <a:srgbClr val="2E2A47"/>
                </a:solidFill>
                <a:latin typeface="Arial" pitchFamily="34" charset="0"/>
                <a:ea typeface="Arial" pitchFamily="34" charset="-122"/>
                <a:cs typeface="Arial" pitchFamily="34" charset="-120"/>
              </a:rPr>
              <a:t>"אני לוקח את האוזמפיק רק לפעמים כי אני חושש שזה יכול לפגוע לי בעיניים, וגם אני חושש לקחת את זה כי אני מרבה לטוס ולעבור בין מדינות וחושש מתופעות לוואי."</a:t>
            </a:r>
            <a:endParaRPr lang="he-IL" sz="14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מה תגידי ליעקב כדי לבנות אמון ולגייס אותו לטיפול?</a:t>
            </a:r>
            <a:endParaRPr lang="he-IL" sz="2600" dirty="0"/>
          </a:p>
        </p:txBody>
      </p:sp>
      <p:sp>
        <p:nvSpPr>
          <p:cNvPr id="5" name="Shape 3"/>
          <p:cNvSpPr/>
          <p:nvPr/>
        </p:nvSpPr>
        <p:spPr>
          <a:xfrm>
            <a:off x="548640" y="1600200"/>
            <a:ext cx="11094415" cy="1828800"/>
          </a:xfrm>
          <a:prstGeom prst="roundRect">
            <a:avLst>
              <a:gd name="adj" fmla="val 6000"/>
            </a:avLst>
          </a:prstGeom>
          <a:solidFill>
            <a:srgbClr val="F3F0FA"/>
          </a:solidFill>
          <a:ln/>
        </p:spPr>
      </p:sp>
      <p:sp>
        <p:nvSpPr>
          <p:cNvPr id="6" name="Shape 4"/>
          <p:cNvSpPr/>
          <p:nvPr/>
        </p:nvSpPr>
        <p:spPr>
          <a:xfrm rot="5400000">
            <a:off x="10455723" y="2080260"/>
            <a:ext cx="1003065" cy="868680"/>
          </a:xfrm>
          <a:prstGeom prst="hexagon">
            <a:avLst/>
          </a:prstGeom>
          <a:solidFill>
            <a:srgbClr val="6E4494"/>
          </a:solidFill>
          <a:ln/>
        </p:spPr>
      </p:sp>
      <p:pic>
        <p:nvPicPr>
          <p:cNvPr id="7" name="Image 0" descr="preencoded.png">    </p:cNvPr>
          <p:cNvPicPr>
            <a:picLocks noChangeAspect="1"/>
          </p:cNvPicPr>
          <p:nvPr/>
        </p:nvPicPr>
        <p:blipFill>
          <a:blip r:embed="rId1"/>
          <a:stretch>
            <a:fillRect/>
          </a:stretch>
        </p:blipFill>
        <p:spPr>
          <a:xfrm>
            <a:off x="10757459" y="2314804"/>
            <a:ext cx="399593" cy="399593"/>
          </a:xfrm>
          <a:prstGeom prst="rect">
            <a:avLst/>
          </a:prstGeom>
        </p:spPr>
      </p:pic>
      <p:sp>
        <p:nvSpPr>
          <p:cNvPr id="8" name="Text 5"/>
          <p:cNvSpPr txBox="1"/>
          <p:nvPr/>
        </p:nvSpPr>
        <p:spPr>
          <a:xfrm>
            <a:off x="868680" y="1691640"/>
            <a:ext cx="9357055" cy="1645920"/>
          </a:xfrm>
          <a:prstGeom prst="rect">
            <a:avLst/>
          </a:prstGeom>
          <a:noFill/>
          <a:ln/>
        </p:spPr>
        <p:txBody>
          <a:bodyPr wrap="square" lIns="0" tIns="0" rIns="0" bIns="0" rtlCol="0" anchor="ctr"/>
          <a:lstStyle/>
          <a:p>
            <a:pPr rtl="1" algn="r" indent="0" marL="0">
              <a:buNone/>
            </a:pPr>
            <a:r>
              <a:rPr lang="he-IL" altLang="en-US" sz="1800" dirty="0">
                <a:solidFill>
                  <a:srgbClr val="2B2560"/>
                </a:solidFill>
                <a:latin typeface="Arial" pitchFamily="34" charset="0"/>
                <a:ea typeface="Arial" pitchFamily="34" charset="-122"/>
                <a:cs typeface="Arial" pitchFamily="34" charset="-120"/>
              </a:rPr>
              <a:t>לאחר שיעקב שיתף אותך בעומס הרב בעבודה, בתזונה הבלתי מסודרת, בשינה הירודה ובפחד העמוק שלו מכריתת רגל – קרא/י את תגובות האחות האפשריות, בחר/י תגובה וצפה/י כיצד יעקב מגיב ואיזה סגנון תקשורת זה מייצג:</a:t>
            </a:r>
            <a:endParaRPr lang="he-IL" sz="1800" dirty="0"/>
          </a:p>
        </p:txBody>
      </p:sp>
      <p:sp>
        <p:nvSpPr>
          <p:cNvPr id="9" name="Shape 6"/>
          <p:cNvSpPr/>
          <p:nvPr/>
        </p:nvSpPr>
        <p:spPr>
          <a:xfrm>
            <a:off x="9040901" y="3749040"/>
            <a:ext cx="2602154" cy="2240280"/>
          </a:xfrm>
          <a:prstGeom prst="roundRect">
            <a:avLst>
              <a:gd name="adj" fmla="val 4898"/>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0" name="Shape 7"/>
          <p:cNvSpPr/>
          <p:nvPr/>
        </p:nvSpPr>
        <p:spPr>
          <a:xfrm rot="5400000">
            <a:off x="9866842" y="4023360"/>
            <a:ext cx="950272" cy="822960"/>
          </a:xfrm>
          <a:prstGeom prst="hexagon">
            <a:avLst/>
          </a:prstGeom>
          <a:solidFill>
            <a:srgbClr val="1F8F83"/>
          </a:solidFill>
          <a:ln/>
        </p:spPr>
      </p:sp>
      <p:sp>
        <p:nvSpPr>
          <p:cNvPr id="11" name="Text 8"/>
          <p:cNvSpPr txBox="1"/>
          <p:nvPr/>
        </p:nvSpPr>
        <p:spPr>
          <a:xfrm>
            <a:off x="9930498" y="4023360"/>
            <a:ext cx="822960" cy="82296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2" name="Text 9"/>
          <p:cNvSpPr txBox="1"/>
          <p:nvPr/>
        </p:nvSpPr>
        <p:spPr>
          <a:xfrm>
            <a:off x="9040901" y="4983480"/>
            <a:ext cx="2602154" cy="365760"/>
          </a:xfrm>
          <a:prstGeom prst="rect">
            <a:avLst/>
          </a:prstGeom>
          <a:noFill/>
          <a:ln/>
        </p:spPr>
        <p:txBody>
          <a:bodyPr wrap="square" lIns="0" tIns="0" rIns="0" bIns="0" rtlCol="0" anchor="t"/>
          <a:lstStyle/>
          <a:p>
            <a:pPr rtl="1" algn="ctr" indent="0" marL="0">
              <a:buNone/>
            </a:pPr>
            <a:r>
              <a:rPr lang="he-IL" altLang="en-US" sz="1700" b="1" dirty="0">
                <a:solidFill>
                  <a:srgbClr val="2B2560"/>
                </a:solidFill>
                <a:latin typeface="Arial" pitchFamily="34" charset="0"/>
                <a:ea typeface="Arial" pitchFamily="34" charset="-122"/>
                <a:cs typeface="Arial" pitchFamily="34" charset="-120"/>
              </a:rPr>
              <a:t>תגובה 1</a:t>
            </a:r>
            <a:endParaRPr lang="he-IL" sz="1700" dirty="0"/>
          </a:p>
        </p:txBody>
      </p:sp>
      <p:sp>
        <p:nvSpPr>
          <p:cNvPr id="13" name="Text 10"/>
          <p:cNvSpPr txBox="1"/>
          <p:nvPr/>
        </p:nvSpPr>
        <p:spPr>
          <a:xfrm>
            <a:off x="9040901" y="5349240"/>
            <a:ext cx="2602154" cy="365760"/>
          </a:xfrm>
          <a:prstGeom prst="rect">
            <a:avLst/>
          </a:prstGeom>
          <a:noFill/>
          <a:ln/>
        </p:spPr>
        <p:txBody>
          <a:bodyPr wrap="square" lIns="0" tIns="0" rIns="0" bIns="0" rtlCol="0" anchor="t"/>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אמפתית ומגייסת</a:t>
            </a:r>
            <a:endParaRPr lang="he-IL" sz="1500" dirty="0"/>
          </a:p>
        </p:txBody>
      </p:sp>
      <p:sp>
        <p:nvSpPr>
          <p:cNvPr id="14" name="Shape 11"/>
          <p:cNvSpPr/>
          <p:nvPr/>
        </p:nvSpPr>
        <p:spPr>
          <a:xfrm>
            <a:off x="6210148" y="3749040"/>
            <a:ext cx="2602154" cy="2240280"/>
          </a:xfrm>
          <a:prstGeom prst="roundRect">
            <a:avLst>
              <a:gd name="adj" fmla="val 4898"/>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5" name="Shape 12"/>
          <p:cNvSpPr/>
          <p:nvPr/>
        </p:nvSpPr>
        <p:spPr>
          <a:xfrm rot="5400000">
            <a:off x="7036089" y="4023360"/>
            <a:ext cx="950272" cy="822960"/>
          </a:xfrm>
          <a:prstGeom prst="hexagon">
            <a:avLst/>
          </a:prstGeom>
          <a:solidFill>
            <a:srgbClr val="C24863"/>
          </a:solidFill>
          <a:ln/>
        </p:spPr>
      </p:sp>
      <p:sp>
        <p:nvSpPr>
          <p:cNvPr id="16" name="Text 13"/>
          <p:cNvSpPr txBox="1"/>
          <p:nvPr/>
        </p:nvSpPr>
        <p:spPr>
          <a:xfrm>
            <a:off x="7099744" y="4023360"/>
            <a:ext cx="822960" cy="82296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6210148" y="4983480"/>
            <a:ext cx="2602154" cy="365760"/>
          </a:xfrm>
          <a:prstGeom prst="rect">
            <a:avLst/>
          </a:prstGeom>
          <a:noFill/>
          <a:ln/>
        </p:spPr>
        <p:txBody>
          <a:bodyPr wrap="square" lIns="0" tIns="0" rIns="0" bIns="0" rtlCol="0" anchor="t"/>
          <a:lstStyle/>
          <a:p>
            <a:pPr rtl="1" algn="ctr" indent="0" marL="0">
              <a:buNone/>
            </a:pPr>
            <a:r>
              <a:rPr lang="he-IL" altLang="en-US" sz="1700" b="1" dirty="0">
                <a:solidFill>
                  <a:srgbClr val="2B2560"/>
                </a:solidFill>
                <a:latin typeface="Arial" pitchFamily="34" charset="0"/>
                <a:ea typeface="Arial" pitchFamily="34" charset="-122"/>
                <a:cs typeface="Arial" pitchFamily="34" charset="-120"/>
              </a:rPr>
              <a:t>תגובה 2</a:t>
            </a:r>
            <a:endParaRPr lang="he-IL" sz="1700" dirty="0"/>
          </a:p>
        </p:txBody>
      </p:sp>
      <p:sp>
        <p:nvSpPr>
          <p:cNvPr id="18" name="Text 15"/>
          <p:cNvSpPr txBox="1"/>
          <p:nvPr/>
        </p:nvSpPr>
        <p:spPr>
          <a:xfrm>
            <a:off x="6210148" y="5349240"/>
            <a:ext cx="2602154" cy="365760"/>
          </a:xfrm>
          <a:prstGeom prst="rect">
            <a:avLst/>
          </a:prstGeom>
          <a:noFill/>
          <a:ln/>
        </p:spPr>
        <p:txBody>
          <a:bodyPr wrap="square" lIns="0" tIns="0" rIns="0" bIns="0" rtlCol="0" anchor="t"/>
          <a:lstStyle/>
          <a:p>
            <a:pPr rtl="1" algn="ctr" indent="0" marL="0">
              <a:buNone/>
            </a:pPr>
            <a:r>
              <a:rPr lang="he-IL" altLang="en-US" sz="1500" b="1" dirty="0">
                <a:solidFill>
                  <a:srgbClr val="C24863"/>
                </a:solidFill>
                <a:latin typeface="Arial" pitchFamily="34" charset="0"/>
                <a:ea typeface="Arial" pitchFamily="34" charset="-122"/>
                <a:cs typeface="Arial" pitchFamily="34" charset="-120"/>
              </a:rPr>
              <a:t>שיפוטית</a:t>
            </a:r>
            <a:endParaRPr lang="he-IL" sz="1500" dirty="0"/>
          </a:p>
        </p:txBody>
      </p:sp>
      <p:sp>
        <p:nvSpPr>
          <p:cNvPr id="19" name="Shape 16"/>
          <p:cNvSpPr/>
          <p:nvPr/>
        </p:nvSpPr>
        <p:spPr>
          <a:xfrm>
            <a:off x="3379394" y="3749040"/>
            <a:ext cx="2602154" cy="2240280"/>
          </a:xfrm>
          <a:prstGeom prst="roundRect">
            <a:avLst>
              <a:gd name="adj" fmla="val 4898"/>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0" name="Shape 17"/>
          <p:cNvSpPr/>
          <p:nvPr/>
        </p:nvSpPr>
        <p:spPr>
          <a:xfrm rot="5400000">
            <a:off x="4205335" y="4023360"/>
            <a:ext cx="950272" cy="822960"/>
          </a:xfrm>
          <a:prstGeom prst="hexagon">
            <a:avLst/>
          </a:prstGeom>
          <a:solidFill>
            <a:srgbClr val="B8741A"/>
          </a:solidFill>
          <a:ln/>
        </p:spPr>
      </p:sp>
      <p:sp>
        <p:nvSpPr>
          <p:cNvPr id="21" name="Text 18"/>
          <p:cNvSpPr txBox="1"/>
          <p:nvPr/>
        </p:nvSpPr>
        <p:spPr>
          <a:xfrm>
            <a:off x="4268991" y="4023360"/>
            <a:ext cx="822960" cy="82296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2" name="Text 19"/>
          <p:cNvSpPr txBox="1"/>
          <p:nvPr/>
        </p:nvSpPr>
        <p:spPr>
          <a:xfrm>
            <a:off x="3379394" y="4983480"/>
            <a:ext cx="2602154" cy="365760"/>
          </a:xfrm>
          <a:prstGeom prst="rect">
            <a:avLst/>
          </a:prstGeom>
          <a:noFill/>
          <a:ln/>
        </p:spPr>
        <p:txBody>
          <a:bodyPr wrap="square" lIns="0" tIns="0" rIns="0" bIns="0" rtlCol="0" anchor="t"/>
          <a:lstStyle/>
          <a:p>
            <a:pPr rtl="1" algn="ctr" indent="0" marL="0">
              <a:buNone/>
            </a:pPr>
            <a:r>
              <a:rPr lang="he-IL" altLang="en-US" sz="1700" b="1" dirty="0">
                <a:solidFill>
                  <a:srgbClr val="2B2560"/>
                </a:solidFill>
                <a:latin typeface="Arial" pitchFamily="34" charset="0"/>
                <a:ea typeface="Arial" pitchFamily="34" charset="-122"/>
                <a:cs typeface="Arial" pitchFamily="34" charset="-120"/>
              </a:rPr>
              <a:t>תגובה 3</a:t>
            </a:r>
            <a:endParaRPr lang="he-IL" sz="1700" dirty="0"/>
          </a:p>
        </p:txBody>
      </p:sp>
      <p:sp>
        <p:nvSpPr>
          <p:cNvPr id="23" name="Text 20"/>
          <p:cNvSpPr txBox="1"/>
          <p:nvPr/>
        </p:nvSpPr>
        <p:spPr>
          <a:xfrm>
            <a:off x="3379394" y="5349240"/>
            <a:ext cx="2602154" cy="365760"/>
          </a:xfrm>
          <a:prstGeom prst="rect">
            <a:avLst/>
          </a:prstGeom>
          <a:noFill/>
          <a:ln/>
        </p:spPr>
        <p:txBody>
          <a:bodyPr wrap="square" lIns="0" tIns="0" rIns="0" bIns="0" rtlCol="0" anchor="t"/>
          <a:lstStyle/>
          <a:p>
            <a:pPr rtl="1" algn="ctr" indent="0" marL="0">
              <a:buNone/>
            </a:pPr>
            <a:r>
              <a:rPr lang="he-IL" altLang="en-US" sz="1500" b="1" dirty="0">
                <a:solidFill>
                  <a:srgbClr val="B8741A"/>
                </a:solidFill>
                <a:latin typeface="Arial" pitchFamily="34" charset="0"/>
                <a:ea typeface="Arial" pitchFamily="34" charset="-122"/>
                <a:cs typeface="Arial" pitchFamily="34" charset="-120"/>
              </a:rPr>
              <a:t>טכנית</a:t>
            </a:r>
            <a:endParaRPr lang="he-IL" sz="1500" dirty="0"/>
          </a:p>
        </p:txBody>
      </p:sp>
      <p:sp>
        <p:nvSpPr>
          <p:cNvPr id="24" name="Shape 21"/>
          <p:cNvSpPr/>
          <p:nvPr/>
        </p:nvSpPr>
        <p:spPr>
          <a:xfrm>
            <a:off x="548640" y="3749040"/>
            <a:ext cx="2602154" cy="2240280"/>
          </a:xfrm>
          <a:prstGeom prst="roundRect">
            <a:avLst>
              <a:gd name="adj" fmla="val 4898"/>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5" name="Shape 22"/>
          <p:cNvSpPr/>
          <p:nvPr/>
        </p:nvSpPr>
        <p:spPr>
          <a:xfrm rot="5400000">
            <a:off x="1374581" y="4023360"/>
            <a:ext cx="950272" cy="822960"/>
          </a:xfrm>
          <a:prstGeom prst="hexagon">
            <a:avLst/>
          </a:prstGeom>
          <a:solidFill>
            <a:srgbClr val="C24863"/>
          </a:solidFill>
          <a:ln/>
        </p:spPr>
      </p:sp>
      <p:sp>
        <p:nvSpPr>
          <p:cNvPr id="26" name="Text 23"/>
          <p:cNvSpPr txBox="1"/>
          <p:nvPr/>
        </p:nvSpPr>
        <p:spPr>
          <a:xfrm>
            <a:off x="1438237" y="4023360"/>
            <a:ext cx="822960" cy="82296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4"/>
          <p:cNvSpPr txBox="1"/>
          <p:nvPr/>
        </p:nvSpPr>
        <p:spPr>
          <a:xfrm>
            <a:off x="548640" y="4983480"/>
            <a:ext cx="2602154" cy="365760"/>
          </a:xfrm>
          <a:prstGeom prst="rect">
            <a:avLst/>
          </a:prstGeom>
          <a:noFill/>
          <a:ln/>
        </p:spPr>
        <p:txBody>
          <a:bodyPr wrap="square" lIns="0" tIns="0" rIns="0" bIns="0" rtlCol="0" anchor="t"/>
          <a:lstStyle/>
          <a:p>
            <a:pPr rtl="1" algn="ctr" indent="0" marL="0">
              <a:buNone/>
            </a:pPr>
            <a:r>
              <a:rPr lang="he-IL" altLang="en-US" sz="1700" b="1" dirty="0">
                <a:solidFill>
                  <a:srgbClr val="2B2560"/>
                </a:solidFill>
                <a:latin typeface="Arial" pitchFamily="34" charset="0"/>
                <a:ea typeface="Arial" pitchFamily="34" charset="-122"/>
                <a:cs typeface="Arial" pitchFamily="34" charset="-120"/>
              </a:rPr>
              <a:t>תגובה 4</a:t>
            </a:r>
            <a:endParaRPr lang="he-IL" sz="1700" dirty="0"/>
          </a:p>
        </p:txBody>
      </p:sp>
      <p:sp>
        <p:nvSpPr>
          <p:cNvPr id="28" name="Text 25"/>
          <p:cNvSpPr txBox="1"/>
          <p:nvPr/>
        </p:nvSpPr>
        <p:spPr>
          <a:xfrm>
            <a:off x="548640" y="5349240"/>
            <a:ext cx="2602154" cy="365760"/>
          </a:xfrm>
          <a:prstGeom prst="rect">
            <a:avLst/>
          </a:prstGeom>
          <a:noFill/>
          <a:ln/>
        </p:spPr>
        <p:txBody>
          <a:bodyPr wrap="square" lIns="0" tIns="0" rIns="0" bIns="0" rtlCol="0" anchor="t"/>
          <a:lstStyle/>
          <a:p>
            <a:pPr rtl="1" algn="ctr" indent="0" marL="0">
              <a:buNone/>
            </a:pPr>
            <a:r>
              <a:rPr lang="he-IL" altLang="en-US" sz="1500" b="1" dirty="0">
                <a:solidFill>
                  <a:srgbClr val="C24863"/>
                </a:solidFill>
                <a:latin typeface="Arial" pitchFamily="34" charset="0"/>
                <a:ea typeface="Arial" pitchFamily="34" charset="-122"/>
                <a:cs typeface="Arial" pitchFamily="34" charset="-120"/>
              </a:rPr>
              <a:t>מבטלת</a:t>
            </a:r>
            <a:endParaRPr lang="he-IL" sz="15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מה תגידי ליעקב כדי לבנות אמון ולגייס אותו לטיפול?</a:t>
            </a:r>
            <a:endParaRPr lang="he-IL" sz="2600" dirty="0"/>
          </a:p>
        </p:txBody>
      </p:sp>
      <p:sp>
        <p:nvSpPr>
          <p:cNvPr id="5" name="Shape 3"/>
          <p:cNvSpPr/>
          <p:nvPr/>
        </p:nvSpPr>
        <p:spPr>
          <a:xfrm>
            <a:off x="6233008" y="1463040"/>
            <a:ext cx="5410048" cy="4663440"/>
          </a:xfrm>
          <a:prstGeom prst="roundRect">
            <a:avLst>
              <a:gd name="adj" fmla="val 2353"/>
            </a:avLst>
          </a:prstGeom>
          <a:solidFill>
            <a:srgbClr val="E5F4F2"/>
          </a:solidFill>
          <a:ln/>
        </p:spPr>
      </p:sp>
      <p:sp>
        <p:nvSpPr>
          <p:cNvPr id="6" name="Shape 4"/>
          <p:cNvSpPr/>
          <p:nvPr/>
        </p:nvSpPr>
        <p:spPr>
          <a:xfrm rot="5400000">
            <a:off x="10869098" y="1600200"/>
            <a:ext cx="633515" cy="548640"/>
          </a:xfrm>
          <a:prstGeom prst="hexagon">
            <a:avLst/>
          </a:prstGeom>
          <a:solidFill>
            <a:srgbClr val="1F8F83"/>
          </a:solidFill>
          <a:ln/>
        </p:spPr>
      </p:sp>
      <p:pic>
        <p:nvPicPr>
          <p:cNvPr id="7" name="Image 0" descr="preencoded.png">    </p:cNvPr>
          <p:cNvPicPr>
            <a:picLocks noChangeAspect="1"/>
          </p:cNvPicPr>
          <p:nvPr/>
        </p:nvPicPr>
        <p:blipFill>
          <a:blip r:embed="rId1"/>
          <a:stretch>
            <a:fillRect/>
          </a:stretch>
        </p:blipFill>
        <p:spPr>
          <a:xfrm>
            <a:off x="11059668" y="1748333"/>
            <a:ext cx="252374" cy="252374"/>
          </a:xfrm>
          <a:prstGeom prst="rect">
            <a:avLst/>
          </a:prstGeom>
        </p:spPr>
      </p:pic>
      <p:sp>
        <p:nvSpPr>
          <p:cNvPr id="8" name="Text 5"/>
          <p:cNvSpPr txBox="1"/>
          <p:nvPr/>
        </p:nvSpPr>
        <p:spPr>
          <a:xfrm>
            <a:off x="6461608" y="1600200"/>
            <a:ext cx="4404208" cy="548640"/>
          </a:xfrm>
          <a:prstGeom prst="rect">
            <a:avLst/>
          </a:prstGeom>
          <a:noFill/>
          <a:ln/>
        </p:spPr>
        <p:txBody>
          <a:bodyPr wrap="square" lIns="0" tIns="0" rIns="0" bIns="0" rtlCol="0" anchor="ctr"/>
          <a:lstStyle/>
          <a:p>
            <a:pPr rtl="1" algn="r" indent="0" marL="0">
              <a:buNone/>
            </a:pPr>
            <a:r>
              <a:rPr lang="he-IL" altLang="en-US" sz="1550" b="1" dirty="0">
                <a:solidFill>
                  <a:srgbClr val="1F8F83"/>
                </a:solidFill>
                <a:latin typeface="Arial" pitchFamily="34" charset="0"/>
                <a:ea typeface="Arial" pitchFamily="34" charset="-122"/>
                <a:cs typeface="Arial" pitchFamily="34" charset="-120"/>
              </a:rPr>
              <a:t>תגובה 1 – תגובה אמפתית, מנרמלת ומגייסת (מומלצת)</a:t>
            </a:r>
            <a:endParaRPr lang="he-IL" sz="1550" dirty="0"/>
          </a:p>
        </p:txBody>
      </p:sp>
      <p:sp>
        <p:nvSpPr>
          <p:cNvPr id="9" name="Shape 6"/>
          <p:cNvSpPr/>
          <p:nvPr/>
        </p:nvSpPr>
        <p:spPr>
          <a:xfrm>
            <a:off x="6461608" y="2212848"/>
            <a:ext cx="4952848" cy="1901952"/>
          </a:xfrm>
          <a:prstGeom prst="roundRect">
            <a:avLst>
              <a:gd name="adj" fmla="val 5769"/>
            </a:avLst>
          </a:prstGeom>
          <a:solidFill>
            <a:srgbClr val="FFFFFF"/>
          </a:solidFill>
          <a:ln/>
        </p:spPr>
      </p:sp>
      <p:sp>
        <p:nvSpPr>
          <p:cNvPr id="10" name="Text 7"/>
          <p:cNvSpPr txBox="1"/>
          <p:nvPr/>
        </p:nvSpPr>
        <p:spPr>
          <a:xfrm>
            <a:off x="6644488" y="2249424"/>
            <a:ext cx="4587088" cy="1828800"/>
          </a:xfrm>
          <a:prstGeom prst="rect">
            <a:avLst/>
          </a:prstGeom>
          <a:noFill/>
          <a:ln/>
        </p:spPr>
        <p:txBody>
          <a:bodyPr wrap="square" lIns="0" tIns="0" rIns="0" bIns="0" rtlCol="0" anchor="ctr"/>
          <a:lstStyle/>
          <a:p>
            <a:pPr rtl="1" algn="r" indent="0" marL="0">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rtl="1" algn="r" indent="0" marL="0">
              <a:spcAft>
                <a:spcPts val="300"/>
              </a:spcAft>
              <a:buNone/>
            </a:pPr>
            <a:r>
              <a:rPr lang="he-IL" altLang="en-US" sz="1300" i="1" dirty="0">
                <a:solidFill>
                  <a:srgbClr val="2B2560"/>
                </a:solidFill>
                <a:latin typeface="Arial" pitchFamily="34" charset="0"/>
                <a:ea typeface="Arial" pitchFamily="34" charset="-122"/>
                <a:cs typeface="Arial" pitchFamily="34" charset="-120"/>
              </a:rPr>
              <a:t>"יעקב, אני מבינה אותך לגמרי. זה הכי טבעי בעולם שתפחד מהפצע ברגל, בטח אחרי מה שקרה לשכן שלך. העומס המטורף בעבודה והשינה המועטה בטוח לא מוסיפים לזה... דע שאתה לא לבד בזה, יש פה צוות שלם שיעזור לך ולצידך לאורך כל הדרך. אנחנו הולכים לשמור על הרגל שלך ביחד, וביחד נתקדם ונאזן את הסוכר צעד אחר צעד, בקצב שמתאים לך."</a:t>
            </a:r>
            <a:endParaRPr lang="he-IL" sz="1300" dirty="0"/>
          </a:p>
        </p:txBody>
      </p:sp>
      <p:sp>
        <p:nvSpPr>
          <p:cNvPr id="11" name="Text 8"/>
          <p:cNvSpPr txBox="1"/>
          <p:nvPr/>
        </p:nvSpPr>
        <p:spPr>
          <a:xfrm>
            <a:off x="6507328" y="4178808"/>
            <a:ext cx="4861408" cy="987552"/>
          </a:xfrm>
          <a:prstGeom prst="rect">
            <a:avLst/>
          </a:prstGeom>
          <a:noFill/>
          <a:ln/>
        </p:spPr>
        <p:txBody>
          <a:bodyPr wrap="square" lIns="0" tIns="0" rIns="0" bIns="0" rtlCol="0" anchor="ctr"/>
          <a:lstStyle/>
          <a:p>
            <a:pPr rtl="1" algn="r" indent="0" marL="0">
              <a:spcAft>
                <a:spcPts val="300"/>
              </a:spcAft>
              <a:buNone/>
            </a:pPr>
            <a:r>
              <a:rPr lang="he-IL" altLang="en-US" sz="1250" b="1" dirty="0">
                <a:solidFill>
                  <a:srgbClr val="1F8F83"/>
                </a:solidFill>
                <a:latin typeface="Arial" pitchFamily="34" charset="0"/>
                <a:ea typeface="Arial" pitchFamily="34" charset="-122"/>
                <a:cs typeface="Arial" pitchFamily="34" charset="-120"/>
              </a:rPr>
              <a:t>תגובת יעקב:</a:t>
            </a:r>
            <a:endParaRPr lang="he-IL" sz="1250" dirty="0"/>
          </a:p>
          <a:p>
            <a:pPr rtl="1" algn="r" indent="0" marL="0">
              <a:spcAft>
                <a:spcPts val="300"/>
              </a:spcAft>
              <a:buNone/>
            </a:pPr>
            <a:r>
              <a:rPr lang="he-IL" altLang="en-US" sz="1250" dirty="0">
                <a:solidFill>
                  <a:srgbClr val="2E2A47"/>
                </a:solidFill>
                <a:latin typeface="Arial" pitchFamily="34" charset="0"/>
                <a:ea typeface="Arial" pitchFamily="34" charset="-122"/>
                <a:cs typeface="Arial" pitchFamily="34" charset="-120"/>
              </a:rPr>
              <a:t>(נושם לרווחה, מביט באחות בעיניים רגועות יותר ומחייך קלות): "תודה רבה, החשש מסיבוכים לפעמים משתק אותי אבל אני שמח שיש כאן צוות שמבין ועוזר ואני מוכן לעשות מה שצריך כדי להתאזן."</a:t>
            </a:r>
            <a:endParaRPr lang="he-IL" sz="1250" dirty="0"/>
          </a:p>
        </p:txBody>
      </p:sp>
      <p:sp>
        <p:nvSpPr>
          <p:cNvPr id="12" name="Shape 9"/>
          <p:cNvSpPr/>
          <p:nvPr/>
        </p:nvSpPr>
        <p:spPr>
          <a:xfrm>
            <a:off x="6507328" y="5212080"/>
            <a:ext cx="4861408" cy="0"/>
          </a:xfrm>
          <a:prstGeom prst="line">
            <a:avLst/>
          </a:prstGeom>
          <a:noFill/>
          <a:ln w="9525">
            <a:solidFill>
              <a:srgbClr val="1F8F83">
                <a:alpha val="50000"/>
              </a:srgbClr>
            </a:solidFill>
            <a:prstDash val="solid"/>
          </a:ln>
        </p:spPr>
      </p:sp>
      <p:sp>
        <p:nvSpPr>
          <p:cNvPr id="13" name="Text 10"/>
          <p:cNvSpPr txBox="1"/>
          <p:nvPr/>
        </p:nvSpPr>
        <p:spPr>
          <a:xfrm>
            <a:off x="6507328" y="5257800"/>
            <a:ext cx="4861408" cy="795528"/>
          </a:xfrm>
          <a:prstGeom prst="rect">
            <a:avLst/>
          </a:prstGeom>
          <a:noFill/>
          <a:ln/>
        </p:spPr>
        <p:txBody>
          <a:bodyPr wrap="square" lIns="0" tIns="0" rIns="0" bIns="0" rtlCol="0" anchor="ctr"/>
          <a:lstStyle/>
          <a:p>
            <a:pPr rtl="1" algn="r" indent="0" marL="0">
              <a:buNone/>
            </a:pPr>
            <a:r>
              <a:rPr lang="he-IL" altLang="en-US" sz="1250" b="1" dirty="0">
                <a:solidFill>
                  <a:srgbClr val="1F8F83"/>
                </a:solidFill>
                <a:latin typeface="Arial" pitchFamily="34" charset="0"/>
                <a:ea typeface="Arial" pitchFamily="34" charset="-122"/>
                <a:cs typeface="Arial" pitchFamily="34" charset="-120"/>
              </a:rPr>
              <a:t>תגובה מומלצת ביותר! מתן לגיטימציה לחרדה והצעת שותפות בגובה העיניים מפיגים את המתח ויוצרים נכונות גבוהה לשיתוף פעולה.</a:t>
            </a:r>
            <a:endParaRPr lang="he-IL" sz="1250" dirty="0"/>
          </a:p>
        </p:txBody>
      </p:sp>
      <p:sp>
        <p:nvSpPr>
          <p:cNvPr id="14" name="Shape 11"/>
          <p:cNvSpPr/>
          <p:nvPr/>
        </p:nvSpPr>
        <p:spPr>
          <a:xfrm>
            <a:off x="548640" y="1463040"/>
            <a:ext cx="5410048" cy="4663440"/>
          </a:xfrm>
          <a:prstGeom prst="roundRect">
            <a:avLst>
              <a:gd name="adj" fmla="val 2353"/>
            </a:avLst>
          </a:prstGeom>
          <a:solidFill>
            <a:srgbClr val="FBECEF"/>
          </a:solidFill>
          <a:ln/>
        </p:spPr>
      </p:sp>
      <p:sp>
        <p:nvSpPr>
          <p:cNvPr id="15" name="Shape 12"/>
          <p:cNvSpPr/>
          <p:nvPr/>
        </p:nvSpPr>
        <p:spPr>
          <a:xfrm rot="5400000">
            <a:off x="5184730" y="1600200"/>
            <a:ext cx="633515" cy="548640"/>
          </a:xfrm>
          <a:prstGeom prst="hexagon">
            <a:avLst/>
          </a:prstGeom>
          <a:solidFill>
            <a:srgbClr val="C24863"/>
          </a:solidFill>
          <a:ln/>
        </p:spPr>
      </p:sp>
      <p:pic>
        <p:nvPicPr>
          <p:cNvPr id="16" name="Image 1" descr="preencoded.png">    </p:cNvPr>
          <p:cNvPicPr>
            <a:picLocks noChangeAspect="1"/>
          </p:cNvPicPr>
          <p:nvPr/>
        </p:nvPicPr>
        <p:blipFill>
          <a:blip r:embed="rId2"/>
          <a:stretch>
            <a:fillRect/>
          </a:stretch>
        </p:blipFill>
        <p:spPr>
          <a:xfrm>
            <a:off x="5375300" y="1748333"/>
            <a:ext cx="252374" cy="252374"/>
          </a:xfrm>
          <a:prstGeom prst="rect">
            <a:avLst/>
          </a:prstGeom>
        </p:spPr>
      </p:pic>
      <p:sp>
        <p:nvSpPr>
          <p:cNvPr id="17" name="Text 13"/>
          <p:cNvSpPr txBox="1"/>
          <p:nvPr/>
        </p:nvSpPr>
        <p:spPr>
          <a:xfrm>
            <a:off x="777240" y="1600200"/>
            <a:ext cx="4404208" cy="548640"/>
          </a:xfrm>
          <a:prstGeom prst="rect">
            <a:avLst/>
          </a:prstGeom>
          <a:noFill/>
          <a:ln/>
        </p:spPr>
        <p:txBody>
          <a:bodyPr wrap="square" lIns="0" tIns="0" rIns="0" bIns="0" rtlCol="0" anchor="ctr"/>
          <a:lstStyle/>
          <a:p>
            <a:pPr rtl="1" algn="r" indent="0" marL="0">
              <a:buNone/>
            </a:pPr>
            <a:r>
              <a:rPr lang="he-IL" altLang="en-US" sz="1550" b="1" dirty="0">
                <a:solidFill>
                  <a:srgbClr val="C24863"/>
                </a:solidFill>
                <a:latin typeface="Arial" pitchFamily="34" charset="0"/>
                <a:ea typeface="Arial" pitchFamily="34" charset="-122"/>
                <a:cs typeface="Arial" pitchFamily="34" charset="-120"/>
              </a:rPr>
              <a:t>תגובה 2 (שיפוטית) - תגובה מאיימת ומעוררת אשמה</a:t>
            </a:r>
            <a:endParaRPr lang="he-IL" sz="1550" dirty="0"/>
          </a:p>
        </p:txBody>
      </p:sp>
      <p:sp>
        <p:nvSpPr>
          <p:cNvPr id="18" name="Shape 14"/>
          <p:cNvSpPr/>
          <p:nvPr/>
        </p:nvSpPr>
        <p:spPr>
          <a:xfrm>
            <a:off x="777240" y="2212848"/>
            <a:ext cx="4952848" cy="1901952"/>
          </a:xfrm>
          <a:prstGeom prst="roundRect">
            <a:avLst>
              <a:gd name="adj" fmla="val 5769"/>
            </a:avLst>
          </a:prstGeom>
          <a:solidFill>
            <a:srgbClr val="FFFFFF"/>
          </a:solidFill>
          <a:ln/>
        </p:spPr>
      </p:sp>
      <p:sp>
        <p:nvSpPr>
          <p:cNvPr id="19" name="Text 15"/>
          <p:cNvSpPr txBox="1"/>
          <p:nvPr/>
        </p:nvSpPr>
        <p:spPr>
          <a:xfrm>
            <a:off x="960120" y="2249424"/>
            <a:ext cx="4587088" cy="1828800"/>
          </a:xfrm>
          <a:prstGeom prst="rect">
            <a:avLst/>
          </a:prstGeom>
          <a:noFill/>
          <a:ln/>
        </p:spPr>
        <p:txBody>
          <a:bodyPr wrap="square" lIns="0" tIns="0" rIns="0" bIns="0" rtlCol="0" anchor="ctr"/>
          <a:lstStyle/>
          <a:p>
            <a:pPr rtl="1" algn="r" indent="0" marL="0">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rtl="1" algn="r" indent="0" marL="0">
              <a:spcAft>
                <a:spcPts val="300"/>
              </a:spcAft>
              <a:buNone/>
            </a:pPr>
            <a:r>
              <a:rPr lang="he-IL" altLang="en-US" sz="1300" i="1" dirty="0">
                <a:solidFill>
                  <a:srgbClr val="2B2560"/>
                </a:solidFill>
                <a:latin typeface="Arial" pitchFamily="34" charset="0"/>
                <a:ea typeface="Arial" pitchFamily="34" charset="-122"/>
                <a:cs typeface="Arial" pitchFamily="34" charset="-120"/>
              </a:rPr>
              <a:t>"יעקב, אתה חייב להבין שעם HbA1C של 13.4% והתנהלות כזו של נשנושים וחוסר שינה, אתה מסכן את עצמך. אם לא תתחיל לקחת את עצמך בידיים, לעשות דיאטה מסודרת ולהתעמל, הפצע ברגל רק ילך ויידרדר ותגיע למצבים קשים כמו השכן."</a:t>
            </a:r>
            <a:endParaRPr lang="he-IL" sz="1300" dirty="0"/>
          </a:p>
        </p:txBody>
      </p:sp>
      <p:sp>
        <p:nvSpPr>
          <p:cNvPr id="20" name="Text 16"/>
          <p:cNvSpPr txBox="1"/>
          <p:nvPr/>
        </p:nvSpPr>
        <p:spPr>
          <a:xfrm>
            <a:off x="822960" y="4178808"/>
            <a:ext cx="4861408" cy="987552"/>
          </a:xfrm>
          <a:prstGeom prst="rect">
            <a:avLst/>
          </a:prstGeom>
          <a:noFill/>
          <a:ln/>
        </p:spPr>
        <p:txBody>
          <a:bodyPr wrap="square" lIns="0" tIns="0" rIns="0" bIns="0" rtlCol="0" anchor="ctr"/>
          <a:lstStyle/>
          <a:p>
            <a:pPr rtl="1" algn="r" indent="0" marL="0">
              <a:spcAft>
                <a:spcPts val="300"/>
              </a:spcAft>
              <a:buNone/>
            </a:pPr>
            <a:r>
              <a:rPr lang="he-IL" altLang="en-US" sz="1250" b="1" dirty="0">
                <a:solidFill>
                  <a:srgbClr val="C24863"/>
                </a:solidFill>
                <a:latin typeface="Arial" pitchFamily="34" charset="0"/>
                <a:ea typeface="Arial" pitchFamily="34" charset="-122"/>
                <a:cs typeface="Arial" pitchFamily="34" charset="-120"/>
              </a:rPr>
              <a:t>תגובת יעקב:</a:t>
            </a:r>
            <a:endParaRPr lang="he-IL" sz="1250" dirty="0"/>
          </a:p>
          <a:p>
            <a:pPr rtl="1" algn="r" indent="0" marL="0">
              <a:spcAft>
                <a:spcPts val="300"/>
              </a:spcAft>
              <a:buNone/>
            </a:pPr>
            <a:r>
              <a:rPr lang="he-IL" altLang="en-US" sz="1250" dirty="0">
                <a:solidFill>
                  <a:srgbClr val="2E2A47"/>
                </a:solidFill>
                <a:latin typeface="Arial" pitchFamily="34" charset="0"/>
                <a:ea typeface="Arial" pitchFamily="34" charset="-122"/>
                <a:cs typeface="Arial" pitchFamily="34" charset="-120"/>
              </a:rPr>
              <a:t>מתכווץ בכיסא בחוסר אונים: "אני יודע שאני לא בסדר... הדיבורים האלה רק עושים לי יותר חרדה..."</a:t>
            </a:r>
            <a:endParaRPr lang="he-IL" sz="1250" dirty="0"/>
          </a:p>
        </p:txBody>
      </p:sp>
      <p:sp>
        <p:nvSpPr>
          <p:cNvPr id="21" name="Shape 17"/>
          <p:cNvSpPr/>
          <p:nvPr/>
        </p:nvSpPr>
        <p:spPr>
          <a:xfrm>
            <a:off x="822960" y="5212080"/>
            <a:ext cx="4861408" cy="0"/>
          </a:xfrm>
          <a:prstGeom prst="line">
            <a:avLst/>
          </a:prstGeom>
          <a:noFill/>
          <a:ln w="9525">
            <a:solidFill>
              <a:srgbClr val="C24863">
                <a:alpha val="50000"/>
              </a:srgbClr>
            </a:solidFill>
            <a:prstDash val="solid"/>
          </a:ln>
        </p:spPr>
      </p:sp>
      <p:sp>
        <p:nvSpPr>
          <p:cNvPr id="22" name="Text 18"/>
          <p:cNvSpPr txBox="1"/>
          <p:nvPr/>
        </p:nvSpPr>
        <p:spPr>
          <a:xfrm>
            <a:off x="822960" y="5257800"/>
            <a:ext cx="4861408" cy="795528"/>
          </a:xfrm>
          <a:prstGeom prst="rect">
            <a:avLst/>
          </a:prstGeom>
          <a:noFill/>
          <a:ln/>
        </p:spPr>
        <p:txBody>
          <a:bodyPr wrap="square" lIns="0" tIns="0" rIns="0" bIns="0" rtlCol="0" anchor="ctr"/>
          <a:lstStyle/>
          <a:p>
            <a:pPr rtl="1" algn="r" indent="0" marL="0">
              <a:buNone/>
            </a:pPr>
            <a:r>
              <a:rPr lang="he-IL" altLang="en-US" sz="1250" b="1" dirty="0">
                <a:solidFill>
                  <a:srgbClr val="C24863"/>
                </a:solidFill>
                <a:latin typeface="Arial" pitchFamily="34" charset="0"/>
                <a:ea typeface="Arial" pitchFamily="34" charset="-122"/>
                <a:cs typeface="Arial" pitchFamily="34" charset="-120"/>
              </a:rPr>
              <a:t>הטחת אשמה מגבירה חרדה וגורמת להסתגרות והימנעות מטיפול.</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מה תגידי ליעקב כדי לבנות אמון ולגייס אותו לטיפול? (המשך)</a:t>
            </a:r>
            <a:endParaRPr lang="he-IL" sz="2300" dirty="0"/>
          </a:p>
        </p:txBody>
      </p:sp>
      <p:sp>
        <p:nvSpPr>
          <p:cNvPr id="5" name="Shape 3"/>
          <p:cNvSpPr/>
          <p:nvPr/>
        </p:nvSpPr>
        <p:spPr>
          <a:xfrm>
            <a:off x="6233008" y="1463040"/>
            <a:ext cx="5410048" cy="4663440"/>
          </a:xfrm>
          <a:prstGeom prst="roundRect">
            <a:avLst>
              <a:gd name="adj" fmla="val 2353"/>
            </a:avLst>
          </a:prstGeom>
          <a:solidFill>
            <a:srgbClr val="FCF3E3"/>
          </a:solidFill>
          <a:ln/>
        </p:spPr>
      </p:sp>
      <p:sp>
        <p:nvSpPr>
          <p:cNvPr id="6" name="Shape 4"/>
          <p:cNvSpPr/>
          <p:nvPr/>
        </p:nvSpPr>
        <p:spPr>
          <a:xfrm rot="5400000">
            <a:off x="10869098" y="1600200"/>
            <a:ext cx="633515" cy="548640"/>
          </a:xfrm>
          <a:prstGeom prst="hexagon">
            <a:avLst/>
          </a:prstGeom>
          <a:solidFill>
            <a:srgbClr val="B8741A"/>
          </a:solidFill>
          <a:ln/>
        </p:spPr>
      </p:sp>
      <p:pic>
        <p:nvPicPr>
          <p:cNvPr id="7" name="Image 0" descr="preencoded.png">    </p:cNvPr>
          <p:cNvPicPr>
            <a:picLocks noChangeAspect="1"/>
          </p:cNvPicPr>
          <p:nvPr/>
        </p:nvPicPr>
        <p:blipFill>
          <a:blip r:embed="rId1"/>
          <a:stretch>
            <a:fillRect/>
          </a:stretch>
        </p:blipFill>
        <p:spPr>
          <a:xfrm>
            <a:off x="11059668" y="1748333"/>
            <a:ext cx="252374" cy="252374"/>
          </a:xfrm>
          <a:prstGeom prst="rect">
            <a:avLst/>
          </a:prstGeom>
        </p:spPr>
      </p:pic>
      <p:sp>
        <p:nvSpPr>
          <p:cNvPr id="8" name="Text 5"/>
          <p:cNvSpPr txBox="1"/>
          <p:nvPr/>
        </p:nvSpPr>
        <p:spPr>
          <a:xfrm>
            <a:off x="6461608" y="1600200"/>
            <a:ext cx="4404208" cy="548640"/>
          </a:xfrm>
          <a:prstGeom prst="rect">
            <a:avLst/>
          </a:prstGeom>
          <a:noFill/>
          <a:ln/>
        </p:spPr>
        <p:txBody>
          <a:bodyPr wrap="square" lIns="0" tIns="0" rIns="0" bIns="0" rtlCol="0" anchor="ctr"/>
          <a:lstStyle/>
          <a:p>
            <a:pPr rtl="1" algn="r" indent="0" marL="0">
              <a:buNone/>
            </a:pPr>
            <a:r>
              <a:rPr lang="he-IL" altLang="en-US" sz="1550" b="1" dirty="0">
                <a:solidFill>
                  <a:srgbClr val="B8741A"/>
                </a:solidFill>
                <a:latin typeface="Arial" pitchFamily="34" charset="0"/>
                <a:ea typeface="Arial" pitchFamily="34" charset="-122"/>
                <a:cs typeface="Arial" pitchFamily="34" charset="-120"/>
              </a:rPr>
              <a:t>תגובה 3 (טכנית) - תגובה פרוטוקולית ללא אמפתיה</a:t>
            </a:r>
            <a:endParaRPr lang="he-IL" sz="1550" dirty="0"/>
          </a:p>
        </p:txBody>
      </p:sp>
      <p:sp>
        <p:nvSpPr>
          <p:cNvPr id="9" name="Shape 6"/>
          <p:cNvSpPr/>
          <p:nvPr/>
        </p:nvSpPr>
        <p:spPr>
          <a:xfrm>
            <a:off x="6461608" y="2212848"/>
            <a:ext cx="4952848" cy="1901952"/>
          </a:xfrm>
          <a:prstGeom prst="roundRect">
            <a:avLst>
              <a:gd name="adj" fmla="val 5769"/>
            </a:avLst>
          </a:prstGeom>
          <a:solidFill>
            <a:srgbClr val="FFFFFF"/>
          </a:solidFill>
          <a:ln/>
        </p:spPr>
      </p:sp>
      <p:sp>
        <p:nvSpPr>
          <p:cNvPr id="10" name="Text 7"/>
          <p:cNvSpPr txBox="1"/>
          <p:nvPr/>
        </p:nvSpPr>
        <p:spPr>
          <a:xfrm>
            <a:off x="6644488" y="2249424"/>
            <a:ext cx="4587088" cy="1828800"/>
          </a:xfrm>
          <a:prstGeom prst="rect">
            <a:avLst/>
          </a:prstGeom>
          <a:noFill/>
          <a:ln/>
        </p:spPr>
        <p:txBody>
          <a:bodyPr wrap="square" lIns="0" tIns="0" rIns="0" bIns="0" rtlCol="0" anchor="ctr"/>
          <a:lstStyle/>
          <a:p>
            <a:pPr rtl="1" algn="r" indent="0" marL="0">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rtl="1" algn="r" indent="0" marL="0">
              <a:spcAft>
                <a:spcPts val="300"/>
              </a:spcAft>
              <a:buNone/>
            </a:pPr>
            <a:r>
              <a:rPr lang="he-IL" altLang="en-US" sz="1300" i="1" dirty="0">
                <a:solidFill>
                  <a:srgbClr val="2B2560"/>
                </a:solidFill>
                <a:latin typeface="Arial" pitchFamily="34" charset="0"/>
                <a:ea typeface="Arial" pitchFamily="34" charset="-122"/>
                <a:cs typeface="Arial" pitchFamily="34" charset="-120"/>
              </a:rPr>
              <a:t>"טוב יעקב, אין מה להיכנס ללחץ ממה שקרה לשכן. לגבי הפצע ברגל - אנחנו נחליף לך חבישה במרפאת פצע, נתאים לך טיפול תרופתי חדש ונשלח אותך לעשות בדיקות מעבדה מעודכנות."</a:t>
            </a:r>
            <a:endParaRPr lang="he-IL" sz="1300" dirty="0"/>
          </a:p>
        </p:txBody>
      </p:sp>
      <p:sp>
        <p:nvSpPr>
          <p:cNvPr id="11" name="Text 8"/>
          <p:cNvSpPr txBox="1"/>
          <p:nvPr/>
        </p:nvSpPr>
        <p:spPr>
          <a:xfrm>
            <a:off x="6507328" y="4178808"/>
            <a:ext cx="4861408" cy="987552"/>
          </a:xfrm>
          <a:prstGeom prst="rect">
            <a:avLst/>
          </a:prstGeom>
          <a:noFill/>
          <a:ln/>
        </p:spPr>
        <p:txBody>
          <a:bodyPr wrap="square" lIns="0" tIns="0" rIns="0" bIns="0" rtlCol="0" anchor="ctr"/>
          <a:lstStyle/>
          <a:p>
            <a:pPr rtl="1" algn="r" indent="0" marL="0">
              <a:spcAft>
                <a:spcPts val="300"/>
              </a:spcAft>
              <a:buNone/>
            </a:pPr>
            <a:r>
              <a:rPr lang="he-IL" altLang="en-US" sz="1250" b="1" dirty="0">
                <a:solidFill>
                  <a:srgbClr val="B8741A"/>
                </a:solidFill>
                <a:latin typeface="Arial" pitchFamily="34" charset="0"/>
                <a:ea typeface="Arial" pitchFamily="34" charset="-122"/>
                <a:cs typeface="Arial" pitchFamily="34" charset="-120"/>
              </a:rPr>
              <a:t>תגובת יעקב:</a:t>
            </a:r>
            <a:endParaRPr lang="he-IL" sz="1250" dirty="0"/>
          </a:p>
          <a:p>
            <a:pPr rtl="1" algn="r" indent="0" marL="0">
              <a:spcAft>
                <a:spcPts val="300"/>
              </a:spcAft>
              <a:buNone/>
            </a:pPr>
            <a:r>
              <a:rPr lang="he-IL" altLang="en-US" sz="1250" dirty="0">
                <a:solidFill>
                  <a:srgbClr val="2E2A47"/>
                </a:solidFill>
                <a:latin typeface="Arial" pitchFamily="34" charset="0"/>
                <a:ea typeface="Arial" pitchFamily="34" charset="-122"/>
                <a:cs typeface="Arial" pitchFamily="34" charset="-120"/>
              </a:rPr>
              <a:t>מהנהן בקרירות: "בסדר, מה שתגידי... רק מקווה שלא יהיו תופעות לוואי."</a:t>
            </a:r>
            <a:endParaRPr lang="he-IL" sz="1250" dirty="0"/>
          </a:p>
        </p:txBody>
      </p:sp>
      <p:sp>
        <p:nvSpPr>
          <p:cNvPr id="12" name="Shape 9"/>
          <p:cNvSpPr/>
          <p:nvPr/>
        </p:nvSpPr>
        <p:spPr>
          <a:xfrm>
            <a:off x="6507328" y="5212080"/>
            <a:ext cx="4861408" cy="0"/>
          </a:xfrm>
          <a:prstGeom prst="line">
            <a:avLst/>
          </a:prstGeom>
          <a:noFill/>
          <a:ln w="9525">
            <a:solidFill>
              <a:srgbClr val="B8741A">
                <a:alpha val="50000"/>
              </a:srgbClr>
            </a:solidFill>
            <a:prstDash val="solid"/>
          </a:ln>
        </p:spPr>
      </p:sp>
      <p:sp>
        <p:nvSpPr>
          <p:cNvPr id="13" name="Text 10"/>
          <p:cNvSpPr txBox="1"/>
          <p:nvPr/>
        </p:nvSpPr>
        <p:spPr>
          <a:xfrm>
            <a:off x="6507328" y="5257800"/>
            <a:ext cx="4861408" cy="795528"/>
          </a:xfrm>
          <a:prstGeom prst="rect">
            <a:avLst/>
          </a:prstGeom>
          <a:noFill/>
          <a:ln/>
        </p:spPr>
        <p:txBody>
          <a:bodyPr wrap="square" lIns="0" tIns="0" rIns="0" bIns="0" rtlCol="0" anchor="ctr"/>
          <a:lstStyle/>
          <a:p>
            <a:pPr rtl="1" algn="r" indent="0" marL="0">
              <a:buNone/>
            </a:pPr>
            <a:r>
              <a:rPr lang="he-IL" altLang="en-US" sz="1250" b="1" dirty="0">
                <a:solidFill>
                  <a:srgbClr val="B8741A"/>
                </a:solidFill>
                <a:latin typeface="Arial" pitchFamily="34" charset="0"/>
                <a:ea typeface="Arial" pitchFamily="34" charset="-122"/>
                <a:cs typeface="Arial" pitchFamily="34" charset="-120"/>
              </a:rPr>
              <a:t>התעלמות מהמצוקה הרגשית מונעת בניית אמון טיפולי עמוק.</a:t>
            </a:r>
            <a:endParaRPr lang="he-IL" sz="1250" dirty="0"/>
          </a:p>
        </p:txBody>
      </p:sp>
      <p:sp>
        <p:nvSpPr>
          <p:cNvPr id="14" name="Shape 11"/>
          <p:cNvSpPr/>
          <p:nvPr/>
        </p:nvSpPr>
        <p:spPr>
          <a:xfrm>
            <a:off x="548640" y="1463040"/>
            <a:ext cx="5410048" cy="4663440"/>
          </a:xfrm>
          <a:prstGeom prst="roundRect">
            <a:avLst>
              <a:gd name="adj" fmla="val 2353"/>
            </a:avLst>
          </a:prstGeom>
          <a:solidFill>
            <a:srgbClr val="FBECEF"/>
          </a:solidFill>
          <a:ln/>
        </p:spPr>
      </p:sp>
      <p:sp>
        <p:nvSpPr>
          <p:cNvPr id="15" name="Shape 12"/>
          <p:cNvSpPr/>
          <p:nvPr/>
        </p:nvSpPr>
        <p:spPr>
          <a:xfrm rot="5400000">
            <a:off x="5184730" y="1600200"/>
            <a:ext cx="633515" cy="548640"/>
          </a:xfrm>
          <a:prstGeom prst="hexagon">
            <a:avLst/>
          </a:prstGeom>
          <a:solidFill>
            <a:srgbClr val="C24863"/>
          </a:solidFill>
          <a:ln/>
        </p:spPr>
      </p:sp>
      <p:pic>
        <p:nvPicPr>
          <p:cNvPr id="16" name="Image 1" descr="preencoded.png">    </p:cNvPr>
          <p:cNvPicPr>
            <a:picLocks noChangeAspect="1"/>
          </p:cNvPicPr>
          <p:nvPr/>
        </p:nvPicPr>
        <p:blipFill>
          <a:blip r:embed="rId2"/>
          <a:stretch>
            <a:fillRect/>
          </a:stretch>
        </p:blipFill>
        <p:spPr>
          <a:xfrm>
            <a:off x="5375300" y="1748333"/>
            <a:ext cx="252374" cy="252374"/>
          </a:xfrm>
          <a:prstGeom prst="rect">
            <a:avLst/>
          </a:prstGeom>
        </p:spPr>
      </p:pic>
      <p:sp>
        <p:nvSpPr>
          <p:cNvPr id="17" name="Text 13"/>
          <p:cNvSpPr txBox="1"/>
          <p:nvPr/>
        </p:nvSpPr>
        <p:spPr>
          <a:xfrm>
            <a:off x="777240" y="1600200"/>
            <a:ext cx="4404208" cy="548640"/>
          </a:xfrm>
          <a:prstGeom prst="rect">
            <a:avLst/>
          </a:prstGeom>
          <a:noFill/>
          <a:ln/>
        </p:spPr>
        <p:txBody>
          <a:bodyPr wrap="square" lIns="0" tIns="0" rIns="0" bIns="0" rtlCol="0" anchor="ctr"/>
          <a:lstStyle/>
          <a:p>
            <a:pPr rtl="1" algn="r" indent="0" marL="0">
              <a:buNone/>
            </a:pPr>
            <a:r>
              <a:rPr lang="he-IL" altLang="en-US" sz="1550" b="1" dirty="0">
                <a:solidFill>
                  <a:srgbClr val="C24863"/>
                </a:solidFill>
                <a:latin typeface="Arial" pitchFamily="34" charset="0"/>
                <a:ea typeface="Arial" pitchFamily="34" charset="-122"/>
                <a:cs typeface="Arial" pitchFamily="34" charset="-120"/>
              </a:rPr>
              <a:t>תגובה 4 (מבטלת) - ביטול חששות שטחי ("אל תדאג")</a:t>
            </a:r>
            <a:endParaRPr lang="he-IL" sz="1550" dirty="0"/>
          </a:p>
        </p:txBody>
      </p:sp>
      <p:sp>
        <p:nvSpPr>
          <p:cNvPr id="18" name="Shape 14"/>
          <p:cNvSpPr/>
          <p:nvPr/>
        </p:nvSpPr>
        <p:spPr>
          <a:xfrm>
            <a:off x="777240" y="2212848"/>
            <a:ext cx="4952848" cy="1901952"/>
          </a:xfrm>
          <a:prstGeom prst="roundRect">
            <a:avLst>
              <a:gd name="adj" fmla="val 5769"/>
            </a:avLst>
          </a:prstGeom>
          <a:solidFill>
            <a:srgbClr val="FFFFFF"/>
          </a:solidFill>
          <a:ln/>
        </p:spPr>
      </p:sp>
      <p:sp>
        <p:nvSpPr>
          <p:cNvPr id="19" name="Text 15"/>
          <p:cNvSpPr txBox="1"/>
          <p:nvPr/>
        </p:nvSpPr>
        <p:spPr>
          <a:xfrm>
            <a:off x="960120" y="2249424"/>
            <a:ext cx="4587088" cy="1828800"/>
          </a:xfrm>
          <a:prstGeom prst="rect">
            <a:avLst/>
          </a:prstGeom>
          <a:noFill/>
          <a:ln/>
        </p:spPr>
        <p:txBody>
          <a:bodyPr wrap="square" lIns="0" tIns="0" rIns="0" bIns="0" rtlCol="0" anchor="ctr"/>
          <a:lstStyle/>
          <a:p>
            <a:pPr rtl="1" algn="r" indent="0" marL="0">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rtl="1" algn="r" indent="0" marL="0">
              <a:spcAft>
                <a:spcPts val="300"/>
              </a:spcAft>
              <a:buNone/>
            </a:pPr>
            <a:r>
              <a:rPr lang="he-IL" altLang="en-US" sz="1300" i="1" dirty="0">
                <a:solidFill>
                  <a:srgbClr val="2B2560"/>
                </a:solidFill>
                <a:latin typeface="Arial" pitchFamily="34" charset="0"/>
                <a:ea typeface="Arial" pitchFamily="34" charset="-122"/>
                <a:cs typeface="Arial" pitchFamily="34" charset="-120"/>
              </a:rPr>
              <a:t>"אל תחשוב על דברים רעים כמו כריתות, תהיה אופטימי! יהיה בסדר, רק תדאג לקחת את התרופות בזמן והכל יסתדר."</a:t>
            </a:r>
            <a:endParaRPr lang="he-IL" sz="1300" dirty="0"/>
          </a:p>
        </p:txBody>
      </p:sp>
      <p:sp>
        <p:nvSpPr>
          <p:cNvPr id="20" name="Text 16"/>
          <p:cNvSpPr txBox="1"/>
          <p:nvPr/>
        </p:nvSpPr>
        <p:spPr>
          <a:xfrm>
            <a:off x="822960" y="4178808"/>
            <a:ext cx="4861408" cy="987552"/>
          </a:xfrm>
          <a:prstGeom prst="rect">
            <a:avLst/>
          </a:prstGeom>
          <a:noFill/>
          <a:ln/>
        </p:spPr>
        <p:txBody>
          <a:bodyPr wrap="square" lIns="0" tIns="0" rIns="0" bIns="0" rtlCol="0" anchor="ctr"/>
          <a:lstStyle/>
          <a:p>
            <a:pPr rtl="1" algn="r" indent="0" marL="0">
              <a:spcAft>
                <a:spcPts val="300"/>
              </a:spcAft>
              <a:buNone/>
            </a:pPr>
            <a:r>
              <a:rPr lang="he-IL" altLang="en-US" sz="1250" b="1" dirty="0">
                <a:solidFill>
                  <a:srgbClr val="C24863"/>
                </a:solidFill>
                <a:latin typeface="Arial" pitchFamily="34" charset="0"/>
                <a:ea typeface="Arial" pitchFamily="34" charset="-122"/>
                <a:cs typeface="Arial" pitchFamily="34" charset="-120"/>
              </a:rPr>
              <a:t>תגובת יעקב:</a:t>
            </a:r>
            <a:endParaRPr lang="he-IL" sz="1250" dirty="0"/>
          </a:p>
          <a:p>
            <a:pPr rtl="1" algn="r" indent="0" marL="0">
              <a:spcAft>
                <a:spcPts val="300"/>
              </a:spcAft>
              <a:buNone/>
            </a:pPr>
            <a:r>
              <a:rPr lang="he-IL" altLang="en-US" sz="1250" dirty="0">
                <a:solidFill>
                  <a:srgbClr val="2E2A47"/>
                </a:solidFill>
                <a:latin typeface="Arial" pitchFamily="34" charset="0"/>
                <a:ea typeface="Arial" pitchFamily="34" charset="-122"/>
                <a:cs typeface="Arial" pitchFamily="34" charset="-120"/>
              </a:rPr>
              <a:t>מניע ראשו באי-נוחות: "קל לומר תהיה אופטימי, אבל הפצע עדיין מפחיד אותי..."</a:t>
            </a:r>
            <a:endParaRPr lang="he-IL" sz="1250" dirty="0"/>
          </a:p>
        </p:txBody>
      </p:sp>
      <p:sp>
        <p:nvSpPr>
          <p:cNvPr id="21" name="Shape 17"/>
          <p:cNvSpPr/>
          <p:nvPr/>
        </p:nvSpPr>
        <p:spPr>
          <a:xfrm>
            <a:off x="822960" y="5212080"/>
            <a:ext cx="4861408" cy="0"/>
          </a:xfrm>
          <a:prstGeom prst="line">
            <a:avLst/>
          </a:prstGeom>
          <a:noFill/>
          <a:ln w="9525">
            <a:solidFill>
              <a:srgbClr val="C24863">
                <a:alpha val="50000"/>
              </a:srgbClr>
            </a:solidFill>
            <a:prstDash val="solid"/>
          </a:ln>
        </p:spPr>
      </p:sp>
      <p:sp>
        <p:nvSpPr>
          <p:cNvPr id="22" name="Text 18"/>
          <p:cNvSpPr txBox="1"/>
          <p:nvPr/>
        </p:nvSpPr>
        <p:spPr>
          <a:xfrm>
            <a:off x="822960" y="5257800"/>
            <a:ext cx="4861408" cy="795528"/>
          </a:xfrm>
          <a:prstGeom prst="rect">
            <a:avLst/>
          </a:prstGeom>
          <a:noFill/>
          <a:ln/>
        </p:spPr>
        <p:txBody>
          <a:bodyPr wrap="square" lIns="0" tIns="0" rIns="0" bIns="0" rtlCol="0" anchor="ctr"/>
          <a:lstStyle/>
          <a:p>
            <a:pPr rtl="1" algn="r" indent="0" marL="0">
              <a:buNone/>
            </a:pPr>
            <a:r>
              <a:rPr lang="he-IL" altLang="en-US" sz="1250" b="1" dirty="0">
                <a:solidFill>
                  <a:srgbClr val="C24863"/>
                </a:solidFill>
                <a:latin typeface="Arial" pitchFamily="34" charset="0"/>
                <a:ea typeface="Arial" pitchFamily="34" charset="-122"/>
                <a:cs typeface="Arial" pitchFamily="34" charset="-120"/>
              </a:rPr>
              <a:t>עידוד שטחי מבטל את הרגש של המטופל וגורם לתחושה שלא מקשיבים לו.</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sp>
      <p:sp>
        <p:nvSpPr>
          <p:cNvPr id="3" name="Shape 1"/>
          <p:cNvSpPr/>
          <p:nvPr/>
        </p:nvSpPr>
        <p:spPr>
          <a:xfrm rot="5400000">
            <a:off x="1300364" y="2377440"/>
            <a:ext cx="2428473" cy="2103120"/>
          </a:xfrm>
          <a:prstGeom prst="hexagon">
            <a:avLst/>
          </a:prstGeom>
          <a:ln w="25400">
            <a:solidFill>
              <a:srgbClr val="9CC4EE"/>
            </a:solidFill>
            <a:prstDash val="solid"/>
          </a:ln>
        </p:spPr>
      </p:sp>
      <p:sp>
        <p:nvSpPr>
          <p:cNvPr id="4" name="Text 2"/>
          <p:cNvSpPr txBox="1"/>
          <p:nvPr/>
        </p:nvSpPr>
        <p:spPr>
          <a:xfrm>
            <a:off x="1463040" y="2743200"/>
            <a:ext cx="2103120" cy="1371600"/>
          </a:xfrm>
          <a:prstGeom prst="rect">
            <a:avLst/>
          </a:prstGeom>
          <a:noFill/>
          <a:ln/>
        </p:spPr>
        <p:txBody>
          <a:bodyPr wrap="square" lIns="0" tIns="0" rIns="0" bIns="0" rtlCol="0" anchor="ctr"/>
          <a:lstStyle/>
          <a:p>
            <a:pPr algn="ctr" indent="0" marL="0">
              <a:buNone/>
            </a:pPr>
            <a:r>
              <a:rPr lang="en-US" altLang="en-US" sz="6000" b="1" dirty="0">
                <a:solidFill>
                  <a:srgbClr val="FFFFFF"/>
                </a:solidFill>
                <a:latin typeface="Arial" pitchFamily="34" charset="0"/>
                <a:ea typeface="Arial" pitchFamily="34" charset="-122"/>
                <a:cs typeface="Arial" pitchFamily="34" charset="-120"/>
              </a:rPr>
              <a:t>02</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rtl="1" algn="r" indent="0" marL="0">
              <a:buNone/>
            </a:pPr>
            <a:r>
              <a:rPr lang="he-IL" altLang="en-US" sz="2000" b="1" dirty="0">
                <a:solidFill>
                  <a:srgbClr val="9CC4EE"/>
                </a:solidFill>
                <a:latin typeface="Arial" pitchFamily="34" charset="0"/>
                <a:ea typeface="Arial" pitchFamily="34" charset="-122"/>
                <a:cs typeface="Arial" pitchFamily="34" charset="-120"/>
              </a:rPr>
              <a:t>שלב 2</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rtl="1" algn="r" indent="0" marL="0">
              <a:buNone/>
            </a:pPr>
            <a:r>
              <a:rPr lang="he-IL" altLang="en-US" sz="4000" b="1" dirty="0">
                <a:solidFill>
                  <a:srgbClr val="FFFFFF"/>
                </a:solidFill>
                <a:latin typeface="Arial" pitchFamily="34" charset="0"/>
                <a:ea typeface="Arial" pitchFamily="34" charset="-122"/>
                <a:cs typeface="Arial" pitchFamily="34" charset="-120"/>
              </a:rPr>
              <a:t>ביקור ראשון (חלק ב')</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rtl="1" algn="r" indent="0" marL="0">
              <a:buNone/>
            </a:pPr>
            <a:r>
              <a:rPr lang="he-IL" altLang="en-US" sz="1800" dirty="0">
                <a:solidFill>
                  <a:srgbClr val="D6D0F0"/>
                </a:solidFill>
                <a:latin typeface="Arial" pitchFamily="34" charset="0"/>
                <a:ea typeface="Arial" pitchFamily="34" charset="-122"/>
                <a:cs typeface="Arial" pitchFamily="34" charset="-120"/>
              </a:rPr>
              <a:t>החלטה על אינסולין קצר טווח, פריקת Libre, בדיקת הזרקות, דילמה וחשיבה קלינית, יתרונות קליניים ומחקרים נלווים (STEP, SELECT, שב"ן)</a:t>
            </a:r>
            <a:endParaRPr lang="he-IL" sz="1800" dirty="0"/>
          </a:p>
        </p:txBody>
      </p:sp>
      <p:pic>
        <p:nvPicPr>
          <p:cNvPr id="8" name="Image 0" descr="/tmp/claude-0/-home-claude/83ba285b-7ef1-5a4f-9afe-ea04c4b9d63d/scratchpad/assets/logo_white.png">    </p:cNvPr>
          <p:cNvPicPr>
            <a:picLocks noChangeAspect="1"/>
          </p:cNvPicPr>
          <p:nvPr/>
        </p:nvPicPr>
        <p:blipFill>
          <a:blip r:embed="rId1"/>
          <a:stretch>
            <a:fillRect/>
          </a:stretch>
        </p:blipFill>
        <p:spPr>
          <a:xfrm>
            <a:off x="10744200" y="5897880"/>
            <a:ext cx="896112" cy="7370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שלב 2: החלטה על התחלת טיפול באינסולין קצר טווח (נובורפיד)</a:t>
            </a:r>
            <a:endParaRPr lang="he-IL" sz="2300" dirty="0"/>
          </a:p>
        </p:txBody>
      </p:sp>
      <p:sp>
        <p:nvSpPr>
          <p:cNvPr id="5" name="Shape 3"/>
          <p:cNvSpPr/>
          <p:nvPr/>
        </p:nvSpPr>
        <p:spPr>
          <a:xfrm>
            <a:off x="548640" y="1481328"/>
            <a:ext cx="11094415" cy="1600200"/>
          </a:xfrm>
          <a:prstGeom prst="roundRect">
            <a:avLst>
              <a:gd name="adj" fmla="val 6857"/>
            </a:avLst>
          </a:prstGeom>
          <a:solidFill>
            <a:srgbClr val="2B2560"/>
          </a:solidFill>
          <a:ln/>
          <a:effectLst>
            <a:outerShdw sx="100000" sy="100000" kx="0" ky="0" algn="bl" rotWithShape="0" blurRad="127000" dist="38100" dir="5400000">
              <a:srgbClr val="2B2560">
                <a:alpha val="10000"/>
              </a:srgbClr>
            </a:outerShdw>
          </a:effectLst>
        </p:spPr>
      </p:sp>
      <p:sp>
        <p:nvSpPr>
          <p:cNvPr id="6" name="Shape 4"/>
          <p:cNvSpPr/>
          <p:nvPr/>
        </p:nvSpPr>
        <p:spPr>
          <a:xfrm rot="5400000">
            <a:off x="10672072" y="1915668"/>
            <a:ext cx="844686" cy="731520"/>
          </a:xfrm>
          <a:prstGeom prst="hexagon">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10926166" y="2113178"/>
            <a:ext cx="336499" cy="336499"/>
          </a:xfrm>
          <a:prstGeom prst="rect">
            <a:avLst/>
          </a:prstGeom>
        </p:spPr>
      </p:pic>
      <p:sp>
        <p:nvSpPr>
          <p:cNvPr id="8" name="Text 5"/>
          <p:cNvSpPr txBox="1"/>
          <p:nvPr/>
        </p:nvSpPr>
        <p:spPr>
          <a:xfrm>
            <a:off x="822960" y="1572768"/>
            <a:ext cx="9631375" cy="1417320"/>
          </a:xfrm>
          <a:prstGeom prst="rect">
            <a:avLst/>
          </a:prstGeom>
          <a:noFill/>
          <a:ln/>
        </p:spPr>
        <p:txBody>
          <a:bodyPr wrap="square" lIns="0" tIns="0" rIns="0" bIns="0" rtlCol="0" anchor="ctr"/>
          <a:lstStyle/>
          <a:p>
            <a:pPr rtl="1" algn="r" indent="0" marL="0">
              <a:spcAft>
                <a:spcPts val="500"/>
              </a:spcAft>
              <a:buNone/>
            </a:pPr>
            <a:r>
              <a:rPr lang="he-IL" altLang="en-US" sz="1700" b="1" dirty="0">
                <a:solidFill>
                  <a:srgbClr val="9CC4EE"/>
                </a:solidFill>
                <a:latin typeface="Arial" pitchFamily="34" charset="0"/>
                <a:ea typeface="Arial" pitchFamily="34" charset="-122"/>
                <a:cs typeface="Arial" pitchFamily="34" charset="-120"/>
              </a:rPr>
              <a:t>ביקור ראשון (חלק ב') • החלטה טיפולית</a:t>
            </a:r>
            <a:endParaRPr lang="he-IL" sz="1400" dirty="0"/>
          </a:p>
          <a:p>
            <a:pPr rtl="1" algn="r" indent="0" marL="0">
              <a:spcAft>
                <a:spcPts val="500"/>
              </a:spcAft>
              <a:buNone/>
            </a:pPr>
            <a:r>
              <a:rPr lang="he-IL" altLang="en-US" sz="1600" dirty="0">
                <a:solidFill>
                  <a:srgbClr val="FFFFFF"/>
                </a:solidFill>
                <a:latin typeface="Arial" pitchFamily="34" charset="0"/>
                <a:ea typeface="Arial" pitchFamily="34" charset="-122"/>
                <a:cs typeface="Arial" pitchFamily="34" charset="-120"/>
              </a:rPr>
              <a:t>עקב היפרגליקמיה משמעותית לאחר האוכל ו-A1C מאוד גבוה, הוחלט להוסיף למטופל טיפול באינסולין קצר טווח נובורפיד (Novorapid) 3 פעמים ביום לפני כל ארוחה, והוא חובר לסנסור Libre.</a:t>
            </a:r>
            <a:endParaRPr lang="he-IL" sz="1400" dirty="0"/>
          </a:p>
        </p:txBody>
      </p:sp>
      <p:sp>
        <p:nvSpPr>
          <p:cNvPr id="9" name="Text 6"/>
          <p:cNvSpPr txBox="1"/>
          <p:nvPr/>
        </p:nvSpPr>
        <p:spPr>
          <a:xfrm>
            <a:off x="548640" y="3291840"/>
            <a:ext cx="11094415" cy="365760"/>
          </a:xfrm>
          <a:prstGeom prst="rect">
            <a:avLst/>
          </a:prstGeom>
          <a:noFill/>
          <a:ln/>
        </p:spPr>
        <p:txBody>
          <a:bodyPr wrap="square" lIns="0" tIns="0" rIns="0" bIns="0" rtlCol="0" anchor="t"/>
          <a:lstStyle/>
          <a:p>
            <a:pPr rtl="1" algn="r" indent="0" marL="0">
              <a:buNone/>
            </a:pPr>
            <a:r>
              <a:rPr lang="he-IL" altLang="en-US" sz="1800" b="1" dirty="0">
                <a:solidFill>
                  <a:srgbClr val="2B2560"/>
                </a:solidFill>
                <a:latin typeface="Arial" pitchFamily="34" charset="0"/>
                <a:ea typeface="Arial" pitchFamily="34" charset="-122"/>
                <a:cs typeface="Arial" pitchFamily="34" charset="-120"/>
              </a:rPr>
              <a:t>מרכיבי ההתערבות המיידית:</a:t>
            </a:r>
            <a:endParaRPr lang="he-IL" sz="1800" dirty="0"/>
          </a:p>
        </p:txBody>
      </p:sp>
      <p:sp>
        <p:nvSpPr>
          <p:cNvPr id="10" name="Shape 7"/>
          <p:cNvSpPr/>
          <p:nvPr/>
        </p:nvSpPr>
        <p:spPr>
          <a:xfrm>
            <a:off x="9040901" y="3749040"/>
            <a:ext cx="2602154" cy="2286000"/>
          </a:xfrm>
          <a:prstGeom prst="roundRect">
            <a:avLst>
              <a:gd name="adj" fmla="val 48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1" name="Shape 8"/>
          <p:cNvSpPr/>
          <p:nvPr/>
        </p:nvSpPr>
        <p:spPr>
          <a:xfrm rot="5400000">
            <a:off x="9946032" y="3909060"/>
            <a:ext cx="791893" cy="685800"/>
          </a:xfrm>
          <a:prstGeom prst="hexagon">
            <a:avLst/>
          </a:prstGeom>
          <a:solidFill>
            <a:srgbClr val="5280C8"/>
          </a:solidFill>
          <a:ln/>
        </p:spPr>
      </p:sp>
      <p:pic>
        <p:nvPicPr>
          <p:cNvPr id="12" name="Image 1" descr="preencoded.png">    </p:cNvPr>
          <p:cNvPicPr>
            <a:picLocks noChangeAspect="1"/>
          </p:cNvPicPr>
          <p:nvPr/>
        </p:nvPicPr>
        <p:blipFill>
          <a:blip r:embed="rId2"/>
          <a:stretch>
            <a:fillRect/>
          </a:stretch>
        </p:blipFill>
        <p:spPr>
          <a:xfrm>
            <a:off x="10184244" y="4094226"/>
            <a:ext cx="315468" cy="315468"/>
          </a:xfrm>
          <a:prstGeom prst="rect">
            <a:avLst/>
          </a:prstGeom>
        </p:spPr>
      </p:pic>
      <p:sp>
        <p:nvSpPr>
          <p:cNvPr id="13" name="Text 9"/>
          <p:cNvSpPr txBox="1"/>
          <p:nvPr/>
        </p:nvSpPr>
        <p:spPr>
          <a:xfrm>
            <a:off x="9178061" y="4663440"/>
            <a:ext cx="2327834" cy="365760"/>
          </a:xfrm>
          <a:prstGeom prst="rect">
            <a:avLst/>
          </a:prstGeom>
          <a:noFill/>
          <a:ln/>
        </p:spPr>
        <p:txBody>
          <a:bodyPr wrap="square" lIns="0" tIns="0" rIns="0" bIns="0" rtlCol="0" anchor="t"/>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נובורפיד לפני ארוחות</a:t>
            </a:r>
            <a:endParaRPr lang="he-IL" sz="1600" dirty="0"/>
          </a:p>
        </p:txBody>
      </p:sp>
      <p:sp>
        <p:nvSpPr>
          <p:cNvPr id="14" name="Text 10"/>
          <p:cNvSpPr txBox="1"/>
          <p:nvPr/>
        </p:nvSpPr>
        <p:spPr>
          <a:xfrm>
            <a:off x="9223781" y="5029200"/>
            <a:ext cx="2236394" cy="91440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מתן מענה ספציפי לעליות הסוכר החדות לאחר האוכל והתאמה לגודל הארוחה.</a:t>
            </a:r>
            <a:endParaRPr lang="he-IL" sz="1350" dirty="0"/>
          </a:p>
        </p:txBody>
      </p:sp>
      <p:sp>
        <p:nvSpPr>
          <p:cNvPr id="15" name="Shape 11"/>
          <p:cNvSpPr/>
          <p:nvPr/>
        </p:nvSpPr>
        <p:spPr>
          <a:xfrm>
            <a:off x="6210148" y="3749040"/>
            <a:ext cx="2602154" cy="2286000"/>
          </a:xfrm>
          <a:prstGeom prst="roundRect">
            <a:avLst>
              <a:gd name="adj" fmla="val 48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6" name="Shape 12"/>
          <p:cNvSpPr/>
          <p:nvPr/>
        </p:nvSpPr>
        <p:spPr>
          <a:xfrm rot="5400000">
            <a:off x="7115278" y="3909060"/>
            <a:ext cx="791893" cy="685800"/>
          </a:xfrm>
          <a:prstGeom prst="hexagon">
            <a:avLst/>
          </a:prstGeom>
          <a:solidFill>
            <a:srgbClr val="5B6BB5"/>
          </a:solidFill>
          <a:ln/>
        </p:spPr>
      </p:sp>
      <p:pic>
        <p:nvPicPr>
          <p:cNvPr id="17" name="Image 2" descr="preencoded.png">    </p:cNvPr>
          <p:cNvPicPr>
            <a:picLocks noChangeAspect="1"/>
          </p:cNvPicPr>
          <p:nvPr/>
        </p:nvPicPr>
        <p:blipFill>
          <a:blip r:embed="rId3"/>
          <a:stretch>
            <a:fillRect/>
          </a:stretch>
        </p:blipFill>
        <p:spPr>
          <a:xfrm>
            <a:off x="7353490" y="4094226"/>
            <a:ext cx="315468" cy="315468"/>
          </a:xfrm>
          <a:prstGeom prst="rect">
            <a:avLst/>
          </a:prstGeom>
        </p:spPr>
      </p:pic>
      <p:sp>
        <p:nvSpPr>
          <p:cNvPr id="18" name="Text 13"/>
          <p:cNvSpPr txBox="1"/>
          <p:nvPr/>
        </p:nvSpPr>
        <p:spPr>
          <a:xfrm>
            <a:off x="6347308" y="4663440"/>
            <a:ext cx="2327834" cy="365760"/>
          </a:xfrm>
          <a:prstGeom prst="rect">
            <a:avLst/>
          </a:prstGeom>
          <a:noFill/>
          <a:ln/>
        </p:spPr>
        <p:txBody>
          <a:bodyPr wrap="square" lIns="0" tIns="0" rIns="0" bIns="0" rtlCol="0" anchor="t"/>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חיבור לחיישן Libre</a:t>
            </a:r>
            <a:endParaRPr lang="he-IL" sz="1600" dirty="0"/>
          </a:p>
        </p:txBody>
      </p:sp>
      <p:sp>
        <p:nvSpPr>
          <p:cNvPr id="19" name="Text 14"/>
          <p:cNvSpPr txBox="1"/>
          <p:nvPr/>
        </p:nvSpPr>
        <p:spPr>
          <a:xfrm>
            <a:off x="6393028" y="5029200"/>
            <a:ext cx="2236394" cy="91440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התחלת ניטור סוכר רציף לקבלת תמונה מלאה של תנודתיות הגלוקוז.</a:t>
            </a:r>
            <a:endParaRPr lang="he-IL" sz="1350" dirty="0"/>
          </a:p>
        </p:txBody>
      </p:sp>
      <p:sp>
        <p:nvSpPr>
          <p:cNvPr id="20" name="Shape 15"/>
          <p:cNvSpPr/>
          <p:nvPr/>
        </p:nvSpPr>
        <p:spPr>
          <a:xfrm>
            <a:off x="3379394" y="3749040"/>
            <a:ext cx="2602154" cy="2286000"/>
          </a:xfrm>
          <a:prstGeom prst="roundRect">
            <a:avLst>
              <a:gd name="adj" fmla="val 48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1" name="Shape 16"/>
          <p:cNvSpPr/>
          <p:nvPr/>
        </p:nvSpPr>
        <p:spPr>
          <a:xfrm rot="5400000">
            <a:off x="4284524" y="3909060"/>
            <a:ext cx="791893" cy="685800"/>
          </a:xfrm>
          <a:prstGeom prst="hexagon">
            <a:avLst/>
          </a:prstGeom>
          <a:solidFill>
            <a:srgbClr val="6658A6"/>
          </a:solidFill>
          <a:ln/>
        </p:spPr>
      </p:sp>
      <p:pic>
        <p:nvPicPr>
          <p:cNvPr id="22" name="Image 3" descr="preencoded.png">    </p:cNvPr>
          <p:cNvPicPr>
            <a:picLocks noChangeAspect="1"/>
          </p:cNvPicPr>
          <p:nvPr/>
        </p:nvPicPr>
        <p:blipFill>
          <a:blip r:embed="rId4"/>
          <a:stretch>
            <a:fillRect/>
          </a:stretch>
        </p:blipFill>
        <p:spPr>
          <a:xfrm>
            <a:off x="4522737" y="4094226"/>
            <a:ext cx="315468" cy="315468"/>
          </a:xfrm>
          <a:prstGeom prst="rect">
            <a:avLst/>
          </a:prstGeom>
        </p:spPr>
      </p:pic>
      <p:sp>
        <p:nvSpPr>
          <p:cNvPr id="23" name="Text 17"/>
          <p:cNvSpPr txBox="1"/>
          <p:nvPr/>
        </p:nvSpPr>
        <p:spPr>
          <a:xfrm>
            <a:off x="3516554" y="4663440"/>
            <a:ext cx="2327834" cy="365760"/>
          </a:xfrm>
          <a:prstGeom prst="rect">
            <a:avLst/>
          </a:prstGeom>
          <a:noFill/>
          <a:ln/>
        </p:spPr>
        <p:txBody>
          <a:bodyPr wrap="square" lIns="0" tIns="0" rIns="0" bIns="0" rtlCol="0" anchor="t"/>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הדרכת הזרקות</a:t>
            </a:r>
            <a:endParaRPr lang="he-IL" sz="1600" dirty="0"/>
          </a:p>
        </p:txBody>
      </p:sp>
      <p:sp>
        <p:nvSpPr>
          <p:cNvPr id="24" name="Text 18"/>
          <p:cNvSpPr txBox="1"/>
          <p:nvPr/>
        </p:nvSpPr>
        <p:spPr>
          <a:xfrm>
            <a:off x="3562274" y="5029200"/>
            <a:ext cx="2236394" cy="91440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רוטציה קבועה במרחק 4 אצבעות מהטבור לכיוון המותן ומניעת ליפודוסטרופיה.</a:t>
            </a:r>
            <a:endParaRPr lang="he-IL" sz="1350" dirty="0"/>
          </a:p>
        </p:txBody>
      </p:sp>
      <p:sp>
        <p:nvSpPr>
          <p:cNvPr id="25" name="Shape 19"/>
          <p:cNvSpPr/>
          <p:nvPr/>
        </p:nvSpPr>
        <p:spPr>
          <a:xfrm>
            <a:off x="548640" y="3749040"/>
            <a:ext cx="2602154" cy="2286000"/>
          </a:xfrm>
          <a:prstGeom prst="roundRect">
            <a:avLst>
              <a:gd name="adj" fmla="val 48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6" name="Shape 20"/>
          <p:cNvSpPr/>
          <p:nvPr/>
        </p:nvSpPr>
        <p:spPr>
          <a:xfrm rot="5400000">
            <a:off x="1453770" y="3909060"/>
            <a:ext cx="791893" cy="685800"/>
          </a:xfrm>
          <a:prstGeom prst="hexagon">
            <a:avLst/>
          </a:prstGeom>
          <a:solidFill>
            <a:srgbClr val="6E4494"/>
          </a:solidFill>
          <a:ln/>
        </p:spPr>
      </p:sp>
      <p:pic>
        <p:nvPicPr>
          <p:cNvPr id="27" name="Image 4" descr="preencoded.png">    </p:cNvPr>
          <p:cNvPicPr>
            <a:picLocks noChangeAspect="1"/>
          </p:cNvPicPr>
          <p:nvPr/>
        </p:nvPicPr>
        <p:blipFill>
          <a:blip r:embed="rId5"/>
          <a:stretch>
            <a:fillRect/>
          </a:stretch>
        </p:blipFill>
        <p:spPr>
          <a:xfrm>
            <a:off x="1691983" y="4094226"/>
            <a:ext cx="315468" cy="315468"/>
          </a:xfrm>
          <a:prstGeom prst="rect">
            <a:avLst/>
          </a:prstGeom>
        </p:spPr>
      </p:pic>
      <p:sp>
        <p:nvSpPr>
          <p:cNvPr id="28" name="Text 21"/>
          <p:cNvSpPr txBox="1"/>
          <p:nvPr/>
        </p:nvSpPr>
        <p:spPr>
          <a:xfrm>
            <a:off x="685800" y="4663440"/>
            <a:ext cx="2327834" cy="365760"/>
          </a:xfrm>
          <a:prstGeom prst="rect">
            <a:avLst/>
          </a:prstGeom>
          <a:noFill/>
          <a:ln/>
        </p:spPr>
        <p:txBody>
          <a:bodyPr wrap="square" lIns="0" tIns="0" rIns="0" bIns="0" rtlCol="0" anchor="t"/>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הכנה ל-Wegovy</a:t>
            </a:r>
            <a:endParaRPr lang="he-IL" sz="1600" dirty="0"/>
          </a:p>
        </p:txBody>
      </p:sp>
      <p:sp>
        <p:nvSpPr>
          <p:cNvPr id="29" name="Text 22"/>
          <p:cNvSpPr txBox="1"/>
          <p:nvPr/>
        </p:nvSpPr>
        <p:spPr>
          <a:xfrm>
            <a:off x="731520" y="5029200"/>
            <a:ext cx="2236394" cy="914400"/>
          </a:xfrm>
          <a:prstGeom prst="rect">
            <a:avLst/>
          </a:prstGeom>
          <a:noFill/>
          <a:ln/>
        </p:spPr>
        <p:txBody>
          <a:bodyPr wrap="square" lIns="0" tIns="0" rIns="0" bIns="0" rtlCol="0" anchor="t"/>
          <a:lstStyle/>
          <a:p>
            <a:pPr rtl="1" algn="ctr" indent="0" marL="0">
              <a:buNone/>
            </a:pPr>
            <a:r>
              <a:rPr lang="he-IL" altLang="en-US" sz="1350" dirty="0">
                <a:solidFill>
                  <a:srgbClr val="2E2A47"/>
                </a:solidFill>
                <a:latin typeface="Arial" pitchFamily="34" charset="0"/>
                <a:ea typeface="Arial" pitchFamily="34" charset="-122"/>
                <a:cs typeface="Arial" pitchFamily="34" charset="-120"/>
              </a:rPr>
              <a:t>תכנון שילוב GLP-1 RA להורדת משקל ותנגודת.</a:t>
            </a:r>
            <a:endParaRPr lang="he-IL" sz="13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100" b="1" dirty="0">
                <a:solidFill>
                  <a:srgbClr val="2B2560"/>
                </a:solidFill>
                <a:latin typeface="Arial" pitchFamily="34" charset="0"/>
                <a:ea typeface="Arial" pitchFamily="34" charset="-122"/>
                <a:cs typeface="Arial" pitchFamily="34" charset="-120"/>
              </a:rPr>
              <a:t>שלב 2: בדיקת מקומות הזרקה ופריקת נתוני קורא Libre (פברואר 2026)</a:t>
            </a:r>
            <a:endParaRPr lang="he-IL" sz="2100" dirty="0"/>
          </a:p>
        </p:txBody>
      </p:sp>
      <p:sp>
        <p:nvSpPr>
          <p:cNvPr id="5" name="Text 3"/>
          <p:cNvSpPr txBox="1"/>
          <p:nvPr/>
        </p:nvSpPr>
        <p:spPr>
          <a:xfrm>
            <a:off x="6263640" y="1417320"/>
            <a:ext cx="5376672" cy="411480"/>
          </a:xfrm>
          <a:prstGeom prst="rect">
            <a:avLst/>
          </a:prstGeom>
          <a:noFill/>
          <a:ln/>
        </p:spPr>
        <p:txBody>
          <a:bodyPr wrap="square" lIns="0" tIns="0" rIns="0" bIns="0" rtlCol="0" anchor="t"/>
          <a:lstStyle/>
          <a:p>
            <a:pPr rtl="1" algn="r" indent="0" marL="0">
              <a:buNone/>
            </a:pPr>
            <a:r>
              <a:rPr lang="he-IL" altLang="en-US" sz="1800" b="1" dirty="0">
                <a:solidFill>
                  <a:srgbClr val="6E4494"/>
                </a:solidFill>
                <a:latin typeface="Arial" pitchFamily="34" charset="0"/>
                <a:ea typeface="Arial" pitchFamily="34" charset="-122"/>
                <a:cs typeface="Arial" pitchFamily="34" charset="-120"/>
              </a:rPr>
              <a:t>בדיקת מקומות הזרקת אינסולין וטכניקה</a:t>
            </a:r>
            <a:endParaRPr lang="he-IL" sz="1800" dirty="0"/>
          </a:p>
        </p:txBody>
      </p:sp>
      <p:sp>
        <p:nvSpPr>
          <p:cNvPr id="6" name="Shape 4"/>
          <p:cNvSpPr/>
          <p:nvPr/>
        </p:nvSpPr>
        <p:spPr>
          <a:xfrm>
            <a:off x="6263640" y="1920240"/>
            <a:ext cx="5376672" cy="1234440"/>
          </a:xfrm>
          <a:prstGeom prst="roundRect">
            <a:avLst>
              <a:gd name="adj" fmla="val 8889"/>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7" name="Shape 5"/>
          <p:cNvSpPr/>
          <p:nvPr/>
        </p:nvSpPr>
        <p:spPr>
          <a:xfrm rot="5400000">
            <a:off x="10930363" y="2263140"/>
            <a:ext cx="633515" cy="548640"/>
          </a:xfrm>
          <a:prstGeom prst="hexagon">
            <a:avLst/>
          </a:prstGeom>
          <a:solidFill>
            <a:srgbClr val="5B6BB5"/>
          </a:solidFill>
          <a:ln/>
        </p:spPr>
      </p:sp>
      <p:pic>
        <p:nvPicPr>
          <p:cNvPr id="8" name="Image 0" descr="preencoded.png">    </p:cNvPr>
          <p:cNvPicPr>
            <a:picLocks noChangeAspect="1"/>
          </p:cNvPicPr>
          <p:nvPr/>
        </p:nvPicPr>
        <p:blipFill>
          <a:blip r:embed="rId1"/>
          <a:stretch>
            <a:fillRect/>
          </a:stretch>
        </p:blipFill>
        <p:spPr>
          <a:xfrm>
            <a:off x="11120933" y="2411273"/>
            <a:ext cx="252374" cy="252374"/>
          </a:xfrm>
          <a:prstGeom prst="rect">
            <a:avLst/>
          </a:prstGeom>
        </p:spPr>
      </p:pic>
      <p:sp>
        <p:nvSpPr>
          <p:cNvPr id="9" name="Text 6"/>
          <p:cNvSpPr txBox="1"/>
          <p:nvPr/>
        </p:nvSpPr>
        <p:spPr>
          <a:xfrm>
            <a:off x="6446520" y="2011680"/>
            <a:ext cx="4389120" cy="1051560"/>
          </a:xfrm>
          <a:prstGeom prst="rect">
            <a:avLst/>
          </a:prstGeom>
          <a:noFill/>
          <a:ln/>
        </p:spPr>
        <p:txBody>
          <a:bodyPr wrap="square" lIns="0" tIns="0" rIns="0" bIns="0" rtlCol="0" anchor="ctr"/>
          <a:lstStyle/>
          <a:p>
            <a:pPr rtl="1" algn="r" indent="0" marL="0">
              <a:spcAft>
                <a:spcPts val="300"/>
              </a:spcAft>
              <a:buNone/>
            </a:pPr>
            <a:r>
              <a:rPr lang="he-IL" altLang="en-US" sz="1400" b="1" dirty="0">
                <a:solidFill>
                  <a:srgbClr val="5B6BB5"/>
                </a:solidFill>
                <a:latin typeface="Arial" pitchFamily="34" charset="0"/>
                <a:ea typeface="Arial" pitchFamily="34" charset="-122"/>
                <a:cs typeface="Arial" pitchFamily="34" charset="-120"/>
              </a:rPr>
              <a:t>בדיקה פיזיקלית • אזורי הזרקה</a:t>
            </a:r>
            <a:endParaRPr lang="he-IL" sz="1400" dirty="0"/>
          </a:p>
          <a:p>
            <a:pPr rtl="1" algn="r" indent="0" marL="0">
              <a:spcAft>
                <a:spcPts val="300"/>
              </a:spcAft>
              <a:buNone/>
            </a:pPr>
            <a:r>
              <a:rPr lang="he-IL" altLang="en-US" sz="1400" dirty="0">
                <a:solidFill>
                  <a:srgbClr val="2E2A47"/>
                </a:solidFill>
                <a:latin typeface="Arial" pitchFamily="34" charset="0"/>
                <a:ea typeface="Arial" pitchFamily="34" charset="-122"/>
                <a:cs typeface="Arial" pitchFamily="34" charset="-120"/>
              </a:rPr>
              <a:t>בדיקת אזורי הזרקה וצורת הזרקת אינסולין.</a:t>
            </a:r>
            <a:endParaRPr lang="he-IL" sz="1400" dirty="0"/>
          </a:p>
        </p:txBody>
      </p:sp>
      <p:sp>
        <p:nvSpPr>
          <p:cNvPr id="10" name="Shape 7"/>
          <p:cNvSpPr/>
          <p:nvPr/>
        </p:nvSpPr>
        <p:spPr>
          <a:xfrm>
            <a:off x="6263640" y="3291840"/>
            <a:ext cx="5376672" cy="1234440"/>
          </a:xfrm>
          <a:prstGeom prst="roundRect">
            <a:avLst>
              <a:gd name="adj" fmla="val 8889"/>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1" name="Shape 8"/>
          <p:cNvSpPr/>
          <p:nvPr/>
        </p:nvSpPr>
        <p:spPr>
          <a:xfrm rot="5400000">
            <a:off x="10930363" y="3634740"/>
            <a:ext cx="633515" cy="548640"/>
          </a:xfrm>
          <a:prstGeom prst="hexagon">
            <a:avLst/>
          </a:prstGeom>
          <a:solidFill>
            <a:srgbClr val="1F8F83"/>
          </a:solidFill>
          <a:ln/>
        </p:spPr>
      </p:sp>
      <p:pic>
        <p:nvPicPr>
          <p:cNvPr id="12" name="Image 1" descr="preencoded.png">    </p:cNvPr>
          <p:cNvPicPr>
            <a:picLocks noChangeAspect="1"/>
          </p:cNvPicPr>
          <p:nvPr/>
        </p:nvPicPr>
        <p:blipFill>
          <a:blip r:embed="rId2"/>
          <a:stretch>
            <a:fillRect/>
          </a:stretch>
        </p:blipFill>
        <p:spPr>
          <a:xfrm>
            <a:off x="11120933" y="3782873"/>
            <a:ext cx="252374" cy="252374"/>
          </a:xfrm>
          <a:prstGeom prst="rect">
            <a:avLst/>
          </a:prstGeom>
        </p:spPr>
      </p:pic>
      <p:sp>
        <p:nvSpPr>
          <p:cNvPr id="13" name="Text 9"/>
          <p:cNvSpPr txBox="1"/>
          <p:nvPr/>
        </p:nvSpPr>
        <p:spPr>
          <a:xfrm>
            <a:off x="6446520" y="3383280"/>
            <a:ext cx="4389120" cy="1051560"/>
          </a:xfrm>
          <a:prstGeom prst="rect">
            <a:avLst/>
          </a:prstGeom>
          <a:noFill/>
          <a:ln/>
        </p:spPr>
        <p:txBody>
          <a:bodyPr wrap="square" lIns="0" tIns="0" rIns="0" bIns="0" rtlCol="0" anchor="ctr"/>
          <a:lstStyle/>
          <a:p>
            <a:pPr rtl="1" algn="r" indent="0" marL="0">
              <a:spcAft>
                <a:spcPts val="300"/>
              </a:spcAft>
              <a:buNone/>
            </a:pPr>
            <a:r>
              <a:rPr lang="he-IL" altLang="en-US" sz="1400" b="1" dirty="0">
                <a:solidFill>
                  <a:srgbClr val="1F8F83"/>
                </a:solidFill>
                <a:latin typeface="Arial" pitchFamily="34" charset="0"/>
                <a:ea typeface="Arial" pitchFamily="34" charset="-122"/>
                <a:cs typeface="Arial" pitchFamily="34" charset="-120"/>
              </a:rPr>
              <a:t>טכניקה ואחסון תקינים:</a:t>
            </a:r>
            <a:endParaRPr lang="he-IL" sz="1400" dirty="0"/>
          </a:p>
          <a:p>
            <a:pPr rtl="1" algn="r" indent="0" marL="0">
              <a:spcAft>
                <a:spcPts val="300"/>
              </a:spcAft>
              <a:buNone/>
            </a:pPr>
            <a:r>
              <a:rPr lang="he-IL" altLang="en-US" sz="1400" dirty="0">
                <a:solidFill>
                  <a:srgbClr val="2E2A47"/>
                </a:solidFill>
                <a:latin typeface="Arial" pitchFamily="34" charset="0"/>
                <a:ea typeface="Arial" pitchFamily="34" charset="-122"/>
                <a:cs typeface="Arial" pitchFamily="34" charset="-120"/>
              </a:rPr>
              <a:t>המטופל מזריק נכון במקומות הנכונים ומאחסן נכון את האינסולין.</a:t>
            </a:r>
            <a:endParaRPr lang="he-IL" sz="1400" dirty="0"/>
          </a:p>
        </p:txBody>
      </p:sp>
      <p:sp>
        <p:nvSpPr>
          <p:cNvPr id="14" name="Shape 10"/>
          <p:cNvSpPr/>
          <p:nvPr/>
        </p:nvSpPr>
        <p:spPr>
          <a:xfrm>
            <a:off x="6263640" y="4663440"/>
            <a:ext cx="5376672" cy="1234440"/>
          </a:xfrm>
          <a:prstGeom prst="roundRect">
            <a:avLst>
              <a:gd name="adj" fmla="val 8889"/>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5" name="Shape 11"/>
          <p:cNvSpPr/>
          <p:nvPr/>
        </p:nvSpPr>
        <p:spPr>
          <a:xfrm rot="5400000">
            <a:off x="10930363" y="5006340"/>
            <a:ext cx="633515" cy="548640"/>
          </a:xfrm>
          <a:prstGeom prst="hexagon">
            <a:avLst/>
          </a:prstGeom>
          <a:solidFill>
            <a:srgbClr val="C24863"/>
          </a:solidFill>
          <a:ln/>
        </p:spPr>
      </p:sp>
      <p:pic>
        <p:nvPicPr>
          <p:cNvPr id="16" name="Image 2" descr="preencoded.png">    </p:cNvPr>
          <p:cNvPicPr>
            <a:picLocks noChangeAspect="1"/>
          </p:cNvPicPr>
          <p:nvPr/>
        </p:nvPicPr>
        <p:blipFill>
          <a:blip r:embed="rId3"/>
          <a:stretch>
            <a:fillRect/>
          </a:stretch>
        </p:blipFill>
        <p:spPr>
          <a:xfrm>
            <a:off x="11120933" y="5154473"/>
            <a:ext cx="252374" cy="252374"/>
          </a:xfrm>
          <a:prstGeom prst="rect">
            <a:avLst/>
          </a:prstGeom>
        </p:spPr>
      </p:pic>
      <p:sp>
        <p:nvSpPr>
          <p:cNvPr id="17" name="Text 12"/>
          <p:cNvSpPr txBox="1"/>
          <p:nvPr/>
        </p:nvSpPr>
        <p:spPr>
          <a:xfrm>
            <a:off x="6446520" y="4754880"/>
            <a:ext cx="4389120" cy="1051560"/>
          </a:xfrm>
          <a:prstGeom prst="rect">
            <a:avLst/>
          </a:prstGeom>
          <a:noFill/>
          <a:ln/>
        </p:spPr>
        <p:txBody>
          <a:bodyPr wrap="square" lIns="0" tIns="0" rIns="0" bIns="0" rtlCol="0" anchor="ctr"/>
          <a:lstStyle/>
          <a:p>
            <a:pPr rtl="1" algn="r" indent="0" marL="0">
              <a:spcAft>
                <a:spcPts val="300"/>
              </a:spcAft>
              <a:buNone/>
            </a:pPr>
            <a:r>
              <a:rPr lang="he-IL" altLang="en-US" sz="1400" b="1" dirty="0">
                <a:solidFill>
                  <a:srgbClr val="C24863"/>
                </a:solidFill>
                <a:latin typeface="Arial" pitchFamily="34" charset="0"/>
                <a:ea typeface="Arial" pitchFamily="34" charset="-122"/>
                <a:cs typeface="Arial" pitchFamily="34" charset="-120"/>
              </a:rPr>
              <a:t>ליקוי שנמצא:</a:t>
            </a:r>
            <a:endParaRPr lang="he-IL" sz="1400" dirty="0"/>
          </a:p>
          <a:p>
            <a:pPr rtl="1" algn="r" indent="0" marL="0">
              <a:spcAft>
                <a:spcPts val="300"/>
              </a:spcAft>
              <a:buNone/>
            </a:pPr>
            <a:r>
              <a:rPr lang="he-IL" altLang="en-US" sz="1400" dirty="0">
                <a:solidFill>
                  <a:srgbClr val="2E2A47"/>
                </a:solidFill>
                <a:latin typeface="Arial" pitchFamily="34" charset="0"/>
                <a:ea typeface="Arial" pitchFamily="34" charset="-122"/>
                <a:cs typeface="Arial" pitchFamily="34" charset="-120"/>
              </a:rPr>
              <a:t>אך לא מקפיד להחליף מחט בכל הזרקה וקיבל הסבר לכך.</a:t>
            </a:r>
            <a:endParaRPr lang="he-IL" sz="1400" dirty="0"/>
          </a:p>
        </p:txBody>
      </p:sp>
      <p:sp>
        <p:nvSpPr>
          <p:cNvPr id="18" name="Shape 13"/>
          <p:cNvSpPr/>
          <p:nvPr/>
        </p:nvSpPr>
        <p:spPr>
          <a:xfrm>
            <a:off x="548640" y="1463040"/>
            <a:ext cx="5440680" cy="4572000"/>
          </a:xfrm>
          <a:prstGeom prst="roundRect">
            <a:avLst>
              <a:gd name="adj" fmla="val 2400"/>
            </a:avLst>
          </a:prstGeom>
          <a:solidFill>
            <a:srgbClr val="F3F0FA"/>
          </a:solidFill>
          <a:ln/>
        </p:spPr>
      </p:sp>
      <p:sp>
        <p:nvSpPr>
          <p:cNvPr id="19" name="Shape 14"/>
          <p:cNvSpPr/>
          <p:nvPr/>
        </p:nvSpPr>
        <p:spPr>
          <a:xfrm rot="5400000">
            <a:off x="5188966" y="1668780"/>
            <a:ext cx="686307" cy="594360"/>
          </a:xfrm>
          <a:prstGeom prst="hexagon">
            <a:avLst/>
          </a:prstGeom>
          <a:solidFill>
            <a:srgbClr val="6E4494"/>
          </a:solidFill>
          <a:ln/>
        </p:spPr>
      </p:sp>
      <p:pic>
        <p:nvPicPr>
          <p:cNvPr id="20" name="Image 3" descr="preencoded.png">    </p:cNvPr>
          <p:cNvPicPr>
            <a:picLocks noChangeAspect="1"/>
          </p:cNvPicPr>
          <p:nvPr/>
        </p:nvPicPr>
        <p:blipFill>
          <a:blip r:embed="rId4"/>
          <a:stretch>
            <a:fillRect/>
          </a:stretch>
        </p:blipFill>
        <p:spPr>
          <a:xfrm>
            <a:off x="5395417" y="1829257"/>
            <a:ext cx="273406" cy="273406"/>
          </a:xfrm>
          <a:prstGeom prst="rect">
            <a:avLst/>
          </a:prstGeom>
        </p:spPr>
      </p:pic>
      <p:sp>
        <p:nvSpPr>
          <p:cNvPr id="21" name="Text 15"/>
          <p:cNvSpPr txBox="1"/>
          <p:nvPr/>
        </p:nvSpPr>
        <p:spPr>
          <a:xfrm>
            <a:off x="822960" y="1737360"/>
            <a:ext cx="4206240" cy="457200"/>
          </a:xfrm>
          <a:prstGeom prst="rect">
            <a:avLst/>
          </a:prstGeom>
          <a:noFill/>
          <a:ln/>
        </p:spPr>
        <p:txBody>
          <a:bodyPr wrap="square" lIns="0" tIns="0" rIns="0" bIns="0" rtlCol="0" anchor="ctr"/>
          <a:lstStyle/>
          <a:p>
            <a:pPr rtl="1" algn="r" indent="0" marL="0">
              <a:buNone/>
            </a:pPr>
            <a:r>
              <a:rPr lang="he-IL" altLang="en-US" sz="1800" b="1" dirty="0">
                <a:solidFill>
                  <a:srgbClr val="6E4494"/>
                </a:solidFill>
                <a:latin typeface="Arial" pitchFamily="34" charset="0"/>
                <a:ea typeface="Arial" pitchFamily="34" charset="-122"/>
                <a:cs typeface="Arial" pitchFamily="34" charset="-120"/>
              </a:rPr>
              <a:t>הדרכה קלינית שניתנה:</a:t>
            </a:r>
            <a:endParaRPr lang="he-IL" sz="1800" dirty="0"/>
          </a:p>
        </p:txBody>
      </p:sp>
      <p:sp>
        <p:nvSpPr>
          <p:cNvPr id="22" name="Shape 16"/>
          <p:cNvSpPr/>
          <p:nvPr/>
        </p:nvSpPr>
        <p:spPr>
          <a:xfrm>
            <a:off x="777240" y="2514600"/>
            <a:ext cx="4983480" cy="1005840"/>
          </a:xfrm>
          <a:prstGeom prst="roundRect">
            <a:avLst>
              <a:gd name="adj" fmla="val 10909"/>
            </a:avLst>
          </a:prstGeom>
          <a:solidFill>
            <a:srgbClr val="FFFFFF"/>
          </a:solidFill>
          <a:ln/>
        </p:spPr>
      </p:sp>
      <p:sp>
        <p:nvSpPr>
          <p:cNvPr id="23" name="Shape 17"/>
          <p:cNvSpPr/>
          <p:nvPr/>
        </p:nvSpPr>
        <p:spPr>
          <a:xfrm rot="5400000">
            <a:off x="5085276" y="2788920"/>
            <a:ext cx="527929" cy="457200"/>
          </a:xfrm>
          <a:prstGeom prst="hexagon">
            <a:avLst/>
          </a:prstGeom>
          <a:solidFill>
            <a:srgbClr val="6E4494"/>
          </a:solidFill>
          <a:ln/>
        </p:spPr>
      </p:sp>
      <p:sp>
        <p:nvSpPr>
          <p:cNvPr id="24" name="Text 18"/>
          <p:cNvSpPr txBox="1"/>
          <p:nvPr/>
        </p:nvSpPr>
        <p:spPr>
          <a:xfrm>
            <a:off x="5120640" y="2788920"/>
            <a:ext cx="457200" cy="457200"/>
          </a:xfrm>
          <a:prstGeom prst="rect">
            <a:avLst/>
          </a:prstGeom>
          <a:noFill/>
          <a:ln/>
        </p:spPr>
        <p:txBody>
          <a:bodyPr wrap="square" lIns="0" tIns="0" rIns="0" bIns="0" rtlCol="0" anchor="ctr"/>
          <a:lstStyle/>
          <a:p>
            <a:pPr algn="ctr" indent="0" marL="0">
              <a:buNone/>
            </a:pPr>
            <a:r>
              <a:rPr lang="en-US" alt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5" name="Text 19"/>
          <p:cNvSpPr txBox="1"/>
          <p:nvPr/>
        </p:nvSpPr>
        <p:spPr>
          <a:xfrm>
            <a:off x="960120" y="2587752"/>
            <a:ext cx="4023360" cy="859536"/>
          </a:xfrm>
          <a:prstGeom prst="rect">
            <a:avLst/>
          </a:prstGeom>
          <a:noFill/>
          <a:ln/>
        </p:spPr>
        <p:txBody>
          <a:bodyPr wrap="square" lIns="0" tIns="0" rIns="0" bIns="0" rtlCol="0" anchor="ctr"/>
          <a:lstStyle/>
          <a:p>
            <a:pPr rtl="1" algn="r" indent="0" marL="0">
              <a:buNone/>
            </a:pPr>
            <a:r>
              <a:rPr lang="he-IL" altLang="en-US" sz="1400" dirty="0">
                <a:solidFill>
                  <a:srgbClr val="2E2A47"/>
                </a:solidFill>
                <a:latin typeface="Arial" pitchFamily="34" charset="0"/>
                <a:ea typeface="Arial" pitchFamily="34" charset="-122"/>
                <a:cs typeface="Arial" pitchFamily="34" charset="-120"/>
              </a:rPr>
              <a:t>החלפת מחט חדשה וסטרילית בכל הזרקה ללא יוצא מן הכלל.</a:t>
            </a:r>
            <a:endParaRPr lang="he-IL" sz="1400" dirty="0"/>
          </a:p>
        </p:txBody>
      </p:sp>
      <p:sp>
        <p:nvSpPr>
          <p:cNvPr id="26" name="Shape 20"/>
          <p:cNvSpPr/>
          <p:nvPr/>
        </p:nvSpPr>
        <p:spPr>
          <a:xfrm>
            <a:off x="777240" y="3657600"/>
            <a:ext cx="4983480" cy="1005840"/>
          </a:xfrm>
          <a:prstGeom prst="roundRect">
            <a:avLst>
              <a:gd name="adj" fmla="val 10909"/>
            </a:avLst>
          </a:prstGeom>
          <a:solidFill>
            <a:srgbClr val="FFFFFF"/>
          </a:solidFill>
          <a:ln/>
        </p:spPr>
      </p:sp>
      <p:sp>
        <p:nvSpPr>
          <p:cNvPr id="27" name="Shape 21"/>
          <p:cNvSpPr/>
          <p:nvPr/>
        </p:nvSpPr>
        <p:spPr>
          <a:xfrm rot="5400000">
            <a:off x="5085276" y="3931920"/>
            <a:ext cx="527929" cy="457200"/>
          </a:xfrm>
          <a:prstGeom prst="hexagon">
            <a:avLst/>
          </a:prstGeom>
          <a:solidFill>
            <a:srgbClr val="6E4494"/>
          </a:solidFill>
          <a:ln/>
        </p:spPr>
      </p:sp>
      <p:sp>
        <p:nvSpPr>
          <p:cNvPr id="28" name="Text 22"/>
          <p:cNvSpPr txBox="1"/>
          <p:nvPr/>
        </p:nvSpPr>
        <p:spPr>
          <a:xfrm>
            <a:off x="5120640" y="3931920"/>
            <a:ext cx="457200" cy="457200"/>
          </a:xfrm>
          <a:prstGeom prst="rect">
            <a:avLst/>
          </a:prstGeom>
          <a:noFill/>
          <a:ln/>
        </p:spPr>
        <p:txBody>
          <a:bodyPr wrap="square" lIns="0" tIns="0" rIns="0" bIns="0" rtlCol="0" anchor="ctr"/>
          <a:lstStyle/>
          <a:p>
            <a:pPr algn="ctr" indent="0" marL="0">
              <a:buNone/>
            </a:pPr>
            <a:r>
              <a:rPr lang="en-US" alt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9" name="Text 23"/>
          <p:cNvSpPr txBox="1"/>
          <p:nvPr/>
        </p:nvSpPr>
        <p:spPr>
          <a:xfrm>
            <a:off x="960120" y="3730752"/>
            <a:ext cx="4023360" cy="859536"/>
          </a:xfrm>
          <a:prstGeom prst="rect">
            <a:avLst/>
          </a:prstGeom>
          <a:noFill/>
          <a:ln/>
        </p:spPr>
        <p:txBody>
          <a:bodyPr wrap="square" lIns="0" tIns="0" rIns="0" bIns="0" rtlCol="0" anchor="ctr"/>
          <a:lstStyle/>
          <a:p>
            <a:pPr rtl="1" algn="r" indent="0" marL="0">
              <a:buNone/>
            </a:pPr>
            <a:r>
              <a:rPr lang="he-IL" altLang="en-US" sz="1400" dirty="0">
                <a:solidFill>
                  <a:srgbClr val="2E2A47"/>
                </a:solidFill>
                <a:latin typeface="Arial" pitchFamily="34" charset="0"/>
                <a:ea typeface="Arial" pitchFamily="34" charset="-122"/>
                <a:cs typeface="Arial" pitchFamily="34" charset="-120"/>
              </a:rPr>
              <a:t>רוטציה קבועה במרחק 4 אצבעות מהטבור לכיוון המותן למניעת החמרת הליפודוסטרופיה.</a:t>
            </a:r>
            <a:endParaRPr lang="he-IL" sz="1400" dirty="0"/>
          </a:p>
        </p:txBody>
      </p:sp>
      <p:sp>
        <p:nvSpPr>
          <p:cNvPr id="30" name="Shape 24"/>
          <p:cNvSpPr/>
          <p:nvPr/>
        </p:nvSpPr>
        <p:spPr>
          <a:xfrm>
            <a:off x="777240" y="4800600"/>
            <a:ext cx="4983480" cy="1005840"/>
          </a:xfrm>
          <a:prstGeom prst="roundRect">
            <a:avLst>
              <a:gd name="adj" fmla="val 10909"/>
            </a:avLst>
          </a:prstGeom>
          <a:solidFill>
            <a:srgbClr val="FFFFFF"/>
          </a:solidFill>
          <a:ln/>
        </p:spPr>
      </p:sp>
      <p:sp>
        <p:nvSpPr>
          <p:cNvPr id="31" name="Shape 25"/>
          <p:cNvSpPr/>
          <p:nvPr/>
        </p:nvSpPr>
        <p:spPr>
          <a:xfrm rot="5400000">
            <a:off x="5085276" y="5074920"/>
            <a:ext cx="527929" cy="457200"/>
          </a:xfrm>
          <a:prstGeom prst="hexagon">
            <a:avLst/>
          </a:prstGeom>
          <a:solidFill>
            <a:srgbClr val="6E4494"/>
          </a:solidFill>
          <a:ln/>
        </p:spPr>
      </p:sp>
      <p:sp>
        <p:nvSpPr>
          <p:cNvPr id="32" name="Text 26"/>
          <p:cNvSpPr txBox="1"/>
          <p:nvPr/>
        </p:nvSpPr>
        <p:spPr>
          <a:xfrm>
            <a:off x="5120640" y="5074920"/>
            <a:ext cx="457200" cy="457200"/>
          </a:xfrm>
          <a:prstGeom prst="rect">
            <a:avLst/>
          </a:prstGeom>
          <a:noFill/>
          <a:ln/>
        </p:spPr>
        <p:txBody>
          <a:bodyPr wrap="square" lIns="0" tIns="0" rIns="0" bIns="0" rtlCol="0" anchor="ctr"/>
          <a:lstStyle/>
          <a:p>
            <a:pPr algn="ctr" indent="0" marL="0">
              <a:buNone/>
            </a:pPr>
            <a:r>
              <a:rPr lang="en-US" alt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3" name="Text 27"/>
          <p:cNvSpPr txBox="1"/>
          <p:nvPr/>
        </p:nvSpPr>
        <p:spPr>
          <a:xfrm>
            <a:off x="960120" y="4873752"/>
            <a:ext cx="4023360" cy="859536"/>
          </a:xfrm>
          <a:prstGeom prst="rect">
            <a:avLst/>
          </a:prstGeom>
          <a:noFill/>
          <a:ln/>
        </p:spPr>
        <p:txBody>
          <a:bodyPr wrap="square" lIns="0" tIns="0" rIns="0" bIns="0" rtlCol="0" anchor="ctr"/>
          <a:lstStyle/>
          <a:p>
            <a:pPr rtl="1" algn="r" indent="0" marL="0">
              <a:buNone/>
            </a:pPr>
            <a:r>
              <a:rPr lang="he-IL" altLang="en-US" sz="1400" dirty="0">
                <a:solidFill>
                  <a:srgbClr val="2E2A47"/>
                </a:solidFill>
                <a:latin typeface="Arial" pitchFamily="34" charset="0"/>
                <a:ea typeface="Arial" pitchFamily="34" charset="-122"/>
                <a:cs typeface="Arial" pitchFamily="34" charset="-120"/>
              </a:rPr>
              <a:t>הסבר כי הזרקה לתוך רקמה מצולקת/שומנית משבשת קשות את ספיגת האינסולין וגורמת לתנודות גלוקוז בלתי צפויות.</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2: פריקת נתוני קורא Libre (פברואר 2026)</a:t>
            </a:r>
            <a:endParaRPr lang="he-IL" sz="2600" dirty="0"/>
          </a:p>
        </p:txBody>
      </p:sp>
      <p:pic>
        <p:nvPicPr>
          <p:cNvPr id="5" name="Image 0" descr="/tmp/claude-0/-home-claude/83ba285b-7ef1-5a4f-9afe-ea04c4b9d63d/scratchpad/src/ppt/media/image-14-2.png">    </p:cNvPr>
          <p:cNvPicPr>
            <a:picLocks noChangeAspect="1"/>
          </p:cNvPicPr>
          <p:nvPr/>
        </p:nvPicPr>
        <p:blipFill>
          <a:blip r:embed="rId1"/>
          <a:stretch>
            <a:fillRect/>
          </a:stretch>
        </p:blipFill>
        <p:spPr>
          <a:xfrm>
            <a:off x="548640" y="1463040"/>
            <a:ext cx="5852160" cy="4553712"/>
          </a:xfrm>
          <a:prstGeom prst="rect">
            <a:avLst/>
          </a:prstGeom>
          <a:effectLst>
            <a:outerShdw sx="100000" sy="100000" kx="0" ky="0" algn="bl" rotWithShape="0" blurRad="127000" dist="38100" dir="5400000">
              <a:srgbClr val="2B2560">
                <a:alpha val="10000"/>
              </a:srgbClr>
            </a:outerShdw>
          </a:effectLst>
        </p:spPr>
      </p:pic>
      <p:sp>
        <p:nvSpPr>
          <p:cNvPr id="6" name="Text 3"/>
          <p:cNvSpPr txBox="1"/>
          <p:nvPr/>
        </p:nvSpPr>
        <p:spPr>
          <a:xfrm>
            <a:off x="6720840" y="1463040"/>
            <a:ext cx="4919472" cy="411480"/>
          </a:xfrm>
          <a:prstGeom prst="rect">
            <a:avLst/>
          </a:prstGeom>
          <a:noFill/>
          <a:ln/>
        </p:spPr>
        <p:txBody>
          <a:bodyPr wrap="square" lIns="0" tIns="0" rIns="0" bIns="0" rtlCol="0" anchor="t"/>
          <a:lstStyle/>
          <a:p>
            <a:pPr rtl="1" algn="r" indent="0" marL="0">
              <a:buNone/>
            </a:pPr>
            <a:r>
              <a:rPr lang="he-IL" altLang="en-US" sz="1800" b="1" dirty="0">
                <a:solidFill>
                  <a:srgbClr val="6E4494"/>
                </a:solidFill>
                <a:latin typeface="Arial" pitchFamily="34" charset="0"/>
                <a:ea typeface="Arial" pitchFamily="34" charset="-122"/>
                <a:cs typeface="Arial" pitchFamily="34" charset="-120"/>
              </a:rPr>
              <a:t>פריקת נתוני קורא Libre (פברואר 2026)</a:t>
            </a:r>
            <a:endParaRPr lang="he-IL" sz="1800" dirty="0"/>
          </a:p>
        </p:txBody>
      </p:sp>
      <p:sp>
        <p:nvSpPr>
          <p:cNvPr id="7" name="Shape 4"/>
          <p:cNvSpPr/>
          <p:nvPr/>
        </p:nvSpPr>
        <p:spPr>
          <a:xfrm>
            <a:off x="6720840" y="1965960"/>
            <a:ext cx="4919472" cy="1371600"/>
          </a:xfrm>
          <a:prstGeom prst="roundRect">
            <a:avLst>
              <a:gd name="adj" fmla="val 80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8" name="Shape 5"/>
          <p:cNvSpPr/>
          <p:nvPr/>
        </p:nvSpPr>
        <p:spPr>
          <a:xfrm rot="5400000">
            <a:off x="10930363" y="2377440"/>
            <a:ext cx="633515" cy="548640"/>
          </a:xfrm>
          <a:prstGeom prst="hexagon">
            <a:avLst/>
          </a:prstGeom>
          <a:solidFill>
            <a:srgbClr val="4A90D0"/>
          </a:solidFill>
          <a:ln/>
        </p:spPr>
      </p:sp>
      <p:pic>
        <p:nvPicPr>
          <p:cNvPr id="9" name="Image 1" descr="preencoded.png">    </p:cNvPr>
          <p:cNvPicPr>
            <a:picLocks noChangeAspect="1"/>
          </p:cNvPicPr>
          <p:nvPr/>
        </p:nvPicPr>
        <p:blipFill>
          <a:blip r:embed="rId2"/>
          <a:stretch>
            <a:fillRect/>
          </a:stretch>
        </p:blipFill>
        <p:spPr>
          <a:xfrm>
            <a:off x="11120933" y="2525573"/>
            <a:ext cx="252374" cy="252374"/>
          </a:xfrm>
          <a:prstGeom prst="rect">
            <a:avLst/>
          </a:prstGeom>
        </p:spPr>
      </p:pic>
      <p:sp>
        <p:nvSpPr>
          <p:cNvPr id="10" name="Text 6"/>
          <p:cNvSpPr txBox="1"/>
          <p:nvPr/>
        </p:nvSpPr>
        <p:spPr>
          <a:xfrm>
            <a:off x="6903720" y="2057400"/>
            <a:ext cx="3931920" cy="1188720"/>
          </a:xfrm>
          <a:prstGeom prst="rect">
            <a:avLst/>
          </a:prstGeom>
          <a:noFill/>
          <a:ln/>
        </p:spPr>
        <p:txBody>
          <a:bodyPr wrap="square" lIns="0" tIns="0" rIns="0" bIns="0" rtlCol="0" anchor="ctr"/>
          <a:lstStyle/>
          <a:p>
            <a:pPr rtl="1" algn="r" indent="0" marL="0">
              <a:buNone/>
            </a:pPr>
            <a:r>
              <a:rPr lang="he-IL" altLang="en-US" sz="1500" dirty="0">
                <a:solidFill>
                  <a:srgbClr val="2E2A47"/>
                </a:solidFill>
                <a:latin typeface="Arial" pitchFamily="34" charset="0"/>
                <a:ea typeface="Arial" pitchFamily="34" charset="-122"/>
                <a:cs typeface="Arial" pitchFamily="34" charset="-120"/>
              </a:rPr>
              <a:t>חיבור קורא ה-Libre הכחול בכבל USB צהוב למחשב המרפאה לפריקת נתוני הסוכר הרציפים מחודש פברואר.</a:t>
            </a:r>
            <a:endParaRPr lang="he-IL" sz="1500" dirty="0"/>
          </a:p>
        </p:txBody>
      </p:sp>
      <p:sp>
        <p:nvSpPr>
          <p:cNvPr id="11" name="Text 7"/>
          <p:cNvSpPr txBox="1"/>
          <p:nvPr/>
        </p:nvSpPr>
        <p:spPr>
          <a:xfrm>
            <a:off x="6720840" y="3520440"/>
            <a:ext cx="4919472" cy="365760"/>
          </a:xfrm>
          <a:prstGeom prst="rect">
            <a:avLst/>
          </a:prstGeom>
          <a:noFill/>
          <a:ln/>
        </p:spPr>
        <p:txBody>
          <a:bodyPr wrap="square" lIns="0" tIns="0" rIns="0" bIns="0" rtlCol="0" anchor="t"/>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דוח AGP • 14 ימים (5 ינו׳ 2026 – 18 ינו׳ 2026)</a:t>
            </a:r>
            <a:endParaRPr lang="he-IL" sz="1400" dirty="0"/>
          </a:p>
        </p:txBody>
      </p:sp>
      <p:sp>
        <p:nvSpPr>
          <p:cNvPr id="12" name="Shape 8"/>
          <p:cNvSpPr/>
          <p:nvPr/>
        </p:nvSpPr>
        <p:spPr>
          <a:xfrm>
            <a:off x="9249156" y="3931920"/>
            <a:ext cx="2391156" cy="978408"/>
          </a:xfrm>
          <a:prstGeom prst="roundRect">
            <a:avLst>
              <a:gd name="adj" fmla="val 11215"/>
            </a:avLst>
          </a:prstGeom>
          <a:solidFill>
            <a:srgbClr val="FBECEF"/>
          </a:solidFill>
          <a:ln/>
        </p:spPr>
      </p:sp>
      <p:sp>
        <p:nvSpPr>
          <p:cNvPr id="13" name="Text 9"/>
          <p:cNvSpPr txBox="1"/>
          <p:nvPr/>
        </p:nvSpPr>
        <p:spPr>
          <a:xfrm>
            <a:off x="9358884" y="4005072"/>
            <a:ext cx="2171700" cy="274320"/>
          </a:xfrm>
          <a:prstGeom prst="rect">
            <a:avLst/>
          </a:prstGeom>
          <a:noFill/>
          <a:ln/>
        </p:spPr>
        <p:txBody>
          <a:bodyPr wrap="square" lIns="0" tIns="0" rIns="0" bIns="0" rtlCol="0" anchor="t"/>
          <a:lstStyle/>
          <a:p>
            <a:pPr rtl="1" algn="r" indent="0" marL="0">
              <a:buNone/>
            </a:pPr>
            <a:r>
              <a:rPr lang="he-IL" altLang="en-US" sz="1150" b="1" dirty="0">
                <a:solidFill>
                  <a:srgbClr val="6B6785"/>
                </a:solidFill>
                <a:latin typeface="Arial" pitchFamily="34" charset="0"/>
                <a:ea typeface="Arial" pitchFamily="34" charset="-122"/>
                <a:cs typeface="Arial" pitchFamily="34" charset="-120"/>
              </a:rPr>
              <a:t>זמן בטווח (TIR)</a:t>
            </a:r>
            <a:endParaRPr lang="he-IL" sz="1150" dirty="0"/>
          </a:p>
        </p:txBody>
      </p:sp>
      <p:sp>
        <p:nvSpPr>
          <p:cNvPr id="14" name="Text 10"/>
          <p:cNvSpPr txBox="1"/>
          <p:nvPr/>
        </p:nvSpPr>
        <p:spPr>
          <a:xfrm>
            <a:off x="10325176" y="4279392"/>
            <a:ext cx="1205408" cy="548640"/>
          </a:xfrm>
          <a:prstGeom prst="rect">
            <a:avLst/>
          </a:prstGeom>
          <a:noFill/>
          <a:ln/>
        </p:spPr>
        <p:txBody>
          <a:bodyPr wrap="square" lIns="0" tIns="0" rIns="0" bIns="0" rtlCol="0" anchor="ctr"/>
          <a:lstStyle/>
          <a:p>
            <a:pPr algn="r" indent="0" marL="0">
              <a:buNone/>
            </a:pPr>
            <a:r>
              <a:rPr lang="en-US" altLang="en-US" sz="2400" b="1" dirty="0">
                <a:solidFill>
                  <a:srgbClr val="C24863"/>
                </a:solidFill>
                <a:latin typeface="Arial" pitchFamily="34" charset="0"/>
                <a:ea typeface="Arial" pitchFamily="34" charset="-122"/>
                <a:cs typeface="Arial" pitchFamily="34" charset="-120"/>
              </a:rPr>
              <a:t>30%</a:t>
            </a:r>
            <a:endParaRPr lang="en-US" sz="2400" dirty="0"/>
          </a:p>
        </p:txBody>
      </p:sp>
      <p:sp>
        <p:nvSpPr>
          <p:cNvPr id="15" name="Text 11"/>
          <p:cNvSpPr txBox="1"/>
          <p:nvPr/>
        </p:nvSpPr>
        <p:spPr>
          <a:xfrm>
            <a:off x="9358884" y="4370832"/>
            <a:ext cx="1004286" cy="411480"/>
          </a:xfrm>
          <a:prstGeom prst="rect">
            <a:avLst/>
          </a:prstGeom>
          <a:noFill/>
          <a:ln/>
        </p:spPr>
        <p:txBody>
          <a:bodyPr wrap="square" lIns="0" tIns="0" rIns="0" bIns="0" rtlCol="0" anchor="ctr"/>
          <a:lstStyle/>
          <a:p>
            <a:pPr algn="l" indent="0" marL="0">
              <a:buNone/>
            </a:pPr>
            <a:r>
              <a:rPr lang="en-US" altLang="en-US" sz="1050" dirty="0">
                <a:solidFill>
                  <a:srgbClr val="6B6785"/>
                </a:solidFill>
                <a:latin typeface="Arial" pitchFamily="34" charset="0"/>
                <a:ea typeface="Arial" pitchFamily="34" charset="-122"/>
                <a:cs typeface="Arial" pitchFamily="34" charset="-120"/>
              </a:rPr>
              <a:t>70-180 mg/dL</a:t>
            </a:r>
            <a:endParaRPr lang="en-US" sz="1050" dirty="0"/>
          </a:p>
        </p:txBody>
      </p:sp>
      <p:sp>
        <p:nvSpPr>
          <p:cNvPr id="16" name="Shape 12"/>
          <p:cNvSpPr/>
          <p:nvPr/>
        </p:nvSpPr>
        <p:spPr>
          <a:xfrm>
            <a:off x="6720840" y="3931920"/>
            <a:ext cx="2391156" cy="978408"/>
          </a:xfrm>
          <a:prstGeom prst="roundRect">
            <a:avLst>
              <a:gd name="adj" fmla="val 11215"/>
            </a:avLst>
          </a:prstGeom>
          <a:solidFill>
            <a:srgbClr val="FBECEF"/>
          </a:solidFill>
          <a:ln/>
        </p:spPr>
      </p:sp>
      <p:sp>
        <p:nvSpPr>
          <p:cNvPr id="17" name="Text 13"/>
          <p:cNvSpPr txBox="1"/>
          <p:nvPr/>
        </p:nvSpPr>
        <p:spPr>
          <a:xfrm>
            <a:off x="6830568" y="4005072"/>
            <a:ext cx="2171700" cy="274320"/>
          </a:xfrm>
          <a:prstGeom prst="rect">
            <a:avLst/>
          </a:prstGeom>
          <a:noFill/>
          <a:ln/>
        </p:spPr>
        <p:txBody>
          <a:bodyPr wrap="square" lIns="0" tIns="0" rIns="0" bIns="0" rtlCol="0" anchor="t"/>
          <a:lstStyle/>
          <a:p>
            <a:pPr rtl="1" algn="r" indent="0" marL="0">
              <a:buNone/>
            </a:pPr>
            <a:r>
              <a:rPr lang="he-IL" altLang="en-US" sz="1150" b="1" dirty="0">
                <a:solidFill>
                  <a:srgbClr val="6B6785"/>
                </a:solidFill>
                <a:latin typeface="Arial" pitchFamily="34" charset="0"/>
                <a:ea typeface="Arial" pitchFamily="34" charset="-122"/>
                <a:cs typeface="Arial" pitchFamily="34" charset="-120"/>
              </a:rPr>
              <a:t>רמת סוכר ממוצעת</a:t>
            </a:r>
            <a:endParaRPr lang="he-IL" sz="1150" dirty="0"/>
          </a:p>
        </p:txBody>
      </p:sp>
      <p:sp>
        <p:nvSpPr>
          <p:cNvPr id="18" name="Text 14"/>
          <p:cNvSpPr txBox="1"/>
          <p:nvPr/>
        </p:nvSpPr>
        <p:spPr>
          <a:xfrm>
            <a:off x="7796860" y="4279392"/>
            <a:ext cx="1205408" cy="548640"/>
          </a:xfrm>
          <a:prstGeom prst="rect">
            <a:avLst/>
          </a:prstGeom>
          <a:noFill/>
          <a:ln/>
        </p:spPr>
        <p:txBody>
          <a:bodyPr wrap="square" lIns="0" tIns="0" rIns="0" bIns="0" rtlCol="0" anchor="ctr"/>
          <a:lstStyle/>
          <a:p>
            <a:pPr algn="r" indent="0" marL="0">
              <a:buNone/>
            </a:pPr>
            <a:r>
              <a:rPr lang="en-US" altLang="en-US" sz="2400" b="1" dirty="0">
                <a:solidFill>
                  <a:srgbClr val="C24863"/>
                </a:solidFill>
                <a:latin typeface="Arial" pitchFamily="34" charset="0"/>
                <a:ea typeface="Arial" pitchFamily="34" charset="-122"/>
                <a:cs typeface="Arial" pitchFamily="34" charset="-120"/>
              </a:rPr>
              <a:t>220</a:t>
            </a:r>
            <a:endParaRPr lang="en-US" sz="2400" dirty="0"/>
          </a:p>
        </p:txBody>
      </p:sp>
      <p:sp>
        <p:nvSpPr>
          <p:cNvPr id="19" name="Text 15"/>
          <p:cNvSpPr txBox="1"/>
          <p:nvPr/>
        </p:nvSpPr>
        <p:spPr>
          <a:xfrm>
            <a:off x="6830568" y="4370832"/>
            <a:ext cx="1004286" cy="411480"/>
          </a:xfrm>
          <a:prstGeom prst="rect">
            <a:avLst/>
          </a:prstGeom>
          <a:noFill/>
          <a:ln/>
        </p:spPr>
        <p:txBody>
          <a:bodyPr wrap="square" lIns="0" tIns="0" rIns="0" bIns="0" rtlCol="0" anchor="ctr"/>
          <a:lstStyle/>
          <a:p>
            <a:pPr algn="l" indent="0" marL="0">
              <a:buNone/>
            </a:pPr>
            <a:r>
              <a:rPr lang="en-US" altLang="en-US" sz="1050" dirty="0">
                <a:solidFill>
                  <a:srgbClr val="6B6785"/>
                </a:solidFill>
                <a:latin typeface="Arial" pitchFamily="34" charset="0"/>
                <a:ea typeface="Arial" pitchFamily="34" charset="-122"/>
                <a:cs typeface="Arial" pitchFamily="34" charset="-120"/>
              </a:rPr>
              <a:t>mg/dL</a:t>
            </a:r>
            <a:endParaRPr lang="en-US" sz="1050" dirty="0"/>
          </a:p>
        </p:txBody>
      </p:sp>
      <p:sp>
        <p:nvSpPr>
          <p:cNvPr id="20" name="Shape 16"/>
          <p:cNvSpPr/>
          <p:nvPr/>
        </p:nvSpPr>
        <p:spPr>
          <a:xfrm>
            <a:off x="9249156" y="5001768"/>
            <a:ext cx="2391156" cy="978408"/>
          </a:xfrm>
          <a:prstGeom prst="roundRect">
            <a:avLst>
              <a:gd name="adj" fmla="val 11215"/>
            </a:avLst>
          </a:prstGeom>
          <a:solidFill>
            <a:srgbClr val="FBECEF"/>
          </a:solidFill>
          <a:ln/>
        </p:spPr>
      </p:sp>
      <p:sp>
        <p:nvSpPr>
          <p:cNvPr id="21" name="Text 17"/>
          <p:cNvSpPr txBox="1"/>
          <p:nvPr/>
        </p:nvSpPr>
        <p:spPr>
          <a:xfrm>
            <a:off x="9358884" y="5074920"/>
            <a:ext cx="2171700" cy="274320"/>
          </a:xfrm>
          <a:prstGeom prst="rect">
            <a:avLst/>
          </a:prstGeom>
          <a:noFill/>
          <a:ln/>
        </p:spPr>
        <p:txBody>
          <a:bodyPr wrap="square" lIns="0" tIns="0" rIns="0" bIns="0" rtlCol="0" anchor="t"/>
          <a:lstStyle/>
          <a:p>
            <a:pPr rtl="1" algn="r" indent="0" marL="0">
              <a:buNone/>
            </a:pPr>
            <a:r>
              <a:rPr lang="he-IL" altLang="en-US" sz="1150" b="1" dirty="0">
                <a:solidFill>
                  <a:srgbClr val="6B6785"/>
                </a:solidFill>
                <a:latin typeface="Arial" pitchFamily="34" charset="0"/>
                <a:ea typeface="Arial" pitchFamily="34" charset="-122"/>
                <a:cs typeface="Arial" pitchFamily="34" charset="-120"/>
              </a:rPr>
              <a:t>מדד לניהול רמת הסוכר (GMI)</a:t>
            </a:r>
            <a:endParaRPr lang="he-IL" sz="1150" dirty="0"/>
          </a:p>
        </p:txBody>
      </p:sp>
      <p:sp>
        <p:nvSpPr>
          <p:cNvPr id="22" name="Text 18"/>
          <p:cNvSpPr txBox="1"/>
          <p:nvPr/>
        </p:nvSpPr>
        <p:spPr>
          <a:xfrm>
            <a:off x="10325176" y="5349240"/>
            <a:ext cx="1205408" cy="548640"/>
          </a:xfrm>
          <a:prstGeom prst="rect">
            <a:avLst/>
          </a:prstGeom>
          <a:noFill/>
          <a:ln/>
        </p:spPr>
        <p:txBody>
          <a:bodyPr wrap="square" lIns="0" tIns="0" rIns="0" bIns="0" rtlCol="0" anchor="ctr"/>
          <a:lstStyle/>
          <a:p>
            <a:pPr algn="r" indent="0" marL="0">
              <a:buNone/>
            </a:pPr>
            <a:r>
              <a:rPr lang="en-US" altLang="en-US" sz="2400" b="1" dirty="0">
                <a:solidFill>
                  <a:srgbClr val="C24863"/>
                </a:solidFill>
                <a:latin typeface="Arial" pitchFamily="34" charset="0"/>
                <a:ea typeface="Arial" pitchFamily="34" charset="-122"/>
                <a:cs typeface="Arial" pitchFamily="34" charset="-120"/>
              </a:rPr>
              <a:t>8.6%</a:t>
            </a:r>
            <a:endParaRPr lang="en-US" sz="2400" dirty="0"/>
          </a:p>
        </p:txBody>
      </p:sp>
      <p:sp>
        <p:nvSpPr>
          <p:cNvPr id="23" name="Text 19"/>
          <p:cNvSpPr txBox="1"/>
          <p:nvPr/>
        </p:nvSpPr>
        <p:spPr>
          <a:xfrm>
            <a:off x="9358884" y="5440680"/>
            <a:ext cx="1004286" cy="411480"/>
          </a:xfrm>
          <a:prstGeom prst="rect">
            <a:avLst/>
          </a:prstGeom>
          <a:noFill/>
          <a:ln/>
        </p:spPr>
        <p:txBody>
          <a:bodyPr wrap="square" lIns="0" tIns="0" rIns="0" bIns="0" rtlCol="0" anchor="ctr"/>
          <a:lstStyle/>
          <a:p>
            <a:pPr algn="l" indent="0" marL="0">
              <a:buNone/>
            </a:pPr>
            <a:r>
              <a:rPr lang="en-US" altLang="en-US" sz="1050" dirty="0">
                <a:solidFill>
                  <a:srgbClr val="6B6785"/>
                </a:solidFill>
                <a:latin typeface="Arial" pitchFamily="34" charset="0"/>
                <a:ea typeface="Arial" pitchFamily="34" charset="-122"/>
                <a:cs typeface="Arial" pitchFamily="34" charset="-120"/>
              </a:rPr>
              <a:t>70 mmol/mol</a:t>
            </a:r>
            <a:endParaRPr lang="en-US" sz="1050" dirty="0"/>
          </a:p>
        </p:txBody>
      </p:sp>
      <p:sp>
        <p:nvSpPr>
          <p:cNvPr id="24" name="Shape 20"/>
          <p:cNvSpPr/>
          <p:nvPr/>
        </p:nvSpPr>
        <p:spPr>
          <a:xfrm>
            <a:off x="6720840" y="5001768"/>
            <a:ext cx="2391156" cy="978408"/>
          </a:xfrm>
          <a:prstGeom prst="roundRect">
            <a:avLst>
              <a:gd name="adj" fmla="val 11215"/>
            </a:avLst>
          </a:prstGeom>
          <a:solidFill>
            <a:srgbClr val="FBECEF"/>
          </a:solidFill>
          <a:ln/>
        </p:spPr>
      </p:sp>
      <p:sp>
        <p:nvSpPr>
          <p:cNvPr id="25" name="Text 21"/>
          <p:cNvSpPr txBox="1"/>
          <p:nvPr/>
        </p:nvSpPr>
        <p:spPr>
          <a:xfrm>
            <a:off x="6830568" y="5074920"/>
            <a:ext cx="2171700" cy="274320"/>
          </a:xfrm>
          <a:prstGeom prst="rect">
            <a:avLst/>
          </a:prstGeom>
          <a:noFill/>
          <a:ln/>
        </p:spPr>
        <p:txBody>
          <a:bodyPr wrap="square" lIns="0" tIns="0" rIns="0" bIns="0" rtlCol="0" anchor="t"/>
          <a:lstStyle/>
          <a:p>
            <a:pPr rtl="1" algn="r" indent="0" marL="0">
              <a:buNone/>
            </a:pPr>
            <a:r>
              <a:rPr lang="he-IL" altLang="en-US" sz="1150" b="1" dirty="0">
                <a:solidFill>
                  <a:srgbClr val="6B6785"/>
                </a:solidFill>
                <a:latin typeface="Arial" pitchFamily="34" charset="0"/>
                <a:ea typeface="Arial" pitchFamily="34" charset="-122"/>
                <a:cs typeface="Arial" pitchFamily="34" charset="-120"/>
              </a:rPr>
              <a:t>שונות גלוקוז</a:t>
            </a:r>
            <a:endParaRPr lang="he-IL" sz="1150" dirty="0"/>
          </a:p>
        </p:txBody>
      </p:sp>
      <p:sp>
        <p:nvSpPr>
          <p:cNvPr id="26" name="Text 22"/>
          <p:cNvSpPr txBox="1"/>
          <p:nvPr/>
        </p:nvSpPr>
        <p:spPr>
          <a:xfrm>
            <a:off x="7796860" y="5349240"/>
            <a:ext cx="1205408" cy="548640"/>
          </a:xfrm>
          <a:prstGeom prst="rect">
            <a:avLst/>
          </a:prstGeom>
          <a:noFill/>
          <a:ln/>
        </p:spPr>
        <p:txBody>
          <a:bodyPr wrap="square" lIns="0" tIns="0" rIns="0" bIns="0" rtlCol="0" anchor="ctr"/>
          <a:lstStyle/>
          <a:p>
            <a:pPr algn="r" indent="0" marL="0">
              <a:buNone/>
            </a:pPr>
            <a:r>
              <a:rPr lang="en-US" altLang="en-US" sz="2400" b="1" dirty="0">
                <a:solidFill>
                  <a:srgbClr val="C24863"/>
                </a:solidFill>
                <a:latin typeface="Arial" pitchFamily="34" charset="0"/>
                <a:ea typeface="Arial" pitchFamily="34" charset="-122"/>
                <a:cs typeface="Arial" pitchFamily="34" charset="-120"/>
              </a:rPr>
              <a:t>32.1%</a:t>
            </a:r>
            <a:endParaRPr lang="en-US" sz="2400" dirty="0"/>
          </a:p>
        </p:txBody>
      </p:sp>
      <p:sp>
        <p:nvSpPr>
          <p:cNvPr id="27" name="Text 23"/>
          <p:cNvSpPr txBox="1"/>
          <p:nvPr/>
        </p:nvSpPr>
        <p:spPr>
          <a:xfrm>
            <a:off x="6830568" y="5440680"/>
            <a:ext cx="1004286" cy="411480"/>
          </a:xfrm>
          <a:prstGeom prst="rect">
            <a:avLst/>
          </a:prstGeom>
          <a:noFill/>
          <a:ln/>
        </p:spPr>
        <p:txBody>
          <a:bodyPr wrap="square" lIns="0" tIns="0" rIns="0" bIns="0" rtlCol="0" anchor="ctr"/>
          <a:lstStyle/>
          <a:p>
            <a:pPr algn="l" indent="0" marL="0">
              <a:buNone/>
            </a:pPr>
            <a:r>
              <a:rPr lang="en-US" altLang="en-US" sz="1050" dirty="0">
                <a:solidFill>
                  <a:srgbClr val="6B6785"/>
                </a:solidFill>
                <a:latin typeface="Arial" pitchFamily="34" charset="0"/>
                <a:ea typeface="Arial" pitchFamily="34" charset="-122"/>
                <a:cs typeface="Arial" pitchFamily="34" charset="-120"/>
              </a:rPr>
              <a:t>%CV</a:t>
            </a:r>
            <a:endParaRPr lang="en-US" sz="10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2: דילמה וחשיבה קלינית - שאלות פתוחות</a:t>
            </a:r>
            <a:endParaRPr lang="he-IL" sz="2600" dirty="0"/>
          </a:p>
        </p:txBody>
      </p:sp>
      <p:sp>
        <p:nvSpPr>
          <p:cNvPr id="5" name="Shape 3"/>
          <p:cNvSpPr/>
          <p:nvPr/>
        </p:nvSpPr>
        <p:spPr>
          <a:xfrm>
            <a:off x="8127797" y="1508760"/>
            <a:ext cx="3515258" cy="457200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9515876" y="1645920"/>
            <a:ext cx="739100" cy="640080"/>
          </a:xfrm>
          <a:prstGeom prst="hexagon">
            <a:avLst/>
          </a:prstGeom>
          <a:solidFill>
            <a:srgbClr val="4A90D0"/>
          </a:solidFill>
          <a:ln/>
        </p:spPr>
      </p:sp>
      <p:sp>
        <p:nvSpPr>
          <p:cNvPr id="7" name="Text 5"/>
          <p:cNvSpPr txBox="1"/>
          <p:nvPr/>
        </p:nvSpPr>
        <p:spPr>
          <a:xfrm>
            <a:off x="9565386" y="1645920"/>
            <a:ext cx="640080" cy="640080"/>
          </a:xfrm>
          <a:prstGeom prst="rect">
            <a:avLst/>
          </a:prstGeom>
          <a:noFill/>
          <a:ln/>
        </p:spPr>
        <p:txBody>
          <a:bodyPr wrap="square" lIns="0" tIns="0" rIns="0" bIns="0" rtlCol="0" anchor="ctr"/>
          <a:lstStyle/>
          <a:p>
            <a:pPr algn="ctr" indent="0" marL="0">
              <a:buNone/>
            </a:pPr>
            <a:r>
              <a:rPr lang="en-US" alt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8356397" y="2377440"/>
            <a:ext cx="3058058" cy="685800"/>
          </a:xfrm>
          <a:prstGeom prst="rect">
            <a:avLst/>
          </a:prstGeom>
          <a:noFill/>
          <a:ln/>
        </p:spPr>
        <p:txBody>
          <a:bodyPr wrap="square" lIns="0" tIns="0" rIns="0" bIns="0" rtlCol="0" anchor="ctr"/>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האם המטופל עומד ביעד האיזון שלו?</a:t>
            </a:r>
            <a:endParaRPr lang="he-IL" sz="1600" dirty="0"/>
          </a:p>
        </p:txBody>
      </p:sp>
      <p:sp>
        <p:nvSpPr>
          <p:cNvPr id="9" name="Shape 7"/>
          <p:cNvSpPr/>
          <p:nvPr/>
        </p:nvSpPr>
        <p:spPr>
          <a:xfrm>
            <a:off x="9336786" y="3200400"/>
            <a:ext cx="1097280" cy="411480"/>
          </a:xfrm>
          <a:prstGeom prst="roundRect">
            <a:avLst>
              <a:gd name="adj" fmla="val 48889"/>
            </a:avLst>
          </a:prstGeom>
          <a:solidFill>
            <a:srgbClr val="C24863"/>
          </a:solidFill>
          <a:ln/>
        </p:spPr>
      </p:sp>
      <p:sp>
        <p:nvSpPr>
          <p:cNvPr id="10" name="Text 8"/>
          <p:cNvSpPr txBox="1"/>
          <p:nvPr/>
        </p:nvSpPr>
        <p:spPr>
          <a:xfrm>
            <a:off x="9336786" y="3200400"/>
            <a:ext cx="1097280" cy="411480"/>
          </a:xfrm>
          <a:prstGeom prst="rect">
            <a:avLst/>
          </a:prstGeom>
          <a:noFill/>
          <a:ln/>
        </p:spPr>
        <p:txBody>
          <a:bodyPr wrap="square" lIns="0" tIns="0" rIns="0" bIns="0" rtlCol="0" anchor="ctr"/>
          <a:lstStyle/>
          <a:p>
            <a:pPr rtl="1" algn="ctr" indent="0" marL="0">
              <a:buNone/>
            </a:pPr>
            <a:r>
              <a:rPr lang="he-IL" altLang="en-US" sz="1600" b="1" dirty="0">
                <a:solidFill>
                  <a:srgbClr val="FFFFFF"/>
                </a:solidFill>
                <a:latin typeface="Arial" pitchFamily="34" charset="0"/>
                <a:ea typeface="Arial" pitchFamily="34" charset="-122"/>
                <a:cs typeface="Arial" pitchFamily="34" charset="-120"/>
              </a:rPr>
              <a:t>לא</a:t>
            </a:r>
            <a:endParaRPr lang="he-IL" sz="1600" dirty="0"/>
          </a:p>
        </p:txBody>
      </p:sp>
      <p:sp>
        <p:nvSpPr>
          <p:cNvPr id="11" name="Text 9"/>
          <p:cNvSpPr txBox="1"/>
          <p:nvPr/>
        </p:nvSpPr>
        <p:spPr>
          <a:xfrm>
            <a:off x="8447837" y="3886200"/>
            <a:ext cx="2875178" cy="2011680"/>
          </a:xfrm>
          <a:prstGeom prst="rect">
            <a:avLst/>
          </a:prstGeom>
          <a:noFill/>
          <a:ln/>
        </p:spPr>
        <p:txBody>
          <a:bodyPr wrap="square" lIns="0" tIns="0" rIns="0" bIns="0" rtlCol="0" anchor="t"/>
          <a:lstStyle/>
          <a:p>
            <a:pPr rtl="1" algn="ctr" indent="0" marL="0">
              <a:buNone/>
            </a:pPr>
            <a:r>
              <a:rPr lang="he-IL" altLang="en-US" sz="1800" dirty="0">
                <a:solidFill>
                  <a:srgbClr val="2E2A47"/>
                </a:solidFill>
                <a:latin typeface="Arial" pitchFamily="34" charset="0"/>
                <a:ea typeface="Arial" pitchFamily="34" charset="-122"/>
                <a:cs typeface="Arial" pitchFamily="34" charset="-120"/>
              </a:rPr>
              <a:t>כי ה-A1C עדיין 8.6% והמטופל אינו מאוזן.</a:t>
            </a:r>
            <a:endParaRPr lang="he-IL" sz="1800" dirty="0"/>
          </a:p>
        </p:txBody>
      </p:sp>
      <p:sp>
        <p:nvSpPr>
          <p:cNvPr id="12" name="Shape 10"/>
          <p:cNvSpPr/>
          <p:nvPr/>
        </p:nvSpPr>
        <p:spPr>
          <a:xfrm>
            <a:off x="4338218" y="1508760"/>
            <a:ext cx="3515258" cy="457200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3" name="Shape 11"/>
          <p:cNvSpPr/>
          <p:nvPr/>
        </p:nvSpPr>
        <p:spPr>
          <a:xfrm rot="5400000">
            <a:off x="5726297" y="1645920"/>
            <a:ext cx="739100" cy="640080"/>
          </a:xfrm>
          <a:prstGeom prst="hexagon">
            <a:avLst/>
          </a:prstGeom>
          <a:solidFill>
            <a:srgbClr val="5B6BB5"/>
          </a:solidFill>
          <a:ln/>
        </p:spPr>
      </p:sp>
      <p:sp>
        <p:nvSpPr>
          <p:cNvPr id="14" name="Text 12"/>
          <p:cNvSpPr txBox="1"/>
          <p:nvPr/>
        </p:nvSpPr>
        <p:spPr>
          <a:xfrm>
            <a:off x="5775808" y="1645920"/>
            <a:ext cx="640080" cy="640080"/>
          </a:xfrm>
          <a:prstGeom prst="rect">
            <a:avLst/>
          </a:prstGeom>
          <a:noFill/>
          <a:ln/>
        </p:spPr>
        <p:txBody>
          <a:bodyPr wrap="square" lIns="0" tIns="0" rIns="0" bIns="0" rtlCol="0" anchor="ctr"/>
          <a:lstStyle/>
          <a:p>
            <a:pPr algn="ctr" indent="0" marL="0">
              <a:buNone/>
            </a:pPr>
            <a:r>
              <a:rPr lang="en-US" alt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3"/>
          <p:cNvSpPr txBox="1"/>
          <p:nvPr/>
        </p:nvSpPr>
        <p:spPr>
          <a:xfrm>
            <a:off x="4566818" y="2377440"/>
            <a:ext cx="3058058" cy="685800"/>
          </a:xfrm>
          <a:prstGeom prst="rect">
            <a:avLst/>
          </a:prstGeom>
          <a:noFill/>
          <a:ln/>
        </p:spPr>
        <p:txBody>
          <a:bodyPr wrap="square" lIns="0" tIns="0" rIns="0" bIns="0" rtlCol="0" anchor="ctr"/>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האם הטיפול שהמטופל מקבל מספיק אופטימלי למצב שלו?</a:t>
            </a:r>
            <a:endParaRPr lang="he-IL" sz="1600" dirty="0"/>
          </a:p>
        </p:txBody>
      </p:sp>
      <p:sp>
        <p:nvSpPr>
          <p:cNvPr id="16" name="Shape 14"/>
          <p:cNvSpPr/>
          <p:nvPr/>
        </p:nvSpPr>
        <p:spPr>
          <a:xfrm>
            <a:off x="5547208" y="3200400"/>
            <a:ext cx="1097280" cy="411480"/>
          </a:xfrm>
          <a:prstGeom prst="roundRect">
            <a:avLst>
              <a:gd name="adj" fmla="val 48889"/>
            </a:avLst>
          </a:prstGeom>
          <a:solidFill>
            <a:srgbClr val="C24863"/>
          </a:solidFill>
          <a:ln/>
        </p:spPr>
      </p:sp>
      <p:sp>
        <p:nvSpPr>
          <p:cNvPr id="17" name="Text 15"/>
          <p:cNvSpPr txBox="1"/>
          <p:nvPr/>
        </p:nvSpPr>
        <p:spPr>
          <a:xfrm>
            <a:off x="5547208" y="3200400"/>
            <a:ext cx="1097280" cy="411480"/>
          </a:xfrm>
          <a:prstGeom prst="rect">
            <a:avLst/>
          </a:prstGeom>
          <a:noFill/>
          <a:ln/>
        </p:spPr>
        <p:txBody>
          <a:bodyPr wrap="square" lIns="0" tIns="0" rIns="0" bIns="0" rtlCol="0" anchor="ctr"/>
          <a:lstStyle/>
          <a:p>
            <a:pPr rtl="1" algn="ctr" indent="0" marL="0">
              <a:buNone/>
            </a:pPr>
            <a:r>
              <a:rPr lang="he-IL" altLang="en-US" sz="1600" b="1" dirty="0">
                <a:solidFill>
                  <a:srgbClr val="FFFFFF"/>
                </a:solidFill>
                <a:latin typeface="Arial" pitchFamily="34" charset="0"/>
                <a:ea typeface="Arial" pitchFamily="34" charset="-122"/>
                <a:cs typeface="Arial" pitchFamily="34" charset="-120"/>
              </a:rPr>
              <a:t>לא.</a:t>
            </a:r>
            <a:endParaRPr lang="he-IL" sz="1600" dirty="0"/>
          </a:p>
        </p:txBody>
      </p:sp>
      <p:sp>
        <p:nvSpPr>
          <p:cNvPr id="18" name="Text 16"/>
          <p:cNvSpPr txBox="1"/>
          <p:nvPr/>
        </p:nvSpPr>
        <p:spPr>
          <a:xfrm>
            <a:off x="4658258" y="3886200"/>
            <a:ext cx="2875178" cy="2011680"/>
          </a:xfrm>
          <a:prstGeom prst="rect">
            <a:avLst/>
          </a:prstGeom>
          <a:noFill/>
          <a:ln/>
        </p:spPr>
        <p:txBody>
          <a:bodyPr wrap="square" lIns="0" tIns="0" rIns="0" bIns="0" rtlCol="0" anchor="t"/>
          <a:lstStyle/>
          <a:p>
            <a:pPr rtl="1" algn="ctr" indent="0" marL="0">
              <a:buNone/>
            </a:pPr>
            <a:r>
              <a:rPr lang="he-IL" altLang="en-US" sz="1800" dirty="0">
                <a:solidFill>
                  <a:srgbClr val="2E2A47"/>
                </a:solidFill>
                <a:latin typeface="Arial" pitchFamily="34" charset="0"/>
                <a:ea typeface="Arial" pitchFamily="34" charset="-122"/>
                <a:cs typeface="Arial" pitchFamily="34" charset="-120"/>
              </a:rPr>
              <a:t>מתן מינוני אינסולין גבוהים לא מספק מספיק הגנה נגד סיבוכים טרשתיים.</a:t>
            </a:r>
            <a:endParaRPr lang="he-IL" sz="1800" dirty="0"/>
          </a:p>
        </p:txBody>
      </p:sp>
      <p:sp>
        <p:nvSpPr>
          <p:cNvPr id="19" name="Shape 17"/>
          <p:cNvSpPr/>
          <p:nvPr/>
        </p:nvSpPr>
        <p:spPr>
          <a:xfrm>
            <a:off x="548640" y="1508760"/>
            <a:ext cx="3515258" cy="457200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0" name="Shape 18"/>
          <p:cNvSpPr/>
          <p:nvPr/>
        </p:nvSpPr>
        <p:spPr>
          <a:xfrm rot="5400000">
            <a:off x="1936719" y="1645920"/>
            <a:ext cx="739100" cy="640080"/>
          </a:xfrm>
          <a:prstGeom prst="hexagon">
            <a:avLst/>
          </a:prstGeom>
          <a:solidFill>
            <a:srgbClr val="6E4494"/>
          </a:solidFill>
          <a:ln/>
        </p:spPr>
      </p:sp>
      <p:sp>
        <p:nvSpPr>
          <p:cNvPr id="21" name="Text 19"/>
          <p:cNvSpPr txBox="1"/>
          <p:nvPr/>
        </p:nvSpPr>
        <p:spPr>
          <a:xfrm>
            <a:off x="1986229" y="1645920"/>
            <a:ext cx="640080" cy="640080"/>
          </a:xfrm>
          <a:prstGeom prst="rect">
            <a:avLst/>
          </a:prstGeom>
          <a:noFill/>
          <a:ln/>
        </p:spPr>
        <p:txBody>
          <a:bodyPr wrap="square" lIns="0" tIns="0" rIns="0" bIns="0" rtlCol="0" anchor="ctr"/>
          <a:lstStyle/>
          <a:p>
            <a:pPr algn="ctr" indent="0" marL="0">
              <a:buNone/>
            </a:pPr>
            <a:r>
              <a:rPr lang="en-US" alt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2" name="Text 20"/>
          <p:cNvSpPr txBox="1"/>
          <p:nvPr/>
        </p:nvSpPr>
        <p:spPr>
          <a:xfrm>
            <a:off x="777240" y="2377440"/>
            <a:ext cx="3058058" cy="685800"/>
          </a:xfrm>
          <a:prstGeom prst="rect">
            <a:avLst/>
          </a:prstGeom>
          <a:noFill/>
          <a:ln/>
        </p:spPr>
        <p:txBody>
          <a:bodyPr wrap="square" lIns="0" tIns="0" rIns="0" bIns="0" rtlCol="0" anchor="ctr"/>
          <a:lstStyle/>
          <a:p>
            <a:pPr rtl="1" algn="ctr" indent="0" marL="0">
              <a:buNone/>
            </a:pPr>
            <a:r>
              <a:rPr lang="he-IL" altLang="en-US" sz="1600" b="1" dirty="0">
                <a:solidFill>
                  <a:srgbClr val="2B2560"/>
                </a:solidFill>
                <a:latin typeface="Arial" pitchFamily="34" charset="0"/>
                <a:ea typeface="Arial" pitchFamily="34" charset="-122"/>
                <a:cs typeface="Arial" pitchFamily="34" charset="-120"/>
              </a:rPr>
              <a:t>איזה שינויים אפשר ונדרש לבצע? ולמה?</a:t>
            </a:r>
            <a:endParaRPr lang="he-IL" sz="1600" dirty="0"/>
          </a:p>
        </p:txBody>
      </p:sp>
      <p:sp>
        <p:nvSpPr>
          <p:cNvPr id="23" name="Shape 21"/>
          <p:cNvSpPr/>
          <p:nvPr/>
        </p:nvSpPr>
        <p:spPr>
          <a:xfrm>
            <a:off x="777240" y="3154680"/>
            <a:ext cx="3058058" cy="502920"/>
          </a:xfrm>
          <a:prstGeom prst="roundRect">
            <a:avLst>
              <a:gd name="adj" fmla="val 36364"/>
            </a:avLst>
          </a:prstGeom>
          <a:solidFill>
            <a:srgbClr val="E5F4F2"/>
          </a:solidFill>
          <a:ln/>
        </p:spPr>
      </p:sp>
      <p:sp>
        <p:nvSpPr>
          <p:cNvPr id="24" name="Text 22"/>
          <p:cNvSpPr txBox="1"/>
          <p:nvPr/>
        </p:nvSpPr>
        <p:spPr>
          <a:xfrm>
            <a:off x="822960" y="3154680"/>
            <a:ext cx="2966618" cy="502920"/>
          </a:xfrm>
          <a:prstGeom prst="rect">
            <a:avLst/>
          </a:prstGeom>
          <a:noFill/>
          <a:ln/>
        </p:spPr>
        <p:txBody>
          <a:bodyPr wrap="square" lIns="0" tIns="0" rIns="0" bIns="0" rtlCol="0" anchor="ct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הוספת טיפול ב-GLP-1 (וויגובי):</a:t>
            </a:r>
            <a:endParaRPr lang="he-IL" sz="1500" dirty="0"/>
          </a:p>
        </p:txBody>
      </p:sp>
      <p:sp>
        <p:nvSpPr>
          <p:cNvPr id="25" name="Text 23"/>
          <p:cNvSpPr txBox="1"/>
          <p:nvPr/>
        </p:nvSpPr>
        <p:spPr>
          <a:xfrm>
            <a:off x="822960" y="3840480"/>
            <a:ext cx="2966618" cy="2103120"/>
          </a:xfrm>
          <a:prstGeom prst="rect">
            <a:avLst/>
          </a:prstGeom>
          <a:noFill/>
          <a:ln/>
        </p:spPr>
        <p:txBody>
          <a:bodyPr wrap="square" lIns="0" tIns="0" rIns="0" bIns="0" rtlCol="0" anchor="t"/>
          <a:lstStyle/>
          <a:p>
            <a:pPr rtl="1" algn="r" marL="177800" indent="-177800">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הורדת משקל והפחתת תאבון.</a:t>
            </a:r>
            <a:endParaRPr lang="he-IL" sz="1500" dirty="0"/>
          </a:p>
          <a:p>
            <a:pPr rtl="1" algn="r" marL="177800" indent="-177800">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הענקת הגנה קרדיווסקולרית ומוחית למניעת סיבוכים טרשתיים.</a:t>
            </a:r>
            <a:endParaRPr lang="he-IL" sz="1500" dirty="0"/>
          </a:p>
          <a:p>
            <a:pPr rtl="1" algn="r" marL="177800" indent="-177800">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שיפור בתנגודת לאינסולין.</a:t>
            </a:r>
            <a:endParaRPr lang="he-IL" sz="15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2: תוצאות מחקרי STEP - יעילות מוכחת בירידה במשקל</a:t>
            </a:r>
            <a:endParaRPr lang="he-IL" sz="2600" dirty="0"/>
          </a:p>
        </p:txBody>
      </p:sp>
      <p:pic>
        <p:nvPicPr>
          <p:cNvPr id="5" name="Image 0" descr="/tmp/claude-0/-home-claude/83ba285b-7ef1-5a4f-9afe-ea04c4b9d63d/scratchpad/src/ppt/media/image-16-2.png">    </p:cNvPr>
          <p:cNvPicPr>
            <a:picLocks noChangeAspect="1"/>
          </p:cNvPicPr>
          <p:nvPr/>
        </p:nvPicPr>
        <p:blipFill>
          <a:blip r:embed="rId1"/>
          <a:stretch>
            <a:fillRect/>
          </a:stretch>
        </p:blipFill>
        <p:spPr>
          <a:xfrm>
            <a:off x="548640" y="2258568"/>
            <a:ext cx="5394960" cy="3026664"/>
          </a:xfrm>
          <a:prstGeom prst="rect">
            <a:avLst/>
          </a:prstGeom>
          <a:effectLst>
            <a:outerShdw sx="100000" sy="100000" kx="0" ky="0" algn="bl" rotWithShape="0" blurRad="127000" dist="38100" dir="5400000">
              <a:srgbClr val="2B2560">
                <a:alpha val="10000"/>
              </a:srgbClr>
            </a:outerShdw>
          </a:effectLst>
        </p:spPr>
      </p:pic>
      <p:sp>
        <p:nvSpPr>
          <p:cNvPr id="6" name="Text 3"/>
          <p:cNvSpPr txBox="1"/>
          <p:nvPr/>
        </p:nvSpPr>
        <p:spPr>
          <a:xfrm>
            <a:off x="6263640" y="1463040"/>
            <a:ext cx="5376672" cy="411480"/>
          </a:xfrm>
          <a:prstGeom prst="rect">
            <a:avLst/>
          </a:prstGeom>
          <a:noFill/>
          <a:ln/>
        </p:spPr>
        <p:txBody>
          <a:bodyPr wrap="square" lIns="0" tIns="0" rIns="0" bIns="0" rtlCol="0" anchor="ctr"/>
          <a:lstStyle/>
          <a:p>
            <a:pPr rtl="1" algn="r" indent="0" marL="0">
              <a:buNone/>
            </a:pPr>
            <a:r>
              <a:rPr lang="he-IL" altLang="en-US" sz="1550" b="1" dirty="0">
                <a:solidFill>
                  <a:srgbClr val="6E4494"/>
                </a:solidFill>
                <a:latin typeface="Arial" pitchFamily="34" charset="0"/>
                <a:ea typeface="Arial" pitchFamily="34" charset="-122"/>
                <a:cs typeface="Arial" pitchFamily="34" charset="-120"/>
              </a:rPr>
              <a:t>השפעה על ירידה במשקל (תוכנית STEP)</a:t>
            </a:r>
            <a:endParaRPr lang="he-IL" sz="1550" dirty="0"/>
          </a:p>
        </p:txBody>
      </p:sp>
      <p:sp>
        <p:nvSpPr>
          <p:cNvPr id="7" name="Shape 4"/>
          <p:cNvSpPr/>
          <p:nvPr/>
        </p:nvSpPr>
        <p:spPr>
          <a:xfrm>
            <a:off x="6263640" y="1965960"/>
            <a:ext cx="5376672" cy="934974"/>
          </a:xfrm>
          <a:prstGeom prst="roundRect">
            <a:avLst>
              <a:gd name="adj" fmla="val 11736"/>
            </a:avLst>
          </a:prstGeom>
          <a:solidFill>
            <a:srgbClr val="FFFFFF"/>
          </a:solidFill>
          <a:ln w="9525">
            <a:solidFill>
              <a:srgbClr val="E3DFF0"/>
            </a:solidFill>
            <a:prstDash val="solid"/>
          </a:ln>
        </p:spPr>
      </p:sp>
      <p:sp>
        <p:nvSpPr>
          <p:cNvPr id="8" name="Shape 5"/>
          <p:cNvSpPr/>
          <p:nvPr/>
        </p:nvSpPr>
        <p:spPr>
          <a:xfrm>
            <a:off x="10378440" y="2057400"/>
            <a:ext cx="1170432" cy="752094"/>
          </a:xfrm>
          <a:prstGeom prst="roundRect">
            <a:avLst>
              <a:gd name="adj" fmla="val 12158"/>
            </a:avLst>
          </a:prstGeom>
          <a:solidFill>
            <a:srgbClr val="F3F0FA"/>
          </a:solidFill>
          <a:ln/>
        </p:spPr>
      </p:sp>
      <p:sp>
        <p:nvSpPr>
          <p:cNvPr id="9" name="Text 6"/>
          <p:cNvSpPr txBox="1"/>
          <p:nvPr/>
        </p:nvSpPr>
        <p:spPr>
          <a:xfrm>
            <a:off x="10378440" y="2075688"/>
            <a:ext cx="1170432" cy="451256"/>
          </a:xfrm>
          <a:prstGeom prst="rect">
            <a:avLst/>
          </a:prstGeom>
          <a:noFill/>
          <a:ln/>
        </p:spPr>
        <p:txBody>
          <a:bodyPr wrap="square" lIns="0" tIns="0" rIns="0" bIns="0" rtlCol="0" anchor="ctr"/>
          <a:lstStyle/>
          <a:p>
            <a:pPr algn="ctr" indent="0" marL="0">
              <a:buNone/>
            </a:pPr>
            <a:r>
              <a:rPr lang="en-US" altLang="en-US" sz="2000" b="1" dirty="0">
                <a:solidFill>
                  <a:srgbClr val="6E4494"/>
                </a:solidFill>
                <a:latin typeface="Arial" pitchFamily="34" charset="0"/>
                <a:ea typeface="Arial" pitchFamily="34" charset="-122"/>
                <a:cs typeface="Arial" pitchFamily="34" charset="-120"/>
              </a:rPr>
              <a:t>16.9%</a:t>
            </a:r>
            <a:endParaRPr lang="en-US" sz="2000" dirty="0"/>
          </a:p>
        </p:txBody>
      </p:sp>
      <p:sp>
        <p:nvSpPr>
          <p:cNvPr id="10" name="Text 7"/>
          <p:cNvSpPr txBox="1"/>
          <p:nvPr/>
        </p:nvSpPr>
        <p:spPr>
          <a:xfrm>
            <a:off x="10405872" y="2493615"/>
            <a:ext cx="1115568" cy="285796"/>
          </a:xfrm>
          <a:prstGeom prst="rect">
            <a:avLst/>
          </a:prstGeom>
          <a:noFill/>
          <a:ln/>
        </p:spPr>
        <p:txBody>
          <a:bodyPr wrap="square" lIns="0" tIns="0" rIns="0" bIns="0" rtlCol="0" anchor="t"/>
          <a:lstStyle/>
          <a:p>
            <a:pPr algn="ctr" indent="0" marL="0">
              <a:buNone/>
            </a:pPr>
            <a:r>
              <a:rPr lang="en-US" altLang="en-US" sz="1050" b="1" dirty="0">
                <a:solidFill>
                  <a:srgbClr val="6B6785"/>
                </a:solidFill>
                <a:latin typeface="Arial" pitchFamily="34" charset="0"/>
                <a:ea typeface="Arial" pitchFamily="34" charset="-122"/>
                <a:cs typeface="Arial" pitchFamily="34" charset="-120"/>
              </a:rPr>
              <a:t>STEP 1</a:t>
            </a:r>
            <a:endParaRPr lang="en-US" sz="1050" dirty="0"/>
          </a:p>
        </p:txBody>
      </p:sp>
      <p:sp>
        <p:nvSpPr>
          <p:cNvPr id="11" name="Text 8"/>
          <p:cNvSpPr txBox="1"/>
          <p:nvPr/>
        </p:nvSpPr>
        <p:spPr>
          <a:xfrm>
            <a:off x="6400800" y="2002536"/>
            <a:ext cx="3886200" cy="861822"/>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ירידה דרמטית ומשמעותית במשקל (STEP 1): </a:t>
            </a:r>
            <a:pPr rtl="1" algn="r" indent="0" marL="0">
              <a:buNone/>
            </a:pPr>
            <a:r>
              <a:rPr lang="he-IL" altLang="en-US" sz="1250" dirty="0">
                <a:solidFill>
                  <a:srgbClr val="2E2A47"/>
                </a:solidFill>
                <a:latin typeface="Arial" pitchFamily="34" charset="0"/>
                <a:ea typeface="Arial" pitchFamily="34" charset="-122"/>
                <a:cs typeface="Arial" pitchFamily="34" charset="-120"/>
              </a:rPr>
              <a:t>הטיפול ב-Wegovy (סמגלוטייד 2.4 מ"ג) הוביל לירידה ממוצעת מרשימה של 16.9% ממשקל הגוף כעבור 68 שבועות (לעומת 2.4% בלבד בקבוצת הפלצבו).</a:t>
            </a:r>
            <a:endParaRPr lang="he-IL" sz="1250" dirty="0"/>
          </a:p>
        </p:txBody>
      </p:sp>
      <p:sp>
        <p:nvSpPr>
          <p:cNvPr id="12" name="Shape 9"/>
          <p:cNvSpPr/>
          <p:nvPr/>
        </p:nvSpPr>
        <p:spPr>
          <a:xfrm>
            <a:off x="6263640" y="3010662"/>
            <a:ext cx="5376672" cy="934974"/>
          </a:xfrm>
          <a:prstGeom prst="roundRect">
            <a:avLst>
              <a:gd name="adj" fmla="val 11736"/>
            </a:avLst>
          </a:prstGeom>
          <a:solidFill>
            <a:srgbClr val="FFFFFF"/>
          </a:solidFill>
          <a:ln w="9525">
            <a:solidFill>
              <a:srgbClr val="E3DFF0"/>
            </a:solidFill>
            <a:prstDash val="solid"/>
          </a:ln>
        </p:spPr>
      </p:sp>
      <p:sp>
        <p:nvSpPr>
          <p:cNvPr id="13" name="Shape 10"/>
          <p:cNvSpPr/>
          <p:nvPr/>
        </p:nvSpPr>
        <p:spPr>
          <a:xfrm>
            <a:off x="10378440" y="3102102"/>
            <a:ext cx="1170432" cy="752094"/>
          </a:xfrm>
          <a:prstGeom prst="roundRect">
            <a:avLst>
              <a:gd name="adj" fmla="val 12158"/>
            </a:avLst>
          </a:prstGeom>
          <a:solidFill>
            <a:srgbClr val="F3F0FA"/>
          </a:solidFill>
          <a:ln/>
        </p:spPr>
      </p:sp>
      <p:sp>
        <p:nvSpPr>
          <p:cNvPr id="14" name="Text 11"/>
          <p:cNvSpPr txBox="1"/>
          <p:nvPr/>
        </p:nvSpPr>
        <p:spPr>
          <a:xfrm>
            <a:off x="10378440" y="3120390"/>
            <a:ext cx="1170432" cy="451256"/>
          </a:xfrm>
          <a:prstGeom prst="rect">
            <a:avLst/>
          </a:prstGeom>
          <a:noFill/>
          <a:ln/>
        </p:spPr>
        <p:txBody>
          <a:bodyPr wrap="square" lIns="0" tIns="0" rIns="0" bIns="0" rtlCol="0" anchor="ctr"/>
          <a:lstStyle/>
          <a:p>
            <a:pPr algn="ctr" indent="0" marL="0">
              <a:buNone/>
            </a:pPr>
            <a:r>
              <a:rPr lang="en-US" altLang="en-US" sz="2000" b="1" dirty="0">
                <a:solidFill>
                  <a:srgbClr val="6E4494"/>
                </a:solidFill>
                <a:latin typeface="Arial" pitchFamily="34" charset="0"/>
                <a:ea typeface="Arial" pitchFamily="34" charset="-122"/>
                <a:cs typeface="Arial" pitchFamily="34" charset="-120"/>
              </a:rPr>
              <a:t>16.7%</a:t>
            </a:r>
            <a:endParaRPr lang="en-US" sz="2000" dirty="0"/>
          </a:p>
        </p:txBody>
      </p:sp>
      <p:sp>
        <p:nvSpPr>
          <p:cNvPr id="15" name="Text 12"/>
          <p:cNvSpPr txBox="1"/>
          <p:nvPr/>
        </p:nvSpPr>
        <p:spPr>
          <a:xfrm>
            <a:off x="10405872" y="3538317"/>
            <a:ext cx="1115568" cy="285796"/>
          </a:xfrm>
          <a:prstGeom prst="rect">
            <a:avLst/>
          </a:prstGeom>
          <a:noFill/>
          <a:ln/>
        </p:spPr>
        <p:txBody>
          <a:bodyPr wrap="square" lIns="0" tIns="0" rIns="0" bIns="0" rtlCol="0" anchor="t"/>
          <a:lstStyle/>
          <a:p>
            <a:pPr algn="ctr" indent="0" marL="0">
              <a:buNone/>
            </a:pPr>
            <a:r>
              <a:rPr lang="en-US" altLang="en-US" sz="1050" b="1" dirty="0">
                <a:solidFill>
                  <a:srgbClr val="6B6785"/>
                </a:solidFill>
                <a:latin typeface="Arial" pitchFamily="34" charset="0"/>
                <a:ea typeface="Arial" pitchFamily="34" charset="-122"/>
                <a:cs typeface="Arial" pitchFamily="34" charset="-120"/>
              </a:rPr>
              <a:t>STEP 5</a:t>
            </a:r>
            <a:endParaRPr lang="en-US" sz="1050" dirty="0"/>
          </a:p>
        </p:txBody>
      </p:sp>
      <p:sp>
        <p:nvSpPr>
          <p:cNvPr id="16" name="Text 13"/>
          <p:cNvSpPr txBox="1"/>
          <p:nvPr/>
        </p:nvSpPr>
        <p:spPr>
          <a:xfrm>
            <a:off x="6400800" y="3047238"/>
            <a:ext cx="3886200" cy="861822"/>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שמירה על המשקל לאורך זמן (STEP 5): </a:t>
            </a:r>
            <a:pPr rtl="1" algn="r" indent="0" marL="0">
              <a:buNone/>
            </a:pPr>
            <a:r>
              <a:rPr lang="he-IL" altLang="en-US" sz="1250" dirty="0">
                <a:solidFill>
                  <a:srgbClr val="2E2A47"/>
                </a:solidFill>
                <a:latin typeface="Arial" pitchFamily="34" charset="0"/>
                <a:ea typeface="Arial" pitchFamily="34" charset="-122"/>
                <a:cs typeface="Arial" pitchFamily="34" charset="-120"/>
              </a:rPr>
              <a:t>מחקר ארוך הטווח (104 שבועות / שנתיים) הוכיח שמירה יציבה ומתמשכת על הירידה במשקל עם ירידה ממוצעת של 16.7%.</a:t>
            </a:r>
            <a:endParaRPr lang="he-IL" sz="1250" dirty="0"/>
          </a:p>
        </p:txBody>
      </p:sp>
      <p:sp>
        <p:nvSpPr>
          <p:cNvPr id="17" name="Shape 14"/>
          <p:cNvSpPr/>
          <p:nvPr/>
        </p:nvSpPr>
        <p:spPr>
          <a:xfrm>
            <a:off x="6263640" y="4055364"/>
            <a:ext cx="5376672" cy="934974"/>
          </a:xfrm>
          <a:prstGeom prst="roundRect">
            <a:avLst>
              <a:gd name="adj" fmla="val 11736"/>
            </a:avLst>
          </a:prstGeom>
          <a:solidFill>
            <a:srgbClr val="FFFFFF"/>
          </a:solidFill>
          <a:ln w="9525">
            <a:solidFill>
              <a:srgbClr val="E3DFF0"/>
            </a:solidFill>
            <a:prstDash val="solid"/>
          </a:ln>
        </p:spPr>
      </p:sp>
      <p:sp>
        <p:nvSpPr>
          <p:cNvPr id="18" name="Shape 15"/>
          <p:cNvSpPr/>
          <p:nvPr/>
        </p:nvSpPr>
        <p:spPr>
          <a:xfrm>
            <a:off x="10378440" y="4146804"/>
            <a:ext cx="1170432" cy="752094"/>
          </a:xfrm>
          <a:prstGeom prst="roundRect">
            <a:avLst>
              <a:gd name="adj" fmla="val 12158"/>
            </a:avLst>
          </a:prstGeom>
          <a:solidFill>
            <a:srgbClr val="F3F0FA"/>
          </a:solidFill>
          <a:ln/>
        </p:spPr>
      </p:sp>
      <p:sp>
        <p:nvSpPr>
          <p:cNvPr id="19" name="Text 16"/>
          <p:cNvSpPr txBox="1"/>
          <p:nvPr/>
        </p:nvSpPr>
        <p:spPr>
          <a:xfrm>
            <a:off x="10378440" y="4165092"/>
            <a:ext cx="1170432" cy="451256"/>
          </a:xfrm>
          <a:prstGeom prst="rect">
            <a:avLst/>
          </a:prstGeom>
          <a:noFill/>
          <a:ln/>
        </p:spPr>
        <p:txBody>
          <a:bodyPr wrap="square" lIns="0" tIns="0" rIns="0" bIns="0" rtlCol="0" anchor="ctr"/>
          <a:lstStyle/>
          <a:p>
            <a:pPr algn="ctr" indent="0" marL="0">
              <a:buNone/>
            </a:pPr>
            <a:r>
              <a:rPr lang="en-US" altLang="en-US" sz="2000" b="1" dirty="0">
                <a:solidFill>
                  <a:srgbClr val="6E4494"/>
                </a:solidFill>
                <a:latin typeface="Arial" pitchFamily="34" charset="0"/>
                <a:ea typeface="Arial" pitchFamily="34" charset="-122"/>
                <a:cs typeface="Arial" pitchFamily="34" charset="-120"/>
              </a:rPr>
              <a:t>17.1%</a:t>
            </a:r>
            <a:endParaRPr lang="en-US" sz="2000" dirty="0"/>
          </a:p>
        </p:txBody>
      </p:sp>
      <p:sp>
        <p:nvSpPr>
          <p:cNvPr id="20" name="Text 17"/>
          <p:cNvSpPr txBox="1"/>
          <p:nvPr/>
        </p:nvSpPr>
        <p:spPr>
          <a:xfrm>
            <a:off x="10405872" y="4583019"/>
            <a:ext cx="1115568" cy="285796"/>
          </a:xfrm>
          <a:prstGeom prst="rect">
            <a:avLst/>
          </a:prstGeom>
          <a:noFill/>
          <a:ln/>
        </p:spPr>
        <p:txBody>
          <a:bodyPr wrap="square" lIns="0" tIns="0" rIns="0" bIns="0" rtlCol="0" anchor="t"/>
          <a:lstStyle/>
          <a:p>
            <a:pPr algn="ctr" indent="0" marL="0">
              <a:buNone/>
            </a:pPr>
            <a:r>
              <a:rPr lang="en-US" altLang="en-US" sz="1050" b="1" dirty="0">
                <a:solidFill>
                  <a:srgbClr val="6B6785"/>
                </a:solidFill>
                <a:latin typeface="Arial" pitchFamily="34" charset="0"/>
                <a:ea typeface="Arial" pitchFamily="34" charset="-122"/>
                <a:cs typeface="Arial" pitchFamily="34" charset="-120"/>
              </a:rPr>
              <a:t>STEP 8</a:t>
            </a:r>
            <a:endParaRPr lang="en-US" sz="1050" dirty="0"/>
          </a:p>
        </p:txBody>
      </p:sp>
      <p:sp>
        <p:nvSpPr>
          <p:cNvPr id="21" name="Text 18"/>
          <p:cNvSpPr txBox="1"/>
          <p:nvPr/>
        </p:nvSpPr>
        <p:spPr>
          <a:xfrm>
            <a:off x="6400800" y="4091940"/>
            <a:ext cx="3886200" cy="861822"/>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עליונות מובהקת בהשוואה לליראגלוטייד (STEP 8): </a:t>
            </a:r>
            <a:pPr rtl="1" algn="r" indent="0" marL="0">
              <a:buNone/>
            </a:pPr>
            <a:r>
              <a:rPr lang="he-IL" altLang="en-US" sz="1250" dirty="0">
                <a:solidFill>
                  <a:srgbClr val="2E2A47"/>
                </a:solidFill>
                <a:latin typeface="Arial" pitchFamily="34" charset="0"/>
                <a:ea typeface="Arial" pitchFamily="34" charset="-122"/>
                <a:cs typeface="Arial" pitchFamily="34" charset="-120"/>
              </a:rPr>
              <a:t>במחקר השוואתי ישיר (Head to Head), סמגלוטייד 2.4 מ"ג הראתה יעילות כפולה ויותר עם ירידה של 17.1% במשקל לעומת 6.6% בלבד בליראגלוטייד 3.0 מ"ג.</a:t>
            </a:r>
            <a:endParaRPr lang="he-IL" sz="1250" dirty="0"/>
          </a:p>
        </p:txBody>
      </p:sp>
      <p:sp>
        <p:nvSpPr>
          <p:cNvPr id="22" name="Shape 19"/>
          <p:cNvSpPr/>
          <p:nvPr/>
        </p:nvSpPr>
        <p:spPr>
          <a:xfrm>
            <a:off x="6263640" y="5100066"/>
            <a:ext cx="5376672" cy="934974"/>
          </a:xfrm>
          <a:prstGeom prst="roundRect">
            <a:avLst>
              <a:gd name="adj" fmla="val 11736"/>
            </a:avLst>
          </a:prstGeom>
          <a:solidFill>
            <a:srgbClr val="FFFFFF"/>
          </a:solidFill>
          <a:ln w="9525">
            <a:solidFill>
              <a:srgbClr val="E3DFF0"/>
            </a:solidFill>
            <a:prstDash val="solid"/>
          </a:ln>
        </p:spPr>
      </p:sp>
      <p:sp>
        <p:nvSpPr>
          <p:cNvPr id="23" name="Shape 20"/>
          <p:cNvSpPr/>
          <p:nvPr/>
        </p:nvSpPr>
        <p:spPr>
          <a:xfrm>
            <a:off x="10378440" y="5191506"/>
            <a:ext cx="1170432" cy="752094"/>
          </a:xfrm>
          <a:prstGeom prst="roundRect">
            <a:avLst>
              <a:gd name="adj" fmla="val 12158"/>
            </a:avLst>
          </a:prstGeom>
          <a:solidFill>
            <a:srgbClr val="F3F0FA"/>
          </a:solidFill>
          <a:ln/>
        </p:spPr>
      </p:sp>
      <p:sp>
        <p:nvSpPr>
          <p:cNvPr id="24" name="Text 21"/>
          <p:cNvSpPr txBox="1"/>
          <p:nvPr/>
        </p:nvSpPr>
        <p:spPr>
          <a:xfrm>
            <a:off x="10378440" y="5209794"/>
            <a:ext cx="1170432" cy="451256"/>
          </a:xfrm>
          <a:prstGeom prst="rect">
            <a:avLst/>
          </a:prstGeom>
          <a:noFill/>
          <a:ln/>
        </p:spPr>
        <p:txBody>
          <a:bodyPr wrap="square" lIns="0" tIns="0" rIns="0" bIns="0" rtlCol="0" anchor="ctr"/>
          <a:lstStyle/>
          <a:p>
            <a:pPr algn="ctr" indent="0" marL="0">
              <a:buNone/>
            </a:pPr>
            <a:r>
              <a:rPr lang="en-US" altLang="en-US" sz="2000" b="1" dirty="0">
                <a:solidFill>
                  <a:srgbClr val="6E4494"/>
                </a:solidFill>
                <a:latin typeface="Arial" pitchFamily="34" charset="0"/>
                <a:ea typeface="Arial" pitchFamily="34" charset="-122"/>
                <a:cs typeface="Arial" pitchFamily="34" charset="-120"/>
              </a:rPr>
              <a:t>17.6%</a:t>
            </a:r>
            <a:endParaRPr lang="en-US" sz="2000" dirty="0"/>
          </a:p>
        </p:txBody>
      </p:sp>
      <p:sp>
        <p:nvSpPr>
          <p:cNvPr id="25" name="Text 22"/>
          <p:cNvSpPr txBox="1"/>
          <p:nvPr/>
        </p:nvSpPr>
        <p:spPr>
          <a:xfrm>
            <a:off x="10405872" y="5627721"/>
            <a:ext cx="1115568" cy="285796"/>
          </a:xfrm>
          <a:prstGeom prst="rect">
            <a:avLst/>
          </a:prstGeom>
          <a:noFill/>
          <a:ln/>
        </p:spPr>
        <p:txBody>
          <a:bodyPr wrap="square" lIns="0" tIns="0" rIns="0" bIns="0" rtlCol="0" anchor="t"/>
          <a:lstStyle/>
          <a:p>
            <a:pPr algn="ctr" indent="0" marL="0">
              <a:buNone/>
            </a:pPr>
            <a:r>
              <a:rPr lang="en-US" altLang="en-US" sz="1050" b="1" dirty="0">
                <a:solidFill>
                  <a:srgbClr val="6B6785"/>
                </a:solidFill>
                <a:latin typeface="Arial" pitchFamily="34" charset="0"/>
                <a:ea typeface="Arial" pitchFamily="34" charset="-122"/>
                <a:cs typeface="Arial" pitchFamily="34" charset="-120"/>
              </a:rPr>
              <a:t>STEP 3</a:t>
            </a:r>
            <a:endParaRPr lang="en-US" sz="1050" dirty="0"/>
          </a:p>
        </p:txBody>
      </p:sp>
      <p:sp>
        <p:nvSpPr>
          <p:cNvPr id="26" name="Text 23"/>
          <p:cNvSpPr txBox="1"/>
          <p:nvPr/>
        </p:nvSpPr>
        <p:spPr>
          <a:xfrm>
            <a:off x="6400800" y="5136642"/>
            <a:ext cx="3886200" cy="861822"/>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שילוב עם התערבות התנהגותית (STEP 3): </a:t>
            </a:r>
            <a:pPr rtl="1" algn="r" indent="0" marL="0">
              <a:buNone/>
            </a:pPr>
            <a:r>
              <a:rPr lang="he-IL" altLang="en-US" sz="1250" dirty="0">
                <a:solidFill>
                  <a:srgbClr val="2E2A47"/>
                </a:solidFill>
                <a:latin typeface="Arial" pitchFamily="34" charset="0"/>
                <a:ea typeface="Arial" pitchFamily="34" charset="-122"/>
                <a:cs typeface="Arial" pitchFamily="34" charset="-120"/>
              </a:rPr>
              <a:t>בשילוב טיפול התנהגותי אינטנסיבי (IBT) הושגה ירידה של 17.6% במשקל.</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שלב 2: פרופיל סבילות ובטיחות עקבי - תופעת הלוואי של בחילה</a:t>
            </a:r>
            <a:endParaRPr lang="he-IL" sz="2300" dirty="0"/>
          </a:p>
        </p:txBody>
      </p:sp>
      <p:pic>
        <p:nvPicPr>
          <p:cNvPr id="5" name="Image 0" descr="/tmp/claude-0/-home-claude/83ba285b-7ef1-5a4f-9afe-ea04c4b9d63d/scratchpad/src/ppt/media/image-17-2.jpg">    </p:cNvPr>
          <p:cNvPicPr>
            <a:picLocks noChangeAspect="1"/>
          </p:cNvPicPr>
          <p:nvPr/>
        </p:nvPicPr>
        <p:blipFill>
          <a:blip r:embed="rId1"/>
          <a:stretch>
            <a:fillRect/>
          </a:stretch>
        </p:blipFill>
        <p:spPr>
          <a:xfrm>
            <a:off x="548640" y="2263140"/>
            <a:ext cx="5394960" cy="3017520"/>
          </a:xfrm>
          <a:prstGeom prst="rect">
            <a:avLst/>
          </a:prstGeom>
          <a:effectLst>
            <a:outerShdw sx="100000" sy="100000" kx="0" ky="0" algn="bl" rotWithShape="0" blurRad="127000" dist="38100" dir="5400000">
              <a:srgbClr val="2B2560">
                <a:alpha val="10000"/>
              </a:srgbClr>
            </a:outerShdw>
          </a:effectLst>
        </p:spPr>
      </p:pic>
      <p:sp>
        <p:nvSpPr>
          <p:cNvPr id="6" name="Text 3"/>
          <p:cNvSpPr txBox="1"/>
          <p:nvPr/>
        </p:nvSpPr>
        <p:spPr>
          <a:xfrm>
            <a:off x="6263640" y="1463040"/>
            <a:ext cx="5376672" cy="411480"/>
          </a:xfrm>
          <a:prstGeom prst="rect">
            <a:avLst/>
          </a:prstGeom>
          <a:noFill/>
          <a:ln/>
        </p:spPr>
        <p:txBody>
          <a:bodyPr wrap="square" lIns="0" tIns="0" rIns="0" bIns="0" rtlCol="0" anchor="ctr"/>
          <a:lstStyle/>
          <a:p>
            <a:pPr rtl="1" algn="r" indent="0" marL="0">
              <a:buNone/>
            </a:pPr>
            <a:r>
              <a:rPr lang="he-IL" altLang="en-US" sz="1550" b="1" dirty="0">
                <a:solidFill>
                  <a:srgbClr val="6E4494"/>
                </a:solidFill>
                <a:latin typeface="Arial" pitchFamily="34" charset="0"/>
                <a:ea typeface="Arial" pitchFamily="34" charset="-122"/>
                <a:cs typeface="Arial" pitchFamily="34" charset="-120"/>
              </a:rPr>
              <a:t>סבילות ותופעות לוואי (בחילות)</a:t>
            </a:r>
            <a:endParaRPr lang="he-IL" sz="1550" dirty="0"/>
          </a:p>
        </p:txBody>
      </p:sp>
      <p:sp>
        <p:nvSpPr>
          <p:cNvPr id="7" name="Shape 4"/>
          <p:cNvSpPr/>
          <p:nvPr/>
        </p:nvSpPr>
        <p:spPr>
          <a:xfrm>
            <a:off x="6263640" y="1965960"/>
            <a:ext cx="5376672" cy="934974"/>
          </a:xfrm>
          <a:prstGeom prst="roundRect">
            <a:avLst>
              <a:gd name="adj" fmla="val 11736"/>
            </a:avLst>
          </a:prstGeom>
          <a:solidFill>
            <a:srgbClr val="FFFFFF"/>
          </a:solidFill>
          <a:ln w="9525">
            <a:solidFill>
              <a:srgbClr val="E3DFF0"/>
            </a:solidFill>
            <a:prstDash val="solid"/>
          </a:ln>
        </p:spPr>
      </p:sp>
      <p:sp>
        <p:nvSpPr>
          <p:cNvPr id="8" name="Shape 5"/>
          <p:cNvSpPr/>
          <p:nvPr/>
        </p:nvSpPr>
        <p:spPr>
          <a:xfrm>
            <a:off x="10378440" y="2057400"/>
            <a:ext cx="1170432" cy="752094"/>
          </a:xfrm>
          <a:prstGeom prst="roundRect">
            <a:avLst>
              <a:gd name="adj" fmla="val 12158"/>
            </a:avLst>
          </a:prstGeom>
          <a:solidFill>
            <a:srgbClr val="F3F0FA"/>
          </a:solidFill>
          <a:ln/>
        </p:spPr>
      </p:sp>
      <p:sp>
        <p:nvSpPr>
          <p:cNvPr id="9" name="Text 6"/>
          <p:cNvSpPr txBox="1"/>
          <p:nvPr/>
        </p:nvSpPr>
        <p:spPr>
          <a:xfrm>
            <a:off x="10378440" y="2075688"/>
            <a:ext cx="1170432" cy="451256"/>
          </a:xfrm>
          <a:prstGeom prst="rect">
            <a:avLst/>
          </a:prstGeom>
          <a:noFill/>
          <a:ln/>
        </p:spPr>
        <p:txBody>
          <a:bodyPr wrap="square" lIns="0" tIns="0" rIns="0" bIns="0" rtlCol="0" anchor="ctr"/>
          <a:lstStyle/>
          <a:p>
            <a:pPr rtl="1" algn="ctr" indent="0" marL="0">
              <a:buNone/>
            </a:pPr>
            <a:r>
              <a:rPr lang="he-IL" altLang="en-US" sz="1400" b="1" dirty="0">
                <a:solidFill>
                  <a:srgbClr val="6E4494"/>
                </a:solidFill>
                <a:latin typeface="Arial" pitchFamily="34" charset="0"/>
                <a:ea typeface="Arial" pitchFamily="34" charset="-122"/>
                <a:cs typeface="Arial" pitchFamily="34" charset="-120"/>
              </a:rPr>
              <a:t>קלה–בינונית</a:t>
            </a:r>
            <a:endParaRPr lang="he-IL" sz="1400" dirty="0"/>
          </a:p>
        </p:txBody>
      </p:sp>
      <p:sp>
        <p:nvSpPr>
          <p:cNvPr id="10" name="Text 7"/>
          <p:cNvSpPr txBox="1"/>
          <p:nvPr/>
        </p:nvSpPr>
        <p:spPr>
          <a:xfrm>
            <a:off x="10405872" y="2493615"/>
            <a:ext cx="1115568" cy="285796"/>
          </a:xfrm>
          <a:prstGeom prst="rect">
            <a:avLst/>
          </a:prstGeom>
          <a:noFill/>
          <a:ln/>
        </p:spPr>
        <p:txBody>
          <a:bodyPr wrap="square" lIns="0" tIns="0" rIns="0" bIns="0" rtlCol="0" anchor="t"/>
          <a:lstStyle/>
          <a:p>
            <a:pPr algn="ctr" indent="0" marL="0">
              <a:buNone/>
            </a:pPr>
            <a:r>
              <a:rPr lang="en-US" altLang="en-US" sz="1050" b="1" dirty="0">
                <a:solidFill>
                  <a:srgbClr val="6B6785"/>
                </a:solidFill>
                <a:latin typeface="Arial" pitchFamily="34" charset="0"/>
                <a:ea typeface="Arial" pitchFamily="34" charset="-122"/>
                <a:cs typeface="Arial" pitchFamily="34" charset="-120"/>
              </a:rPr>
              <a:t>Mild / Moderate</a:t>
            </a:r>
            <a:endParaRPr lang="en-US" sz="1050" dirty="0"/>
          </a:p>
        </p:txBody>
      </p:sp>
      <p:sp>
        <p:nvSpPr>
          <p:cNvPr id="11" name="Text 8"/>
          <p:cNvSpPr txBox="1"/>
          <p:nvPr/>
        </p:nvSpPr>
        <p:spPr>
          <a:xfrm>
            <a:off x="6400800" y="2002536"/>
            <a:ext cx="3886200" cy="861822"/>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תופעות לוואי קלות עד בינוניות (Mild/Moderate): </a:t>
            </a:r>
            <a:pPr rtl="1" algn="r" indent="0" marL="0">
              <a:buNone/>
            </a:pPr>
            <a:r>
              <a:rPr lang="he-IL" altLang="en-US" sz="1250" dirty="0">
                <a:solidFill>
                  <a:srgbClr val="2E2A47"/>
                </a:solidFill>
                <a:latin typeface="Arial" pitchFamily="34" charset="0"/>
                <a:ea typeface="Arial" pitchFamily="34" charset="-122"/>
                <a:cs typeface="Arial" pitchFamily="34" charset="-120"/>
              </a:rPr>
              <a:t>בחילות המופיעות תחת הטיפול ב-Wegovy 2.4mg הן ברובן המכריע בדרגת חומרה קלה עד בינונית בלבד וחולפות מעצמן.</a:t>
            </a:r>
            <a:endParaRPr lang="he-IL" sz="1250" dirty="0"/>
          </a:p>
        </p:txBody>
      </p:sp>
      <p:sp>
        <p:nvSpPr>
          <p:cNvPr id="12" name="Shape 9"/>
          <p:cNvSpPr/>
          <p:nvPr/>
        </p:nvSpPr>
        <p:spPr>
          <a:xfrm>
            <a:off x="6263640" y="3010662"/>
            <a:ext cx="5376672" cy="934974"/>
          </a:xfrm>
          <a:prstGeom prst="roundRect">
            <a:avLst>
              <a:gd name="adj" fmla="val 11736"/>
            </a:avLst>
          </a:prstGeom>
          <a:solidFill>
            <a:srgbClr val="FFFFFF"/>
          </a:solidFill>
          <a:ln w="9525">
            <a:solidFill>
              <a:srgbClr val="E3DFF0"/>
            </a:solidFill>
            <a:prstDash val="solid"/>
          </a:ln>
        </p:spPr>
      </p:sp>
      <p:sp>
        <p:nvSpPr>
          <p:cNvPr id="13" name="Shape 10"/>
          <p:cNvSpPr/>
          <p:nvPr/>
        </p:nvSpPr>
        <p:spPr>
          <a:xfrm>
            <a:off x="10378440" y="3102102"/>
            <a:ext cx="1170432" cy="752094"/>
          </a:xfrm>
          <a:prstGeom prst="roundRect">
            <a:avLst>
              <a:gd name="adj" fmla="val 12158"/>
            </a:avLst>
          </a:prstGeom>
          <a:solidFill>
            <a:srgbClr val="F3F0FA"/>
          </a:solidFill>
          <a:ln/>
        </p:spPr>
      </p:sp>
      <p:sp>
        <p:nvSpPr>
          <p:cNvPr id="14" name="Text 11"/>
          <p:cNvSpPr txBox="1"/>
          <p:nvPr/>
        </p:nvSpPr>
        <p:spPr>
          <a:xfrm>
            <a:off x="10378440" y="3120390"/>
            <a:ext cx="1170432" cy="451256"/>
          </a:xfrm>
          <a:prstGeom prst="rect">
            <a:avLst/>
          </a:prstGeom>
          <a:noFill/>
          <a:ln/>
        </p:spPr>
        <p:txBody>
          <a:bodyPr wrap="square" lIns="0" tIns="0" rIns="0" bIns="0" rtlCol="0" anchor="ctr"/>
          <a:lstStyle/>
          <a:p>
            <a:pPr algn="ctr" indent="0" marL="0">
              <a:buNone/>
            </a:pPr>
            <a:r>
              <a:rPr lang="en-US" altLang="en-US" sz="2000" b="1" dirty="0">
                <a:solidFill>
                  <a:srgbClr val="6E4494"/>
                </a:solidFill>
                <a:latin typeface="Arial" pitchFamily="34" charset="0"/>
                <a:ea typeface="Arial" pitchFamily="34" charset="-122"/>
                <a:cs typeface="Arial" pitchFamily="34" charset="-120"/>
              </a:rPr>
              <a:t>8.0</a:t>
            </a:r>
            <a:endParaRPr lang="en-US" sz="2000" dirty="0"/>
          </a:p>
        </p:txBody>
      </p:sp>
      <p:sp>
        <p:nvSpPr>
          <p:cNvPr id="15" name="Text 12"/>
          <p:cNvSpPr txBox="1"/>
          <p:nvPr/>
        </p:nvSpPr>
        <p:spPr>
          <a:xfrm>
            <a:off x="10405872" y="3538317"/>
            <a:ext cx="1115568" cy="285796"/>
          </a:xfrm>
          <a:prstGeom prst="rect">
            <a:avLst/>
          </a:prstGeom>
          <a:noFill/>
          <a:ln/>
        </p:spPr>
        <p:txBody>
          <a:bodyPr wrap="square" lIns="0" tIns="0" rIns="0" bIns="0" rtlCol="0" anchor="t"/>
          <a:lstStyle/>
          <a:p>
            <a:pPr rtl="1" algn="ctr" indent="0" marL="0">
              <a:buNone/>
            </a:pPr>
            <a:r>
              <a:rPr lang="he-IL" altLang="en-US" sz="1050" b="1" dirty="0">
                <a:solidFill>
                  <a:srgbClr val="6B6785"/>
                </a:solidFill>
                <a:latin typeface="Arial" pitchFamily="34" charset="0"/>
                <a:ea typeface="Arial" pitchFamily="34" charset="-122"/>
                <a:cs typeface="Arial" pitchFamily="34" charset="-120"/>
              </a:rPr>
              <a:t>ימים (חציון)</a:t>
            </a:r>
            <a:endParaRPr lang="he-IL" sz="1050" dirty="0"/>
          </a:p>
        </p:txBody>
      </p:sp>
      <p:sp>
        <p:nvSpPr>
          <p:cNvPr id="16" name="Text 13"/>
          <p:cNvSpPr txBox="1"/>
          <p:nvPr/>
        </p:nvSpPr>
        <p:spPr>
          <a:xfrm>
            <a:off x="6400800" y="3047238"/>
            <a:ext cx="3886200" cy="861822"/>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משך זמן חציוני קצר ביותר: </a:t>
            </a:r>
            <a:pPr rtl="1" algn="r" indent="0" marL="0">
              <a:buNone/>
            </a:pPr>
            <a:r>
              <a:rPr lang="he-IL" altLang="en-US" sz="1250" dirty="0">
                <a:solidFill>
                  <a:srgbClr val="2E2A47"/>
                </a:solidFill>
                <a:latin typeface="Arial" pitchFamily="34" charset="0"/>
                <a:ea typeface="Arial" pitchFamily="34" charset="-122"/>
                <a:cs typeface="Arial" pitchFamily="34" charset="-120"/>
              </a:rPr>
              <a:t>משך הזמן החציוני (Median Duration) של תופעת הבחילה המדווחת עומד על 8.0 ימים בלבד.</a:t>
            </a:r>
            <a:endParaRPr lang="he-IL" sz="1250" dirty="0"/>
          </a:p>
        </p:txBody>
      </p:sp>
      <p:sp>
        <p:nvSpPr>
          <p:cNvPr id="17" name="Shape 14"/>
          <p:cNvSpPr/>
          <p:nvPr/>
        </p:nvSpPr>
        <p:spPr>
          <a:xfrm>
            <a:off x="6263640" y="4055364"/>
            <a:ext cx="5376672" cy="934974"/>
          </a:xfrm>
          <a:prstGeom prst="roundRect">
            <a:avLst>
              <a:gd name="adj" fmla="val 11736"/>
            </a:avLst>
          </a:prstGeom>
          <a:solidFill>
            <a:srgbClr val="FFFFFF"/>
          </a:solidFill>
          <a:ln w="9525">
            <a:solidFill>
              <a:srgbClr val="E3DFF0"/>
            </a:solidFill>
            <a:prstDash val="solid"/>
          </a:ln>
        </p:spPr>
      </p:sp>
      <p:sp>
        <p:nvSpPr>
          <p:cNvPr id="18" name="Shape 15"/>
          <p:cNvSpPr/>
          <p:nvPr/>
        </p:nvSpPr>
        <p:spPr>
          <a:xfrm>
            <a:off x="10378440" y="4146804"/>
            <a:ext cx="1170432" cy="752094"/>
          </a:xfrm>
          <a:prstGeom prst="roundRect">
            <a:avLst>
              <a:gd name="adj" fmla="val 12158"/>
            </a:avLst>
          </a:prstGeom>
          <a:solidFill>
            <a:srgbClr val="F3F0FA"/>
          </a:solidFill>
          <a:ln/>
        </p:spPr>
      </p:sp>
      <p:sp>
        <p:nvSpPr>
          <p:cNvPr id="19" name="Text 16"/>
          <p:cNvSpPr txBox="1"/>
          <p:nvPr/>
        </p:nvSpPr>
        <p:spPr>
          <a:xfrm>
            <a:off x="10378440" y="4165092"/>
            <a:ext cx="1170432" cy="451256"/>
          </a:xfrm>
          <a:prstGeom prst="rect">
            <a:avLst/>
          </a:prstGeom>
          <a:noFill/>
          <a:ln/>
        </p:spPr>
        <p:txBody>
          <a:bodyPr wrap="square" lIns="0" tIns="0" rIns="0" bIns="0" rtlCol="0" anchor="ctr"/>
          <a:lstStyle/>
          <a:p>
            <a:pPr algn="ctr" indent="0" marL="0">
              <a:buNone/>
            </a:pPr>
            <a:r>
              <a:rPr lang="en-US" altLang="en-US" sz="2000" b="1" dirty="0">
                <a:solidFill>
                  <a:srgbClr val="6E4494"/>
                </a:solidFill>
                <a:latin typeface="Arial" pitchFamily="34" charset="0"/>
                <a:ea typeface="Arial" pitchFamily="34" charset="-122"/>
                <a:cs typeface="Arial" pitchFamily="34" charset="-120"/>
              </a:rPr>
              <a:t>0–16</a:t>
            </a:r>
            <a:endParaRPr lang="en-US" sz="2000" dirty="0"/>
          </a:p>
        </p:txBody>
      </p:sp>
      <p:sp>
        <p:nvSpPr>
          <p:cNvPr id="20" name="Text 17"/>
          <p:cNvSpPr txBox="1"/>
          <p:nvPr/>
        </p:nvSpPr>
        <p:spPr>
          <a:xfrm>
            <a:off x="10405872" y="4583019"/>
            <a:ext cx="1115568" cy="285796"/>
          </a:xfrm>
          <a:prstGeom prst="rect">
            <a:avLst/>
          </a:prstGeom>
          <a:noFill/>
          <a:ln/>
        </p:spPr>
        <p:txBody>
          <a:bodyPr wrap="square" lIns="0" tIns="0" rIns="0" bIns="0" rtlCol="0" anchor="t"/>
          <a:lstStyle/>
          <a:p>
            <a:pPr rtl="1" algn="ctr" indent="0" marL="0">
              <a:buNone/>
            </a:pPr>
            <a:r>
              <a:rPr lang="he-IL" altLang="en-US" sz="1050" b="1" dirty="0">
                <a:solidFill>
                  <a:srgbClr val="6B6785"/>
                </a:solidFill>
                <a:latin typeface="Arial" pitchFamily="34" charset="0"/>
                <a:ea typeface="Arial" pitchFamily="34" charset="-122"/>
                <a:cs typeface="Arial" pitchFamily="34" charset="-120"/>
              </a:rPr>
              <a:t>שבועות</a:t>
            </a:r>
            <a:endParaRPr lang="he-IL" sz="1050" dirty="0"/>
          </a:p>
        </p:txBody>
      </p:sp>
      <p:sp>
        <p:nvSpPr>
          <p:cNvPr id="21" name="Text 18"/>
          <p:cNvSpPr txBox="1"/>
          <p:nvPr/>
        </p:nvSpPr>
        <p:spPr>
          <a:xfrm>
            <a:off x="6400800" y="4091940"/>
            <a:ext cx="3886200" cy="861822"/>
          </a:xfrm>
          <a:prstGeom prst="rect">
            <a:avLst/>
          </a:prstGeom>
          <a:noFill/>
          <a:ln/>
        </p:spPr>
        <p:txBody>
          <a:bodyPr wrap="square" lIns="0" tIns="0" rIns="0" bIns="0" rtlCol="0" anchor="ctr"/>
          <a:lstStyle/>
          <a:p>
            <a:pPr rtl="1" algn="r" indent="0" marL="0">
              <a:buNone/>
            </a:pPr>
            <a:r>
              <a:rPr lang="he-IL" altLang="en-US" sz="1150" b="1" dirty="0">
                <a:solidFill>
                  <a:srgbClr val="2B2560"/>
                </a:solidFill>
                <a:latin typeface="Arial" pitchFamily="34" charset="0"/>
                <a:ea typeface="Arial" pitchFamily="34" charset="-122"/>
                <a:cs typeface="Arial" pitchFamily="34" charset="-120"/>
              </a:rPr>
              <a:t>שיא זמני בתקופת הטיטרציה (Dose Escalation Period): </a:t>
            </a:r>
            <a:pPr rtl="1" algn="r" indent="0" marL="0">
              <a:buNone/>
            </a:pPr>
            <a:r>
              <a:rPr lang="he-IL" altLang="en-US" sz="1150" dirty="0">
                <a:solidFill>
                  <a:srgbClr val="2E2A47"/>
                </a:solidFill>
                <a:latin typeface="Arial" pitchFamily="34" charset="0"/>
                <a:ea typeface="Arial" pitchFamily="34" charset="-122"/>
                <a:cs typeface="Arial" pitchFamily="34" charset="-120"/>
              </a:rPr>
              <a:t>שכיחות הבחילות עולה בעיקר בשבועות הראשונים (שבועות 0–16) במהלך העלייה ההדרגתית במינון, ולאחר מכן במעבר למינון היעד היא הולכת ויורדת בהתמדה עד להתייצבות מלאה.</a:t>
            </a:r>
            <a:endParaRPr lang="he-IL" sz="1150" dirty="0"/>
          </a:p>
        </p:txBody>
      </p:sp>
      <p:sp>
        <p:nvSpPr>
          <p:cNvPr id="22" name="Shape 19"/>
          <p:cNvSpPr/>
          <p:nvPr/>
        </p:nvSpPr>
        <p:spPr>
          <a:xfrm>
            <a:off x="6263640" y="5100066"/>
            <a:ext cx="5376672" cy="934974"/>
          </a:xfrm>
          <a:prstGeom prst="roundRect">
            <a:avLst>
              <a:gd name="adj" fmla="val 11736"/>
            </a:avLst>
          </a:prstGeom>
          <a:solidFill>
            <a:srgbClr val="FFFFFF"/>
          </a:solidFill>
          <a:ln w="9525">
            <a:solidFill>
              <a:srgbClr val="E3DFF0"/>
            </a:solidFill>
            <a:prstDash val="solid"/>
          </a:ln>
        </p:spPr>
      </p:sp>
      <p:sp>
        <p:nvSpPr>
          <p:cNvPr id="23" name="Shape 20"/>
          <p:cNvSpPr/>
          <p:nvPr/>
        </p:nvSpPr>
        <p:spPr>
          <a:xfrm>
            <a:off x="10378440" y="5191506"/>
            <a:ext cx="1170432" cy="752094"/>
          </a:xfrm>
          <a:prstGeom prst="roundRect">
            <a:avLst>
              <a:gd name="adj" fmla="val 12158"/>
            </a:avLst>
          </a:prstGeom>
          <a:solidFill>
            <a:srgbClr val="F3F0FA"/>
          </a:solidFill>
          <a:ln/>
        </p:spPr>
      </p:sp>
      <p:sp>
        <p:nvSpPr>
          <p:cNvPr id="24" name="Text 21"/>
          <p:cNvSpPr txBox="1"/>
          <p:nvPr/>
        </p:nvSpPr>
        <p:spPr>
          <a:xfrm>
            <a:off x="10378440" y="5209794"/>
            <a:ext cx="1170432" cy="451256"/>
          </a:xfrm>
          <a:prstGeom prst="rect">
            <a:avLst/>
          </a:prstGeom>
          <a:noFill/>
          <a:ln/>
        </p:spPr>
        <p:txBody>
          <a:bodyPr wrap="square" lIns="0" tIns="0" rIns="0" bIns="0" rtlCol="0" anchor="ctr"/>
          <a:lstStyle/>
          <a:p>
            <a:pPr rtl="1" algn="ctr" indent="0" marL="0">
              <a:buNone/>
            </a:pPr>
            <a:r>
              <a:rPr lang="he-IL" altLang="en-US" sz="1800" b="1" dirty="0">
                <a:solidFill>
                  <a:srgbClr val="6E4494"/>
                </a:solidFill>
                <a:latin typeface="Arial" pitchFamily="34" charset="0"/>
                <a:ea typeface="Arial" pitchFamily="34" charset="-122"/>
                <a:cs typeface="Arial" pitchFamily="34" charset="-120"/>
              </a:rPr>
              <a:t>נדיר</a:t>
            </a:r>
            <a:endParaRPr lang="he-IL" sz="1800" dirty="0"/>
          </a:p>
        </p:txBody>
      </p:sp>
      <p:sp>
        <p:nvSpPr>
          <p:cNvPr id="25" name="Text 22"/>
          <p:cNvSpPr txBox="1"/>
          <p:nvPr/>
        </p:nvSpPr>
        <p:spPr>
          <a:xfrm>
            <a:off x="10405872" y="5627721"/>
            <a:ext cx="1115568" cy="285796"/>
          </a:xfrm>
          <a:prstGeom prst="rect">
            <a:avLst/>
          </a:prstGeom>
          <a:noFill/>
          <a:ln/>
        </p:spPr>
        <p:txBody>
          <a:bodyPr wrap="square" lIns="0" tIns="0" rIns="0" bIns="0" rtlCol="0" anchor="t"/>
          <a:lstStyle/>
          <a:p>
            <a:pPr algn="ctr" indent="0" marL="0">
              <a:buNone/>
            </a:pPr>
            <a:r>
              <a:rPr lang="en-US" altLang="en-US" sz="1050" b="1" dirty="0">
                <a:solidFill>
                  <a:srgbClr val="6B6785"/>
                </a:solidFill>
                <a:latin typeface="Arial" pitchFamily="34" charset="0"/>
                <a:ea typeface="Arial" pitchFamily="34" charset="-122"/>
                <a:cs typeface="Arial" pitchFamily="34" charset="-120"/>
              </a:rPr>
              <a:t>Severe</a:t>
            </a:r>
            <a:endParaRPr lang="en-US" sz="1050" dirty="0"/>
          </a:p>
        </p:txBody>
      </p:sp>
      <p:sp>
        <p:nvSpPr>
          <p:cNvPr id="26" name="Text 23"/>
          <p:cNvSpPr txBox="1"/>
          <p:nvPr/>
        </p:nvSpPr>
        <p:spPr>
          <a:xfrm>
            <a:off x="6400800" y="5136642"/>
            <a:ext cx="3886200" cy="861822"/>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שיעור אפסי של תופעות חמורות (Severe): </a:t>
            </a:r>
            <a:pPr rtl="1" algn="r" indent="0" marL="0">
              <a:buNone/>
            </a:pPr>
            <a:r>
              <a:rPr lang="he-IL" altLang="en-US" sz="1250" dirty="0">
                <a:solidFill>
                  <a:srgbClr val="2E2A47"/>
                </a:solidFill>
                <a:latin typeface="Arial" pitchFamily="34" charset="0"/>
                <a:ea typeface="Arial" pitchFamily="34" charset="-122"/>
                <a:cs typeface="Arial" pitchFamily="34" charset="-120"/>
              </a:rPr>
              <a:t>תופעות לוואי של בחילה בדרגה חמורה הינן נדירות ביותר (הקו הוורוד בתחתית התיעוד שואף לאפס).</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1600" b="1" dirty="0">
                <a:solidFill>
                  <a:srgbClr val="2B2560"/>
                </a:solidFill>
                <a:latin typeface="Arial" pitchFamily="34" charset="0"/>
                <a:ea typeface="Arial" pitchFamily="34" charset="-122"/>
                <a:cs typeface="Arial" pitchFamily="34" charset="-120"/>
              </a:rPr>
              <a:t>שלב 2: תוצאות מחקר SELECT - ירידה מובהקת של 20% באירועים קרדיווסקולריים ומוחיים (MACE)</a:t>
            </a:r>
            <a:endParaRPr lang="he-IL" sz="1600" dirty="0"/>
          </a:p>
        </p:txBody>
      </p:sp>
      <p:pic>
        <p:nvPicPr>
          <p:cNvPr id="5" name="Image 0" descr="/tmp/claude-0/-home-claude/83ba285b-7ef1-5a4f-9afe-ea04c4b9d63d/scratchpad/src/ppt/media/image-18-2.png">    </p:cNvPr>
          <p:cNvPicPr>
            <a:picLocks noChangeAspect="1"/>
          </p:cNvPicPr>
          <p:nvPr/>
        </p:nvPicPr>
        <p:blipFill>
          <a:blip r:embed="rId1"/>
          <a:stretch>
            <a:fillRect/>
          </a:stretch>
        </p:blipFill>
        <p:spPr>
          <a:xfrm>
            <a:off x="548640" y="1508760"/>
            <a:ext cx="5394960" cy="3063240"/>
          </a:xfrm>
          <a:prstGeom prst="rect">
            <a:avLst/>
          </a:prstGeom>
          <a:effectLst>
            <a:outerShdw sx="100000" sy="100000" kx="0" ky="0" algn="bl" rotWithShape="0" blurRad="127000" dist="38100" dir="5400000">
              <a:srgbClr val="2B2560">
                <a:alpha val="10000"/>
              </a:srgbClr>
            </a:outerShdw>
          </a:effectLst>
        </p:spPr>
      </p:pic>
      <p:sp>
        <p:nvSpPr>
          <p:cNvPr id="6" name="Shape 3"/>
          <p:cNvSpPr/>
          <p:nvPr/>
        </p:nvSpPr>
        <p:spPr>
          <a:xfrm>
            <a:off x="548640" y="4754880"/>
            <a:ext cx="5394960" cy="1280160"/>
          </a:xfrm>
          <a:prstGeom prst="roundRect">
            <a:avLst>
              <a:gd name="adj" fmla="val 8571"/>
            </a:avLst>
          </a:prstGeom>
          <a:solidFill>
            <a:srgbClr val="E5F4F2"/>
          </a:solidFill>
          <a:ln/>
        </p:spPr>
      </p:sp>
      <p:sp>
        <p:nvSpPr>
          <p:cNvPr id="7" name="Shape 4"/>
          <p:cNvSpPr/>
          <p:nvPr/>
        </p:nvSpPr>
        <p:spPr>
          <a:xfrm rot="5400000">
            <a:off x="5104220" y="5111496"/>
            <a:ext cx="654632" cy="566928"/>
          </a:xfrm>
          <a:prstGeom prst="hexagon">
            <a:avLst/>
          </a:prstGeom>
          <a:solidFill>
            <a:srgbClr val="1F8F83"/>
          </a:solidFill>
          <a:ln/>
        </p:spPr>
      </p:sp>
      <p:pic>
        <p:nvPicPr>
          <p:cNvPr id="8" name="Image 1" descr="preencoded.png">    </p:cNvPr>
          <p:cNvPicPr>
            <a:picLocks noChangeAspect="1"/>
          </p:cNvPicPr>
          <p:nvPr/>
        </p:nvPicPr>
        <p:blipFill>
          <a:blip r:embed="rId2"/>
          <a:stretch>
            <a:fillRect/>
          </a:stretch>
        </p:blipFill>
        <p:spPr>
          <a:xfrm>
            <a:off x="5301143" y="5264567"/>
            <a:ext cx="260787" cy="260787"/>
          </a:xfrm>
          <a:prstGeom prst="rect">
            <a:avLst/>
          </a:prstGeom>
        </p:spPr>
      </p:pic>
      <p:sp>
        <p:nvSpPr>
          <p:cNvPr id="9" name="Text 5"/>
          <p:cNvSpPr txBox="1"/>
          <p:nvPr/>
        </p:nvSpPr>
        <p:spPr>
          <a:xfrm>
            <a:off x="777240" y="4892040"/>
            <a:ext cx="4279392" cy="1005840"/>
          </a:xfrm>
          <a:prstGeom prst="rect">
            <a:avLst/>
          </a:prstGeom>
          <a:noFill/>
          <a:ln/>
        </p:spPr>
        <p:txBody>
          <a:bodyPr wrap="square" lIns="0" tIns="0" rIns="0" bIns="0" rtlCol="0" anchor="ctr"/>
          <a:lstStyle/>
          <a:p>
            <a:pPr rtl="1" algn="r" indent="0" marL="0">
              <a:spcAft>
                <a:spcPts val="400"/>
              </a:spcAft>
              <a:buNone/>
            </a:pPr>
            <a:r>
              <a:rPr lang="he-IL" altLang="en-US" sz="1400" b="1" dirty="0">
                <a:solidFill>
                  <a:srgbClr val="1F8F83"/>
                </a:solidFill>
                <a:latin typeface="Arial" pitchFamily="34" charset="0"/>
                <a:ea typeface="Arial" pitchFamily="34" charset="-122"/>
                <a:cs typeface="Arial" pitchFamily="34" charset="-120"/>
              </a:rPr>
              <a:t>חשיבות קריטית עבור יעקב:</a:t>
            </a:r>
            <a:endParaRPr lang="he-IL" sz="1400" dirty="0"/>
          </a:p>
          <a:p>
            <a:pPr rtl="1" algn="r" indent="0" marL="0">
              <a:spcAft>
                <a:spcPts val="400"/>
              </a:spcAft>
              <a:buNone/>
            </a:pPr>
            <a:r>
              <a:rPr lang="he-IL" altLang="en-US" sz="1350" dirty="0">
                <a:solidFill>
                  <a:srgbClr val="2E2A47"/>
                </a:solidFill>
                <a:latin typeface="Arial" pitchFamily="34" charset="0"/>
                <a:ea typeface="Arial" pitchFamily="34" charset="-122"/>
                <a:cs typeface="Arial" pitchFamily="34" charset="-120"/>
              </a:rPr>
              <a:t>במטופל בן 67 עם רקע של אירוע מוחי (2023) CVA ומחלת לב איסכמית IHD (צנתור חסימות 50%), הטיפול ב-Wegovy מעניק הגנה מוחית ולבבית חיונית למניעת אירוע מוחי או לבבי חוזר.</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rtl="1" algn="r" indent="0" marL="0">
              <a:buNone/>
            </a:pPr>
            <a:r>
              <a:rPr lang="he-IL" altLang="en-US" sz="1550" b="1" dirty="0">
                <a:solidFill>
                  <a:srgbClr val="6E4494"/>
                </a:solidFill>
                <a:latin typeface="Arial" pitchFamily="34" charset="0"/>
                <a:ea typeface="Arial" pitchFamily="34" charset="-122"/>
                <a:cs typeface="Arial" pitchFamily="34" charset="-120"/>
              </a:rPr>
              <a:t>השפעה על מחלות טרשתיות</a:t>
            </a:r>
            <a:endParaRPr lang="he-IL" sz="1550" dirty="0"/>
          </a:p>
        </p:txBody>
      </p:sp>
      <p:sp>
        <p:nvSpPr>
          <p:cNvPr id="11" name="Shape 7"/>
          <p:cNvSpPr/>
          <p:nvPr/>
        </p:nvSpPr>
        <p:spPr>
          <a:xfrm>
            <a:off x="6263640" y="1965960"/>
            <a:ext cx="5376672" cy="1417320"/>
          </a:xfrm>
          <a:prstGeom prst="roundRect">
            <a:avLst>
              <a:gd name="adj" fmla="val 7742"/>
            </a:avLst>
          </a:prstGeom>
          <a:solidFill>
            <a:srgbClr val="FFFFFF"/>
          </a:solidFill>
          <a:ln w="9525">
            <a:solidFill>
              <a:srgbClr val="E3DFF0"/>
            </a:solidFill>
            <a:prstDash val="solid"/>
          </a:ln>
        </p:spPr>
      </p:sp>
      <p:sp>
        <p:nvSpPr>
          <p:cNvPr id="12" name="Shape 8"/>
          <p:cNvSpPr/>
          <p:nvPr/>
        </p:nvSpPr>
        <p:spPr>
          <a:xfrm>
            <a:off x="10378440" y="2057400"/>
            <a:ext cx="1170432" cy="1234440"/>
          </a:xfrm>
          <a:prstGeom prst="roundRect">
            <a:avLst>
              <a:gd name="adj" fmla="val 7813"/>
            </a:avLst>
          </a:prstGeom>
          <a:solidFill>
            <a:srgbClr val="6E4494"/>
          </a:solidFill>
          <a:ln/>
        </p:spPr>
      </p:sp>
      <p:sp>
        <p:nvSpPr>
          <p:cNvPr id="13" name="Text 9"/>
          <p:cNvSpPr txBox="1"/>
          <p:nvPr/>
        </p:nvSpPr>
        <p:spPr>
          <a:xfrm>
            <a:off x="10378440" y="2103120"/>
            <a:ext cx="1170432" cy="731520"/>
          </a:xfrm>
          <a:prstGeom prst="rect">
            <a:avLst/>
          </a:prstGeom>
          <a:noFill/>
          <a:ln/>
        </p:spPr>
        <p:txBody>
          <a:bodyPr wrap="square" lIns="0" tIns="0" rIns="0" bIns="0" rtlCol="0" anchor="ctr"/>
          <a:lstStyle/>
          <a:p>
            <a:pPr algn="ctr" indent="0" marL="0">
              <a:buNone/>
            </a:pPr>
            <a:r>
              <a:rPr lang="en-US" altLang="en-US" sz="2600" b="1" dirty="0">
                <a:solidFill>
                  <a:srgbClr val="FFFFFF"/>
                </a:solidFill>
                <a:latin typeface="Arial" pitchFamily="34" charset="0"/>
                <a:ea typeface="Arial" pitchFamily="34" charset="-122"/>
                <a:cs typeface="Arial" pitchFamily="34" charset="-120"/>
              </a:rPr>
              <a:t>20%</a:t>
            </a:r>
            <a:endParaRPr lang="en-US" sz="2600" dirty="0"/>
          </a:p>
        </p:txBody>
      </p:sp>
      <p:sp>
        <p:nvSpPr>
          <p:cNvPr id="14" name="Text 10"/>
          <p:cNvSpPr txBox="1"/>
          <p:nvPr/>
        </p:nvSpPr>
        <p:spPr>
          <a:xfrm>
            <a:off x="10378440" y="2788920"/>
            <a:ext cx="1170432" cy="365760"/>
          </a:xfrm>
          <a:prstGeom prst="rect">
            <a:avLst/>
          </a:prstGeom>
          <a:noFill/>
          <a:ln/>
        </p:spPr>
        <p:txBody>
          <a:bodyPr wrap="square" lIns="0" tIns="0" rIns="0" bIns="0" rtlCol="0" anchor="t"/>
          <a:lstStyle/>
          <a:p>
            <a:pPr algn="ctr" indent="0" marL="0">
              <a:buNone/>
            </a:pPr>
            <a:r>
              <a:rPr lang="en-US" altLang="en-US" sz="1100" b="1" dirty="0">
                <a:solidFill>
                  <a:srgbClr val="D6D0F0"/>
                </a:solidFill>
                <a:latin typeface="Arial" pitchFamily="34" charset="0"/>
                <a:ea typeface="Arial" pitchFamily="34" charset="-122"/>
                <a:cs typeface="Arial" pitchFamily="34" charset="-120"/>
              </a:rPr>
              <a:t>MACE ↓</a:t>
            </a:r>
            <a:endParaRPr lang="en-US" sz="1100" dirty="0"/>
          </a:p>
        </p:txBody>
      </p:sp>
      <p:sp>
        <p:nvSpPr>
          <p:cNvPr id="15" name="Text 11"/>
          <p:cNvSpPr txBox="1"/>
          <p:nvPr/>
        </p:nvSpPr>
        <p:spPr>
          <a:xfrm>
            <a:off x="6400800" y="2011680"/>
            <a:ext cx="3858768" cy="1325880"/>
          </a:xfrm>
          <a:prstGeom prst="rect">
            <a:avLst/>
          </a:prstGeom>
          <a:noFill/>
          <a:ln/>
        </p:spPr>
        <p:txBody>
          <a:bodyPr wrap="square" lIns="0" tIns="0" rIns="0" bIns="0" rtlCol="0" anchor="ctr"/>
          <a:lstStyle/>
          <a:p>
            <a:pPr rtl="1" algn="r" indent="0" marL="0">
              <a:buNone/>
            </a:pPr>
            <a:r>
              <a:rPr lang="he-IL" altLang="en-US" sz="1150" b="1" dirty="0">
                <a:solidFill>
                  <a:srgbClr val="2B2560"/>
                </a:solidFill>
                <a:latin typeface="Arial" pitchFamily="34" charset="0"/>
                <a:ea typeface="Arial" pitchFamily="34" charset="-122"/>
                <a:cs typeface="Arial" pitchFamily="34" charset="-120"/>
              </a:rPr>
              <a:t>הפחתה מובהקת של 20% בסיכון ל-MACE: </a:t>
            </a:r>
            <a:pPr rtl="1" algn="r" indent="0" marL="0">
              <a:buNone/>
            </a:pPr>
            <a:r>
              <a:rPr lang="he-IL" altLang="en-US" sz="1150" dirty="0">
                <a:solidFill>
                  <a:srgbClr val="2E2A47"/>
                </a:solidFill>
                <a:latin typeface="Arial" pitchFamily="34" charset="0"/>
                <a:ea typeface="Arial" pitchFamily="34" charset="-122"/>
                <a:cs typeface="Arial" pitchFamily="34" charset="-120"/>
              </a:rPr>
              <a:t>מחקר ה-SELECT ההיסטורי הוכיח כי טיפול ב-Wegovy (סמגלוטייד 2.4 מ"ג) מביא לירידה יחסית דרמטית של 20% בסיכון לאירועים קרדיווסקולריים מיוחלים (3-Point MACE) בהשוואה לפלצבו (HR 0.80, 95% CI: 0.72-0.90, p&lt;0.001).</a:t>
            </a:r>
            <a:endParaRPr lang="he-IL" sz="1150" dirty="0"/>
          </a:p>
        </p:txBody>
      </p:sp>
      <p:sp>
        <p:nvSpPr>
          <p:cNvPr id="16" name="Text 12"/>
          <p:cNvSpPr txBox="1"/>
          <p:nvPr/>
        </p:nvSpPr>
        <p:spPr>
          <a:xfrm>
            <a:off x="6263640" y="3429000"/>
            <a:ext cx="5376672" cy="365760"/>
          </a:xfrm>
          <a:prstGeom prst="rect">
            <a:avLst/>
          </a:prstGeom>
          <a:noFill/>
          <a:ln/>
        </p:spPr>
        <p:txBody>
          <a:bodyPr wrap="square" lIns="0" tIns="0" rIns="0" bIns="0" rtlCol="0" anchor="t"/>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הגנה על 3 המדדים המרכזיים (3-Point MACE): ההפחתה שנצפתה כוללת ירידה במקביל ב:</a:t>
            </a:r>
            <a:endParaRPr lang="he-IL" sz="1250" dirty="0"/>
          </a:p>
        </p:txBody>
      </p:sp>
      <p:sp>
        <p:nvSpPr>
          <p:cNvPr id="17" name="Shape 13"/>
          <p:cNvSpPr/>
          <p:nvPr/>
        </p:nvSpPr>
        <p:spPr>
          <a:xfrm>
            <a:off x="9921240" y="3840480"/>
            <a:ext cx="1719072" cy="1143000"/>
          </a:xfrm>
          <a:prstGeom prst="roundRect">
            <a:avLst>
              <a:gd name="adj" fmla="val 9600"/>
            </a:avLst>
          </a:prstGeom>
          <a:solidFill>
            <a:srgbClr val="F3F0FA"/>
          </a:solidFill>
          <a:ln/>
        </p:spPr>
      </p:sp>
      <p:sp>
        <p:nvSpPr>
          <p:cNvPr id="18" name="Shape 14"/>
          <p:cNvSpPr/>
          <p:nvPr/>
        </p:nvSpPr>
        <p:spPr>
          <a:xfrm rot="5400000">
            <a:off x="10559046" y="3922776"/>
            <a:ext cx="443460" cy="384048"/>
          </a:xfrm>
          <a:prstGeom prst="hexagon">
            <a:avLst/>
          </a:prstGeom>
          <a:solidFill>
            <a:srgbClr val="4A90D0"/>
          </a:solidFill>
          <a:ln/>
        </p:spPr>
      </p:sp>
      <p:pic>
        <p:nvPicPr>
          <p:cNvPr id="19" name="Image 2" descr="preencoded.png">    </p:cNvPr>
          <p:cNvPicPr>
            <a:picLocks noChangeAspect="1"/>
          </p:cNvPicPr>
          <p:nvPr/>
        </p:nvPicPr>
        <p:blipFill>
          <a:blip r:embed="rId3"/>
          <a:stretch>
            <a:fillRect/>
          </a:stretch>
        </p:blipFill>
        <p:spPr>
          <a:xfrm>
            <a:off x="10692445" y="4026469"/>
            <a:ext cx="176662" cy="176662"/>
          </a:xfrm>
          <a:prstGeom prst="rect">
            <a:avLst/>
          </a:prstGeom>
        </p:spPr>
      </p:pic>
      <p:sp>
        <p:nvSpPr>
          <p:cNvPr id="20" name="Text 15"/>
          <p:cNvSpPr txBox="1"/>
          <p:nvPr/>
        </p:nvSpPr>
        <p:spPr>
          <a:xfrm>
            <a:off x="9976104" y="4343400"/>
            <a:ext cx="1609344" cy="347472"/>
          </a:xfrm>
          <a:prstGeom prst="rect">
            <a:avLst/>
          </a:prstGeom>
          <a:noFill/>
          <a:ln/>
        </p:spPr>
        <p:txBody>
          <a:bodyPr wrap="square" lIns="0" tIns="0" rIns="0" bIns="0" rtlCol="0" anchor="ctr"/>
          <a:lstStyle/>
          <a:p>
            <a:pPr rtl="1" algn="ctr" indent="0" marL="0">
              <a:buNone/>
            </a:pPr>
            <a:r>
              <a:rPr lang="he-IL" altLang="en-US" sz="1150" b="1" dirty="0">
                <a:solidFill>
                  <a:srgbClr val="2B2560"/>
                </a:solidFill>
                <a:latin typeface="Arial" pitchFamily="34" charset="0"/>
                <a:ea typeface="Arial" pitchFamily="34" charset="-122"/>
                <a:cs typeface="Arial" pitchFamily="34" charset="-120"/>
              </a:rPr>
              <a:t>מוות מסיבות קרדיווסקולריות</a:t>
            </a:r>
            <a:endParaRPr lang="he-IL" sz="1150" dirty="0"/>
          </a:p>
        </p:txBody>
      </p:sp>
      <p:sp>
        <p:nvSpPr>
          <p:cNvPr id="21" name="Text 16"/>
          <p:cNvSpPr txBox="1"/>
          <p:nvPr/>
        </p:nvSpPr>
        <p:spPr>
          <a:xfrm>
            <a:off x="9976104" y="4681728"/>
            <a:ext cx="1609344" cy="274320"/>
          </a:xfrm>
          <a:prstGeom prst="rect">
            <a:avLst/>
          </a:prstGeom>
          <a:noFill/>
          <a:ln/>
        </p:spPr>
        <p:txBody>
          <a:bodyPr wrap="square" lIns="0" tIns="0" rIns="0" bIns="0" rtlCol="0" anchor="t"/>
          <a:lstStyle/>
          <a:p>
            <a:pPr algn="ctr" indent="0" marL="0">
              <a:buNone/>
            </a:pPr>
            <a:r>
              <a:rPr lang="en-US" altLang="en-US" sz="950" dirty="0">
                <a:solidFill>
                  <a:srgbClr val="6B6785"/>
                </a:solidFill>
                <a:latin typeface="Arial" pitchFamily="34" charset="0"/>
                <a:ea typeface="Arial" pitchFamily="34" charset="-122"/>
                <a:cs typeface="Arial" pitchFamily="34" charset="-120"/>
              </a:rPr>
              <a:t>CV Death</a:t>
            </a:r>
            <a:endParaRPr lang="en-US" sz="950" dirty="0"/>
          </a:p>
        </p:txBody>
      </p:sp>
      <p:sp>
        <p:nvSpPr>
          <p:cNvPr id="22" name="Shape 17"/>
          <p:cNvSpPr/>
          <p:nvPr/>
        </p:nvSpPr>
        <p:spPr>
          <a:xfrm>
            <a:off x="8092440" y="3840480"/>
            <a:ext cx="1719072" cy="1143000"/>
          </a:xfrm>
          <a:prstGeom prst="roundRect">
            <a:avLst>
              <a:gd name="adj" fmla="val 9600"/>
            </a:avLst>
          </a:prstGeom>
          <a:solidFill>
            <a:srgbClr val="F3F0FA"/>
          </a:solidFill>
          <a:ln/>
        </p:spPr>
      </p:sp>
      <p:sp>
        <p:nvSpPr>
          <p:cNvPr id="23" name="Shape 18"/>
          <p:cNvSpPr/>
          <p:nvPr/>
        </p:nvSpPr>
        <p:spPr>
          <a:xfrm rot="5400000">
            <a:off x="8730246" y="3922776"/>
            <a:ext cx="443460" cy="384048"/>
          </a:xfrm>
          <a:prstGeom prst="hexagon">
            <a:avLst/>
          </a:prstGeom>
          <a:solidFill>
            <a:srgbClr val="5B6BB5"/>
          </a:solidFill>
          <a:ln/>
        </p:spPr>
      </p:sp>
      <p:pic>
        <p:nvPicPr>
          <p:cNvPr id="24" name="Image 3" descr="preencoded.png">    </p:cNvPr>
          <p:cNvPicPr>
            <a:picLocks noChangeAspect="1"/>
          </p:cNvPicPr>
          <p:nvPr/>
        </p:nvPicPr>
        <p:blipFill>
          <a:blip r:embed="rId4"/>
          <a:stretch>
            <a:fillRect/>
          </a:stretch>
        </p:blipFill>
        <p:spPr>
          <a:xfrm>
            <a:off x="8863645" y="4026469"/>
            <a:ext cx="176662" cy="176662"/>
          </a:xfrm>
          <a:prstGeom prst="rect">
            <a:avLst/>
          </a:prstGeom>
        </p:spPr>
      </p:pic>
      <p:sp>
        <p:nvSpPr>
          <p:cNvPr id="25" name="Text 19"/>
          <p:cNvSpPr txBox="1"/>
          <p:nvPr/>
        </p:nvSpPr>
        <p:spPr>
          <a:xfrm>
            <a:off x="8147304" y="4343400"/>
            <a:ext cx="1609344" cy="347472"/>
          </a:xfrm>
          <a:prstGeom prst="rect">
            <a:avLst/>
          </a:prstGeom>
          <a:noFill/>
          <a:ln/>
        </p:spPr>
        <p:txBody>
          <a:bodyPr wrap="square" lIns="0" tIns="0" rIns="0" bIns="0" rtlCol="0" anchor="ctr"/>
          <a:lstStyle/>
          <a:p>
            <a:pPr rtl="1" algn="ctr" indent="0" marL="0">
              <a:buNone/>
            </a:pPr>
            <a:r>
              <a:rPr lang="he-IL" altLang="en-US" sz="1150" b="1" dirty="0">
                <a:solidFill>
                  <a:srgbClr val="2B2560"/>
                </a:solidFill>
                <a:latin typeface="Arial" pitchFamily="34" charset="0"/>
                <a:ea typeface="Arial" pitchFamily="34" charset="-122"/>
                <a:cs typeface="Arial" pitchFamily="34" charset="-120"/>
              </a:rPr>
              <a:t>אוטם שריר הלב לא קטלני</a:t>
            </a:r>
            <a:endParaRPr lang="he-IL" sz="1150" dirty="0"/>
          </a:p>
        </p:txBody>
      </p:sp>
      <p:sp>
        <p:nvSpPr>
          <p:cNvPr id="26" name="Text 20"/>
          <p:cNvSpPr txBox="1"/>
          <p:nvPr/>
        </p:nvSpPr>
        <p:spPr>
          <a:xfrm>
            <a:off x="8147304" y="4681728"/>
            <a:ext cx="1609344" cy="274320"/>
          </a:xfrm>
          <a:prstGeom prst="rect">
            <a:avLst/>
          </a:prstGeom>
          <a:noFill/>
          <a:ln/>
        </p:spPr>
        <p:txBody>
          <a:bodyPr wrap="square" lIns="0" tIns="0" rIns="0" bIns="0" rtlCol="0" anchor="t"/>
          <a:lstStyle/>
          <a:p>
            <a:pPr algn="ctr" indent="0" marL="0">
              <a:buNone/>
            </a:pPr>
            <a:r>
              <a:rPr lang="en-US" altLang="en-US" sz="950" dirty="0">
                <a:solidFill>
                  <a:srgbClr val="6B6785"/>
                </a:solidFill>
                <a:latin typeface="Arial" pitchFamily="34" charset="0"/>
                <a:ea typeface="Arial" pitchFamily="34" charset="-122"/>
                <a:cs typeface="Arial" pitchFamily="34" charset="-120"/>
              </a:rPr>
              <a:t>Non-fatal MI</a:t>
            </a:r>
            <a:endParaRPr lang="en-US" sz="950" dirty="0"/>
          </a:p>
        </p:txBody>
      </p:sp>
      <p:sp>
        <p:nvSpPr>
          <p:cNvPr id="27" name="Shape 21"/>
          <p:cNvSpPr/>
          <p:nvPr/>
        </p:nvSpPr>
        <p:spPr>
          <a:xfrm>
            <a:off x="6263640" y="3840480"/>
            <a:ext cx="1719072" cy="1143000"/>
          </a:xfrm>
          <a:prstGeom prst="roundRect">
            <a:avLst>
              <a:gd name="adj" fmla="val 9600"/>
            </a:avLst>
          </a:prstGeom>
          <a:solidFill>
            <a:srgbClr val="F3F0FA"/>
          </a:solidFill>
          <a:ln/>
        </p:spPr>
      </p:sp>
      <p:sp>
        <p:nvSpPr>
          <p:cNvPr id="28" name="Shape 22"/>
          <p:cNvSpPr/>
          <p:nvPr/>
        </p:nvSpPr>
        <p:spPr>
          <a:xfrm rot="5400000">
            <a:off x="6901446" y="3922776"/>
            <a:ext cx="443460" cy="384048"/>
          </a:xfrm>
          <a:prstGeom prst="hexagon">
            <a:avLst/>
          </a:prstGeom>
          <a:solidFill>
            <a:srgbClr val="6E4494"/>
          </a:solidFill>
          <a:ln/>
        </p:spPr>
      </p:sp>
      <p:pic>
        <p:nvPicPr>
          <p:cNvPr id="29" name="Image 4" descr="preencoded.png">    </p:cNvPr>
          <p:cNvPicPr>
            <a:picLocks noChangeAspect="1"/>
          </p:cNvPicPr>
          <p:nvPr/>
        </p:nvPicPr>
        <p:blipFill>
          <a:blip r:embed="rId5"/>
          <a:stretch>
            <a:fillRect/>
          </a:stretch>
        </p:blipFill>
        <p:spPr>
          <a:xfrm>
            <a:off x="7034845" y="4026469"/>
            <a:ext cx="176662" cy="176662"/>
          </a:xfrm>
          <a:prstGeom prst="rect">
            <a:avLst/>
          </a:prstGeom>
        </p:spPr>
      </p:pic>
      <p:sp>
        <p:nvSpPr>
          <p:cNvPr id="30" name="Text 23"/>
          <p:cNvSpPr txBox="1"/>
          <p:nvPr/>
        </p:nvSpPr>
        <p:spPr>
          <a:xfrm>
            <a:off x="6318504" y="4343400"/>
            <a:ext cx="1609344" cy="347472"/>
          </a:xfrm>
          <a:prstGeom prst="rect">
            <a:avLst/>
          </a:prstGeom>
          <a:noFill/>
          <a:ln/>
        </p:spPr>
        <p:txBody>
          <a:bodyPr wrap="square" lIns="0" tIns="0" rIns="0" bIns="0" rtlCol="0" anchor="ctr"/>
          <a:lstStyle/>
          <a:p>
            <a:pPr rtl="1" algn="ctr" indent="0" marL="0">
              <a:buNone/>
            </a:pPr>
            <a:r>
              <a:rPr lang="he-IL" altLang="en-US" sz="1150" b="1" dirty="0">
                <a:solidFill>
                  <a:srgbClr val="2B2560"/>
                </a:solidFill>
                <a:latin typeface="Arial" pitchFamily="34" charset="0"/>
                <a:ea typeface="Arial" pitchFamily="34" charset="-122"/>
                <a:cs typeface="Arial" pitchFamily="34" charset="-120"/>
              </a:rPr>
              <a:t>אירוע מוחי לא קטלני</a:t>
            </a:r>
            <a:endParaRPr lang="he-IL" sz="1150" dirty="0"/>
          </a:p>
        </p:txBody>
      </p:sp>
      <p:sp>
        <p:nvSpPr>
          <p:cNvPr id="31" name="Text 24"/>
          <p:cNvSpPr txBox="1"/>
          <p:nvPr/>
        </p:nvSpPr>
        <p:spPr>
          <a:xfrm>
            <a:off x="6318504" y="4681728"/>
            <a:ext cx="1609344" cy="274320"/>
          </a:xfrm>
          <a:prstGeom prst="rect">
            <a:avLst/>
          </a:prstGeom>
          <a:noFill/>
          <a:ln/>
        </p:spPr>
        <p:txBody>
          <a:bodyPr wrap="square" lIns="0" tIns="0" rIns="0" bIns="0" rtlCol="0" anchor="t"/>
          <a:lstStyle/>
          <a:p>
            <a:pPr algn="ctr" indent="0" marL="0">
              <a:buNone/>
            </a:pPr>
            <a:r>
              <a:rPr lang="en-US" altLang="en-US" sz="950" dirty="0">
                <a:solidFill>
                  <a:srgbClr val="6B6785"/>
                </a:solidFill>
                <a:latin typeface="Arial" pitchFamily="34" charset="0"/>
                <a:ea typeface="Arial" pitchFamily="34" charset="-122"/>
                <a:cs typeface="Arial" pitchFamily="34" charset="-120"/>
              </a:rPr>
              <a:t>Non-fatal Stroke / CVA</a:t>
            </a:r>
            <a:endParaRPr lang="en-US" sz="950" dirty="0"/>
          </a:p>
        </p:txBody>
      </p:sp>
      <p:sp>
        <p:nvSpPr>
          <p:cNvPr id="32" name="Shape 25"/>
          <p:cNvSpPr/>
          <p:nvPr/>
        </p:nvSpPr>
        <p:spPr>
          <a:xfrm>
            <a:off x="6263640" y="5120640"/>
            <a:ext cx="5376672" cy="914400"/>
          </a:xfrm>
          <a:prstGeom prst="roundRect">
            <a:avLst>
              <a:gd name="adj" fmla="val 12000"/>
            </a:avLst>
          </a:prstGeom>
          <a:solidFill>
            <a:srgbClr val="FFFFFF"/>
          </a:solidFill>
          <a:ln w="9525">
            <a:solidFill>
              <a:srgbClr val="E3DFF0"/>
            </a:solidFill>
            <a:prstDash val="solid"/>
          </a:ln>
        </p:spPr>
      </p:sp>
      <p:sp>
        <p:nvSpPr>
          <p:cNvPr id="33" name="Shape 26"/>
          <p:cNvSpPr/>
          <p:nvPr/>
        </p:nvSpPr>
        <p:spPr>
          <a:xfrm rot="5400000">
            <a:off x="11010588" y="5349240"/>
            <a:ext cx="527929" cy="457200"/>
          </a:xfrm>
          <a:prstGeom prst="hexagon">
            <a:avLst/>
          </a:prstGeom>
          <a:solidFill>
            <a:srgbClr val="5B6BB5"/>
          </a:solidFill>
          <a:ln/>
        </p:spPr>
      </p:sp>
      <p:pic>
        <p:nvPicPr>
          <p:cNvPr id="34" name="Image 5" descr="preencoded.png">    </p:cNvPr>
          <p:cNvPicPr>
            <a:picLocks noChangeAspect="1"/>
          </p:cNvPicPr>
          <p:nvPr/>
        </p:nvPicPr>
        <p:blipFill>
          <a:blip r:embed="rId6"/>
          <a:stretch>
            <a:fillRect/>
          </a:stretch>
        </p:blipFill>
        <p:spPr>
          <a:xfrm>
            <a:off x="11169396" y="5472684"/>
            <a:ext cx="210312" cy="210312"/>
          </a:xfrm>
          <a:prstGeom prst="rect">
            <a:avLst/>
          </a:prstGeom>
        </p:spPr>
      </p:pic>
      <p:sp>
        <p:nvSpPr>
          <p:cNvPr id="35" name="Text 27"/>
          <p:cNvSpPr txBox="1"/>
          <p:nvPr/>
        </p:nvSpPr>
        <p:spPr>
          <a:xfrm>
            <a:off x="6400800" y="5148072"/>
            <a:ext cx="4434840" cy="859536"/>
          </a:xfrm>
          <a:prstGeom prst="rect">
            <a:avLst/>
          </a:prstGeom>
          <a:noFill/>
          <a:ln/>
        </p:spPr>
        <p:txBody>
          <a:bodyPr wrap="square" lIns="0" tIns="0" rIns="0" bIns="0" rtlCol="0" anchor="ctr"/>
          <a:lstStyle/>
          <a:p>
            <a:pPr rtl="1" algn="r" indent="0" marL="0">
              <a:buNone/>
            </a:pPr>
            <a:r>
              <a:rPr lang="he-IL" altLang="en-US" sz="1150" b="1" dirty="0">
                <a:solidFill>
                  <a:srgbClr val="2B2560"/>
                </a:solidFill>
                <a:latin typeface="Arial" pitchFamily="34" charset="0"/>
                <a:ea typeface="Arial" pitchFamily="34" charset="-122"/>
                <a:cs typeface="Arial" pitchFamily="34" charset="-120"/>
              </a:rPr>
              <a:t>הכללה בהנחיות הקרדיולוגיה האירופיות (ESC 2024): </a:t>
            </a:r>
            <a:pPr rtl="1" algn="r" indent="0" marL="0">
              <a:buNone/>
            </a:pPr>
            <a:r>
              <a:rPr lang="he-IL" altLang="en-US" sz="1150" dirty="0">
                <a:solidFill>
                  <a:srgbClr val="2E2A47"/>
                </a:solidFill>
                <a:latin typeface="Arial" pitchFamily="34" charset="0"/>
                <a:ea typeface="Arial" pitchFamily="34" charset="-122"/>
                <a:cs typeface="Arial" pitchFamily="34" charset="-120"/>
              </a:rPr>
              <a:t>בעקבות תוצאות מחקר ה-SELECT, הוכנסה Wegovy 2.4mg להנחיות ה-ESC העדכניות (2024) לניהול תסמונת כלילית כרונית (Chronic Coronary Syndrome).</a:t>
            </a:r>
            <a:endParaRPr lang="he-IL" sz="11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1600" b="1" dirty="0">
                <a:solidFill>
                  <a:srgbClr val="2B2560"/>
                </a:solidFill>
                <a:latin typeface="Arial" pitchFamily="34" charset="0"/>
                <a:ea typeface="Arial" pitchFamily="34" charset="-122"/>
                <a:cs typeface="Arial" pitchFamily="34" charset="-120"/>
              </a:rPr>
              <a:t>שלב 2: תוצאות מחקר ה-ESSENCE - יעילות סמגלוטייד 2.4 מ"ג בטיפול בכבד שומני (MASLD / MASH)</a:t>
            </a:r>
            <a:endParaRPr lang="he-IL" sz="1600" dirty="0"/>
          </a:p>
        </p:txBody>
      </p:sp>
      <p:pic>
        <p:nvPicPr>
          <p:cNvPr id="5" name="Image 0" descr="/tmp/claude-0/-home-claude/83ba285b-7ef1-5a4f-9afe-ea04c4b9d63d/scratchpad/assets/essence.png">    </p:cNvPr>
          <p:cNvPicPr>
            <a:picLocks noChangeAspect="1"/>
          </p:cNvPicPr>
          <p:nvPr/>
        </p:nvPicPr>
        <p:blipFill>
          <a:blip r:embed="rId1"/>
          <a:stretch>
            <a:fillRect/>
          </a:stretch>
        </p:blipFill>
        <p:spPr>
          <a:xfrm>
            <a:off x="548640" y="1508760"/>
            <a:ext cx="5394960" cy="2706624"/>
          </a:xfrm>
          <a:prstGeom prst="rect">
            <a:avLst/>
          </a:prstGeom>
          <a:effectLst>
            <a:outerShdw sx="100000" sy="100000" kx="0" ky="0" algn="bl" rotWithShape="0" blurRad="127000" dist="38100" dir="5400000">
              <a:srgbClr val="2B2560">
                <a:alpha val="10000"/>
              </a:srgbClr>
            </a:outerShdw>
          </a:effectLst>
        </p:spPr>
      </p:pic>
      <p:sp>
        <p:nvSpPr>
          <p:cNvPr id="6" name="Shape 3"/>
          <p:cNvSpPr/>
          <p:nvPr/>
        </p:nvSpPr>
        <p:spPr>
          <a:xfrm>
            <a:off x="548640" y="4398264"/>
            <a:ext cx="5394960" cy="1636776"/>
          </a:xfrm>
          <a:prstGeom prst="roundRect">
            <a:avLst>
              <a:gd name="adj" fmla="val 6704"/>
            </a:avLst>
          </a:prstGeom>
          <a:solidFill>
            <a:srgbClr val="E5F4F2"/>
          </a:solidFill>
          <a:ln/>
        </p:spPr>
      </p:sp>
      <p:sp>
        <p:nvSpPr>
          <p:cNvPr id="7" name="Shape 4"/>
          <p:cNvSpPr/>
          <p:nvPr/>
        </p:nvSpPr>
        <p:spPr>
          <a:xfrm rot="5400000">
            <a:off x="5104220" y="4933188"/>
            <a:ext cx="654632" cy="566928"/>
          </a:xfrm>
          <a:prstGeom prst="hexagon">
            <a:avLst/>
          </a:prstGeom>
          <a:solidFill>
            <a:srgbClr val="1F8F83"/>
          </a:solidFill>
          <a:ln/>
        </p:spPr>
      </p:sp>
      <p:pic>
        <p:nvPicPr>
          <p:cNvPr id="8" name="Image 1" descr="preencoded.png">    </p:cNvPr>
          <p:cNvPicPr>
            <a:picLocks noChangeAspect="1"/>
          </p:cNvPicPr>
          <p:nvPr/>
        </p:nvPicPr>
        <p:blipFill>
          <a:blip r:embed="rId2"/>
          <a:stretch>
            <a:fillRect/>
          </a:stretch>
        </p:blipFill>
        <p:spPr>
          <a:xfrm>
            <a:off x="5301143" y="5086259"/>
            <a:ext cx="260787" cy="260787"/>
          </a:xfrm>
          <a:prstGeom prst="rect">
            <a:avLst/>
          </a:prstGeom>
        </p:spPr>
      </p:pic>
      <p:sp>
        <p:nvSpPr>
          <p:cNvPr id="9" name="Text 5"/>
          <p:cNvSpPr txBox="1"/>
          <p:nvPr/>
        </p:nvSpPr>
        <p:spPr>
          <a:xfrm>
            <a:off x="777240" y="4535424"/>
            <a:ext cx="4279392" cy="1362456"/>
          </a:xfrm>
          <a:prstGeom prst="rect">
            <a:avLst/>
          </a:prstGeom>
          <a:noFill/>
          <a:ln/>
        </p:spPr>
        <p:txBody>
          <a:bodyPr wrap="square" lIns="0" tIns="0" rIns="0" bIns="0" rtlCol="0" anchor="ctr"/>
          <a:lstStyle/>
          <a:p>
            <a:pPr rtl="1" algn="r" indent="0" marL="0">
              <a:spcAft>
                <a:spcPts val="400"/>
              </a:spcAft>
              <a:buNone/>
            </a:pPr>
            <a:r>
              <a:rPr lang="he-IL" altLang="en-US" sz="1400" b="1" dirty="0">
                <a:solidFill>
                  <a:srgbClr val="1F8F83"/>
                </a:solidFill>
                <a:latin typeface="Arial" pitchFamily="34" charset="0"/>
                <a:ea typeface="Arial" pitchFamily="34" charset="-122"/>
                <a:cs typeface="Arial" pitchFamily="34" charset="-120"/>
              </a:rPr>
              <a:t>חשיבות קריטית עבור יעקב:</a:t>
            </a:r>
            <a:endParaRPr lang="he-IL" sz="1400" dirty="0"/>
          </a:p>
          <a:p>
            <a:pPr rtl="1" algn="r" indent="0" marL="0">
              <a:spcAft>
                <a:spcPts val="400"/>
              </a:spcAft>
              <a:buNone/>
            </a:pPr>
            <a:r>
              <a:rPr lang="he-IL" altLang="en-US" sz="1350" dirty="0">
                <a:solidFill>
                  <a:srgbClr val="2E2A47"/>
                </a:solidFill>
                <a:latin typeface="Arial" pitchFamily="34" charset="0"/>
                <a:ea typeface="Arial" pitchFamily="34" charset="-122"/>
                <a:cs typeface="Arial" pitchFamily="34" charset="-120"/>
              </a:rPr>
              <a:t>יעקב סובל מכבד שומני (MASLD), והטיפול ב-Wegovy מעניק מענה כפול - ירידה במשקל והגנה ישירה על רקמת הכבד ומניעת התקדמות הפיברוזיס.</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rtl="1" algn="r" indent="0" marL="0">
              <a:buNone/>
            </a:pPr>
            <a:r>
              <a:rPr lang="he-IL" altLang="en-US" sz="1550" b="1" dirty="0">
                <a:solidFill>
                  <a:srgbClr val="6E4494"/>
                </a:solidFill>
                <a:latin typeface="Arial" pitchFamily="34" charset="0"/>
                <a:ea typeface="Arial" pitchFamily="34" charset="-122"/>
                <a:cs typeface="Arial" pitchFamily="34" charset="-120"/>
              </a:rPr>
              <a:t>השפעה על כבד שומני (MASLD / MASH)</a:t>
            </a:r>
            <a:endParaRPr lang="he-IL" sz="1550" dirty="0"/>
          </a:p>
        </p:txBody>
      </p:sp>
      <p:sp>
        <p:nvSpPr>
          <p:cNvPr id="11" name="Shape 7"/>
          <p:cNvSpPr/>
          <p:nvPr/>
        </p:nvSpPr>
        <p:spPr>
          <a:xfrm>
            <a:off x="6263640" y="1965960"/>
            <a:ext cx="5376672" cy="1283208"/>
          </a:xfrm>
          <a:prstGeom prst="roundRect">
            <a:avLst>
              <a:gd name="adj" fmla="val 8551"/>
            </a:avLst>
          </a:prstGeom>
          <a:solidFill>
            <a:srgbClr val="FFFFFF"/>
          </a:solidFill>
          <a:ln w="9525">
            <a:solidFill>
              <a:srgbClr val="E3DFF0"/>
            </a:solidFill>
            <a:prstDash val="solid"/>
          </a:ln>
        </p:spPr>
      </p:sp>
      <p:sp>
        <p:nvSpPr>
          <p:cNvPr id="12" name="Shape 8"/>
          <p:cNvSpPr/>
          <p:nvPr/>
        </p:nvSpPr>
        <p:spPr>
          <a:xfrm>
            <a:off x="10378440" y="2057400"/>
            <a:ext cx="1170432" cy="1100328"/>
          </a:xfrm>
          <a:prstGeom prst="roundRect">
            <a:avLst>
              <a:gd name="adj" fmla="val 8310"/>
            </a:avLst>
          </a:prstGeom>
          <a:solidFill>
            <a:srgbClr val="F3F0FA"/>
          </a:solidFill>
          <a:ln/>
        </p:spPr>
      </p:sp>
      <p:sp>
        <p:nvSpPr>
          <p:cNvPr id="13" name="Text 9"/>
          <p:cNvSpPr txBox="1"/>
          <p:nvPr/>
        </p:nvSpPr>
        <p:spPr>
          <a:xfrm>
            <a:off x="10378440" y="2075688"/>
            <a:ext cx="1170432" cy="660197"/>
          </a:xfrm>
          <a:prstGeom prst="rect">
            <a:avLst/>
          </a:prstGeom>
          <a:noFill/>
          <a:ln/>
        </p:spPr>
        <p:txBody>
          <a:bodyPr wrap="square" lIns="0" tIns="0" rIns="0" bIns="0" rtlCol="0" anchor="ctr"/>
          <a:lstStyle/>
          <a:p>
            <a:pPr algn="ctr" indent="0" marL="0">
              <a:buNone/>
            </a:pPr>
            <a:r>
              <a:rPr lang="en-US" altLang="en-US" sz="2000" b="1" dirty="0">
                <a:solidFill>
                  <a:srgbClr val="6E4494"/>
                </a:solidFill>
                <a:latin typeface="Arial" pitchFamily="34" charset="0"/>
                <a:ea typeface="Arial" pitchFamily="34" charset="-122"/>
                <a:cs typeface="Arial" pitchFamily="34" charset="-120"/>
              </a:rPr>
              <a:t>28.7%</a:t>
            </a:r>
            <a:endParaRPr lang="en-US" sz="2000" dirty="0"/>
          </a:p>
        </p:txBody>
      </p:sp>
      <p:sp>
        <p:nvSpPr>
          <p:cNvPr id="14" name="Text 10"/>
          <p:cNvSpPr txBox="1"/>
          <p:nvPr/>
        </p:nvSpPr>
        <p:spPr>
          <a:xfrm>
            <a:off x="10405872" y="2695590"/>
            <a:ext cx="1115568" cy="418125"/>
          </a:xfrm>
          <a:prstGeom prst="rect">
            <a:avLst/>
          </a:prstGeom>
          <a:noFill/>
          <a:ln/>
        </p:spPr>
        <p:txBody>
          <a:bodyPr wrap="square" lIns="0" tIns="0" rIns="0" bIns="0" rtlCol="0" anchor="t"/>
          <a:lstStyle/>
          <a:p>
            <a:pPr rtl="1" algn="ctr" indent="0" marL="0">
              <a:buNone/>
            </a:pPr>
            <a:r>
              <a:rPr lang="he-IL" altLang="en-US" sz="1050" b="1" dirty="0">
                <a:solidFill>
                  <a:srgbClr val="6B6785"/>
                </a:solidFill>
                <a:latin typeface="Arial" pitchFamily="34" charset="0"/>
                <a:ea typeface="Arial" pitchFamily="34" charset="-122"/>
                <a:cs typeface="Arial" pitchFamily="34" charset="-120"/>
              </a:rPr>
              <a:t>EDP מול פלצבו</a:t>
            </a:r>
            <a:endParaRPr lang="he-IL" sz="1050" dirty="0"/>
          </a:p>
        </p:txBody>
      </p:sp>
      <p:sp>
        <p:nvSpPr>
          <p:cNvPr id="15" name="Text 11"/>
          <p:cNvSpPr txBox="1"/>
          <p:nvPr/>
        </p:nvSpPr>
        <p:spPr>
          <a:xfrm>
            <a:off x="6400800" y="2002536"/>
            <a:ext cx="3886200" cy="1210056"/>
          </a:xfrm>
          <a:prstGeom prst="rect">
            <a:avLst/>
          </a:prstGeom>
          <a:noFill/>
          <a:ln/>
        </p:spPr>
        <p:txBody>
          <a:bodyPr wrap="square" lIns="0" tIns="0" rIns="0" bIns="0" rtlCol="0" anchor="ctr"/>
          <a:lstStyle/>
          <a:p>
            <a:pPr rtl="1" algn="r" indent="0" marL="0">
              <a:buNone/>
            </a:pPr>
            <a:r>
              <a:rPr lang="he-IL" altLang="en-US" sz="1150" b="1" dirty="0">
                <a:solidFill>
                  <a:srgbClr val="2B2560"/>
                </a:solidFill>
                <a:latin typeface="Arial" pitchFamily="34" charset="0"/>
                <a:ea typeface="Arial" pitchFamily="34" charset="-122"/>
                <a:cs typeface="Arial" pitchFamily="34" charset="-120"/>
              </a:rPr>
              <a:t>שיפור מובהק בדלקת ובנזק הכבדי (MASH Resolution): </a:t>
            </a:r>
            <a:pPr rtl="1" algn="r" indent="0" marL="0">
              <a:buNone/>
            </a:pPr>
            <a:r>
              <a:rPr lang="he-IL" altLang="en-US" sz="1150" dirty="0">
                <a:solidFill>
                  <a:srgbClr val="2E2A47"/>
                </a:solidFill>
                <a:latin typeface="Arial" pitchFamily="34" charset="0"/>
                <a:ea typeface="Arial" pitchFamily="34" charset="-122"/>
                <a:cs typeface="Arial" pitchFamily="34" charset="-120"/>
              </a:rPr>
              <a:t>במחקר ה-ESSENCE הפאזה ה-3, טיפול ב-Wegovy (סמגלוטייד 2.4 מ"ג) הוביל לנסיגה (Resolution) של דלקת הכבד הסטאטוטית ללא החמרה בפיברוזיס בשיעור גבוה מובהק לעומת פלצבו.</a:t>
            </a:r>
            <a:endParaRPr lang="he-IL" sz="1150" dirty="0"/>
          </a:p>
        </p:txBody>
      </p:sp>
      <p:sp>
        <p:nvSpPr>
          <p:cNvPr id="16" name="Shape 12"/>
          <p:cNvSpPr/>
          <p:nvPr/>
        </p:nvSpPr>
        <p:spPr>
          <a:xfrm>
            <a:off x="6263640" y="3358896"/>
            <a:ext cx="5376672" cy="1283208"/>
          </a:xfrm>
          <a:prstGeom prst="roundRect">
            <a:avLst>
              <a:gd name="adj" fmla="val 8551"/>
            </a:avLst>
          </a:prstGeom>
          <a:solidFill>
            <a:srgbClr val="FFFFFF"/>
          </a:solidFill>
          <a:ln w="9525">
            <a:solidFill>
              <a:srgbClr val="E3DFF0"/>
            </a:solidFill>
            <a:prstDash val="solid"/>
          </a:ln>
        </p:spPr>
      </p:sp>
      <p:sp>
        <p:nvSpPr>
          <p:cNvPr id="17" name="Shape 13"/>
          <p:cNvSpPr/>
          <p:nvPr/>
        </p:nvSpPr>
        <p:spPr>
          <a:xfrm>
            <a:off x="10378440" y="3450336"/>
            <a:ext cx="1170432" cy="1100328"/>
          </a:xfrm>
          <a:prstGeom prst="roundRect">
            <a:avLst>
              <a:gd name="adj" fmla="val 8310"/>
            </a:avLst>
          </a:prstGeom>
          <a:solidFill>
            <a:srgbClr val="F3F0FA"/>
          </a:solidFill>
          <a:ln/>
        </p:spPr>
      </p:sp>
      <p:sp>
        <p:nvSpPr>
          <p:cNvPr id="18" name="Text 14"/>
          <p:cNvSpPr txBox="1"/>
          <p:nvPr/>
        </p:nvSpPr>
        <p:spPr>
          <a:xfrm>
            <a:off x="10378440" y="3468624"/>
            <a:ext cx="1170432" cy="660197"/>
          </a:xfrm>
          <a:prstGeom prst="rect">
            <a:avLst/>
          </a:prstGeom>
          <a:noFill/>
          <a:ln/>
        </p:spPr>
        <p:txBody>
          <a:bodyPr wrap="square" lIns="0" tIns="0" rIns="0" bIns="0" rtlCol="0" anchor="ctr"/>
          <a:lstStyle/>
          <a:p>
            <a:pPr algn="ctr" indent="0" marL="0">
              <a:buNone/>
            </a:pPr>
            <a:r>
              <a:rPr lang="en-US" altLang="en-US" sz="2000" b="1" dirty="0">
                <a:solidFill>
                  <a:srgbClr val="6E4494"/>
                </a:solidFill>
                <a:latin typeface="Arial" pitchFamily="34" charset="0"/>
                <a:ea typeface="Arial" pitchFamily="34" charset="-122"/>
                <a:cs typeface="Arial" pitchFamily="34" charset="-120"/>
              </a:rPr>
              <a:t>14.4%</a:t>
            </a:r>
            <a:endParaRPr lang="en-US" sz="2000" dirty="0"/>
          </a:p>
        </p:txBody>
      </p:sp>
      <p:sp>
        <p:nvSpPr>
          <p:cNvPr id="19" name="Text 15"/>
          <p:cNvSpPr txBox="1"/>
          <p:nvPr/>
        </p:nvSpPr>
        <p:spPr>
          <a:xfrm>
            <a:off x="10405872" y="4088526"/>
            <a:ext cx="1115568" cy="418125"/>
          </a:xfrm>
          <a:prstGeom prst="rect">
            <a:avLst/>
          </a:prstGeom>
          <a:noFill/>
          <a:ln/>
        </p:spPr>
        <p:txBody>
          <a:bodyPr wrap="square" lIns="0" tIns="0" rIns="0" bIns="0" rtlCol="0" anchor="t"/>
          <a:lstStyle/>
          <a:p>
            <a:pPr rtl="1" algn="ctr" indent="0" marL="0">
              <a:buNone/>
            </a:pPr>
            <a:r>
              <a:rPr lang="he-IL" altLang="en-US" sz="1050" b="1" dirty="0">
                <a:solidFill>
                  <a:srgbClr val="6B6785"/>
                </a:solidFill>
                <a:latin typeface="Arial" pitchFamily="34" charset="0"/>
                <a:ea typeface="Arial" pitchFamily="34" charset="-122"/>
                <a:cs typeface="Arial" pitchFamily="34" charset="-120"/>
              </a:rPr>
              <a:t>EDP מול פלצבו</a:t>
            </a:r>
            <a:endParaRPr lang="he-IL" sz="1050" dirty="0"/>
          </a:p>
        </p:txBody>
      </p:sp>
      <p:sp>
        <p:nvSpPr>
          <p:cNvPr id="20" name="Text 16"/>
          <p:cNvSpPr txBox="1"/>
          <p:nvPr/>
        </p:nvSpPr>
        <p:spPr>
          <a:xfrm>
            <a:off x="6400800" y="3395472"/>
            <a:ext cx="3886200" cy="1210056"/>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שיפור בפיברוזיס הכבדי (Fibrosis Improvement): </a:t>
            </a:r>
            <a:pPr rtl="1" algn="r" indent="0" marL="0">
              <a:buNone/>
            </a:pPr>
            <a:r>
              <a:rPr lang="he-IL" altLang="en-US" sz="1250" dirty="0">
                <a:solidFill>
                  <a:srgbClr val="2E2A47"/>
                </a:solidFill>
                <a:latin typeface="Arial" pitchFamily="34" charset="0"/>
                <a:ea typeface="Arial" pitchFamily="34" charset="-122"/>
                <a:cs typeface="Arial" pitchFamily="34" charset="-120"/>
              </a:rPr>
              <a:t>הושג שיפור מובהק בדרגת הפיברוזיס הכבדי (הצטלקות הכבד) ללא החמרה בדלקת הכבד (Steatohepatitis).</a:t>
            </a:r>
            <a:endParaRPr lang="he-IL" sz="1250" dirty="0"/>
          </a:p>
        </p:txBody>
      </p:sp>
      <p:sp>
        <p:nvSpPr>
          <p:cNvPr id="21" name="Shape 17"/>
          <p:cNvSpPr/>
          <p:nvPr/>
        </p:nvSpPr>
        <p:spPr>
          <a:xfrm>
            <a:off x="6263640" y="4751832"/>
            <a:ext cx="5376672" cy="1283208"/>
          </a:xfrm>
          <a:prstGeom prst="roundRect">
            <a:avLst>
              <a:gd name="adj" fmla="val 8551"/>
            </a:avLst>
          </a:prstGeom>
          <a:solidFill>
            <a:srgbClr val="FFFFFF"/>
          </a:solidFill>
          <a:ln w="9525">
            <a:solidFill>
              <a:srgbClr val="E3DFF0"/>
            </a:solidFill>
            <a:prstDash val="solid"/>
          </a:ln>
        </p:spPr>
      </p:sp>
      <p:sp>
        <p:nvSpPr>
          <p:cNvPr id="22" name="Shape 18"/>
          <p:cNvSpPr/>
          <p:nvPr/>
        </p:nvSpPr>
        <p:spPr>
          <a:xfrm>
            <a:off x="10378440" y="4843272"/>
            <a:ext cx="1170432" cy="1100328"/>
          </a:xfrm>
          <a:prstGeom prst="roundRect">
            <a:avLst>
              <a:gd name="adj" fmla="val 8310"/>
            </a:avLst>
          </a:prstGeom>
          <a:solidFill>
            <a:srgbClr val="F3F0FA"/>
          </a:solidFill>
          <a:ln/>
        </p:spPr>
      </p:sp>
      <p:sp>
        <p:nvSpPr>
          <p:cNvPr id="23" name="Shape 19"/>
          <p:cNvSpPr/>
          <p:nvPr/>
        </p:nvSpPr>
        <p:spPr>
          <a:xfrm rot="5400000">
            <a:off x="10636340" y="5109972"/>
            <a:ext cx="654632" cy="566928"/>
          </a:xfrm>
          <a:prstGeom prst="hexagon">
            <a:avLst/>
          </a:prstGeom>
          <a:solidFill>
            <a:srgbClr val="B8741A"/>
          </a:solidFill>
          <a:ln/>
        </p:spPr>
      </p:sp>
      <p:pic>
        <p:nvPicPr>
          <p:cNvPr id="24" name="Image 2" descr="preencoded.png">    </p:cNvPr>
          <p:cNvPicPr>
            <a:picLocks noChangeAspect="1"/>
          </p:cNvPicPr>
          <p:nvPr/>
        </p:nvPicPr>
        <p:blipFill>
          <a:blip r:embed="rId3"/>
          <a:stretch>
            <a:fillRect/>
          </a:stretch>
        </p:blipFill>
        <p:spPr>
          <a:xfrm>
            <a:off x="10833263" y="5263043"/>
            <a:ext cx="260787" cy="260787"/>
          </a:xfrm>
          <a:prstGeom prst="rect">
            <a:avLst/>
          </a:prstGeom>
        </p:spPr>
      </p:pic>
      <p:sp>
        <p:nvSpPr>
          <p:cNvPr id="25" name="Text 20"/>
          <p:cNvSpPr txBox="1"/>
          <p:nvPr/>
        </p:nvSpPr>
        <p:spPr>
          <a:xfrm>
            <a:off x="6400800" y="4788408"/>
            <a:ext cx="3886200" cy="1210056"/>
          </a:xfrm>
          <a:prstGeom prst="rect">
            <a:avLst/>
          </a:prstGeom>
          <a:noFill/>
          <a:ln/>
        </p:spPr>
        <p:txBody>
          <a:bodyPr wrap="square" lIns="0" tIns="0" rIns="0" bIns="0" rtlCol="0" anchor="ctr"/>
          <a:lstStyle/>
          <a:p>
            <a:pPr rtl="1" algn="r" indent="0" marL="0">
              <a:buNone/>
            </a:pPr>
            <a:r>
              <a:rPr lang="he-IL" altLang="en-US" sz="1250" b="1" dirty="0">
                <a:solidFill>
                  <a:srgbClr val="2B2560"/>
                </a:solidFill>
                <a:latin typeface="Arial" pitchFamily="34" charset="0"/>
                <a:ea typeface="Arial" pitchFamily="34" charset="-122"/>
                <a:cs typeface="Arial" pitchFamily="34" charset="-120"/>
              </a:rPr>
              <a:t>הפחתת תכולת השומן בכבד ואנזימי כבד (ALT/AST): </a:t>
            </a:r>
            <a:pPr rtl="1" algn="r" indent="0" marL="0">
              <a:buNone/>
            </a:pPr>
            <a:r>
              <a:rPr lang="he-IL" altLang="en-US" sz="1250" dirty="0">
                <a:solidFill>
                  <a:srgbClr val="2E2A47"/>
                </a:solidFill>
                <a:latin typeface="Arial" pitchFamily="34" charset="0"/>
                <a:ea typeface="Arial" pitchFamily="34" charset="-122"/>
                <a:cs typeface="Arial" pitchFamily="34" charset="-120"/>
              </a:rPr>
              <a:t>טיפול ב-Wegovy מפחית משמעותית את אחוז השומן התוך-כבדי ומנרמל את ערכי תפקודי הכבד (ALT, AST).</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100" b="1" dirty="0">
                <a:solidFill>
                  <a:srgbClr val="2B2560"/>
                </a:solidFill>
                <a:latin typeface="Arial" pitchFamily="34" charset="0"/>
                <a:ea typeface="Arial" pitchFamily="34" charset="-122"/>
                <a:cs typeface="Arial" pitchFamily="34" charset="-120"/>
              </a:rPr>
              <a:t>שלב 2: קריטריוני זכאות והשתתפות קופות החולים (שב"ן) לטיפול ב-Wegovy®</a:t>
            </a:r>
            <a:endParaRPr lang="he-IL" sz="2100" dirty="0"/>
          </a:p>
        </p:txBody>
      </p:sp>
      <p:pic>
        <p:nvPicPr>
          <p:cNvPr id="5" name="Image 0" descr="/tmp/claude-0/-home-claude/83ba285b-7ef1-5a4f-9afe-ea04c4b9d63d/scratchpad/src/ppt/media/image-19-2.png">    </p:cNvPr>
          <p:cNvPicPr>
            <a:picLocks noChangeAspect="1"/>
          </p:cNvPicPr>
          <p:nvPr/>
        </p:nvPicPr>
        <p:blipFill>
          <a:blip r:embed="rId1"/>
          <a:stretch>
            <a:fillRect/>
          </a:stretch>
        </p:blipFill>
        <p:spPr>
          <a:xfrm>
            <a:off x="548640" y="1508760"/>
            <a:ext cx="5394960" cy="3017520"/>
          </a:xfrm>
          <a:prstGeom prst="rect">
            <a:avLst/>
          </a:prstGeom>
          <a:effectLst>
            <a:outerShdw sx="100000" sy="100000" kx="0" ky="0" algn="bl" rotWithShape="0" blurRad="127000" dist="38100" dir="5400000">
              <a:srgbClr val="2B2560">
                <a:alpha val="10000"/>
              </a:srgbClr>
            </a:outerShdw>
          </a:effectLst>
        </p:spPr>
      </p:pic>
      <p:sp>
        <p:nvSpPr>
          <p:cNvPr id="6" name="Shape 3"/>
          <p:cNvSpPr/>
          <p:nvPr/>
        </p:nvSpPr>
        <p:spPr>
          <a:xfrm>
            <a:off x="548640" y="4709160"/>
            <a:ext cx="5394960" cy="1325880"/>
          </a:xfrm>
          <a:prstGeom prst="roundRect">
            <a:avLst>
              <a:gd name="adj" fmla="val 8276"/>
            </a:avLst>
          </a:prstGeom>
          <a:solidFill>
            <a:srgbClr val="E5F4F2"/>
          </a:solidFill>
          <a:ln/>
        </p:spPr>
      </p:sp>
      <p:sp>
        <p:nvSpPr>
          <p:cNvPr id="7" name="Shape 4"/>
          <p:cNvSpPr/>
          <p:nvPr/>
        </p:nvSpPr>
        <p:spPr>
          <a:xfrm rot="5400000">
            <a:off x="5104220" y="5088636"/>
            <a:ext cx="654632" cy="566928"/>
          </a:xfrm>
          <a:prstGeom prst="hexagon">
            <a:avLst/>
          </a:prstGeom>
          <a:solidFill>
            <a:srgbClr val="1F8F83"/>
          </a:solidFill>
          <a:ln/>
        </p:spPr>
      </p:sp>
      <p:pic>
        <p:nvPicPr>
          <p:cNvPr id="8" name="Image 1" descr="preencoded.png">    </p:cNvPr>
          <p:cNvPicPr>
            <a:picLocks noChangeAspect="1"/>
          </p:cNvPicPr>
          <p:nvPr/>
        </p:nvPicPr>
        <p:blipFill>
          <a:blip r:embed="rId2"/>
          <a:stretch>
            <a:fillRect/>
          </a:stretch>
        </p:blipFill>
        <p:spPr>
          <a:xfrm>
            <a:off x="5301143" y="5241707"/>
            <a:ext cx="260787" cy="260787"/>
          </a:xfrm>
          <a:prstGeom prst="rect">
            <a:avLst/>
          </a:prstGeom>
        </p:spPr>
      </p:pic>
      <p:sp>
        <p:nvSpPr>
          <p:cNvPr id="9" name="Text 5"/>
          <p:cNvSpPr txBox="1"/>
          <p:nvPr/>
        </p:nvSpPr>
        <p:spPr>
          <a:xfrm>
            <a:off x="777240" y="4846320"/>
            <a:ext cx="4279392" cy="1051560"/>
          </a:xfrm>
          <a:prstGeom prst="rect">
            <a:avLst/>
          </a:prstGeom>
          <a:noFill/>
          <a:ln/>
        </p:spPr>
        <p:txBody>
          <a:bodyPr wrap="square" lIns="0" tIns="0" rIns="0" bIns="0" rtlCol="0" anchor="ctr"/>
          <a:lstStyle/>
          <a:p>
            <a:pPr rtl="1" algn="r" indent="0" marL="0">
              <a:spcAft>
                <a:spcPts val="400"/>
              </a:spcAft>
              <a:buNone/>
            </a:pPr>
            <a:r>
              <a:rPr lang="he-IL" altLang="en-US" sz="1400" b="1" dirty="0">
                <a:solidFill>
                  <a:srgbClr val="1F8F83"/>
                </a:solidFill>
                <a:latin typeface="Arial" pitchFamily="34" charset="0"/>
                <a:ea typeface="Arial" pitchFamily="34" charset="-122"/>
                <a:cs typeface="Arial" pitchFamily="34" charset="-120"/>
              </a:rPr>
              <a:t>התאמה מלאה למטופל (יעקב):</a:t>
            </a:r>
            <a:endParaRPr lang="he-IL" sz="1400" dirty="0"/>
          </a:p>
          <a:p>
            <a:pPr rtl="1" algn="r" indent="0" marL="0">
              <a:spcAft>
                <a:spcPts val="400"/>
              </a:spcAft>
              <a:buNone/>
            </a:pPr>
            <a:r>
              <a:rPr lang="he-IL" altLang="en-US" sz="1350" dirty="0">
                <a:solidFill>
                  <a:srgbClr val="2E2A47"/>
                </a:solidFill>
                <a:latin typeface="Arial" pitchFamily="34" charset="0"/>
                <a:ea typeface="Arial" pitchFamily="34" charset="-122"/>
                <a:cs typeface="Arial" pitchFamily="34" charset="-120"/>
              </a:rPr>
              <a:t>יעקב (בן 67, BMI בסיס 36.1, סובל מכבד שומני, CVA, IHD ודום נשימה בשינה) עומד במלוא קריטריוני הזכאות לקבלת Wegovy בסבסוד שב"ן!</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rtl="1" algn="r" indent="0" marL="0">
              <a:buNone/>
            </a:pPr>
            <a:r>
              <a:rPr lang="he-IL" altLang="en-US" sz="1350" b="1" dirty="0">
                <a:solidFill>
                  <a:srgbClr val="6E4494"/>
                </a:solidFill>
                <a:latin typeface="Arial" pitchFamily="34" charset="0"/>
                <a:ea typeface="Arial" pitchFamily="34" charset="-122"/>
                <a:cs typeface="Arial" pitchFamily="34" charset="-120"/>
              </a:rPr>
              <a:t>קריטריוני זכאות לוויגובי (גם דום נשימה בשינה בלבד)</a:t>
            </a:r>
            <a:endParaRPr lang="he-IL" sz="1350" dirty="0"/>
          </a:p>
        </p:txBody>
      </p:sp>
      <p:sp>
        <p:nvSpPr>
          <p:cNvPr id="11" name="Shape 7"/>
          <p:cNvSpPr/>
          <p:nvPr/>
        </p:nvSpPr>
        <p:spPr>
          <a:xfrm>
            <a:off x="6263640" y="1965960"/>
            <a:ext cx="5376672" cy="1371600"/>
          </a:xfrm>
          <a:prstGeom prst="roundRect">
            <a:avLst>
              <a:gd name="adj" fmla="val 8000"/>
            </a:avLst>
          </a:prstGeom>
          <a:solidFill>
            <a:srgbClr val="FFFFFF"/>
          </a:solidFill>
          <a:ln w="9525">
            <a:solidFill>
              <a:srgbClr val="E3DFF0"/>
            </a:solidFill>
            <a:prstDash val="solid"/>
          </a:ln>
        </p:spPr>
      </p:sp>
      <p:sp>
        <p:nvSpPr>
          <p:cNvPr id="12" name="Shape 8"/>
          <p:cNvSpPr/>
          <p:nvPr/>
        </p:nvSpPr>
        <p:spPr>
          <a:xfrm rot="5400000">
            <a:off x="10940921" y="2386584"/>
            <a:ext cx="612397" cy="530352"/>
          </a:xfrm>
          <a:prstGeom prst="hexagon">
            <a:avLst/>
          </a:prstGeom>
          <a:solidFill>
            <a:srgbClr val="4A90D0"/>
          </a:solidFill>
          <a:ln/>
        </p:spPr>
      </p:sp>
      <p:pic>
        <p:nvPicPr>
          <p:cNvPr id="13" name="Image 2" descr="preencoded.png">    </p:cNvPr>
          <p:cNvPicPr>
            <a:picLocks noChangeAspect="1"/>
          </p:cNvPicPr>
          <p:nvPr/>
        </p:nvPicPr>
        <p:blipFill>
          <a:blip r:embed="rId3"/>
          <a:stretch>
            <a:fillRect/>
          </a:stretch>
        </p:blipFill>
        <p:spPr>
          <a:xfrm>
            <a:off x="11125139" y="2529779"/>
            <a:ext cx="243962" cy="243962"/>
          </a:xfrm>
          <a:prstGeom prst="rect">
            <a:avLst/>
          </a:prstGeom>
        </p:spPr>
      </p:pic>
      <p:sp>
        <p:nvSpPr>
          <p:cNvPr id="14" name="Text 9"/>
          <p:cNvSpPr txBox="1"/>
          <p:nvPr/>
        </p:nvSpPr>
        <p:spPr>
          <a:xfrm>
            <a:off x="6400800" y="2011680"/>
            <a:ext cx="4389120" cy="1280160"/>
          </a:xfrm>
          <a:prstGeom prst="rect">
            <a:avLst/>
          </a:prstGeom>
          <a:noFill/>
          <a:ln/>
        </p:spPr>
        <p:txBody>
          <a:bodyPr wrap="square" lIns="0" tIns="0" rIns="0" bIns="0" rtlCol="0" anchor="ctr"/>
          <a:lstStyle/>
          <a:p>
            <a:pPr rtl="1" algn="r" indent="0" marL="0">
              <a:buNone/>
            </a:pPr>
            <a:r>
              <a:rPr lang="he-IL" altLang="en-US" sz="1200" b="1" dirty="0">
                <a:solidFill>
                  <a:srgbClr val="2B2560"/>
                </a:solidFill>
                <a:latin typeface="Arial" pitchFamily="34" charset="0"/>
                <a:ea typeface="Arial" pitchFamily="34" charset="-122"/>
                <a:cs typeface="Arial" pitchFamily="34" charset="-120"/>
              </a:rPr>
              <a:t>זמינות וסבסוד בביטוחים המשלימים (שב"ן): </a:t>
            </a:r>
            <a:pPr rtl="1" algn="r" indent="0" marL="0">
              <a:buNone/>
            </a:pPr>
            <a:r>
              <a:rPr lang="he-IL" altLang="en-US" sz="1200" dirty="0">
                <a:solidFill>
                  <a:srgbClr val="2E2A47"/>
                </a:solidFill>
                <a:latin typeface="Arial" pitchFamily="34" charset="0"/>
                <a:ea typeface="Arial" pitchFamily="34" charset="-122"/>
                <a:cs typeface="Arial" pitchFamily="34" charset="-120"/>
              </a:rPr>
              <a:t>תרופת Wegovy® (סמגלוטייד 2.4 מ"ג) זמינה בכל קופות החולים (כללית, מכבי, מאוחדת, לאומית) למבוטחי שב"ן ב-50% הנחה (מחיר השתתפות עצמית של 338-562 ₪ בלבד בהתאם למינון).</a:t>
            </a:r>
            <a:endParaRPr lang="he-IL" sz="1200" dirty="0"/>
          </a:p>
        </p:txBody>
      </p:sp>
      <p:sp>
        <p:nvSpPr>
          <p:cNvPr id="15" name="Shape 10"/>
          <p:cNvSpPr/>
          <p:nvPr/>
        </p:nvSpPr>
        <p:spPr>
          <a:xfrm>
            <a:off x="6263640" y="3429000"/>
            <a:ext cx="5376672" cy="731520"/>
          </a:xfrm>
          <a:prstGeom prst="roundRect">
            <a:avLst>
              <a:gd name="adj" fmla="val 15000"/>
            </a:avLst>
          </a:prstGeom>
          <a:solidFill>
            <a:srgbClr val="FFFFFF"/>
          </a:solidFill>
          <a:ln w="9525">
            <a:solidFill>
              <a:srgbClr val="E3DFF0"/>
            </a:solidFill>
            <a:prstDash val="solid"/>
          </a:ln>
        </p:spPr>
      </p:sp>
      <p:sp>
        <p:nvSpPr>
          <p:cNvPr id="16" name="Shape 11"/>
          <p:cNvSpPr/>
          <p:nvPr/>
        </p:nvSpPr>
        <p:spPr>
          <a:xfrm rot="5400000">
            <a:off x="10972597" y="3557016"/>
            <a:ext cx="549046" cy="475488"/>
          </a:xfrm>
          <a:prstGeom prst="hexagon">
            <a:avLst/>
          </a:prstGeom>
          <a:solidFill>
            <a:srgbClr val="5B6BB5"/>
          </a:solidFill>
          <a:ln/>
        </p:spPr>
      </p:sp>
      <p:sp>
        <p:nvSpPr>
          <p:cNvPr id="17" name="Text 12"/>
          <p:cNvSpPr txBox="1"/>
          <p:nvPr/>
        </p:nvSpPr>
        <p:spPr>
          <a:xfrm>
            <a:off x="11009376" y="3557016"/>
            <a:ext cx="475488" cy="475488"/>
          </a:xfrm>
          <a:prstGeom prst="rect">
            <a:avLst/>
          </a:prstGeom>
          <a:noFill/>
          <a:ln/>
        </p:spPr>
        <p:txBody>
          <a:bodyPr wrap="square" lIns="0" tIns="0" rIns="0" bIns="0" rtlCol="0" anchor="ctr"/>
          <a:lstStyle/>
          <a:p>
            <a:pPr algn="ctr" indent="0" marL="0">
              <a:buNone/>
            </a:pPr>
            <a:r>
              <a:rPr lang="en-US" alt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8" name="Text 13"/>
          <p:cNvSpPr txBox="1"/>
          <p:nvPr/>
        </p:nvSpPr>
        <p:spPr>
          <a:xfrm>
            <a:off x="6400800" y="3456432"/>
            <a:ext cx="4389120" cy="676656"/>
          </a:xfrm>
          <a:prstGeom prst="rect">
            <a:avLst/>
          </a:prstGeom>
          <a:noFill/>
          <a:ln/>
        </p:spPr>
        <p:txBody>
          <a:bodyPr wrap="square" lIns="0" tIns="0" rIns="0" bIns="0" rtlCol="0" anchor="ctr"/>
          <a:lstStyle/>
          <a:p>
            <a:pPr rtl="1" algn="r" indent="0" marL="0">
              <a:buNone/>
            </a:pPr>
            <a:r>
              <a:rPr lang="he-IL" altLang="en-US" sz="1200" b="1" dirty="0">
                <a:solidFill>
                  <a:srgbClr val="2B2560"/>
                </a:solidFill>
                <a:latin typeface="Arial" pitchFamily="34" charset="0"/>
                <a:ea typeface="Arial" pitchFamily="34" charset="-122"/>
                <a:cs typeface="Arial" pitchFamily="34" charset="-120"/>
              </a:rPr>
              <a:t>קריטריון BMI מעל 30 (BMI &gt; 30 kg/m²): </a:t>
            </a:r>
            <a:pPr rtl="1" algn="r" indent="0" marL="0">
              <a:buNone/>
            </a:pPr>
            <a:r>
              <a:rPr lang="he-IL" altLang="en-US" sz="1200" dirty="0">
                <a:solidFill>
                  <a:srgbClr val="2E2A47"/>
                </a:solidFill>
                <a:latin typeface="Arial" pitchFamily="34" charset="0"/>
                <a:ea typeface="Arial" pitchFamily="34" charset="-122"/>
                <a:cs typeface="Arial" pitchFamily="34" charset="-120"/>
              </a:rPr>
              <a:t>זכאות מלאה למטופלים הסובלים מהשמנה (BMI מעל 30).</a:t>
            </a:r>
            <a:endParaRPr lang="he-IL" sz="1200" dirty="0"/>
          </a:p>
        </p:txBody>
      </p:sp>
      <p:sp>
        <p:nvSpPr>
          <p:cNvPr id="19" name="Shape 14"/>
          <p:cNvSpPr/>
          <p:nvPr/>
        </p:nvSpPr>
        <p:spPr>
          <a:xfrm>
            <a:off x="6263640" y="4251960"/>
            <a:ext cx="5376672" cy="1051560"/>
          </a:xfrm>
          <a:prstGeom prst="roundRect">
            <a:avLst>
              <a:gd name="adj" fmla="val 10435"/>
            </a:avLst>
          </a:prstGeom>
          <a:solidFill>
            <a:srgbClr val="FFFFFF"/>
          </a:solidFill>
          <a:ln w="9525">
            <a:solidFill>
              <a:srgbClr val="E3DFF0"/>
            </a:solidFill>
            <a:prstDash val="solid"/>
          </a:ln>
        </p:spPr>
      </p:sp>
      <p:sp>
        <p:nvSpPr>
          <p:cNvPr id="20" name="Shape 15"/>
          <p:cNvSpPr/>
          <p:nvPr/>
        </p:nvSpPr>
        <p:spPr>
          <a:xfrm rot="5400000">
            <a:off x="10972597" y="4539996"/>
            <a:ext cx="549046" cy="475488"/>
          </a:xfrm>
          <a:prstGeom prst="hexagon">
            <a:avLst/>
          </a:prstGeom>
          <a:solidFill>
            <a:srgbClr val="6E4494"/>
          </a:solidFill>
          <a:ln/>
        </p:spPr>
      </p:sp>
      <p:sp>
        <p:nvSpPr>
          <p:cNvPr id="21" name="Text 16"/>
          <p:cNvSpPr txBox="1"/>
          <p:nvPr/>
        </p:nvSpPr>
        <p:spPr>
          <a:xfrm>
            <a:off x="11009376" y="4539996"/>
            <a:ext cx="475488" cy="475488"/>
          </a:xfrm>
          <a:prstGeom prst="rect">
            <a:avLst/>
          </a:prstGeom>
          <a:noFill/>
          <a:ln/>
        </p:spPr>
        <p:txBody>
          <a:bodyPr wrap="square" lIns="0" tIns="0" rIns="0" bIns="0" rtlCol="0" anchor="ctr"/>
          <a:lstStyle/>
          <a:p>
            <a:pPr algn="ctr" indent="0" marL="0">
              <a:buNone/>
            </a:pPr>
            <a:r>
              <a:rPr lang="en-US" alt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2" name="Text 17"/>
          <p:cNvSpPr txBox="1"/>
          <p:nvPr/>
        </p:nvSpPr>
        <p:spPr>
          <a:xfrm>
            <a:off x="6400800" y="4279392"/>
            <a:ext cx="4389120" cy="996696"/>
          </a:xfrm>
          <a:prstGeom prst="rect">
            <a:avLst/>
          </a:prstGeom>
          <a:noFill/>
          <a:ln/>
        </p:spPr>
        <p:txBody>
          <a:bodyPr wrap="square" lIns="0" tIns="0" rIns="0" bIns="0" rtlCol="0" anchor="ctr"/>
          <a:lstStyle/>
          <a:p>
            <a:pPr rtl="1" algn="r" indent="0" marL="0">
              <a:buNone/>
            </a:pPr>
            <a:r>
              <a:rPr lang="he-IL" altLang="en-US" sz="1150" b="1" dirty="0">
                <a:solidFill>
                  <a:srgbClr val="2B2560"/>
                </a:solidFill>
                <a:latin typeface="Arial" pitchFamily="34" charset="0"/>
                <a:ea typeface="Arial" pitchFamily="34" charset="-122"/>
                <a:cs typeface="Arial" pitchFamily="34" charset="-120"/>
              </a:rPr>
              <a:t>קריטריון 27 ≤ BMI &lt; 30 עם מחלות נלוות (כולל כבד שומני!): </a:t>
            </a:r>
            <a:pPr rtl="1" algn="r" indent="0" marL="0">
              <a:buNone/>
            </a:pPr>
            <a:r>
              <a:rPr lang="he-IL" altLang="en-US" sz="1150" dirty="0">
                <a:solidFill>
                  <a:srgbClr val="2E2A47"/>
                </a:solidFill>
                <a:latin typeface="Arial" pitchFamily="34" charset="0"/>
                <a:ea typeface="Arial" pitchFamily="34" charset="-122"/>
                <a:cs typeface="Arial" pitchFamily="34" charset="-120"/>
              </a:rPr>
              <a:t>זכאות למטופלים עם BMI מ-27 ומעלה בנוכחות לפחות סיבוך/גורם סיכון אחד מהבאים: כבד שומני, טרום סוכרת, סוכרת מסוג 2, יתר לחץ דם, דיסליפידמיה, דום נשימה בשינה (OSA), או מחלה קרדיווסקולרית.</a:t>
            </a:r>
            <a:endParaRPr lang="he-IL" sz="1150" dirty="0"/>
          </a:p>
        </p:txBody>
      </p:sp>
      <p:sp>
        <p:nvSpPr>
          <p:cNvPr id="23" name="Shape 18"/>
          <p:cNvSpPr/>
          <p:nvPr/>
        </p:nvSpPr>
        <p:spPr>
          <a:xfrm>
            <a:off x="6263640" y="5394960"/>
            <a:ext cx="5376672" cy="640080"/>
          </a:xfrm>
          <a:prstGeom prst="roundRect">
            <a:avLst>
              <a:gd name="adj" fmla="val 17143"/>
            </a:avLst>
          </a:prstGeom>
          <a:solidFill>
            <a:srgbClr val="FFFFFF"/>
          </a:solidFill>
          <a:ln w="9525">
            <a:solidFill>
              <a:srgbClr val="E3DFF0"/>
            </a:solidFill>
            <a:prstDash val="solid"/>
          </a:ln>
        </p:spPr>
      </p:sp>
      <p:sp>
        <p:nvSpPr>
          <p:cNvPr id="24" name="Shape 19"/>
          <p:cNvSpPr/>
          <p:nvPr/>
        </p:nvSpPr>
        <p:spPr>
          <a:xfrm rot="5400000">
            <a:off x="10972597" y="5477256"/>
            <a:ext cx="549046" cy="475488"/>
          </a:xfrm>
          <a:prstGeom prst="hexagon">
            <a:avLst/>
          </a:prstGeom>
          <a:solidFill>
            <a:srgbClr val="1F8F83"/>
          </a:solidFill>
          <a:ln/>
        </p:spPr>
      </p:sp>
      <p:pic>
        <p:nvPicPr>
          <p:cNvPr id="25" name="Image 3" descr="preencoded.png">    </p:cNvPr>
          <p:cNvPicPr>
            <a:picLocks noChangeAspect="1"/>
          </p:cNvPicPr>
          <p:nvPr/>
        </p:nvPicPr>
        <p:blipFill>
          <a:blip r:embed="rId4"/>
          <a:stretch>
            <a:fillRect/>
          </a:stretch>
        </p:blipFill>
        <p:spPr>
          <a:xfrm>
            <a:off x="11137758" y="5605638"/>
            <a:ext cx="218724" cy="218724"/>
          </a:xfrm>
          <a:prstGeom prst="rect">
            <a:avLst/>
          </a:prstGeom>
        </p:spPr>
      </p:pic>
      <p:sp>
        <p:nvSpPr>
          <p:cNvPr id="26" name="Text 20"/>
          <p:cNvSpPr txBox="1"/>
          <p:nvPr/>
        </p:nvSpPr>
        <p:spPr>
          <a:xfrm>
            <a:off x="6400800" y="5422392"/>
            <a:ext cx="4389120" cy="585216"/>
          </a:xfrm>
          <a:prstGeom prst="rect">
            <a:avLst/>
          </a:prstGeom>
          <a:noFill/>
          <a:ln/>
        </p:spPr>
        <p:txBody>
          <a:bodyPr wrap="square" lIns="0" tIns="0" rIns="0" bIns="0" rtlCol="0" anchor="ctr"/>
          <a:lstStyle/>
          <a:p>
            <a:pPr rtl="1" algn="r" indent="0" marL="0">
              <a:buNone/>
            </a:pPr>
            <a:r>
              <a:rPr lang="he-IL" altLang="en-US" sz="1200" b="1" dirty="0">
                <a:solidFill>
                  <a:srgbClr val="2B2560"/>
                </a:solidFill>
                <a:latin typeface="Arial" pitchFamily="34" charset="0"/>
                <a:ea typeface="Arial" pitchFamily="34" charset="-122"/>
                <a:cs typeface="Arial" pitchFamily="34" charset="-120"/>
              </a:rPr>
              <a:t>גיל מאושר לשימוש: </a:t>
            </a:r>
            <a:pPr rtl="1" algn="r" indent="0" marL="0">
              <a:buNone/>
            </a:pPr>
            <a:r>
              <a:rPr lang="he-IL" altLang="en-US" sz="1200" dirty="0">
                <a:solidFill>
                  <a:srgbClr val="2E2A47"/>
                </a:solidFill>
                <a:latin typeface="Arial" pitchFamily="34" charset="0"/>
                <a:ea typeface="Arial" pitchFamily="34" charset="-122"/>
                <a:cs typeface="Arial" pitchFamily="34" charset="-120"/>
              </a:rPr>
              <a:t>התרופה מאושרת לשימוש במבוגרים ומתבגרים החל מגיל 12 ומעלה.</a:t>
            </a:r>
            <a:endParaRPr lang="he-IL" sz="12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2: שינויים בטיפול התרופתי והנחיות אורח חיים</a:t>
            </a:r>
            <a:endParaRPr lang="he-IL" sz="2600" dirty="0"/>
          </a:p>
        </p:txBody>
      </p:sp>
      <p:sp>
        <p:nvSpPr>
          <p:cNvPr id="5" name="Shape 3"/>
          <p:cNvSpPr/>
          <p:nvPr/>
        </p:nvSpPr>
        <p:spPr>
          <a:xfrm>
            <a:off x="8127797" y="1508760"/>
            <a:ext cx="3515258" cy="457200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9410290" y="1691640"/>
            <a:ext cx="950272" cy="822960"/>
          </a:xfrm>
          <a:prstGeom prst="hexagon">
            <a:avLst/>
          </a:prstGeom>
          <a:solidFill>
            <a:srgbClr val="4A90D0"/>
          </a:solidFill>
          <a:ln/>
        </p:spPr>
      </p:sp>
      <p:pic>
        <p:nvPicPr>
          <p:cNvPr id="7" name="Image 0" descr="preencoded.png">    </p:cNvPr>
          <p:cNvPicPr>
            <a:picLocks noChangeAspect="1"/>
          </p:cNvPicPr>
          <p:nvPr/>
        </p:nvPicPr>
        <p:blipFill>
          <a:blip r:embed="rId1"/>
          <a:stretch>
            <a:fillRect/>
          </a:stretch>
        </p:blipFill>
        <p:spPr>
          <a:xfrm>
            <a:off x="9696145" y="1913839"/>
            <a:ext cx="378562" cy="378562"/>
          </a:xfrm>
          <a:prstGeom prst="rect">
            <a:avLst/>
          </a:prstGeom>
        </p:spPr>
      </p:pic>
      <p:sp>
        <p:nvSpPr>
          <p:cNvPr id="8" name="Text 5"/>
          <p:cNvSpPr txBox="1"/>
          <p:nvPr/>
        </p:nvSpPr>
        <p:spPr>
          <a:xfrm>
            <a:off x="8310677" y="2697480"/>
            <a:ext cx="3149498" cy="548640"/>
          </a:xfrm>
          <a:prstGeom prst="rect">
            <a:avLst/>
          </a:prstGeom>
          <a:noFill/>
          <a:ln/>
        </p:spPr>
        <p:txBody>
          <a:bodyPr wrap="square" lIns="0" tIns="0" rIns="0" bIns="0" rtlCol="0" anchor="ctr"/>
          <a:lstStyle/>
          <a:p>
            <a:pPr rtl="1" algn="ctr" indent="0" marL="0">
              <a:buNone/>
            </a:pPr>
            <a:r>
              <a:rPr lang="he-IL" altLang="en-US" sz="2100" b="1" dirty="0">
                <a:solidFill>
                  <a:srgbClr val="2B2560"/>
                </a:solidFill>
                <a:latin typeface="Arial" pitchFamily="34" charset="0"/>
                <a:ea typeface="Arial" pitchFamily="34" charset="-122"/>
                <a:cs typeface="Arial" pitchFamily="34" charset="-120"/>
              </a:rPr>
              <a:t>התחלת וויגובי 1 מ"ג</a:t>
            </a:r>
            <a:endParaRPr lang="he-IL" sz="2100" dirty="0"/>
          </a:p>
        </p:txBody>
      </p:sp>
      <p:sp>
        <p:nvSpPr>
          <p:cNvPr id="9" name="Text 6"/>
          <p:cNvSpPr txBox="1"/>
          <p:nvPr/>
        </p:nvSpPr>
        <p:spPr>
          <a:xfrm>
            <a:off x="8356397" y="3291840"/>
            <a:ext cx="3058058" cy="457200"/>
          </a:xfrm>
          <a:prstGeom prst="rect">
            <a:avLst/>
          </a:prstGeom>
          <a:noFill/>
          <a:ln/>
        </p:spPr>
        <p:txBody>
          <a:bodyPr wrap="square" lIns="0" tIns="0" rIns="0" bIns="0" rtlCol="0" anchor="ctr"/>
          <a:lstStyle/>
          <a:p>
            <a:pPr rtl="1" algn="ctr" indent="0" marL="0">
              <a:buNone/>
            </a:pPr>
            <a:r>
              <a:rPr lang="he-IL" altLang="en-US" sz="1700" b="1" dirty="0">
                <a:solidFill>
                  <a:srgbClr val="4A90D0"/>
                </a:solidFill>
                <a:latin typeface="Arial" pitchFamily="34" charset="0"/>
                <a:ea typeface="Arial" pitchFamily="34" charset="-122"/>
                <a:cs typeface="Arial" pitchFamily="34" charset="-120"/>
              </a:rPr>
              <a:t>(מעבר מאוזמפיק 1 מ"ג)</a:t>
            </a:r>
            <a:endParaRPr lang="he-IL" sz="1700" dirty="0"/>
          </a:p>
        </p:txBody>
      </p:sp>
      <p:sp>
        <p:nvSpPr>
          <p:cNvPr id="10" name="Text 7"/>
          <p:cNvSpPr txBox="1"/>
          <p:nvPr/>
        </p:nvSpPr>
        <p:spPr>
          <a:xfrm>
            <a:off x="8447837" y="4023360"/>
            <a:ext cx="2875178" cy="1828800"/>
          </a:xfrm>
          <a:prstGeom prst="rect">
            <a:avLst/>
          </a:prstGeom>
          <a:noFill/>
          <a:ln/>
        </p:spPr>
        <p:txBody>
          <a:bodyPr wrap="square" lIns="0" tIns="0" rIns="0" bIns="0" rtlCol="0" anchor="t"/>
          <a:lstStyle/>
          <a:p>
            <a:pPr rtl="1" algn="ctr" indent="0" marL="0">
              <a:buNone/>
            </a:pPr>
            <a:r>
              <a:rPr lang="he-IL" altLang="en-US" sz="1700" dirty="0">
                <a:solidFill>
                  <a:srgbClr val="2E2A47"/>
                </a:solidFill>
                <a:latin typeface="Arial" pitchFamily="34" charset="0"/>
                <a:ea typeface="Arial" pitchFamily="34" charset="-122"/>
                <a:cs typeface="Arial" pitchFamily="34" charset="-120"/>
              </a:rPr>
              <a:t>תוך הדרכה על ביצוע טיטרציה הדרגתית.</a:t>
            </a:r>
            <a:endParaRPr lang="he-IL" sz="1700" dirty="0"/>
          </a:p>
        </p:txBody>
      </p:sp>
      <p:sp>
        <p:nvSpPr>
          <p:cNvPr id="11" name="Shape 8"/>
          <p:cNvSpPr/>
          <p:nvPr/>
        </p:nvSpPr>
        <p:spPr>
          <a:xfrm>
            <a:off x="4338218" y="1508760"/>
            <a:ext cx="3515258" cy="457200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2" name="Shape 9"/>
          <p:cNvSpPr/>
          <p:nvPr/>
        </p:nvSpPr>
        <p:spPr>
          <a:xfrm rot="5400000">
            <a:off x="5620712" y="1691640"/>
            <a:ext cx="950272" cy="822960"/>
          </a:xfrm>
          <a:prstGeom prst="hexagon">
            <a:avLst/>
          </a:prstGeom>
          <a:solidFill>
            <a:srgbClr val="5B6BB5"/>
          </a:solidFill>
          <a:ln/>
        </p:spPr>
      </p:sp>
      <p:pic>
        <p:nvPicPr>
          <p:cNvPr id="13" name="Image 1" descr="preencoded.png">    </p:cNvPr>
          <p:cNvPicPr>
            <a:picLocks noChangeAspect="1"/>
          </p:cNvPicPr>
          <p:nvPr/>
        </p:nvPicPr>
        <p:blipFill>
          <a:blip r:embed="rId2"/>
          <a:stretch>
            <a:fillRect/>
          </a:stretch>
        </p:blipFill>
        <p:spPr>
          <a:xfrm>
            <a:off x="5906567" y="1913839"/>
            <a:ext cx="378562" cy="378562"/>
          </a:xfrm>
          <a:prstGeom prst="rect">
            <a:avLst/>
          </a:prstGeom>
        </p:spPr>
      </p:pic>
      <p:sp>
        <p:nvSpPr>
          <p:cNvPr id="14" name="Text 10"/>
          <p:cNvSpPr txBox="1"/>
          <p:nvPr/>
        </p:nvSpPr>
        <p:spPr>
          <a:xfrm>
            <a:off x="4521098" y="2697480"/>
            <a:ext cx="3149498" cy="548640"/>
          </a:xfrm>
          <a:prstGeom prst="rect">
            <a:avLst/>
          </a:prstGeom>
          <a:noFill/>
          <a:ln/>
        </p:spPr>
        <p:txBody>
          <a:bodyPr wrap="square" lIns="0" tIns="0" rIns="0" bIns="0" rtlCol="0" anchor="ctr"/>
          <a:lstStyle/>
          <a:p>
            <a:pPr rtl="1" algn="ctr" indent="0" marL="0">
              <a:buNone/>
            </a:pPr>
            <a:r>
              <a:rPr lang="he-IL" altLang="en-US" sz="2100" b="1" dirty="0">
                <a:solidFill>
                  <a:srgbClr val="2B2560"/>
                </a:solidFill>
                <a:latin typeface="Arial" pitchFamily="34" charset="0"/>
                <a:ea typeface="Arial" pitchFamily="34" charset="-122"/>
                <a:cs typeface="Arial" pitchFamily="34" charset="-120"/>
              </a:rPr>
              <a:t>פעילות גופנית מותאמת</a:t>
            </a:r>
            <a:endParaRPr lang="he-IL" sz="2100" dirty="0"/>
          </a:p>
        </p:txBody>
      </p:sp>
      <p:sp>
        <p:nvSpPr>
          <p:cNvPr id="15" name="Text 11"/>
          <p:cNvSpPr txBox="1"/>
          <p:nvPr/>
        </p:nvSpPr>
        <p:spPr>
          <a:xfrm>
            <a:off x="4566818" y="3291840"/>
            <a:ext cx="3058058" cy="457200"/>
          </a:xfrm>
          <a:prstGeom prst="rect">
            <a:avLst/>
          </a:prstGeom>
          <a:noFill/>
          <a:ln/>
        </p:spPr>
        <p:txBody>
          <a:bodyPr wrap="square" lIns="0" tIns="0" rIns="0" bIns="0" rtlCol="0" anchor="ctr"/>
          <a:lstStyle/>
          <a:p>
            <a:pPr rtl="1" algn="ctr" indent="0" marL="0">
              <a:buNone/>
            </a:pPr>
            <a:r>
              <a:rPr lang="he-IL" altLang="en-US" sz="1700" b="1" dirty="0">
                <a:solidFill>
                  <a:srgbClr val="5B6BB5"/>
                </a:solidFill>
                <a:latin typeface="Arial" pitchFamily="34" charset="0"/>
                <a:ea typeface="Arial" pitchFamily="34" charset="-122"/>
                <a:cs typeface="Arial" pitchFamily="34" charset="-120"/>
              </a:rPr>
              <a:t>אירובי + אנאירובי</a:t>
            </a:r>
            <a:endParaRPr lang="he-IL" sz="1700" dirty="0"/>
          </a:p>
        </p:txBody>
      </p:sp>
      <p:sp>
        <p:nvSpPr>
          <p:cNvPr id="16" name="Text 12"/>
          <p:cNvSpPr txBox="1"/>
          <p:nvPr/>
        </p:nvSpPr>
        <p:spPr>
          <a:xfrm>
            <a:off x="4658258" y="4023360"/>
            <a:ext cx="2875178" cy="1828800"/>
          </a:xfrm>
          <a:prstGeom prst="rect">
            <a:avLst/>
          </a:prstGeom>
          <a:noFill/>
          <a:ln/>
        </p:spPr>
        <p:txBody>
          <a:bodyPr wrap="square" lIns="0" tIns="0" rIns="0" bIns="0" rtlCol="0" anchor="t"/>
          <a:lstStyle/>
          <a:p>
            <a:pPr rtl="1" algn="ctr" indent="0" marL="0">
              <a:buNone/>
            </a:pPr>
            <a:r>
              <a:rPr lang="he-IL" altLang="en-US" sz="1700" dirty="0">
                <a:solidFill>
                  <a:srgbClr val="2E2A47"/>
                </a:solidFill>
                <a:latin typeface="Arial" pitchFamily="34" charset="0"/>
                <a:ea typeface="Arial" pitchFamily="34" charset="-122"/>
                <a:cs typeface="Arial" pitchFamily="34" charset="-120"/>
              </a:rPr>
              <a:t>המטופל הודרך על ביצוע פעילות גופנית אירובית ואנאירובית משולבת לשיפור רגישות לאינסולין.</a:t>
            </a:r>
            <a:endParaRPr lang="he-IL" sz="1700" dirty="0"/>
          </a:p>
        </p:txBody>
      </p:sp>
      <p:sp>
        <p:nvSpPr>
          <p:cNvPr id="17" name="Shape 13"/>
          <p:cNvSpPr/>
          <p:nvPr/>
        </p:nvSpPr>
        <p:spPr>
          <a:xfrm>
            <a:off x="548640" y="1508760"/>
            <a:ext cx="3515258" cy="4572000"/>
          </a:xfrm>
          <a:prstGeom prst="roundRect">
            <a:avLst>
              <a:gd name="adj" fmla="val 3121"/>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8" name="Shape 14"/>
          <p:cNvSpPr/>
          <p:nvPr/>
        </p:nvSpPr>
        <p:spPr>
          <a:xfrm rot="5400000">
            <a:off x="1831133" y="1691640"/>
            <a:ext cx="950272" cy="822960"/>
          </a:xfrm>
          <a:prstGeom prst="hexagon">
            <a:avLst/>
          </a:prstGeom>
          <a:solidFill>
            <a:srgbClr val="6E4494"/>
          </a:solidFill>
          <a:ln/>
        </p:spPr>
      </p:sp>
      <p:pic>
        <p:nvPicPr>
          <p:cNvPr id="19" name="Image 2" descr="preencoded.png">    </p:cNvPr>
          <p:cNvPicPr>
            <a:picLocks noChangeAspect="1"/>
          </p:cNvPicPr>
          <p:nvPr/>
        </p:nvPicPr>
        <p:blipFill>
          <a:blip r:embed="rId3"/>
          <a:stretch>
            <a:fillRect/>
          </a:stretch>
        </p:blipFill>
        <p:spPr>
          <a:xfrm>
            <a:off x="2116988" y="1913839"/>
            <a:ext cx="378562" cy="378562"/>
          </a:xfrm>
          <a:prstGeom prst="rect">
            <a:avLst/>
          </a:prstGeom>
        </p:spPr>
      </p:pic>
      <p:sp>
        <p:nvSpPr>
          <p:cNvPr id="20" name="Text 15"/>
          <p:cNvSpPr txBox="1"/>
          <p:nvPr/>
        </p:nvSpPr>
        <p:spPr>
          <a:xfrm>
            <a:off x="731520" y="2697480"/>
            <a:ext cx="3149498" cy="548640"/>
          </a:xfrm>
          <a:prstGeom prst="rect">
            <a:avLst/>
          </a:prstGeom>
          <a:noFill/>
          <a:ln/>
        </p:spPr>
        <p:txBody>
          <a:bodyPr wrap="square" lIns="0" tIns="0" rIns="0" bIns="0" rtlCol="0" anchor="ctr"/>
          <a:lstStyle/>
          <a:p>
            <a:pPr rtl="1" algn="ctr" indent="0" marL="0">
              <a:buNone/>
            </a:pPr>
            <a:r>
              <a:rPr lang="he-IL" altLang="en-US" sz="2100" b="1" dirty="0">
                <a:solidFill>
                  <a:srgbClr val="2B2560"/>
                </a:solidFill>
                <a:latin typeface="Arial" pitchFamily="34" charset="0"/>
                <a:ea typeface="Arial" pitchFamily="34" charset="-122"/>
                <a:cs typeface="Arial" pitchFamily="34" charset="-120"/>
              </a:rPr>
              <a:t>ייעוץ ותמיכה תזונתית</a:t>
            </a:r>
            <a:endParaRPr lang="he-IL" sz="2100" dirty="0"/>
          </a:p>
        </p:txBody>
      </p:sp>
      <p:sp>
        <p:nvSpPr>
          <p:cNvPr id="21" name="Text 16"/>
          <p:cNvSpPr txBox="1"/>
          <p:nvPr/>
        </p:nvSpPr>
        <p:spPr>
          <a:xfrm>
            <a:off x="777240" y="3291840"/>
            <a:ext cx="3058058" cy="457200"/>
          </a:xfrm>
          <a:prstGeom prst="rect">
            <a:avLst/>
          </a:prstGeom>
          <a:noFill/>
          <a:ln/>
        </p:spPr>
        <p:txBody>
          <a:bodyPr wrap="square" lIns="0" tIns="0" rIns="0" bIns="0" rtlCol="0" anchor="ctr"/>
          <a:lstStyle/>
          <a:p>
            <a:pPr rtl="1" algn="ctr" indent="0" marL="0">
              <a:buNone/>
            </a:pPr>
            <a:r>
              <a:rPr lang="he-IL" altLang="en-US" sz="1700" b="1" dirty="0">
                <a:solidFill>
                  <a:srgbClr val="6E4494"/>
                </a:solidFill>
                <a:latin typeface="Arial" pitchFamily="34" charset="0"/>
                <a:ea typeface="Arial" pitchFamily="34" charset="-122"/>
                <a:cs typeface="Arial" pitchFamily="34" charset="-120"/>
              </a:rPr>
              <a:t>מעקב דיאטנית קלינית</a:t>
            </a:r>
            <a:endParaRPr lang="he-IL" sz="1700" dirty="0"/>
          </a:p>
        </p:txBody>
      </p:sp>
      <p:sp>
        <p:nvSpPr>
          <p:cNvPr id="22" name="Text 17"/>
          <p:cNvSpPr txBox="1"/>
          <p:nvPr/>
        </p:nvSpPr>
        <p:spPr>
          <a:xfrm>
            <a:off x="868680" y="4023360"/>
            <a:ext cx="2875178" cy="1828800"/>
          </a:xfrm>
          <a:prstGeom prst="rect">
            <a:avLst/>
          </a:prstGeom>
          <a:noFill/>
          <a:ln/>
        </p:spPr>
        <p:txBody>
          <a:bodyPr wrap="square" lIns="0" tIns="0" rIns="0" bIns="0" rtlCol="0" anchor="t"/>
          <a:lstStyle/>
          <a:p>
            <a:pPr rtl="1" algn="ctr" indent="0" marL="0">
              <a:buNone/>
            </a:pPr>
            <a:r>
              <a:rPr lang="he-IL" altLang="en-US" sz="1700" dirty="0">
                <a:solidFill>
                  <a:srgbClr val="2E2A47"/>
                </a:solidFill>
                <a:latin typeface="Arial" pitchFamily="34" charset="0"/>
                <a:ea typeface="Arial" pitchFamily="34" charset="-122"/>
                <a:cs typeface="Arial" pitchFamily="34" charset="-120"/>
              </a:rPr>
              <a:t>המטופל הודרך והופנה למעקב קבוע אצל דיאטנית קלינית להתאמת תזונה מבוקרת פחמימות.</a:t>
            </a:r>
            <a:endParaRPr lang="he-IL" sz="17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sp>
      <p:sp>
        <p:nvSpPr>
          <p:cNvPr id="3" name="Shape 1"/>
          <p:cNvSpPr/>
          <p:nvPr/>
        </p:nvSpPr>
        <p:spPr>
          <a:xfrm rot="5400000">
            <a:off x="1300364" y="2377440"/>
            <a:ext cx="2428473" cy="2103120"/>
          </a:xfrm>
          <a:prstGeom prst="hexagon">
            <a:avLst/>
          </a:prstGeom>
          <a:ln w="25400">
            <a:solidFill>
              <a:srgbClr val="9CC4EE"/>
            </a:solidFill>
            <a:prstDash val="solid"/>
          </a:ln>
        </p:spPr>
      </p:sp>
      <p:sp>
        <p:nvSpPr>
          <p:cNvPr id="4" name="Text 2"/>
          <p:cNvSpPr txBox="1"/>
          <p:nvPr/>
        </p:nvSpPr>
        <p:spPr>
          <a:xfrm>
            <a:off x="1463040" y="2743200"/>
            <a:ext cx="2103120" cy="1371600"/>
          </a:xfrm>
          <a:prstGeom prst="rect">
            <a:avLst/>
          </a:prstGeom>
          <a:noFill/>
          <a:ln/>
        </p:spPr>
        <p:txBody>
          <a:bodyPr wrap="square" lIns="0" tIns="0" rIns="0" bIns="0" rtlCol="0" anchor="ctr"/>
          <a:lstStyle/>
          <a:p>
            <a:pPr algn="ctr" indent="0" marL="0">
              <a:buNone/>
            </a:pPr>
            <a:r>
              <a:rPr lang="en-US" altLang="en-US" sz="6000" b="1" dirty="0">
                <a:solidFill>
                  <a:srgbClr val="FFFFFF"/>
                </a:solidFill>
                <a:latin typeface="Arial" pitchFamily="34" charset="0"/>
                <a:ea typeface="Arial" pitchFamily="34" charset="-122"/>
                <a:cs typeface="Arial" pitchFamily="34" charset="-120"/>
              </a:rPr>
              <a:t>03</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rtl="1" algn="r" indent="0" marL="0">
              <a:buNone/>
            </a:pPr>
            <a:r>
              <a:rPr lang="he-IL" altLang="en-US" sz="2000" b="1" dirty="0">
                <a:solidFill>
                  <a:srgbClr val="9CC4EE"/>
                </a:solidFill>
                <a:latin typeface="Arial" pitchFamily="34" charset="0"/>
                <a:ea typeface="Arial" pitchFamily="34" charset="-122"/>
                <a:cs typeface="Arial" pitchFamily="34" charset="-120"/>
              </a:rPr>
              <a:t>שלב 3</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rtl="1" algn="r" indent="0" marL="0">
              <a:buNone/>
            </a:pPr>
            <a:r>
              <a:rPr lang="he-IL" altLang="en-US" sz="4000" b="1" dirty="0">
                <a:solidFill>
                  <a:srgbClr val="FFFFFF"/>
                </a:solidFill>
                <a:latin typeface="Arial" pitchFamily="34" charset="0"/>
                <a:ea typeface="Arial" pitchFamily="34" charset="-122"/>
                <a:cs typeface="Arial" pitchFamily="34" charset="-120"/>
              </a:rPr>
              <a:t>מעקב וויגובי 2.4 מ"ג</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rtl="1" algn="r" indent="0" marL="0">
              <a:buNone/>
            </a:pPr>
            <a:r>
              <a:rPr lang="he-IL" altLang="en-US" sz="1800" dirty="0">
                <a:solidFill>
                  <a:srgbClr val="D6D0F0"/>
                </a:solidFill>
                <a:latin typeface="Arial" pitchFamily="34" charset="0"/>
                <a:ea typeface="Arial" pitchFamily="34" charset="-122"/>
                <a:cs typeface="Arial" pitchFamily="34" charset="-120"/>
              </a:rPr>
              <a:t>סולם מינוני Wegovy, הורדת אינסולין בולוס מ-12 ל-8 יחידות לארוחה, הורדת בזאלי מ-40 ל-36 יחידות ומניעת היפוגליקמיה</a:t>
            </a:r>
            <a:endParaRPr lang="he-IL" sz="1800" dirty="0"/>
          </a:p>
        </p:txBody>
      </p:sp>
      <p:pic>
        <p:nvPicPr>
          <p:cNvPr id="8" name="Image 0" descr="/tmp/claude-0/-home-claude/83ba285b-7ef1-5a4f-9afe-ea04c4b9d63d/scratchpad/assets/logo_white.png">    </p:cNvPr>
          <p:cNvPicPr>
            <a:picLocks noChangeAspect="1"/>
          </p:cNvPicPr>
          <p:nvPr/>
        </p:nvPicPr>
        <p:blipFill>
          <a:blip r:embed="rId1"/>
          <a:stretch>
            <a:fillRect/>
          </a:stretch>
        </p:blipFill>
        <p:spPr>
          <a:xfrm>
            <a:off x="10744200" y="5897880"/>
            <a:ext cx="896112" cy="73700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3 • מעקב וויגובי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3: מעקב תחת Wegovy 2.4mg והתאמת מינונים</a:t>
            </a:r>
            <a:endParaRPr lang="he-IL" sz="2600" dirty="0"/>
          </a:p>
        </p:txBody>
      </p:sp>
      <p:sp>
        <p:nvSpPr>
          <p:cNvPr id="5" name="Text 3"/>
          <p:cNvSpPr txBox="1"/>
          <p:nvPr/>
        </p:nvSpPr>
        <p:spPr>
          <a:xfrm>
            <a:off x="1371600" y="1207008"/>
            <a:ext cx="10268712" cy="347472"/>
          </a:xfrm>
          <a:prstGeom prst="rect">
            <a:avLst/>
          </a:prstGeom>
          <a:noFill/>
          <a:ln/>
        </p:spPr>
        <p:txBody>
          <a:bodyPr wrap="square" lIns="0" tIns="0" rIns="0" bIns="0" rtlCol="0" anchor="t"/>
          <a:lstStyle/>
          <a:p>
            <a:pPr rtl="1" algn="r" indent="0" marL="0">
              <a:buNone/>
            </a:pPr>
            <a:r>
              <a:rPr lang="he-IL" altLang="en-US" sz="1500" dirty="0">
                <a:solidFill>
                  <a:srgbClr val="6B6785"/>
                </a:solidFill>
                <a:latin typeface="Arial" pitchFamily="34" charset="0"/>
                <a:ea typeface="Arial" pitchFamily="34" charset="-122"/>
                <a:cs typeface="Arial" pitchFamily="34" charset="-120"/>
              </a:rPr>
              <a:t>מד סולם מינוני Wegovy (Semaglutide) – תהליך טיטרציה מדורג והגעה למינון היעד</a:t>
            </a:r>
            <a:endParaRPr lang="he-IL" sz="1500" dirty="0"/>
          </a:p>
        </p:txBody>
      </p:sp>
      <p:sp>
        <p:nvSpPr>
          <p:cNvPr id="6" name="Shape 4"/>
          <p:cNvSpPr/>
          <p:nvPr/>
        </p:nvSpPr>
        <p:spPr>
          <a:xfrm>
            <a:off x="640080" y="5440680"/>
            <a:ext cx="10908792" cy="0"/>
          </a:xfrm>
          <a:prstGeom prst="line">
            <a:avLst/>
          </a:prstGeom>
          <a:noFill/>
          <a:ln w="19050">
            <a:solidFill>
              <a:srgbClr val="C9C2E3"/>
            </a:solidFill>
            <a:prstDash val="solid"/>
          </a:ln>
        </p:spPr>
      </p:sp>
      <p:sp>
        <p:nvSpPr>
          <p:cNvPr id="7" name="Shape 5"/>
          <p:cNvSpPr/>
          <p:nvPr/>
        </p:nvSpPr>
        <p:spPr>
          <a:xfrm>
            <a:off x="9476842" y="4526280"/>
            <a:ext cx="1889150" cy="1005840"/>
          </a:xfrm>
          <a:prstGeom prst="roundRect">
            <a:avLst>
              <a:gd name="adj" fmla="val 10909"/>
            </a:avLst>
          </a:prstGeom>
          <a:solidFill>
            <a:srgbClr val="4A90D0"/>
          </a:solidFill>
          <a:ln/>
        </p:spPr>
      </p:sp>
      <p:sp>
        <p:nvSpPr>
          <p:cNvPr id="8" name="Shape 6"/>
          <p:cNvSpPr/>
          <p:nvPr/>
        </p:nvSpPr>
        <p:spPr>
          <a:xfrm>
            <a:off x="9476842" y="5422392"/>
            <a:ext cx="1889150" cy="128016"/>
          </a:xfrm>
          <a:prstGeom prst="rect">
            <a:avLst/>
          </a:prstGeom>
          <a:solidFill>
            <a:srgbClr val="FFFFFF"/>
          </a:solidFill>
          <a:ln/>
        </p:spPr>
      </p:sp>
      <p:sp>
        <p:nvSpPr>
          <p:cNvPr id="9" name="Text 7"/>
          <p:cNvSpPr txBox="1"/>
          <p:nvPr/>
        </p:nvSpPr>
        <p:spPr>
          <a:xfrm>
            <a:off x="9476842" y="4617720"/>
            <a:ext cx="1889150" cy="548640"/>
          </a:xfrm>
          <a:prstGeom prst="rect">
            <a:avLst/>
          </a:prstGeom>
          <a:noFill/>
          <a:ln/>
        </p:spPr>
        <p:txBody>
          <a:bodyPr wrap="square" lIns="0" tIns="0" rIns="0" bIns="0" rtlCol="0" anchor="ctr"/>
          <a:lstStyle/>
          <a:p>
            <a:pPr algn="ctr" indent="0" marL="0">
              <a:buNone/>
            </a:pPr>
            <a:r>
              <a:rPr lang="en-US" altLang="en-US" sz="2200" b="1" dirty="0">
                <a:solidFill>
                  <a:srgbClr val="FFFFFF"/>
                </a:solidFill>
                <a:latin typeface="Arial" pitchFamily="34" charset="0"/>
                <a:ea typeface="Arial" pitchFamily="34" charset="-122"/>
                <a:cs typeface="Arial" pitchFamily="34" charset="-120"/>
              </a:rPr>
              <a:t>0.25 mg</a:t>
            </a:r>
            <a:endParaRPr lang="en-US" sz="2200" dirty="0"/>
          </a:p>
        </p:txBody>
      </p:sp>
      <p:sp>
        <p:nvSpPr>
          <p:cNvPr id="10" name="Text 8"/>
          <p:cNvSpPr txBox="1"/>
          <p:nvPr/>
        </p:nvSpPr>
        <p:spPr>
          <a:xfrm>
            <a:off x="9476842" y="4087368"/>
            <a:ext cx="1889150" cy="365760"/>
          </a:xfrm>
          <a:prstGeom prst="rect">
            <a:avLst/>
          </a:prstGeom>
          <a:noFill/>
          <a:ln/>
        </p:spPr>
        <p:txBody>
          <a:bodyPr wrap="square" lIns="0" tIns="0" rIns="0" bIns="0" rtlCol="0" anchor="b"/>
          <a:lstStyle/>
          <a:p>
            <a:pPr rtl="1" algn="ctr" indent="0" marL="0">
              <a:buNone/>
            </a:pPr>
            <a:r>
              <a:rPr lang="he-IL" altLang="en-US" sz="1500" b="1" dirty="0">
                <a:solidFill>
                  <a:srgbClr val="2B2560"/>
                </a:solidFill>
                <a:latin typeface="Arial" pitchFamily="34" charset="0"/>
                <a:ea typeface="Arial" pitchFamily="34" charset="-122"/>
                <a:cs typeface="Arial" pitchFamily="34" charset="-120"/>
              </a:rPr>
              <a:t>מינון התחלתי</a:t>
            </a:r>
            <a:endParaRPr lang="he-IL" sz="1500" dirty="0"/>
          </a:p>
        </p:txBody>
      </p:sp>
      <p:sp>
        <p:nvSpPr>
          <p:cNvPr id="11" name="Text 9"/>
          <p:cNvSpPr txBox="1"/>
          <p:nvPr/>
        </p:nvSpPr>
        <p:spPr>
          <a:xfrm>
            <a:off x="9476842" y="5550408"/>
            <a:ext cx="1889150" cy="365760"/>
          </a:xfrm>
          <a:prstGeom prst="rect">
            <a:avLst/>
          </a:prstGeom>
          <a:noFill/>
          <a:ln/>
        </p:spPr>
        <p:txBody>
          <a:bodyPr wrap="square" lIns="0" tIns="0" rIns="0" bIns="0" rtlCol="0" anchor="t"/>
          <a:lstStyle/>
          <a:p>
            <a:pPr rtl="1" algn="ctr" indent="0" marL="0">
              <a:buNone/>
            </a:pPr>
            <a:r>
              <a:rPr lang="he-IL" altLang="en-US" sz="1400" dirty="0">
                <a:solidFill>
                  <a:srgbClr val="6B6785"/>
                </a:solidFill>
                <a:latin typeface="Arial" pitchFamily="34" charset="0"/>
                <a:ea typeface="Arial" pitchFamily="34" charset="-122"/>
                <a:cs typeface="Arial" pitchFamily="34" charset="-120"/>
              </a:rPr>
              <a:t>הסתגלות</a:t>
            </a:r>
            <a:endParaRPr lang="he-IL" sz="1400" dirty="0"/>
          </a:p>
        </p:txBody>
      </p:sp>
      <p:sp>
        <p:nvSpPr>
          <p:cNvPr id="12" name="Shape 10"/>
          <p:cNvSpPr/>
          <p:nvPr/>
        </p:nvSpPr>
        <p:spPr>
          <a:xfrm>
            <a:off x="7313371" y="3977640"/>
            <a:ext cx="1889150" cy="1554480"/>
          </a:xfrm>
          <a:prstGeom prst="roundRect">
            <a:avLst>
              <a:gd name="adj" fmla="val 7059"/>
            </a:avLst>
          </a:prstGeom>
          <a:solidFill>
            <a:srgbClr val="5280C8"/>
          </a:solidFill>
          <a:ln/>
        </p:spPr>
      </p:sp>
      <p:sp>
        <p:nvSpPr>
          <p:cNvPr id="13" name="Shape 11"/>
          <p:cNvSpPr/>
          <p:nvPr/>
        </p:nvSpPr>
        <p:spPr>
          <a:xfrm>
            <a:off x="7313371" y="5422392"/>
            <a:ext cx="1889150" cy="128016"/>
          </a:xfrm>
          <a:prstGeom prst="rect">
            <a:avLst/>
          </a:prstGeom>
          <a:solidFill>
            <a:srgbClr val="FFFFFF"/>
          </a:solidFill>
          <a:ln/>
        </p:spPr>
      </p:sp>
      <p:sp>
        <p:nvSpPr>
          <p:cNvPr id="14" name="Text 12"/>
          <p:cNvSpPr txBox="1"/>
          <p:nvPr/>
        </p:nvSpPr>
        <p:spPr>
          <a:xfrm>
            <a:off x="7313371" y="4069080"/>
            <a:ext cx="1889150" cy="548640"/>
          </a:xfrm>
          <a:prstGeom prst="rect">
            <a:avLst/>
          </a:prstGeom>
          <a:noFill/>
          <a:ln/>
        </p:spPr>
        <p:txBody>
          <a:bodyPr wrap="square" lIns="0" tIns="0" rIns="0" bIns="0" rtlCol="0" anchor="ctr"/>
          <a:lstStyle/>
          <a:p>
            <a:pPr algn="ctr" indent="0" marL="0">
              <a:buNone/>
            </a:pPr>
            <a:r>
              <a:rPr lang="en-US" altLang="en-US" sz="2200" b="1" dirty="0">
                <a:solidFill>
                  <a:srgbClr val="FFFFFF"/>
                </a:solidFill>
                <a:latin typeface="Arial" pitchFamily="34" charset="0"/>
                <a:ea typeface="Arial" pitchFamily="34" charset="-122"/>
                <a:cs typeface="Arial" pitchFamily="34" charset="-120"/>
              </a:rPr>
              <a:t>0.5 mg</a:t>
            </a:r>
            <a:endParaRPr lang="en-US" sz="2200" dirty="0"/>
          </a:p>
        </p:txBody>
      </p:sp>
      <p:sp>
        <p:nvSpPr>
          <p:cNvPr id="15" name="Text 13"/>
          <p:cNvSpPr txBox="1"/>
          <p:nvPr/>
        </p:nvSpPr>
        <p:spPr>
          <a:xfrm>
            <a:off x="7313371" y="3538728"/>
            <a:ext cx="1889150" cy="365760"/>
          </a:xfrm>
          <a:prstGeom prst="rect">
            <a:avLst/>
          </a:prstGeom>
          <a:noFill/>
          <a:ln/>
        </p:spPr>
        <p:txBody>
          <a:bodyPr wrap="square" lIns="0" tIns="0" rIns="0" bIns="0" rtlCol="0" anchor="b"/>
          <a:lstStyle/>
          <a:p>
            <a:pPr rtl="1" algn="ctr" indent="0" marL="0">
              <a:buNone/>
            </a:pPr>
            <a:r>
              <a:rPr lang="he-IL" altLang="en-US" sz="1500" b="1" dirty="0">
                <a:solidFill>
                  <a:srgbClr val="2B2560"/>
                </a:solidFill>
                <a:latin typeface="Arial" pitchFamily="34" charset="0"/>
                <a:ea typeface="Arial" pitchFamily="34" charset="-122"/>
                <a:cs typeface="Arial" pitchFamily="34" charset="-120"/>
              </a:rPr>
              <a:t>שלב 2</a:t>
            </a:r>
            <a:endParaRPr lang="he-IL" sz="1500" dirty="0"/>
          </a:p>
        </p:txBody>
      </p:sp>
      <p:sp>
        <p:nvSpPr>
          <p:cNvPr id="16" name="Text 14"/>
          <p:cNvSpPr txBox="1"/>
          <p:nvPr/>
        </p:nvSpPr>
        <p:spPr>
          <a:xfrm>
            <a:off x="7313371" y="5550408"/>
            <a:ext cx="1889150" cy="365760"/>
          </a:xfrm>
          <a:prstGeom prst="rect">
            <a:avLst/>
          </a:prstGeom>
          <a:noFill/>
          <a:ln/>
        </p:spPr>
        <p:txBody>
          <a:bodyPr wrap="square" lIns="0" tIns="0" rIns="0" bIns="0" rtlCol="0" anchor="t"/>
          <a:lstStyle/>
          <a:p>
            <a:pPr rtl="1" algn="ctr" indent="0" marL="0">
              <a:buNone/>
            </a:pPr>
            <a:r>
              <a:rPr lang="he-IL" altLang="en-US" sz="1400" dirty="0">
                <a:solidFill>
                  <a:srgbClr val="6B6785"/>
                </a:solidFill>
                <a:latin typeface="Arial" pitchFamily="34" charset="0"/>
                <a:ea typeface="Arial" pitchFamily="34" charset="-122"/>
                <a:cs typeface="Arial" pitchFamily="34" charset="-120"/>
              </a:rPr>
              <a:t>העלאה חודש 2</a:t>
            </a:r>
            <a:endParaRPr lang="he-IL" sz="1400" dirty="0"/>
          </a:p>
        </p:txBody>
      </p:sp>
      <p:sp>
        <p:nvSpPr>
          <p:cNvPr id="17" name="Shape 15"/>
          <p:cNvSpPr/>
          <p:nvPr/>
        </p:nvSpPr>
        <p:spPr>
          <a:xfrm>
            <a:off x="5149901" y="3429000"/>
            <a:ext cx="1889150" cy="2103120"/>
          </a:xfrm>
          <a:prstGeom prst="roundRect">
            <a:avLst>
              <a:gd name="adj" fmla="val 5808"/>
            </a:avLst>
          </a:prstGeom>
          <a:solidFill>
            <a:srgbClr val="5B6BB5"/>
          </a:solidFill>
          <a:ln/>
        </p:spPr>
      </p:sp>
      <p:sp>
        <p:nvSpPr>
          <p:cNvPr id="18" name="Shape 16"/>
          <p:cNvSpPr/>
          <p:nvPr/>
        </p:nvSpPr>
        <p:spPr>
          <a:xfrm>
            <a:off x="5149901" y="5422392"/>
            <a:ext cx="1889150" cy="128016"/>
          </a:xfrm>
          <a:prstGeom prst="rect">
            <a:avLst/>
          </a:prstGeom>
          <a:solidFill>
            <a:srgbClr val="FFFFFF"/>
          </a:solidFill>
          <a:ln/>
        </p:spPr>
      </p:sp>
      <p:sp>
        <p:nvSpPr>
          <p:cNvPr id="19" name="Text 17"/>
          <p:cNvSpPr txBox="1"/>
          <p:nvPr/>
        </p:nvSpPr>
        <p:spPr>
          <a:xfrm>
            <a:off x="5149901" y="3520440"/>
            <a:ext cx="1889150" cy="548640"/>
          </a:xfrm>
          <a:prstGeom prst="rect">
            <a:avLst/>
          </a:prstGeom>
          <a:noFill/>
          <a:ln/>
        </p:spPr>
        <p:txBody>
          <a:bodyPr wrap="square" lIns="0" tIns="0" rIns="0" bIns="0" rtlCol="0" anchor="ctr"/>
          <a:lstStyle/>
          <a:p>
            <a:pPr algn="ctr" indent="0" marL="0">
              <a:buNone/>
            </a:pPr>
            <a:r>
              <a:rPr lang="en-US" altLang="en-US" sz="2200" b="1" dirty="0">
                <a:solidFill>
                  <a:srgbClr val="FFFFFF"/>
                </a:solidFill>
                <a:latin typeface="Arial" pitchFamily="34" charset="0"/>
                <a:ea typeface="Arial" pitchFamily="34" charset="-122"/>
                <a:cs typeface="Arial" pitchFamily="34" charset="-120"/>
              </a:rPr>
              <a:t>1.0 mg</a:t>
            </a:r>
            <a:endParaRPr lang="en-US" sz="2200" dirty="0"/>
          </a:p>
        </p:txBody>
      </p:sp>
      <p:sp>
        <p:nvSpPr>
          <p:cNvPr id="20" name="Text 18"/>
          <p:cNvSpPr txBox="1"/>
          <p:nvPr/>
        </p:nvSpPr>
        <p:spPr>
          <a:xfrm>
            <a:off x="5149901" y="2990088"/>
            <a:ext cx="1889150" cy="365760"/>
          </a:xfrm>
          <a:prstGeom prst="rect">
            <a:avLst/>
          </a:prstGeom>
          <a:noFill/>
          <a:ln/>
        </p:spPr>
        <p:txBody>
          <a:bodyPr wrap="square" lIns="0" tIns="0" rIns="0" bIns="0" rtlCol="0" anchor="b"/>
          <a:lstStyle/>
          <a:p>
            <a:pPr rtl="1" algn="ctr" indent="0" marL="0">
              <a:buNone/>
            </a:pPr>
            <a:r>
              <a:rPr lang="he-IL" altLang="en-US" sz="1500" b="1" dirty="0">
                <a:solidFill>
                  <a:srgbClr val="2B2560"/>
                </a:solidFill>
                <a:latin typeface="Arial" pitchFamily="34" charset="0"/>
                <a:ea typeface="Arial" pitchFamily="34" charset="-122"/>
                <a:cs typeface="Arial" pitchFamily="34" charset="-120"/>
              </a:rPr>
              <a:t>שלב 3</a:t>
            </a:r>
            <a:endParaRPr lang="he-IL" sz="1500" dirty="0"/>
          </a:p>
        </p:txBody>
      </p:sp>
      <p:sp>
        <p:nvSpPr>
          <p:cNvPr id="21" name="Text 19"/>
          <p:cNvSpPr txBox="1"/>
          <p:nvPr/>
        </p:nvSpPr>
        <p:spPr>
          <a:xfrm>
            <a:off x="5149901" y="5550408"/>
            <a:ext cx="1889150" cy="365760"/>
          </a:xfrm>
          <a:prstGeom prst="rect">
            <a:avLst/>
          </a:prstGeom>
          <a:noFill/>
          <a:ln/>
        </p:spPr>
        <p:txBody>
          <a:bodyPr wrap="square" lIns="0" tIns="0" rIns="0" bIns="0" rtlCol="0" anchor="t"/>
          <a:lstStyle/>
          <a:p>
            <a:pPr rtl="1" algn="ctr" indent="0" marL="0">
              <a:buNone/>
            </a:pPr>
            <a:r>
              <a:rPr lang="he-IL" altLang="en-US" sz="1400" dirty="0">
                <a:solidFill>
                  <a:srgbClr val="6B6785"/>
                </a:solidFill>
                <a:latin typeface="Arial" pitchFamily="34" charset="0"/>
                <a:ea typeface="Arial" pitchFamily="34" charset="-122"/>
                <a:cs typeface="Arial" pitchFamily="34" charset="-120"/>
              </a:rPr>
              <a:t>מעבר מאוזמפיק</a:t>
            </a:r>
            <a:endParaRPr lang="he-IL" sz="1400" dirty="0"/>
          </a:p>
        </p:txBody>
      </p:sp>
      <p:sp>
        <p:nvSpPr>
          <p:cNvPr id="22" name="Shape 20"/>
          <p:cNvSpPr/>
          <p:nvPr/>
        </p:nvSpPr>
        <p:spPr>
          <a:xfrm>
            <a:off x="2986430" y="2880360"/>
            <a:ext cx="1889150" cy="2651760"/>
          </a:xfrm>
          <a:prstGeom prst="roundRect">
            <a:avLst>
              <a:gd name="adj" fmla="val 5808"/>
            </a:avLst>
          </a:prstGeom>
          <a:solidFill>
            <a:srgbClr val="6658A6"/>
          </a:solidFill>
          <a:ln/>
        </p:spPr>
      </p:sp>
      <p:sp>
        <p:nvSpPr>
          <p:cNvPr id="23" name="Shape 21"/>
          <p:cNvSpPr/>
          <p:nvPr/>
        </p:nvSpPr>
        <p:spPr>
          <a:xfrm>
            <a:off x="2986430" y="5422392"/>
            <a:ext cx="1889150" cy="128016"/>
          </a:xfrm>
          <a:prstGeom prst="rect">
            <a:avLst/>
          </a:prstGeom>
          <a:solidFill>
            <a:srgbClr val="FFFFFF"/>
          </a:solidFill>
          <a:ln/>
        </p:spPr>
      </p:sp>
      <p:sp>
        <p:nvSpPr>
          <p:cNvPr id="24" name="Text 22"/>
          <p:cNvSpPr txBox="1"/>
          <p:nvPr/>
        </p:nvSpPr>
        <p:spPr>
          <a:xfrm>
            <a:off x="2986430" y="2971800"/>
            <a:ext cx="1889150" cy="548640"/>
          </a:xfrm>
          <a:prstGeom prst="rect">
            <a:avLst/>
          </a:prstGeom>
          <a:noFill/>
          <a:ln/>
        </p:spPr>
        <p:txBody>
          <a:bodyPr wrap="square" lIns="0" tIns="0" rIns="0" bIns="0" rtlCol="0" anchor="ctr"/>
          <a:lstStyle/>
          <a:p>
            <a:pPr algn="ctr" indent="0" marL="0">
              <a:buNone/>
            </a:pPr>
            <a:r>
              <a:rPr lang="en-US" altLang="en-US" sz="2200" b="1" dirty="0">
                <a:solidFill>
                  <a:srgbClr val="FFFFFF"/>
                </a:solidFill>
                <a:latin typeface="Arial" pitchFamily="34" charset="0"/>
                <a:ea typeface="Arial" pitchFamily="34" charset="-122"/>
                <a:cs typeface="Arial" pitchFamily="34" charset="-120"/>
              </a:rPr>
              <a:t>1.7 mg</a:t>
            </a:r>
            <a:endParaRPr lang="en-US" sz="2200" dirty="0"/>
          </a:p>
        </p:txBody>
      </p:sp>
      <p:sp>
        <p:nvSpPr>
          <p:cNvPr id="25" name="Text 23"/>
          <p:cNvSpPr txBox="1"/>
          <p:nvPr/>
        </p:nvSpPr>
        <p:spPr>
          <a:xfrm>
            <a:off x="2986430" y="2441448"/>
            <a:ext cx="1889150" cy="365760"/>
          </a:xfrm>
          <a:prstGeom prst="rect">
            <a:avLst/>
          </a:prstGeom>
          <a:noFill/>
          <a:ln/>
        </p:spPr>
        <p:txBody>
          <a:bodyPr wrap="square" lIns="0" tIns="0" rIns="0" bIns="0" rtlCol="0" anchor="b"/>
          <a:lstStyle/>
          <a:p>
            <a:pPr rtl="1" algn="ctr" indent="0" marL="0">
              <a:buNone/>
            </a:pPr>
            <a:r>
              <a:rPr lang="he-IL" altLang="en-US" sz="1500" b="1" dirty="0">
                <a:solidFill>
                  <a:srgbClr val="2B2560"/>
                </a:solidFill>
                <a:latin typeface="Arial" pitchFamily="34" charset="0"/>
                <a:ea typeface="Arial" pitchFamily="34" charset="-122"/>
                <a:cs typeface="Arial" pitchFamily="34" charset="-120"/>
              </a:rPr>
              <a:t>שלב 4</a:t>
            </a:r>
            <a:endParaRPr lang="he-IL" sz="1500" dirty="0"/>
          </a:p>
        </p:txBody>
      </p:sp>
      <p:sp>
        <p:nvSpPr>
          <p:cNvPr id="26" name="Text 24"/>
          <p:cNvSpPr txBox="1"/>
          <p:nvPr/>
        </p:nvSpPr>
        <p:spPr>
          <a:xfrm>
            <a:off x="2986430" y="5550408"/>
            <a:ext cx="1889150" cy="365760"/>
          </a:xfrm>
          <a:prstGeom prst="rect">
            <a:avLst/>
          </a:prstGeom>
          <a:noFill/>
          <a:ln/>
        </p:spPr>
        <p:txBody>
          <a:bodyPr wrap="square" lIns="0" tIns="0" rIns="0" bIns="0" rtlCol="0" anchor="t"/>
          <a:lstStyle/>
          <a:p>
            <a:pPr rtl="1" algn="ctr" indent="0" marL="0">
              <a:buNone/>
            </a:pPr>
            <a:r>
              <a:rPr lang="he-IL" altLang="en-US" sz="1400" dirty="0">
                <a:solidFill>
                  <a:srgbClr val="6B6785"/>
                </a:solidFill>
                <a:latin typeface="Arial" pitchFamily="34" charset="0"/>
                <a:ea typeface="Arial" pitchFamily="34" charset="-122"/>
                <a:cs typeface="Arial" pitchFamily="34" charset="-120"/>
              </a:rPr>
              <a:t>שלב ביניים</a:t>
            </a:r>
            <a:endParaRPr lang="he-IL" sz="1400" dirty="0"/>
          </a:p>
        </p:txBody>
      </p:sp>
      <p:sp>
        <p:nvSpPr>
          <p:cNvPr id="27" name="Shape 25"/>
          <p:cNvSpPr/>
          <p:nvPr/>
        </p:nvSpPr>
        <p:spPr>
          <a:xfrm>
            <a:off x="822960" y="2331720"/>
            <a:ext cx="1889150" cy="3200400"/>
          </a:xfrm>
          <a:prstGeom prst="roundRect">
            <a:avLst>
              <a:gd name="adj" fmla="val 5808"/>
            </a:avLst>
          </a:prstGeom>
          <a:solidFill>
            <a:srgbClr val="6E4494"/>
          </a:solidFill>
          <a:ln/>
          <a:effectLst>
            <a:outerShdw sx="100000" sy="100000" kx="0" ky="0" algn="bl" rotWithShape="0" blurRad="127000" dist="38100" dir="5400000">
              <a:srgbClr val="2B2560">
                <a:alpha val="10000"/>
              </a:srgbClr>
            </a:outerShdw>
          </a:effectLst>
        </p:spPr>
      </p:sp>
      <p:sp>
        <p:nvSpPr>
          <p:cNvPr id="28" name="Shape 26"/>
          <p:cNvSpPr/>
          <p:nvPr/>
        </p:nvSpPr>
        <p:spPr>
          <a:xfrm>
            <a:off x="822960" y="5422392"/>
            <a:ext cx="1889150" cy="128016"/>
          </a:xfrm>
          <a:prstGeom prst="rect">
            <a:avLst/>
          </a:prstGeom>
          <a:solidFill>
            <a:srgbClr val="FFFFFF"/>
          </a:solidFill>
          <a:ln/>
        </p:spPr>
      </p:sp>
      <p:sp>
        <p:nvSpPr>
          <p:cNvPr id="29" name="Text 27"/>
          <p:cNvSpPr txBox="1"/>
          <p:nvPr/>
        </p:nvSpPr>
        <p:spPr>
          <a:xfrm>
            <a:off x="822960" y="2423160"/>
            <a:ext cx="1889150" cy="548640"/>
          </a:xfrm>
          <a:prstGeom prst="rect">
            <a:avLst/>
          </a:prstGeom>
          <a:noFill/>
          <a:ln/>
        </p:spPr>
        <p:txBody>
          <a:bodyPr wrap="square" lIns="0" tIns="0" rIns="0" bIns="0" rtlCol="0" anchor="ctr"/>
          <a:lstStyle/>
          <a:p>
            <a:pPr algn="ctr" indent="0" marL="0">
              <a:buNone/>
            </a:pPr>
            <a:r>
              <a:rPr lang="en-US" altLang="en-US" sz="2600" b="1" dirty="0">
                <a:solidFill>
                  <a:srgbClr val="FFFFFF"/>
                </a:solidFill>
                <a:latin typeface="Arial" pitchFamily="34" charset="0"/>
                <a:ea typeface="Arial" pitchFamily="34" charset="-122"/>
                <a:cs typeface="Arial" pitchFamily="34" charset="-120"/>
              </a:rPr>
              <a:t>2.4 mg</a:t>
            </a:r>
            <a:endParaRPr lang="en-US" sz="2600" dirty="0"/>
          </a:p>
        </p:txBody>
      </p:sp>
      <p:sp>
        <p:nvSpPr>
          <p:cNvPr id="30" name="Text 28"/>
          <p:cNvSpPr txBox="1"/>
          <p:nvPr/>
        </p:nvSpPr>
        <p:spPr>
          <a:xfrm>
            <a:off x="822960" y="1892808"/>
            <a:ext cx="1889150" cy="365760"/>
          </a:xfrm>
          <a:prstGeom prst="rect">
            <a:avLst/>
          </a:prstGeom>
          <a:noFill/>
          <a:ln/>
        </p:spPr>
        <p:txBody>
          <a:bodyPr wrap="square" lIns="0" tIns="0" rIns="0" bIns="0" rtlCol="0" anchor="b"/>
          <a:lstStyle/>
          <a:p>
            <a:pPr rtl="1" algn="ctr" indent="0" marL="0">
              <a:buNone/>
            </a:pPr>
            <a:r>
              <a:rPr lang="he-IL" altLang="en-US" sz="1500" b="1" dirty="0">
                <a:solidFill>
                  <a:srgbClr val="6E4494"/>
                </a:solidFill>
                <a:latin typeface="Arial" pitchFamily="34" charset="0"/>
                <a:ea typeface="Arial" pitchFamily="34" charset="-122"/>
                <a:cs typeface="Arial" pitchFamily="34" charset="-120"/>
              </a:rPr>
              <a:t>מינון יעד נוכחי</a:t>
            </a:r>
            <a:endParaRPr lang="he-IL" sz="1500" dirty="0"/>
          </a:p>
        </p:txBody>
      </p:sp>
      <p:sp>
        <p:nvSpPr>
          <p:cNvPr id="31" name="Text 29"/>
          <p:cNvSpPr txBox="1"/>
          <p:nvPr/>
        </p:nvSpPr>
        <p:spPr>
          <a:xfrm>
            <a:off x="822960" y="5550408"/>
            <a:ext cx="1889150" cy="365760"/>
          </a:xfrm>
          <a:prstGeom prst="rect">
            <a:avLst/>
          </a:prstGeom>
          <a:noFill/>
          <a:ln/>
        </p:spPr>
        <p:txBody>
          <a:bodyPr wrap="square" lIns="0" tIns="0" rIns="0" bIns="0" rtlCol="0" anchor="t"/>
          <a:lstStyle/>
          <a:p>
            <a:pPr rtl="1" algn="ctr" indent="0" marL="0">
              <a:buNone/>
            </a:pPr>
            <a:r>
              <a:rPr lang="he-IL" altLang="en-US" sz="1400" b="1" dirty="0">
                <a:solidFill>
                  <a:srgbClr val="6E4494"/>
                </a:solidFill>
                <a:latin typeface="Arial" pitchFamily="34" charset="0"/>
                <a:ea typeface="Arial" pitchFamily="34" charset="-122"/>
                <a:cs typeface="Arial" pitchFamily="34" charset="-120"/>
              </a:rPr>
              <a:t>מינון מלא פעיל!</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3 • מעקב וויגובי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300" b="1" dirty="0">
                <a:solidFill>
                  <a:srgbClr val="2B2560"/>
                </a:solidFill>
                <a:latin typeface="Arial" pitchFamily="34" charset="0"/>
                <a:ea typeface="Arial" pitchFamily="34" charset="-122"/>
                <a:cs typeface="Arial" pitchFamily="34" charset="-120"/>
              </a:rPr>
              <a:t>שלב 3: התאמות מינוני אינסולין במקביל לירידה במשקל ובתנגודת</a:t>
            </a:r>
            <a:endParaRPr lang="he-IL" sz="2300" dirty="0"/>
          </a:p>
        </p:txBody>
      </p:sp>
      <p:sp>
        <p:nvSpPr>
          <p:cNvPr id="5" name="Shape 3"/>
          <p:cNvSpPr/>
          <p:nvPr/>
        </p:nvSpPr>
        <p:spPr>
          <a:xfrm>
            <a:off x="6233008" y="1508760"/>
            <a:ext cx="5410048" cy="2697480"/>
          </a:xfrm>
          <a:prstGeom prst="roundRect">
            <a:avLst>
              <a:gd name="adj" fmla="val 4068"/>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10957052" y="1655064"/>
            <a:ext cx="549046" cy="475488"/>
          </a:xfrm>
          <a:prstGeom prst="hexagon">
            <a:avLst/>
          </a:prstGeom>
          <a:solidFill>
            <a:srgbClr val="4A90D0"/>
          </a:solidFill>
          <a:ln/>
        </p:spPr>
      </p:sp>
      <p:pic>
        <p:nvPicPr>
          <p:cNvPr id="7" name="Image 0" descr="preencoded.png">    </p:cNvPr>
          <p:cNvPicPr>
            <a:picLocks noChangeAspect="1"/>
          </p:cNvPicPr>
          <p:nvPr/>
        </p:nvPicPr>
        <p:blipFill>
          <a:blip r:embed="rId1"/>
          <a:stretch>
            <a:fillRect/>
          </a:stretch>
        </p:blipFill>
        <p:spPr>
          <a:xfrm>
            <a:off x="11122213" y="1783446"/>
            <a:ext cx="218724" cy="218724"/>
          </a:xfrm>
          <a:prstGeom prst="rect">
            <a:avLst/>
          </a:prstGeom>
        </p:spPr>
      </p:pic>
      <p:sp>
        <p:nvSpPr>
          <p:cNvPr id="8" name="Text 5"/>
          <p:cNvSpPr txBox="1"/>
          <p:nvPr/>
        </p:nvSpPr>
        <p:spPr>
          <a:xfrm>
            <a:off x="6415888" y="1664208"/>
            <a:ext cx="4541368" cy="457200"/>
          </a:xfrm>
          <a:prstGeom prst="rect">
            <a:avLst/>
          </a:prstGeom>
          <a:noFill/>
          <a:ln/>
        </p:spPr>
        <p:txBody>
          <a:bodyPr wrap="square" lIns="0" tIns="0" rIns="0" bIns="0" rtlCol="0" anchor="ctr"/>
          <a:lstStyle/>
          <a:p>
            <a:pPr rtl="1" algn="r" indent="0" marL="0">
              <a:buNone/>
            </a:pPr>
            <a:r>
              <a:rPr lang="he-IL" altLang="en-US" sz="1600" b="1" dirty="0">
                <a:solidFill>
                  <a:srgbClr val="2B2560"/>
                </a:solidFill>
                <a:latin typeface="Arial" pitchFamily="34" charset="0"/>
                <a:ea typeface="Arial" pitchFamily="34" charset="-122"/>
                <a:cs typeface="Arial" pitchFamily="34" charset="-120"/>
              </a:rPr>
              <a:t>אינסולין קצר טווח (נובורפיד בולוס)</a:t>
            </a:r>
            <a:endParaRPr lang="he-IL" sz="1600" dirty="0"/>
          </a:p>
        </p:txBody>
      </p:sp>
      <p:sp>
        <p:nvSpPr>
          <p:cNvPr id="9" name="Shape 6"/>
          <p:cNvSpPr/>
          <p:nvPr/>
        </p:nvSpPr>
        <p:spPr>
          <a:xfrm>
            <a:off x="9494215" y="2286000"/>
            <a:ext cx="1920240" cy="1097280"/>
          </a:xfrm>
          <a:prstGeom prst="roundRect">
            <a:avLst>
              <a:gd name="adj" fmla="val 10000"/>
            </a:avLst>
          </a:prstGeom>
          <a:solidFill>
            <a:srgbClr val="FBECEF"/>
          </a:solidFill>
          <a:ln/>
        </p:spPr>
      </p:sp>
      <p:sp>
        <p:nvSpPr>
          <p:cNvPr id="10" name="Text 7"/>
          <p:cNvSpPr txBox="1"/>
          <p:nvPr/>
        </p:nvSpPr>
        <p:spPr>
          <a:xfrm>
            <a:off x="9494215" y="2331720"/>
            <a:ext cx="1920240" cy="228600"/>
          </a:xfrm>
          <a:prstGeom prst="rect">
            <a:avLst/>
          </a:prstGeom>
          <a:noFill/>
          <a:ln/>
        </p:spPr>
        <p:txBody>
          <a:bodyPr wrap="square" lIns="0" tIns="0" rIns="0" bIns="0" rtlCol="0" anchor="t"/>
          <a:lstStyle/>
          <a:p>
            <a:pPr rtl="1" algn="ctr" indent="0" marL="0">
              <a:buNone/>
            </a:pPr>
            <a:r>
              <a:rPr lang="he-IL" altLang="en-US" sz="1100" b="1" dirty="0">
                <a:solidFill>
                  <a:srgbClr val="6B6785"/>
                </a:solidFill>
                <a:latin typeface="Arial" pitchFamily="34" charset="0"/>
                <a:ea typeface="Arial" pitchFamily="34" charset="-122"/>
                <a:cs typeface="Arial" pitchFamily="34" charset="-120"/>
              </a:rPr>
              <a:t>לפני</a:t>
            </a:r>
            <a:endParaRPr lang="he-IL" sz="1100" dirty="0"/>
          </a:p>
        </p:txBody>
      </p:sp>
      <p:sp>
        <p:nvSpPr>
          <p:cNvPr id="11" name="Text 8"/>
          <p:cNvSpPr txBox="1"/>
          <p:nvPr/>
        </p:nvSpPr>
        <p:spPr>
          <a:xfrm>
            <a:off x="9494215" y="2542032"/>
            <a:ext cx="1920240" cy="457200"/>
          </a:xfrm>
          <a:prstGeom prst="rect">
            <a:avLst/>
          </a:prstGeom>
          <a:noFill/>
          <a:ln/>
        </p:spPr>
        <p:txBody>
          <a:bodyPr wrap="square" lIns="0" tIns="0" rIns="0" bIns="0" rtlCol="0" anchor="ctr"/>
          <a:lstStyle/>
          <a:p>
            <a:pPr algn="ctr" indent="0" marL="0">
              <a:buNone/>
            </a:pPr>
            <a:r>
              <a:rPr lang="en-US" altLang="en-US" sz="2200" b="1" dirty="0">
                <a:solidFill>
                  <a:srgbClr val="C24863"/>
                </a:solidFill>
                <a:latin typeface="Arial" pitchFamily="34" charset="0"/>
                <a:ea typeface="Arial" pitchFamily="34" charset="-122"/>
                <a:cs typeface="Arial" pitchFamily="34" charset="-120"/>
              </a:rPr>
              <a:t>12u </a:t>
            </a:r>
            <a:endParaRPr lang="en-US" sz="2200" dirty="0"/>
          </a:p>
        </p:txBody>
      </p:sp>
      <p:sp>
        <p:nvSpPr>
          <p:cNvPr id="12" name="Text 9"/>
          <p:cNvSpPr txBox="1"/>
          <p:nvPr/>
        </p:nvSpPr>
        <p:spPr>
          <a:xfrm>
            <a:off x="9494215" y="2999232"/>
            <a:ext cx="1920240" cy="292608"/>
          </a:xfrm>
          <a:prstGeom prst="rect">
            <a:avLst/>
          </a:prstGeom>
          <a:noFill/>
          <a:ln/>
        </p:spPr>
        <p:txBody>
          <a:bodyPr wrap="square" lIns="0" tIns="0" rIns="0" bIns="0" rtlCol="0" anchor="t"/>
          <a:lstStyle/>
          <a:p>
            <a:pPr rtl="1" algn="ctr" indent="0" marL="0">
              <a:buNone/>
            </a:pPr>
            <a:r>
              <a:rPr lang="he-IL" altLang="en-US" sz="1200" dirty="0">
                <a:solidFill>
                  <a:srgbClr val="2E2A47"/>
                </a:solidFill>
                <a:latin typeface="Arial" pitchFamily="34" charset="0"/>
                <a:ea typeface="Arial" pitchFamily="34" charset="-122"/>
                <a:cs typeface="Arial" pitchFamily="34" charset="-120"/>
              </a:rPr>
              <a:t>לארוחה · לאחר הוספת נובורפיד</a:t>
            </a:r>
            <a:endParaRPr lang="he-IL" sz="1200" dirty="0"/>
          </a:p>
        </p:txBody>
      </p:sp>
      <p:sp>
        <p:nvSpPr>
          <p:cNvPr id="13" name="Shape 10"/>
          <p:cNvSpPr/>
          <p:nvPr/>
        </p:nvSpPr>
        <p:spPr>
          <a:xfrm>
            <a:off x="8553983" y="2670048"/>
            <a:ext cx="768096" cy="329184"/>
          </a:xfrm>
          <a:prstGeom prst="leftArrow">
            <a:avLst/>
          </a:prstGeom>
          <a:solidFill>
            <a:srgbClr val="C9C2E3"/>
          </a:solidFill>
          <a:ln/>
        </p:spPr>
      </p:sp>
      <p:sp>
        <p:nvSpPr>
          <p:cNvPr id="14" name="Shape 11"/>
          <p:cNvSpPr/>
          <p:nvPr/>
        </p:nvSpPr>
        <p:spPr>
          <a:xfrm>
            <a:off x="6461608" y="2286000"/>
            <a:ext cx="1920240" cy="1097280"/>
          </a:xfrm>
          <a:prstGeom prst="roundRect">
            <a:avLst>
              <a:gd name="adj" fmla="val 10000"/>
            </a:avLst>
          </a:prstGeom>
          <a:solidFill>
            <a:srgbClr val="E5F4F2"/>
          </a:solidFill>
          <a:ln/>
        </p:spPr>
      </p:sp>
      <p:sp>
        <p:nvSpPr>
          <p:cNvPr id="15" name="Text 12"/>
          <p:cNvSpPr txBox="1"/>
          <p:nvPr/>
        </p:nvSpPr>
        <p:spPr>
          <a:xfrm>
            <a:off x="6461608" y="2331720"/>
            <a:ext cx="1920240" cy="228600"/>
          </a:xfrm>
          <a:prstGeom prst="rect">
            <a:avLst/>
          </a:prstGeom>
          <a:noFill/>
          <a:ln/>
        </p:spPr>
        <p:txBody>
          <a:bodyPr wrap="square" lIns="0" tIns="0" rIns="0" bIns="0" rtlCol="0" anchor="t"/>
          <a:lstStyle/>
          <a:p>
            <a:pPr rtl="1" algn="ctr" indent="0" marL="0">
              <a:buNone/>
            </a:pPr>
            <a:r>
              <a:rPr lang="he-IL" altLang="en-US" sz="1100" b="1" dirty="0">
                <a:solidFill>
                  <a:srgbClr val="6B6785"/>
                </a:solidFill>
                <a:latin typeface="Arial" pitchFamily="34" charset="0"/>
                <a:ea typeface="Arial" pitchFamily="34" charset="-122"/>
                <a:cs typeface="Arial" pitchFamily="34" charset="-120"/>
              </a:rPr>
              <a:t>אחרי</a:t>
            </a:r>
            <a:endParaRPr lang="he-IL" sz="1100" dirty="0"/>
          </a:p>
        </p:txBody>
      </p:sp>
      <p:sp>
        <p:nvSpPr>
          <p:cNvPr id="16" name="Text 13"/>
          <p:cNvSpPr txBox="1"/>
          <p:nvPr/>
        </p:nvSpPr>
        <p:spPr>
          <a:xfrm>
            <a:off x="6461608" y="2542032"/>
            <a:ext cx="1920240" cy="457200"/>
          </a:xfrm>
          <a:prstGeom prst="rect">
            <a:avLst/>
          </a:prstGeom>
          <a:noFill/>
          <a:ln/>
        </p:spPr>
        <p:txBody>
          <a:bodyPr wrap="square" lIns="0" tIns="0" rIns="0" bIns="0" rtlCol="0" anchor="ctr"/>
          <a:lstStyle/>
          <a:p>
            <a:pPr algn="ctr" indent="0" marL="0">
              <a:buNone/>
            </a:pPr>
            <a:r>
              <a:rPr lang="en-US" altLang="en-US" sz="2200" b="1" dirty="0">
                <a:solidFill>
                  <a:srgbClr val="1F8F83"/>
                </a:solidFill>
                <a:latin typeface="Arial" pitchFamily="34" charset="0"/>
                <a:ea typeface="Arial" pitchFamily="34" charset="-122"/>
                <a:cs typeface="Arial" pitchFamily="34" charset="-120"/>
              </a:rPr>
              <a:t>8u</a:t>
            </a:r>
            <a:endParaRPr lang="en-US" sz="2200" dirty="0"/>
          </a:p>
        </p:txBody>
      </p:sp>
      <p:sp>
        <p:nvSpPr>
          <p:cNvPr id="17" name="Text 14"/>
          <p:cNvSpPr txBox="1"/>
          <p:nvPr/>
        </p:nvSpPr>
        <p:spPr>
          <a:xfrm>
            <a:off x="6461608" y="2999232"/>
            <a:ext cx="1920240" cy="292608"/>
          </a:xfrm>
          <a:prstGeom prst="rect">
            <a:avLst/>
          </a:prstGeom>
          <a:noFill/>
          <a:ln/>
        </p:spPr>
        <p:txBody>
          <a:bodyPr wrap="square" lIns="0" tIns="0" rIns="0" bIns="0" rtlCol="0" anchor="t"/>
          <a:lstStyle/>
          <a:p>
            <a:pPr rtl="1" algn="ctr" indent="0" marL="0">
              <a:buNone/>
            </a:pPr>
            <a:r>
              <a:rPr lang="he-IL" altLang="en-US" sz="1200" dirty="0">
                <a:solidFill>
                  <a:srgbClr val="2E2A47"/>
                </a:solidFill>
                <a:latin typeface="Arial" pitchFamily="34" charset="0"/>
                <a:ea typeface="Arial" pitchFamily="34" charset="-122"/>
                <a:cs typeface="Arial" pitchFamily="34" charset="-120"/>
              </a:rPr>
              <a:t>לארוחה · במינון וויגובי 2.4 מ"ג</a:t>
            </a:r>
            <a:endParaRPr lang="he-IL" sz="1200" dirty="0"/>
          </a:p>
        </p:txBody>
      </p:sp>
      <p:sp>
        <p:nvSpPr>
          <p:cNvPr id="18" name="Text 15"/>
          <p:cNvSpPr txBox="1"/>
          <p:nvPr/>
        </p:nvSpPr>
        <p:spPr>
          <a:xfrm>
            <a:off x="6461608" y="3520440"/>
            <a:ext cx="4952848" cy="594360"/>
          </a:xfrm>
          <a:prstGeom prst="rect">
            <a:avLst/>
          </a:prstGeom>
          <a:noFill/>
          <a:ln/>
        </p:spPr>
        <p:txBody>
          <a:bodyPr wrap="square" lIns="0" tIns="0" rIns="0" bIns="0" rtlCol="0" anchor="ctr"/>
          <a:lstStyle/>
          <a:p>
            <a:pPr rtl="1" algn="r" indent="0" marL="0">
              <a:buNone/>
            </a:pPr>
            <a:r>
              <a:rPr lang="he-IL" altLang="en-US" sz="1350" dirty="0">
                <a:solidFill>
                  <a:srgbClr val="2E2A47"/>
                </a:solidFill>
                <a:latin typeface="Arial" pitchFamily="34" charset="0"/>
                <a:ea typeface="Arial" pitchFamily="34" charset="-122"/>
                <a:cs typeface="Arial" pitchFamily="34" charset="-120"/>
              </a:rPr>
              <a:t>המטופל לא קיבל אינסולין קצר טווח בהתחלה. לאחר הוספת נובורפיד הגיע ל-12 יחידות לארוחה, ועם ההגעה למינון המקסימלי של וויגובי (2.4 מ"ג) ירד ל-8 יחידות לארוחה.</a:t>
            </a:r>
            <a:endParaRPr lang="he-IL" sz="1350" dirty="0"/>
          </a:p>
        </p:txBody>
      </p:sp>
      <p:sp>
        <p:nvSpPr>
          <p:cNvPr id="19" name="Shape 16"/>
          <p:cNvSpPr/>
          <p:nvPr/>
        </p:nvSpPr>
        <p:spPr>
          <a:xfrm>
            <a:off x="548640" y="1508760"/>
            <a:ext cx="5410048" cy="2697480"/>
          </a:xfrm>
          <a:prstGeom prst="roundRect">
            <a:avLst>
              <a:gd name="adj" fmla="val 4068"/>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0" name="Shape 17"/>
          <p:cNvSpPr/>
          <p:nvPr/>
        </p:nvSpPr>
        <p:spPr>
          <a:xfrm rot="5400000">
            <a:off x="5272685" y="1655064"/>
            <a:ext cx="549046" cy="475488"/>
          </a:xfrm>
          <a:prstGeom prst="hexagon">
            <a:avLst/>
          </a:prstGeom>
          <a:solidFill>
            <a:srgbClr val="6E4494"/>
          </a:solidFill>
          <a:ln/>
        </p:spPr>
      </p:sp>
      <p:pic>
        <p:nvPicPr>
          <p:cNvPr id="21" name="Image 1" descr="preencoded.png">    </p:cNvPr>
          <p:cNvPicPr>
            <a:picLocks noChangeAspect="1"/>
          </p:cNvPicPr>
          <p:nvPr/>
        </p:nvPicPr>
        <p:blipFill>
          <a:blip r:embed="rId2"/>
          <a:stretch>
            <a:fillRect/>
          </a:stretch>
        </p:blipFill>
        <p:spPr>
          <a:xfrm>
            <a:off x="5437845" y="1783446"/>
            <a:ext cx="218724" cy="218724"/>
          </a:xfrm>
          <a:prstGeom prst="rect">
            <a:avLst/>
          </a:prstGeom>
        </p:spPr>
      </p:pic>
      <p:sp>
        <p:nvSpPr>
          <p:cNvPr id="22" name="Text 18"/>
          <p:cNvSpPr txBox="1"/>
          <p:nvPr/>
        </p:nvSpPr>
        <p:spPr>
          <a:xfrm>
            <a:off x="731520" y="1664208"/>
            <a:ext cx="4541368" cy="457200"/>
          </a:xfrm>
          <a:prstGeom prst="rect">
            <a:avLst/>
          </a:prstGeom>
          <a:noFill/>
          <a:ln/>
        </p:spPr>
        <p:txBody>
          <a:bodyPr wrap="square" lIns="0" tIns="0" rIns="0" bIns="0" rtlCol="0" anchor="ctr"/>
          <a:lstStyle/>
          <a:p>
            <a:pPr rtl="1" algn="r" indent="0" marL="0">
              <a:buNone/>
            </a:pPr>
            <a:r>
              <a:rPr lang="he-IL" altLang="en-US" sz="1600" b="1" dirty="0">
                <a:solidFill>
                  <a:srgbClr val="2B2560"/>
                </a:solidFill>
                <a:latin typeface="Arial" pitchFamily="34" charset="0"/>
                <a:ea typeface="Arial" pitchFamily="34" charset="-122"/>
                <a:cs typeface="Arial" pitchFamily="34" charset="-120"/>
              </a:rPr>
              <a:t>אינסולין בזאלי (טרגלודק Degludec)</a:t>
            </a:r>
            <a:endParaRPr lang="he-IL" sz="1600" dirty="0"/>
          </a:p>
        </p:txBody>
      </p:sp>
      <p:sp>
        <p:nvSpPr>
          <p:cNvPr id="23" name="Shape 19"/>
          <p:cNvSpPr/>
          <p:nvPr/>
        </p:nvSpPr>
        <p:spPr>
          <a:xfrm>
            <a:off x="3809848" y="2286000"/>
            <a:ext cx="1920240" cy="1097280"/>
          </a:xfrm>
          <a:prstGeom prst="roundRect">
            <a:avLst>
              <a:gd name="adj" fmla="val 10000"/>
            </a:avLst>
          </a:prstGeom>
          <a:solidFill>
            <a:srgbClr val="FBECEF"/>
          </a:solidFill>
          <a:ln/>
        </p:spPr>
      </p:sp>
      <p:sp>
        <p:nvSpPr>
          <p:cNvPr id="24" name="Text 20"/>
          <p:cNvSpPr txBox="1"/>
          <p:nvPr/>
        </p:nvSpPr>
        <p:spPr>
          <a:xfrm>
            <a:off x="3809848" y="2331720"/>
            <a:ext cx="1920240" cy="228600"/>
          </a:xfrm>
          <a:prstGeom prst="rect">
            <a:avLst/>
          </a:prstGeom>
          <a:noFill/>
          <a:ln/>
        </p:spPr>
        <p:txBody>
          <a:bodyPr wrap="square" lIns="0" tIns="0" rIns="0" bIns="0" rtlCol="0" anchor="t"/>
          <a:lstStyle/>
          <a:p>
            <a:pPr rtl="1" algn="ctr" indent="0" marL="0">
              <a:buNone/>
            </a:pPr>
            <a:r>
              <a:rPr lang="he-IL" altLang="en-US" sz="1100" b="1" dirty="0">
                <a:solidFill>
                  <a:srgbClr val="6B6785"/>
                </a:solidFill>
                <a:latin typeface="Arial" pitchFamily="34" charset="0"/>
                <a:ea typeface="Arial" pitchFamily="34" charset="-122"/>
                <a:cs typeface="Arial" pitchFamily="34" charset="-120"/>
              </a:rPr>
              <a:t>לפני</a:t>
            </a:r>
            <a:endParaRPr lang="he-IL" sz="1100" dirty="0"/>
          </a:p>
        </p:txBody>
      </p:sp>
      <p:sp>
        <p:nvSpPr>
          <p:cNvPr id="25" name="Text 21"/>
          <p:cNvSpPr txBox="1"/>
          <p:nvPr/>
        </p:nvSpPr>
        <p:spPr>
          <a:xfrm>
            <a:off x="3809848" y="2542032"/>
            <a:ext cx="1920240" cy="457200"/>
          </a:xfrm>
          <a:prstGeom prst="rect">
            <a:avLst/>
          </a:prstGeom>
          <a:noFill/>
          <a:ln/>
        </p:spPr>
        <p:txBody>
          <a:bodyPr wrap="square" lIns="0" tIns="0" rIns="0" bIns="0" rtlCol="0" anchor="ctr"/>
          <a:lstStyle/>
          <a:p>
            <a:pPr algn="ctr" indent="0" marL="0">
              <a:buNone/>
            </a:pPr>
            <a:r>
              <a:rPr lang="en-US" altLang="en-US" sz="2200" b="1" dirty="0">
                <a:solidFill>
                  <a:srgbClr val="C24863"/>
                </a:solidFill>
                <a:latin typeface="Arial" pitchFamily="34" charset="0"/>
                <a:ea typeface="Arial" pitchFamily="34" charset="-122"/>
                <a:cs typeface="Arial" pitchFamily="34" charset="-120"/>
              </a:rPr>
              <a:t>40</a:t>
            </a:r>
            <a:endParaRPr lang="en-US" sz="2200" dirty="0"/>
          </a:p>
        </p:txBody>
      </p:sp>
      <p:sp>
        <p:nvSpPr>
          <p:cNvPr id="26" name="Text 22"/>
          <p:cNvSpPr txBox="1"/>
          <p:nvPr/>
        </p:nvSpPr>
        <p:spPr>
          <a:xfrm>
            <a:off x="3809848" y="2999232"/>
            <a:ext cx="1920240" cy="292608"/>
          </a:xfrm>
          <a:prstGeom prst="rect">
            <a:avLst/>
          </a:prstGeom>
          <a:noFill/>
          <a:ln/>
        </p:spPr>
        <p:txBody>
          <a:bodyPr wrap="square" lIns="0" tIns="0" rIns="0" bIns="0" rtlCol="0" anchor="t"/>
          <a:lstStyle/>
          <a:p>
            <a:pPr rtl="1" algn="ctr" indent="0" marL="0">
              <a:buNone/>
            </a:pPr>
            <a:r>
              <a:rPr lang="he-IL" altLang="en-US" sz="1200" dirty="0">
                <a:solidFill>
                  <a:srgbClr val="2E2A47"/>
                </a:solidFill>
                <a:latin typeface="Arial" pitchFamily="34" charset="0"/>
                <a:ea typeface="Arial" pitchFamily="34" charset="-122"/>
                <a:cs typeface="Arial" pitchFamily="34" charset="-120"/>
              </a:rPr>
              <a:t>יחידות פעם ביום</a:t>
            </a:r>
            <a:endParaRPr lang="he-IL" sz="1200" dirty="0"/>
          </a:p>
        </p:txBody>
      </p:sp>
      <p:sp>
        <p:nvSpPr>
          <p:cNvPr id="27" name="Shape 23"/>
          <p:cNvSpPr/>
          <p:nvPr/>
        </p:nvSpPr>
        <p:spPr>
          <a:xfrm>
            <a:off x="2869616" y="2670048"/>
            <a:ext cx="768096" cy="329184"/>
          </a:xfrm>
          <a:prstGeom prst="leftArrow">
            <a:avLst/>
          </a:prstGeom>
          <a:solidFill>
            <a:srgbClr val="C9C2E3"/>
          </a:solidFill>
          <a:ln/>
        </p:spPr>
      </p:sp>
      <p:sp>
        <p:nvSpPr>
          <p:cNvPr id="28" name="Shape 24"/>
          <p:cNvSpPr/>
          <p:nvPr/>
        </p:nvSpPr>
        <p:spPr>
          <a:xfrm>
            <a:off x="777240" y="2286000"/>
            <a:ext cx="1920240" cy="1097280"/>
          </a:xfrm>
          <a:prstGeom prst="roundRect">
            <a:avLst>
              <a:gd name="adj" fmla="val 10000"/>
            </a:avLst>
          </a:prstGeom>
          <a:solidFill>
            <a:srgbClr val="E5F4F2"/>
          </a:solidFill>
          <a:ln/>
        </p:spPr>
      </p:sp>
      <p:sp>
        <p:nvSpPr>
          <p:cNvPr id="29" name="Text 25"/>
          <p:cNvSpPr txBox="1"/>
          <p:nvPr/>
        </p:nvSpPr>
        <p:spPr>
          <a:xfrm>
            <a:off x="777240" y="2331720"/>
            <a:ext cx="1920240" cy="228600"/>
          </a:xfrm>
          <a:prstGeom prst="rect">
            <a:avLst/>
          </a:prstGeom>
          <a:noFill/>
          <a:ln/>
        </p:spPr>
        <p:txBody>
          <a:bodyPr wrap="square" lIns="0" tIns="0" rIns="0" bIns="0" rtlCol="0" anchor="t"/>
          <a:lstStyle/>
          <a:p>
            <a:pPr rtl="1" algn="ctr" indent="0" marL="0">
              <a:buNone/>
            </a:pPr>
            <a:r>
              <a:rPr lang="he-IL" altLang="en-US" sz="1100" b="1" dirty="0">
                <a:solidFill>
                  <a:srgbClr val="6B6785"/>
                </a:solidFill>
                <a:latin typeface="Arial" pitchFamily="34" charset="0"/>
                <a:ea typeface="Arial" pitchFamily="34" charset="-122"/>
                <a:cs typeface="Arial" pitchFamily="34" charset="-120"/>
              </a:rPr>
              <a:t>אחרי</a:t>
            </a:r>
            <a:endParaRPr lang="he-IL" sz="1100" dirty="0"/>
          </a:p>
        </p:txBody>
      </p:sp>
      <p:sp>
        <p:nvSpPr>
          <p:cNvPr id="30" name="Text 26"/>
          <p:cNvSpPr txBox="1"/>
          <p:nvPr/>
        </p:nvSpPr>
        <p:spPr>
          <a:xfrm>
            <a:off x="777240" y="2542032"/>
            <a:ext cx="1920240" cy="457200"/>
          </a:xfrm>
          <a:prstGeom prst="rect">
            <a:avLst/>
          </a:prstGeom>
          <a:noFill/>
          <a:ln/>
        </p:spPr>
        <p:txBody>
          <a:bodyPr wrap="square" lIns="0" tIns="0" rIns="0" bIns="0" rtlCol="0" anchor="ctr"/>
          <a:lstStyle/>
          <a:p>
            <a:pPr algn="ctr" indent="0" marL="0">
              <a:buNone/>
            </a:pPr>
            <a:r>
              <a:rPr lang="en-US" altLang="en-US" sz="2200" b="1" dirty="0">
                <a:solidFill>
                  <a:srgbClr val="1F8F83"/>
                </a:solidFill>
                <a:latin typeface="Arial" pitchFamily="34" charset="0"/>
                <a:ea typeface="Arial" pitchFamily="34" charset="-122"/>
                <a:cs typeface="Arial" pitchFamily="34" charset="-120"/>
              </a:rPr>
              <a:t>36</a:t>
            </a:r>
            <a:endParaRPr lang="en-US" sz="2200" dirty="0"/>
          </a:p>
        </p:txBody>
      </p:sp>
      <p:sp>
        <p:nvSpPr>
          <p:cNvPr id="31" name="Text 27"/>
          <p:cNvSpPr txBox="1"/>
          <p:nvPr/>
        </p:nvSpPr>
        <p:spPr>
          <a:xfrm>
            <a:off x="777240" y="2999232"/>
            <a:ext cx="1920240" cy="292608"/>
          </a:xfrm>
          <a:prstGeom prst="rect">
            <a:avLst/>
          </a:prstGeom>
          <a:noFill/>
          <a:ln/>
        </p:spPr>
        <p:txBody>
          <a:bodyPr wrap="square" lIns="0" tIns="0" rIns="0" bIns="0" rtlCol="0" anchor="t"/>
          <a:lstStyle/>
          <a:p>
            <a:pPr rtl="1" algn="ctr" indent="0" marL="0">
              <a:buNone/>
            </a:pPr>
            <a:r>
              <a:rPr lang="he-IL" altLang="en-US" sz="1200" dirty="0">
                <a:solidFill>
                  <a:srgbClr val="2E2A47"/>
                </a:solidFill>
                <a:latin typeface="Arial" pitchFamily="34" charset="0"/>
                <a:ea typeface="Arial" pitchFamily="34" charset="-122"/>
                <a:cs typeface="Arial" pitchFamily="34" charset="-120"/>
              </a:rPr>
              <a:t>יחידות פעם ביום</a:t>
            </a:r>
            <a:endParaRPr lang="he-IL" sz="1200" dirty="0"/>
          </a:p>
        </p:txBody>
      </p:sp>
      <p:sp>
        <p:nvSpPr>
          <p:cNvPr id="32" name="Text 28"/>
          <p:cNvSpPr txBox="1"/>
          <p:nvPr/>
        </p:nvSpPr>
        <p:spPr>
          <a:xfrm>
            <a:off x="777240" y="3520440"/>
            <a:ext cx="4952848" cy="594360"/>
          </a:xfrm>
          <a:prstGeom prst="rect">
            <a:avLst/>
          </a:prstGeom>
          <a:noFill/>
          <a:ln/>
        </p:spPr>
        <p:txBody>
          <a:bodyPr wrap="square" lIns="0" tIns="0" rIns="0" bIns="0" rtlCol="0" anchor="ctr"/>
          <a:lstStyle/>
          <a:p>
            <a:pPr rtl="1" algn="r" indent="0" marL="0">
              <a:buNone/>
            </a:pPr>
            <a:r>
              <a:rPr lang="he-IL" altLang="en-US" sz="1350" dirty="0">
                <a:solidFill>
                  <a:srgbClr val="2E2A47"/>
                </a:solidFill>
                <a:latin typeface="Arial" pitchFamily="34" charset="0"/>
                <a:ea typeface="Arial" pitchFamily="34" charset="-122"/>
                <a:cs typeface="Arial" pitchFamily="34" charset="-120"/>
              </a:rPr>
              <a:t>האינסולין הבזאלי ירד מ-40 יחידות ל-36 יחידות פעם ביום.</a:t>
            </a:r>
            <a:endParaRPr lang="he-IL" sz="1350" dirty="0"/>
          </a:p>
        </p:txBody>
      </p:sp>
      <p:sp>
        <p:nvSpPr>
          <p:cNvPr id="33" name="Shape 29"/>
          <p:cNvSpPr/>
          <p:nvPr/>
        </p:nvSpPr>
        <p:spPr>
          <a:xfrm>
            <a:off x="6233008" y="4389120"/>
            <a:ext cx="5410048" cy="1645920"/>
          </a:xfrm>
          <a:prstGeom prst="roundRect">
            <a:avLst>
              <a:gd name="adj" fmla="val 6667"/>
            </a:avLst>
          </a:prstGeom>
          <a:solidFill>
            <a:srgbClr val="ECF4FC"/>
          </a:solidFill>
          <a:ln/>
        </p:spPr>
      </p:sp>
      <p:sp>
        <p:nvSpPr>
          <p:cNvPr id="34" name="Shape 30"/>
          <p:cNvSpPr/>
          <p:nvPr/>
        </p:nvSpPr>
        <p:spPr>
          <a:xfrm rot="5400000">
            <a:off x="10803675" y="4928616"/>
            <a:ext cx="654632" cy="566928"/>
          </a:xfrm>
          <a:prstGeom prst="hexagon">
            <a:avLst/>
          </a:prstGeom>
          <a:solidFill>
            <a:srgbClr val="4A90D0"/>
          </a:solidFill>
          <a:ln/>
        </p:spPr>
      </p:sp>
      <p:pic>
        <p:nvPicPr>
          <p:cNvPr id="35" name="Image 2" descr="preencoded.png">    </p:cNvPr>
          <p:cNvPicPr>
            <a:picLocks noChangeAspect="1"/>
          </p:cNvPicPr>
          <p:nvPr/>
        </p:nvPicPr>
        <p:blipFill>
          <a:blip r:embed="rId3"/>
          <a:stretch>
            <a:fillRect/>
          </a:stretch>
        </p:blipFill>
        <p:spPr>
          <a:xfrm>
            <a:off x="11000598" y="5081687"/>
            <a:ext cx="260787" cy="260787"/>
          </a:xfrm>
          <a:prstGeom prst="rect">
            <a:avLst/>
          </a:prstGeom>
        </p:spPr>
      </p:pic>
      <p:sp>
        <p:nvSpPr>
          <p:cNvPr id="36" name="Text 31"/>
          <p:cNvSpPr txBox="1"/>
          <p:nvPr/>
        </p:nvSpPr>
        <p:spPr>
          <a:xfrm>
            <a:off x="6461608" y="4526280"/>
            <a:ext cx="4294480" cy="1371600"/>
          </a:xfrm>
          <a:prstGeom prst="rect">
            <a:avLst/>
          </a:prstGeom>
          <a:noFill/>
          <a:ln/>
        </p:spPr>
        <p:txBody>
          <a:bodyPr wrap="square" lIns="0" tIns="0" rIns="0" bIns="0" rtlCol="0" anchor="ctr"/>
          <a:lstStyle/>
          <a:p>
            <a:pPr rtl="1" algn="r" indent="0" marL="0">
              <a:spcAft>
                <a:spcPts val="400"/>
              </a:spcAft>
              <a:buNone/>
            </a:pPr>
            <a:r>
              <a:rPr lang="he-IL" altLang="en-US" sz="1500" b="1" dirty="0">
                <a:solidFill>
                  <a:srgbClr val="4A90D0"/>
                </a:solidFill>
                <a:latin typeface="Arial" pitchFamily="34" charset="0"/>
                <a:ea typeface="Arial" pitchFamily="34" charset="-122"/>
                <a:cs typeface="Arial" pitchFamily="34" charset="-120"/>
              </a:rPr>
              <a:t>פרוטוקול בטיחות למניעת היפוגליקמיה:</a:t>
            </a:r>
            <a:endParaRPr lang="he-IL" sz="1400" dirty="0"/>
          </a:p>
          <a:p>
            <a:pPr rtl="1" algn="r" indent="0" marL="0">
              <a:spcAft>
                <a:spcPts val="400"/>
              </a:spcAft>
              <a:buNone/>
            </a:pPr>
            <a:r>
              <a:rPr lang="he-IL" altLang="en-US" sz="1450" dirty="0">
                <a:solidFill>
                  <a:srgbClr val="2E2A47"/>
                </a:solidFill>
                <a:latin typeface="Arial" pitchFamily="34" charset="0"/>
                <a:ea typeface="Arial" pitchFamily="34" charset="-122"/>
                <a:cs typeface="Arial" pitchFamily="34" charset="-120"/>
              </a:rPr>
              <a:t>במידה וערכי הסוכר בצום בבוקר יורדים מתחת ל-90 mg/dL – להוריד מיד 2 יחידות מהאינסולין הבזאלי (Degludec).</a:t>
            </a:r>
            <a:endParaRPr lang="he-IL" sz="1400" dirty="0"/>
          </a:p>
        </p:txBody>
      </p:sp>
      <p:sp>
        <p:nvSpPr>
          <p:cNvPr id="37" name="Shape 32"/>
          <p:cNvSpPr/>
          <p:nvPr/>
        </p:nvSpPr>
        <p:spPr>
          <a:xfrm>
            <a:off x="548640" y="4389120"/>
            <a:ext cx="5410048" cy="1645920"/>
          </a:xfrm>
          <a:prstGeom prst="roundRect">
            <a:avLst>
              <a:gd name="adj" fmla="val 6667"/>
            </a:avLst>
          </a:prstGeom>
          <a:solidFill>
            <a:srgbClr val="FBECEF"/>
          </a:solidFill>
          <a:ln/>
        </p:spPr>
      </p:sp>
      <p:sp>
        <p:nvSpPr>
          <p:cNvPr id="38" name="Shape 33"/>
          <p:cNvSpPr/>
          <p:nvPr/>
        </p:nvSpPr>
        <p:spPr>
          <a:xfrm rot="5400000">
            <a:off x="5119308" y="4928616"/>
            <a:ext cx="654632" cy="566928"/>
          </a:xfrm>
          <a:prstGeom prst="hexagon">
            <a:avLst/>
          </a:prstGeom>
          <a:solidFill>
            <a:srgbClr val="C24863"/>
          </a:solidFill>
          <a:ln/>
        </p:spPr>
      </p:sp>
      <p:pic>
        <p:nvPicPr>
          <p:cNvPr id="39" name="Image 3" descr="preencoded.png">    </p:cNvPr>
          <p:cNvPicPr>
            <a:picLocks noChangeAspect="1"/>
          </p:cNvPicPr>
          <p:nvPr/>
        </p:nvPicPr>
        <p:blipFill>
          <a:blip r:embed="rId4"/>
          <a:stretch>
            <a:fillRect/>
          </a:stretch>
        </p:blipFill>
        <p:spPr>
          <a:xfrm>
            <a:off x="5316230" y="5081687"/>
            <a:ext cx="260787" cy="260787"/>
          </a:xfrm>
          <a:prstGeom prst="rect">
            <a:avLst/>
          </a:prstGeom>
        </p:spPr>
      </p:pic>
      <p:sp>
        <p:nvSpPr>
          <p:cNvPr id="40" name="Text 34"/>
          <p:cNvSpPr txBox="1"/>
          <p:nvPr/>
        </p:nvSpPr>
        <p:spPr>
          <a:xfrm>
            <a:off x="777240" y="4526280"/>
            <a:ext cx="4294480" cy="1371600"/>
          </a:xfrm>
          <a:prstGeom prst="rect">
            <a:avLst/>
          </a:prstGeom>
          <a:noFill/>
          <a:ln/>
        </p:spPr>
        <p:txBody>
          <a:bodyPr wrap="square" lIns="0" tIns="0" rIns="0" bIns="0" rtlCol="0" anchor="ctr"/>
          <a:lstStyle/>
          <a:p>
            <a:pPr rtl="1" algn="r" indent="0" marL="0">
              <a:spcAft>
                <a:spcPts val="400"/>
              </a:spcAft>
              <a:buNone/>
            </a:pPr>
            <a:r>
              <a:rPr lang="he-IL" altLang="en-US" sz="1500" b="1" dirty="0">
                <a:solidFill>
                  <a:srgbClr val="C24863"/>
                </a:solidFill>
                <a:latin typeface="Arial" pitchFamily="34" charset="0"/>
                <a:ea typeface="Arial" pitchFamily="34" charset="-122"/>
                <a:cs typeface="Arial" pitchFamily="34" charset="-120"/>
              </a:rPr>
              <a:t>חשיבות קלינית עליונה:</a:t>
            </a:r>
            <a:endParaRPr lang="he-IL" sz="1400" dirty="0"/>
          </a:p>
          <a:p>
            <a:pPr rtl="1" algn="r" indent="0" marL="0">
              <a:spcAft>
                <a:spcPts val="400"/>
              </a:spcAft>
              <a:buNone/>
            </a:pPr>
            <a:r>
              <a:rPr lang="he-IL" altLang="en-US" sz="1450" dirty="0">
                <a:solidFill>
                  <a:srgbClr val="2E2A47"/>
                </a:solidFill>
                <a:latin typeface="Arial" pitchFamily="34" charset="0"/>
                <a:ea typeface="Arial" pitchFamily="34" charset="-122"/>
                <a:cs typeface="Arial" pitchFamily="34" charset="-120"/>
              </a:rPr>
              <a:t>במטופל סוכרת סוג 1 חובה לשמור תמיד על אינסולין בזאלי מספק למניעת קטואצידוזיס (DKA), למרות הירידה המרשימה בתנגודת!</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3 • מעקב וויגובי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3: הישגים קליניים במעקב ספטמבר 2026</a:t>
            </a:r>
            <a:endParaRPr lang="he-IL" sz="2600" dirty="0"/>
          </a:p>
        </p:txBody>
      </p:sp>
      <p:sp>
        <p:nvSpPr>
          <p:cNvPr id="5" name="Shape 3"/>
          <p:cNvSpPr/>
          <p:nvPr/>
        </p:nvSpPr>
        <p:spPr>
          <a:xfrm>
            <a:off x="9040901" y="1508760"/>
            <a:ext cx="2602154" cy="3108960"/>
          </a:xfrm>
          <a:prstGeom prst="roundRect">
            <a:avLst>
              <a:gd name="adj" fmla="val 4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10014662" y="1682496"/>
            <a:ext cx="654632" cy="566928"/>
          </a:xfrm>
          <a:prstGeom prst="hexagon">
            <a:avLst/>
          </a:prstGeom>
          <a:solidFill>
            <a:srgbClr val="5280C8"/>
          </a:solidFill>
          <a:ln/>
        </p:spPr>
      </p:sp>
      <p:pic>
        <p:nvPicPr>
          <p:cNvPr id="7" name="Image 0" descr="preencoded.png">    </p:cNvPr>
          <p:cNvPicPr>
            <a:picLocks noChangeAspect="1"/>
          </p:cNvPicPr>
          <p:nvPr/>
        </p:nvPicPr>
        <p:blipFill>
          <a:blip r:embed="rId1"/>
          <a:stretch>
            <a:fillRect/>
          </a:stretch>
        </p:blipFill>
        <p:spPr>
          <a:xfrm>
            <a:off x="10211585" y="1835567"/>
            <a:ext cx="260787" cy="260787"/>
          </a:xfrm>
          <a:prstGeom prst="rect">
            <a:avLst/>
          </a:prstGeom>
        </p:spPr>
      </p:pic>
      <p:sp>
        <p:nvSpPr>
          <p:cNvPr id="8" name="Text 5"/>
          <p:cNvSpPr txBox="1"/>
          <p:nvPr/>
        </p:nvSpPr>
        <p:spPr>
          <a:xfrm>
            <a:off x="9178061" y="2350008"/>
            <a:ext cx="2327834" cy="320040"/>
          </a:xfrm>
          <a:prstGeom prst="rect">
            <a:avLst/>
          </a:prstGeom>
          <a:noFill/>
          <a:ln/>
        </p:spPr>
        <p:txBody>
          <a:bodyPr wrap="square" lIns="0" tIns="0" rIns="0" bIns="0" rtlCol="0" anchor="t"/>
          <a:lstStyle/>
          <a:p>
            <a:pPr rtl="1" algn="ctr" indent="0" marL="0">
              <a:buNone/>
            </a:pPr>
            <a:r>
              <a:rPr lang="he-IL" altLang="en-US" sz="1400" b="1" dirty="0">
                <a:solidFill>
                  <a:srgbClr val="6B6785"/>
                </a:solidFill>
                <a:latin typeface="Arial" pitchFamily="34" charset="0"/>
                <a:ea typeface="Arial" pitchFamily="34" charset="-122"/>
                <a:cs typeface="Arial" pitchFamily="34" charset="-120"/>
              </a:rPr>
              <a:t>איזון גליקמי HbA1C</a:t>
            </a:r>
            <a:endParaRPr lang="he-IL" sz="1400" dirty="0"/>
          </a:p>
        </p:txBody>
      </p:sp>
      <p:sp>
        <p:nvSpPr>
          <p:cNvPr id="9" name="Text 6"/>
          <p:cNvSpPr txBox="1"/>
          <p:nvPr/>
        </p:nvSpPr>
        <p:spPr>
          <a:xfrm>
            <a:off x="9132341" y="2697480"/>
            <a:ext cx="2419274" cy="594360"/>
          </a:xfrm>
          <a:prstGeom prst="rect">
            <a:avLst/>
          </a:prstGeom>
          <a:noFill/>
          <a:ln/>
        </p:spPr>
        <p:txBody>
          <a:bodyPr wrap="square" lIns="0" tIns="0" rIns="0" bIns="0" rtlCol="0" anchor="ctr"/>
          <a:lstStyle/>
          <a:p>
            <a:pPr algn="ctr" indent="0" marL="0">
              <a:buNone/>
            </a:pPr>
            <a:r>
              <a:rPr lang="en-US" altLang="en-US" sz="3000" b="1" dirty="0">
                <a:solidFill>
                  <a:srgbClr val="6E4494"/>
                </a:solidFill>
                <a:latin typeface="Arial" pitchFamily="34" charset="0"/>
                <a:ea typeface="Arial" pitchFamily="34" charset="-122"/>
                <a:cs typeface="Arial" pitchFamily="34" charset="-120"/>
              </a:rPr>
              <a:t>5.0%</a:t>
            </a:r>
            <a:endParaRPr lang="en-US" sz="3000" dirty="0"/>
          </a:p>
        </p:txBody>
      </p:sp>
      <p:sp>
        <p:nvSpPr>
          <p:cNvPr id="10" name="Text 7"/>
          <p:cNvSpPr txBox="1"/>
          <p:nvPr/>
        </p:nvSpPr>
        <p:spPr>
          <a:xfrm>
            <a:off x="9178061" y="3319272"/>
            <a:ext cx="2327834" cy="292608"/>
          </a:xfrm>
          <a:prstGeom prst="rect">
            <a:avLst/>
          </a:prstGeom>
          <a:noFill/>
          <a:ln/>
        </p:spPr>
        <p:txBody>
          <a:bodyPr wrap="square" lIns="0" tIns="0" rIns="0" bIns="0" rtlCol="0" anchor="t"/>
          <a:lstStyle/>
          <a:p>
            <a:pPr rtl="1" algn="ctr" indent="0" marL="0">
              <a:buNone/>
            </a:pPr>
            <a:r>
              <a:rPr lang="he-IL" altLang="en-US" sz="1350" b="1" dirty="0">
                <a:solidFill>
                  <a:srgbClr val="1F8F83"/>
                </a:solidFill>
                <a:latin typeface="Arial" pitchFamily="34" charset="0"/>
                <a:ea typeface="Arial" pitchFamily="34" charset="-122"/>
                <a:cs typeface="Arial" pitchFamily="34" charset="-120"/>
              </a:rPr>
              <a:t>צניחה מ-13.4% בבסיס!</a:t>
            </a:r>
            <a:endParaRPr lang="he-IL" sz="1350" dirty="0"/>
          </a:p>
        </p:txBody>
      </p:sp>
      <p:sp>
        <p:nvSpPr>
          <p:cNvPr id="11" name="Text 8"/>
          <p:cNvSpPr txBox="1"/>
          <p:nvPr/>
        </p:nvSpPr>
        <p:spPr>
          <a:xfrm>
            <a:off x="9223781" y="3657600"/>
            <a:ext cx="2236394" cy="868680"/>
          </a:xfrm>
          <a:prstGeom prst="rect">
            <a:avLst/>
          </a:prstGeom>
          <a:noFill/>
          <a:ln/>
        </p:spPr>
        <p:txBody>
          <a:bodyPr wrap="square" lIns="0" tIns="0" rIns="0" bIns="0" rtlCol="0" anchor="t"/>
          <a:lstStyle/>
          <a:p>
            <a:pPr rtl="1" algn="ctr" indent="0" marL="0">
              <a:buNone/>
            </a:pPr>
            <a:r>
              <a:rPr lang="he-IL" altLang="en-US" sz="1250" dirty="0">
                <a:solidFill>
                  <a:srgbClr val="2E2A47"/>
                </a:solidFill>
                <a:latin typeface="Arial" pitchFamily="34" charset="0"/>
                <a:ea typeface="Arial" pitchFamily="34" charset="-122"/>
                <a:cs typeface="Arial" pitchFamily="34" charset="-120"/>
              </a:rPr>
              <a:t>ירידה מוחלטת של 8.4% ב-A1C ללא אירועי היפוגליקמיה חמורים.</a:t>
            </a:r>
            <a:endParaRPr lang="he-IL" sz="1250" dirty="0"/>
          </a:p>
        </p:txBody>
      </p:sp>
      <p:sp>
        <p:nvSpPr>
          <p:cNvPr id="12" name="Shape 9"/>
          <p:cNvSpPr/>
          <p:nvPr/>
        </p:nvSpPr>
        <p:spPr>
          <a:xfrm>
            <a:off x="6210148" y="1508760"/>
            <a:ext cx="2602154" cy="3108960"/>
          </a:xfrm>
          <a:prstGeom prst="roundRect">
            <a:avLst>
              <a:gd name="adj" fmla="val 4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3" name="Shape 10"/>
          <p:cNvSpPr/>
          <p:nvPr/>
        </p:nvSpPr>
        <p:spPr>
          <a:xfrm rot="5400000">
            <a:off x="7183909" y="1682496"/>
            <a:ext cx="654632" cy="566928"/>
          </a:xfrm>
          <a:prstGeom prst="hexagon">
            <a:avLst/>
          </a:prstGeom>
          <a:solidFill>
            <a:srgbClr val="5B6BB5"/>
          </a:solidFill>
          <a:ln/>
        </p:spPr>
      </p:sp>
      <p:pic>
        <p:nvPicPr>
          <p:cNvPr id="14" name="Image 1" descr="preencoded.png">    </p:cNvPr>
          <p:cNvPicPr>
            <a:picLocks noChangeAspect="1"/>
          </p:cNvPicPr>
          <p:nvPr/>
        </p:nvPicPr>
        <p:blipFill>
          <a:blip r:embed="rId2"/>
          <a:stretch>
            <a:fillRect/>
          </a:stretch>
        </p:blipFill>
        <p:spPr>
          <a:xfrm>
            <a:off x="7380831" y="1835567"/>
            <a:ext cx="260787" cy="260787"/>
          </a:xfrm>
          <a:prstGeom prst="rect">
            <a:avLst/>
          </a:prstGeom>
        </p:spPr>
      </p:pic>
      <p:sp>
        <p:nvSpPr>
          <p:cNvPr id="15" name="Text 11"/>
          <p:cNvSpPr txBox="1"/>
          <p:nvPr/>
        </p:nvSpPr>
        <p:spPr>
          <a:xfrm>
            <a:off x="6347308" y="2350008"/>
            <a:ext cx="2327834" cy="320040"/>
          </a:xfrm>
          <a:prstGeom prst="rect">
            <a:avLst/>
          </a:prstGeom>
          <a:noFill/>
          <a:ln/>
        </p:spPr>
        <p:txBody>
          <a:bodyPr wrap="square" lIns="0" tIns="0" rIns="0" bIns="0" rtlCol="0" anchor="t"/>
          <a:lstStyle/>
          <a:p>
            <a:pPr rtl="1" algn="ctr" indent="0" marL="0">
              <a:buNone/>
            </a:pPr>
            <a:r>
              <a:rPr lang="he-IL" altLang="en-US" sz="1400" b="1" dirty="0">
                <a:solidFill>
                  <a:srgbClr val="6B6785"/>
                </a:solidFill>
                <a:latin typeface="Arial" pitchFamily="34" charset="0"/>
                <a:ea typeface="Arial" pitchFamily="34" charset="-122"/>
                <a:cs typeface="Arial" pitchFamily="34" charset="-120"/>
              </a:rPr>
              <a:t>ירידה במשקל וב-BMI</a:t>
            </a:r>
            <a:endParaRPr lang="he-IL" sz="1400" dirty="0"/>
          </a:p>
        </p:txBody>
      </p:sp>
      <p:sp>
        <p:nvSpPr>
          <p:cNvPr id="16" name="Text 12"/>
          <p:cNvSpPr txBox="1"/>
          <p:nvPr/>
        </p:nvSpPr>
        <p:spPr>
          <a:xfrm>
            <a:off x="6301588" y="2697480"/>
            <a:ext cx="2419274" cy="594360"/>
          </a:xfrm>
          <a:prstGeom prst="rect">
            <a:avLst/>
          </a:prstGeom>
          <a:noFill/>
          <a:ln/>
        </p:spPr>
        <p:txBody>
          <a:bodyPr wrap="square" lIns="0" tIns="0" rIns="0" bIns="0" rtlCol="0" anchor="ctr"/>
          <a:lstStyle/>
          <a:p>
            <a:pPr rtl="1" algn="ctr" indent="0" marL="0">
              <a:buNone/>
            </a:pPr>
            <a:r>
              <a:rPr lang="he-IL" altLang="en-US" sz="3000" b="1" dirty="0">
                <a:solidFill>
                  <a:srgbClr val="6E4494"/>
                </a:solidFill>
                <a:latin typeface="Arial" pitchFamily="34" charset="0"/>
                <a:ea typeface="Arial" pitchFamily="34" charset="-122"/>
                <a:cs typeface="Arial" pitchFamily="34" charset="-120"/>
              </a:rPr>
              <a:t>‎-11 ק"ג</a:t>
            </a:r>
            <a:endParaRPr lang="he-IL" sz="3000" dirty="0"/>
          </a:p>
        </p:txBody>
      </p:sp>
      <p:sp>
        <p:nvSpPr>
          <p:cNvPr id="17" name="Text 13"/>
          <p:cNvSpPr txBox="1"/>
          <p:nvPr/>
        </p:nvSpPr>
        <p:spPr>
          <a:xfrm>
            <a:off x="6347308" y="3319272"/>
            <a:ext cx="2327834" cy="292608"/>
          </a:xfrm>
          <a:prstGeom prst="rect">
            <a:avLst/>
          </a:prstGeom>
          <a:noFill/>
          <a:ln/>
        </p:spPr>
        <p:txBody>
          <a:bodyPr wrap="square" lIns="0" tIns="0" rIns="0" bIns="0" rtlCol="0" anchor="t"/>
          <a:lstStyle/>
          <a:p>
            <a:pPr rtl="1" algn="ctr" indent="0" marL="0">
              <a:buNone/>
            </a:pPr>
            <a:r>
              <a:rPr lang="he-IL" altLang="en-US" sz="1350" b="1" dirty="0">
                <a:solidFill>
                  <a:srgbClr val="1F8F83"/>
                </a:solidFill>
                <a:latin typeface="Arial" pitchFamily="34" charset="0"/>
                <a:ea typeface="Arial" pitchFamily="34" charset="-122"/>
                <a:cs typeface="Arial" pitchFamily="34" charset="-120"/>
              </a:rPr>
              <a:t>משקל: 85 ק"ג (מ-96 ק"ג)</a:t>
            </a:r>
            <a:endParaRPr lang="he-IL" sz="1350" dirty="0"/>
          </a:p>
        </p:txBody>
      </p:sp>
      <p:sp>
        <p:nvSpPr>
          <p:cNvPr id="18" name="Text 14"/>
          <p:cNvSpPr txBox="1"/>
          <p:nvPr/>
        </p:nvSpPr>
        <p:spPr>
          <a:xfrm>
            <a:off x="6393028" y="3657600"/>
            <a:ext cx="2236394" cy="868680"/>
          </a:xfrm>
          <a:prstGeom prst="rect">
            <a:avLst/>
          </a:prstGeom>
          <a:noFill/>
          <a:ln/>
        </p:spPr>
        <p:txBody>
          <a:bodyPr wrap="square" lIns="0" tIns="0" rIns="0" bIns="0" rtlCol="0" anchor="t"/>
          <a:lstStyle/>
          <a:p>
            <a:pPr rtl="1" algn="ctr" indent="0" marL="0">
              <a:buNone/>
            </a:pPr>
            <a:r>
              <a:rPr lang="he-IL" altLang="en-US" sz="1250" dirty="0">
                <a:solidFill>
                  <a:srgbClr val="2E2A47"/>
                </a:solidFill>
                <a:latin typeface="Arial" pitchFamily="34" charset="0"/>
                <a:ea typeface="Arial" pitchFamily="34" charset="-122"/>
                <a:cs typeface="Arial" pitchFamily="34" charset="-120"/>
              </a:rPr>
              <a:t>BMI ירד מ-36.1 ל-32.0, הפחתת היקף מותניים והקלה בעומס על הרגליים.</a:t>
            </a:r>
            <a:endParaRPr lang="he-IL" sz="1250" dirty="0"/>
          </a:p>
        </p:txBody>
      </p:sp>
      <p:sp>
        <p:nvSpPr>
          <p:cNvPr id="19" name="Shape 15"/>
          <p:cNvSpPr/>
          <p:nvPr/>
        </p:nvSpPr>
        <p:spPr>
          <a:xfrm>
            <a:off x="3379394" y="1508760"/>
            <a:ext cx="2602154" cy="3108960"/>
          </a:xfrm>
          <a:prstGeom prst="roundRect">
            <a:avLst>
              <a:gd name="adj" fmla="val 4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0" name="Shape 16"/>
          <p:cNvSpPr/>
          <p:nvPr/>
        </p:nvSpPr>
        <p:spPr>
          <a:xfrm rot="5400000">
            <a:off x="4353155" y="1682496"/>
            <a:ext cx="654632" cy="566928"/>
          </a:xfrm>
          <a:prstGeom prst="hexagon">
            <a:avLst/>
          </a:prstGeom>
          <a:solidFill>
            <a:srgbClr val="6658A6"/>
          </a:solidFill>
          <a:ln/>
        </p:spPr>
      </p:sp>
      <p:pic>
        <p:nvPicPr>
          <p:cNvPr id="21" name="Image 2" descr="preencoded.png">    </p:cNvPr>
          <p:cNvPicPr>
            <a:picLocks noChangeAspect="1"/>
          </p:cNvPicPr>
          <p:nvPr/>
        </p:nvPicPr>
        <p:blipFill>
          <a:blip r:embed="rId3"/>
          <a:stretch>
            <a:fillRect/>
          </a:stretch>
        </p:blipFill>
        <p:spPr>
          <a:xfrm>
            <a:off x="4550077" y="1835567"/>
            <a:ext cx="260787" cy="260787"/>
          </a:xfrm>
          <a:prstGeom prst="rect">
            <a:avLst/>
          </a:prstGeom>
        </p:spPr>
      </p:pic>
      <p:sp>
        <p:nvSpPr>
          <p:cNvPr id="22" name="Text 17"/>
          <p:cNvSpPr txBox="1"/>
          <p:nvPr/>
        </p:nvSpPr>
        <p:spPr>
          <a:xfrm>
            <a:off x="3516554" y="2350008"/>
            <a:ext cx="2327834" cy="320040"/>
          </a:xfrm>
          <a:prstGeom prst="rect">
            <a:avLst/>
          </a:prstGeom>
          <a:noFill/>
          <a:ln/>
        </p:spPr>
        <p:txBody>
          <a:bodyPr wrap="square" lIns="0" tIns="0" rIns="0" bIns="0" rtlCol="0" anchor="t"/>
          <a:lstStyle/>
          <a:p>
            <a:pPr rtl="1" algn="ctr" indent="0" marL="0">
              <a:buNone/>
            </a:pPr>
            <a:r>
              <a:rPr lang="he-IL" altLang="en-US" sz="1400" b="1" dirty="0">
                <a:solidFill>
                  <a:srgbClr val="6B6785"/>
                </a:solidFill>
                <a:latin typeface="Arial" pitchFamily="34" charset="0"/>
                <a:ea typeface="Arial" pitchFamily="34" charset="-122"/>
                <a:cs typeface="Arial" pitchFamily="34" charset="-120"/>
              </a:rPr>
              <a:t>אינסולין בולוס (נובורפיד)</a:t>
            </a:r>
            <a:endParaRPr lang="he-IL" sz="1400" dirty="0"/>
          </a:p>
        </p:txBody>
      </p:sp>
      <p:sp>
        <p:nvSpPr>
          <p:cNvPr id="23" name="Text 18"/>
          <p:cNvSpPr txBox="1"/>
          <p:nvPr/>
        </p:nvSpPr>
        <p:spPr>
          <a:xfrm>
            <a:off x="3470834" y="2697480"/>
            <a:ext cx="2419274" cy="594360"/>
          </a:xfrm>
          <a:prstGeom prst="rect">
            <a:avLst/>
          </a:prstGeom>
          <a:noFill/>
          <a:ln/>
        </p:spPr>
        <p:txBody>
          <a:bodyPr wrap="square" lIns="0" tIns="0" rIns="0" bIns="0" rtlCol="0" anchor="ctr"/>
          <a:lstStyle/>
          <a:p>
            <a:pPr rtl="1" algn="ctr" indent="0" marL="0">
              <a:buNone/>
            </a:pPr>
            <a:r>
              <a:rPr lang="he-IL" altLang="en-US" sz="3000" b="1" dirty="0">
                <a:solidFill>
                  <a:srgbClr val="6E4494"/>
                </a:solidFill>
                <a:latin typeface="Arial" pitchFamily="34" charset="0"/>
                <a:ea typeface="Arial" pitchFamily="34" charset="-122"/>
                <a:cs typeface="Arial" pitchFamily="34" charset="-120"/>
              </a:rPr>
              <a:t>8u לארוחה</a:t>
            </a:r>
            <a:endParaRPr lang="he-IL" sz="3000" dirty="0"/>
          </a:p>
        </p:txBody>
      </p:sp>
      <p:sp>
        <p:nvSpPr>
          <p:cNvPr id="24" name="Text 19"/>
          <p:cNvSpPr txBox="1"/>
          <p:nvPr/>
        </p:nvSpPr>
        <p:spPr>
          <a:xfrm>
            <a:off x="3516554" y="3319272"/>
            <a:ext cx="2327834" cy="292608"/>
          </a:xfrm>
          <a:prstGeom prst="rect">
            <a:avLst/>
          </a:prstGeom>
          <a:noFill/>
          <a:ln/>
        </p:spPr>
        <p:txBody>
          <a:bodyPr wrap="square" lIns="0" tIns="0" rIns="0" bIns="0" rtlCol="0" anchor="t"/>
          <a:lstStyle/>
          <a:p>
            <a:pPr rtl="1" algn="ctr" indent="0" marL="0">
              <a:buNone/>
            </a:pPr>
            <a:r>
              <a:rPr lang="he-IL" altLang="en-US" sz="1350" b="1" dirty="0">
                <a:solidFill>
                  <a:srgbClr val="1F8F83"/>
                </a:solidFill>
                <a:latin typeface="Arial" pitchFamily="34" charset="0"/>
                <a:ea typeface="Arial" pitchFamily="34" charset="-122"/>
                <a:cs typeface="Arial" pitchFamily="34" charset="-120"/>
              </a:rPr>
              <a:t>ירד מ-12u לארוחה</a:t>
            </a:r>
            <a:endParaRPr lang="he-IL" sz="1350" dirty="0"/>
          </a:p>
        </p:txBody>
      </p:sp>
      <p:sp>
        <p:nvSpPr>
          <p:cNvPr id="25" name="Text 20"/>
          <p:cNvSpPr txBox="1"/>
          <p:nvPr/>
        </p:nvSpPr>
        <p:spPr>
          <a:xfrm>
            <a:off x="3562274" y="3657600"/>
            <a:ext cx="2236394" cy="868680"/>
          </a:xfrm>
          <a:prstGeom prst="rect">
            <a:avLst/>
          </a:prstGeom>
          <a:noFill/>
          <a:ln/>
        </p:spPr>
        <p:txBody>
          <a:bodyPr wrap="square" lIns="0" tIns="0" rIns="0" bIns="0" rtlCol="0" anchor="t"/>
          <a:lstStyle/>
          <a:p>
            <a:pPr rtl="1" algn="ctr" indent="0" marL="0">
              <a:buNone/>
            </a:pPr>
            <a:r>
              <a:rPr lang="he-IL" altLang="en-US" sz="1250" dirty="0">
                <a:solidFill>
                  <a:srgbClr val="2E2A47"/>
                </a:solidFill>
                <a:latin typeface="Arial" pitchFamily="34" charset="0"/>
                <a:ea typeface="Arial" pitchFamily="34" charset="-122"/>
                <a:cs typeface="Arial" pitchFamily="34" charset="-120"/>
              </a:rPr>
              <a:t>הירידה ל-8 יחידות לארוחה הושגה עם ההגעה למינון המקסימלי של וויגובי (2.4 מ"ג).</a:t>
            </a:r>
            <a:endParaRPr lang="he-IL" sz="1250" dirty="0"/>
          </a:p>
        </p:txBody>
      </p:sp>
      <p:sp>
        <p:nvSpPr>
          <p:cNvPr id="26" name="Shape 21"/>
          <p:cNvSpPr/>
          <p:nvPr/>
        </p:nvSpPr>
        <p:spPr>
          <a:xfrm>
            <a:off x="548640" y="1508760"/>
            <a:ext cx="2602154" cy="3108960"/>
          </a:xfrm>
          <a:prstGeom prst="roundRect">
            <a:avLst>
              <a:gd name="adj" fmla="val 4217"/>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7" name="Shape 22"/>
          <p:cNvSpPr/>
          <p:nvPr/>
        </p:nvSpPr>
        <p:spPr>
          <a:xfrm rot="5400000">
            <a:off x="1522401" y="1682496"/>
            <a:ext cx="654632" cy="566928"/>
          </a:xfrm>
          <a:prstGeom prst="hexagon">
            <a:avLst/>
          </a:prstGeom>
          <a:solidFill>
            <a:srgbClr val="6E4494"/>
          </a:solidFill>
          <a:ln/>
        </p:spPr>
      </p:sp>
      <p:pic>
        <p:nvPicPr>
          <p:cNvPr id="28" name="Image 3" descr="preencoded.png">    </p:cNvPr>
          <p:cNvPicPr>
            <a:picLocks noChangeAspect="1"/>
          </p:cNvPicPr>
          <p:nvPr/>
        </p:nvPicPr>
        <p:blipFill>
          <a:blip r:embed="rId4"/>
          <a:stretch>
            <a:fillRect/>
          </a:stretch>
        </p:blipFill>
        <p:spPr>
          <a:xfrm>
            <a:off x="1719323" y="1835567"/>
            <a:ext cx="260787" cy="260787"/>
          </a:xfrm>
          <a:prstGeom prst="rect">
            <a:avLst/>
          </a:prstGeom>
        </p:spPr>
      </p:pic>
      <p:sp>
        <p:nvSpPr>
          <p:cNvPr id="29" name="Text 23"/>
          <p:cNvSpPr txBox="1"/>
          <p:nvPr/>
        </p:nvSpPr>
        <p:spPr>
          <a:xfrm>
            <a:off x="685800" y="2350008"/>
            <a:ext cx="2327834" cy="320040"/>
          </a:xfrm>
          <a:prstGeom prst="rect">
            <a:avLst/>
          </a:prstGeom>
          <a:noFill/>
          <a:ln/>
        </p:spPr>
        <p:txBody>
          <a:bodyPr wrap="square" lIns="0" tIns="0" rIns="0" bIns="0" rtlCol="0" anchor="t"/>
          <a:lstStyle/>
          <a:p>
            <a:pPr rtl="1" algn="ctr" indent="0" marL="0">
              <a:buNone/>
            </a:pPr>
            <a:r>
              <a:rPr lang="he-IL" altLang="en-US" sz="1400" b="1" dirty="0">
                <a:solidFill>
                  <a:srgbClr val="6B6785"/>
                </a:solidFill>
                <a:latin typeface="Arial" pitchFamily="34" charset="0"/>
                <a:ea typeface="Arial" pitchFamily="34" charset="-122"/>
                <a:cs typeface="Arial" pitchFamily="34" charset="-120"/>
              </a:rPr>
              <a:t>אינסולין בזאלי (טרגלודק)</a:t>
            </a:r>
            <a:endParaRPr lang="he-IL" sz="1400" dirty="0"/>
          </a:p>
        </p:txBody>
      </p:sp>
      <p:sp>
        <p:nvSpPr>
          <p:cNvPr id="30" name="Text 24"/>
          <p:cNvSpPr txBox="1"/>
          <p:nvPr/>
        </p:nvSpPr>
        <p:spPr>
          <a:xfrm>
            <a:off x="640080" y="2697480"/>
            <a:ext cx="2419274" cy="594360"/>
          </a:xfrm>
          <a:prstGeom prst="rect">
            <a:avLst/>
          </a:prstGeom>
          <a:noFill/>
          <a:ln/>
        </p:spPr>
        <p:txBody>
          <a:bodyPr wrap="square" lIns="0" tIns="0" rIns="0" bIns="0" rtlCol="0" anchor="ctr"/>
          <a:lstStyle/>
          <a:p>
            <a:pPr rtl="1" algn="ctr" indent="0" marL="0">
              <a:buNone/>
            </a:pPr>
            <a:r>
              <a:rPr lang="he-IL" altLang="en-US" sz="3000" b="1" dirty="0">
                <a:solidFill>
                  <a:srgbClr val="6E4494"/>
                </a:solidFill>
                <a:latin typeface="Arial" pitchFamily="34" charset="0"/>
                <a:ea typeface="Arial" pitchFamily="34" charset="-122"/>
                <a:cs typeface="Arial" pitchFamily="34" charset="-120"/>
              </a:rPr>
              <a:t>36 יחידות</a:t>
            </a:r>
            <a:endParaRPr lang="he-IL" sz="3000" dirty="0"/>
          </a:p>
        </p:txBody>
      </p:sp>
      <p:sp>
        <p:nvSpPr>
          <p:cNvPr id="31" name="Text 25"/>
          <p:cNvSpPr txBox="1"/>
          <p:nvPr/>
        </p:nvSpPr>
        <p:spPr>
          <a:xfrm>
            <a:off x="685800" y="3319272"/>
            <a:ext cx="2327834" cy="292608"/>
          </a:xfrm>
          <a:prstGeom prst="rect">
            <a:avLst/>
          </a:prstGeom>
          <a:noFill/>
          <a:ln/>
        </p:spPr>
        <p:txBody>
          <a:bodyPr wrap="square" lIns="0" tIns="0" rIns="0" bIns="0" rtlCol="0" anchor="t"/>
          <a:lstStyle/>
          <a:p>
            <a:pPr rtl="1" algn="ctr" indent="0" marL="0">
              <a:buNone/>
            </a:pPr>
            <a:r>
              <a:rPr lang="he-IL" altLang="en-US" sz="1350" b="1" dirty="0">
                <a:solidFill>
                  <a:srgbClr val="1F8F83"/>
                </a:solidFill>
                <a:latin typeface="Arial" pitchFamily="34" charset="0"/>
                <a:ea typeface="Arial" pitchFamily="34" charset="-122"/>
                <a:cs typeface="Arial" pitchFamily="34" charset="-120"/>
              </a:rPr>
              <a:t>ירד מ-40 יחידות</a:t>
            </a:r>
            <a:endParaRPr lang="he-IL" sz="1350" dirty="0"/>
          </a:p>
        </p:txBody>
      </p:sp>
      <p:sp>
        <p:nvSpPr>
          <p:cNvPr id="32" name="Text 26"/>
          <p:cNvSpPr txBox="1"/>
          <p:nvPr/>
        </p:nvSpPr>
        <p:spPr>
          <a:xfrm>
            <a:off x="731520" y="3657600"/>
            <a:ext cx="2236394" cy="868680"/>
          </a:xfrm>
          <a:prstGeom prst="rect">
            <a:avLst/>
          </a:prstGeom>
          <a:noFill/>
          <a:ln/>
        </p:spPr>
        <p:txBody>
          <a:bodyPr wrap="square" lIns="0" tIns="0" rIns="0" bIns="0" rtlCol="0" anchor="t"/>
          <a:lstStyle/>
          <a:p>
            <a:pPr rtl="1" algn="ctr" indent="0" marL="0">
              <a:buNone/>
            </a:pPr>
            <a:r>
              <a:rPr lang="he-IL" altLang="en-US" sz="1250" dirty="0">
                <a:solidFill>
                  <a:srgbClr val="2E2A47"/>
                </a:solidFill>
                <a:latin typeface="Arial" pitchFamily="34" charset="0"/>
                <a:ea typeface="Arial" pitchFamily="34" charset="-122"/>
                <a:cs typeface="Arial" pitchFamily="34" charset="-120"/>
              </a:rPr>
              <a:t>התאמה מבוקרת עם פרוטוקול צום &lt;90 mg/dL לשמירה מלאה מפני DKA.</a:t>
            </a:r>
            <a:endParaRPr lang="he-IL" sz="1250" dirty="0"/>
          </a:p>
        </p:txBody>
      </p:sp>
      <p:sp>
        <p:nvSpPr>
          <p:cNvPr id="33" name="Shape 27"/>
          <p:cNvSpPr/>
          <p:nvPr/>
        </p:nvSpPr>
        <p:spPr>
          <a:xfrm>
            <a:off x="548640" y="4800600"/>
            <a:ext cx="11094415" cy="1261872"/>
          </a:xfrm>
          <a:prstGeom prst="roundRect">
            <a:avLst>
              <a:gd name="adj" fmla="val 8696"/>
            </a:avLst>
          </a:prstGeom>
          <a:solidFill>
            <a:srgbClr val="2B2560"/>
          </a:solidFill>
          <a:ln/>
          <a:effectLst>
            <a:outerShdw sx="100000" sy="100000" kx="0" ky="0" algn="bl" rotWithShape="0" blurRad="127000" dist="38100" dir="5400000">
              <a:srgbClr val="2B2560">
                <a:alpha val="10000"/>
              </a:srgbClr>
            </a:outerShdw>
          </a:effectLst>
        </p:spPr>
      </p:sp>
      <p:sp>
        <p:nvSpPr>
          <p:cNvPr id="34" name="Shape 28"/>
          <p:cNvSpPr/>
          <p:nvPr/>
        </p:nvSpPr>
        <p:spPr>
          <a:xfrm rot="5400000">
            <a:off x="10796981" y="5134356"/>
            <a:ext cx="686307" cy="594360"/>
          </a:xfrm>
          <a:prstGeom prst="hexagon">
            <a:avLst/>
          </a:prstGeom>
          <a:solidFill>
            <a:srgbClr val="FFFFFF"/>
          </a:solidFill>
          <a:ln/>
        </p:spPr>
      </p:sp>
      <p:pic>
        <p:nvPicPr>
          <p:cNvPr id="35" name="Image 4" descr="preencoded.png">    </p:cNvPr>
          <p:cNvPicPr>
            <a:picLocks noChangeAspect="1"/>
          </p:cNvPicPr>
          <p:nvPr/>
        </p:nvPicPr>
        <p:blipFill>
          <a:blip r:embed="rId5"/>
          <a:stretch>
            <a:fillRect/>
          </a:stretch>
        </p:blipFill>
        <p:spPr>
          <a:xfrm>
            <a:off x="11003432" y="5294833"/>
            <a:ext cx="273406" cy="273406"/>
          </a:xfrm>
          <a:prstGeom prst="rect">
            <a:avLst/>
          </a:prstGeom>
        </p:spPr>
      </p:pic>
      <p:sp>
        <p:nvSpPr>
          <p:cNvPr id="36" name="Text 29"/>
          <p:cNvSpPr txBox="1"/>
          <p:nvPr/>
        </p:nvSpPr>
        <p:spPr>
          <a:xfrm>
            <a:off x="822960" y="4864608"/>
            <a:ext cx="9722815" cy="1133856"/>
          </a:xfrm>
          <a:prstGeom prst="rect">
            <a:avLst/>
          </a:prstGeom>
          <a:noFill/>
          <a:ln/>
        </p:spPr>
        <p:txBody>
          <a:bodyPr wrap="square" lIns="0" tIns="0" rIns="0" bIns="0" rtlCol="0" anchor="ctr"/>
          <a:lstStyle/>
          <a:p>
            <a:pPr rtl="1" algn="r" indent="0" marL="0">
              <a:spcAft>
                <a:spcPts val="400"/>
              </a:spcAft>
              <a:buNone/>
            </a:pPr>
            <a:r>
              <a:rPr lang="he-IL" altLang="en-US" sz="1500" b="1" dirty="0">
                <a:solidFill>
                  <a:srgbClr val="9CC4EE"/>
                </a:solidFill>
                <a:latin typeface="Arial" pitchFamily="34" charset="0"/>
                <a:ea typeface="Arial" pitchFamily="34" charset="-122"/>
                <a:cs typeface="Arial" pitchFamily="34" charset="-120"/>
              </a:rPr>
              <a:t>שאלת בטיחות קלינית: מהו הכלל הקליני החשוב ביותר בעת טיטרציית GLP-1 ב-T1D?</a:t>
            </a:r>
            <a:endParaRPr lang="he-IL" sz="1500" dirty="0"/>
          </a:p>
          <a:p>
            <a:pPr rtl="1" algn="r" indent="0" marL="0">
              <a:spcAft>
                <a:spcPts val="400"/>
              </a:spcAft>
              <a:buNone/>
            </a:pPr>
            <a:r>
              <a:rPr lang="he-IL" altLang="en-US" sz="1500" dirty="0">
                <a:solidFill>
                  <a:srgbClr val="FFFFFF"/>
                </a:solidFill>
                <a:latin typeface="Arial" pitchFamily="34" charset="0"/>
                <a:ea typeface="Arial" pitchFamily="34" charset="-122"/>
                <a:cs typeface="Arial" pitchFamily="34" charset="-120"/>
              </a:rPr>
              <a:t>ב-T1D חובה לנטר ברציפות, להפחית בולוס בהתאם לתזונה ולתנגודת, אך לשמור על כיסוי בזאלי מספק למניעת DKA קטואצידוזיס!</a:t>
            </a:r>
            <a:endParaRPr lang="he-IL" sz="15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sp>
      <p:sp>
        <p:nvSpPr>
          <p:cNvPr id="3" name="Shape 1"/>
          <p:cNvSpPr/>
          <p:nvPr/>
        </p:nvSpPr>
        <p:spPr>
          <a:xfrm rot="5400000">
            <a:off x="1300364" y="2377440"/>
            <a:ext cx="2428473" cy="2103120"/>
          </a:xfrm>
          <a:prstGeom prst="hexagon">
            <a:avLst/>
          </a:prstGeom>
          <a:ln w="25400">
            <a:solidFill>
              <a:srgbClr val="9CC4EE"/>
            </a:solidFill>
            <a:prstDash val="solid"/>
          </a:ln>
        </p:spPr>
      </p:sp>
      <p:sp>
        <p:nvSpPr>
          <p:cNvPr id="4" name="Text 2"/>
          <p:cNvSpPr txBox="1"/>
          <p:nvPr/>
        </p:nvSpPr>
        <p:spPr>
          <a:xfrm>
            <a:off x="1463040" y="2743200"/>
            <a:ext cx="2103120" cy="1371600"/>
          </a:xfrm>
          <a:prstGeom prst="rect">
            <a:avLst/>
          </a:prstGeom>
          <a:noFill/>
          <a:ln/>
        </p:spPr>
        <p:txBody>
          <a:bodyPr wrap="square" lIns="0" tIns="0" rIns="0" bIns="0" rtlCol="0" anchor="ctr"/>
          <a:lstStyle/>
          <a:p>
            <a:pPr algn="ctr" indent="0" marL="0">
              <a:buNone/>
            </a:pPr>
            <a:r>
              <a:rPr lang="en-US" altLang="en-US" sz="6000" b="1" dirty="0">
                <a:solidFill>
                  <a:srgbClr val="FFFFFF"/>
                </a:solidFill>
                <a:latin typeface="Arial" pitchFamily="34" charset="0"/>
                <a:ea typeface="Arial" pitchFamily="34" charset="-122"/>
                <a:cs typeface="Arial" pitchFamily="34" charset="-120"/>
              </a:rPr>
              <a:t>04</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rtl="1" algn="r" indent="0" marL="0">
              <a:buNone/>
            </a:pPr>
            <a:r>
              <a:rPr lang="he-IL" altLang="en-US" sz="2000" b="1" dirty="0">
                <a:solidFill>
                  <a:srgbClr val="9CC4EE"/>
                </a:solidFill>
                <a:latin typeface="Arial" pitchFamily="34" charset="0"/>
                <a:ea typeface="Arial" pitchFamily="34" charset="-122"/>
                <a:cs typeface="Arial" pitchFamily="34" charset="-120"/>
              </a:rPr>
              <a:t>שלב 4</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rtl="1" algn="r" indent="0" marL="0">
              <a:buNone/>
            </a:pPr>
            <a:r>
              <a:rPr lang="he-IL" altLang="en-US" sz="4000" b="1" dirty="0">
                <a:solidFill>
                  <a:srgbClr val="FFFFFF"/>
                </a:solidFill>
                <a:latin typeface="Arial" pitchFamily="34" charset="0"/>
                <a:ea typeface="Arial" pitchFamily="34" charset="-122"/>
                <a:cs typeface="Arial" pitchFamily="34" charset="-120"/>
              </a:rPr>
              <a:t>מעקב ספטמבר 2026</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rtl="1" algn="r" indent="0" marL="0">
              <a:buNone/>
            </a:pPr>
            <a:r>
              <a:rPr lang="he-IL" altLang="en-US" sz="1800" dirty="0">
                <a:solidFill>
                  <a:srgbClr val="D6D0F0"/>
                </a:solidFill>
                <a:latin typeface="Arial" pitchFamily="34" charset="0"/>
                <a:ea typeface="Arial" pitchFamily="34" charset="-122"/>
                <a:cs typeface="Arial" pitchFamily="34" charset="-120"/>
              </a:rPr>
              <a:t>ניתוח מדדי חיישן סוכר Libre 2 / AGP: זינוק ב-TIR מ-30% ל-79%, סוכר ממוצע 116 mg/dL, GMI 6.1% וניתוח פרופיל יממתי מלא</a:t>
            </a:r>
            <a:endParaRPr lang="he-IL" sz="1800" dirty="0"/>
          </a:p>
        </p:txBody>
      </p:sp>
      <p:pic>
        <p:nvPicPr>
          <p:cNvPr id="8" name="Image 0" descr="/tmp/claude-0/-home-claude/83ba285b-7ef1-5a4f-9afe-ea04c4b9d63d/scratchpad/assets/logo_white.png">    </p:cNvPr>
          <p:cNvPicPr>
            <a:picLocks noChangeAspect="1"/>
          </p:cNvPicPr>
          <p:nvPr/>
        </p:nvPicPr>
        <p:blipFill>
          <a:blip r:embed="rId1"/>
          <a:stretch>
            <a:fillRect/>
          </a:stretch>
        </p:blipFill>
        <p:spPr>
          <a:xfrm>
            <a:off x="10744200" y="5897880"/>
            <a:ext cx="896112" cy="73700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4 • מעקב ספטמבר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100" b="1" dirty="0">
                <a:solidFill>
                  <a:srgbClr val="2B2560"/>
                </a:solidFill>
                <a:latin typeface="Arial" pitchFamily="34" charset="0"/>
                <a:ea typeface="Arial" pitchFamily="34" charset="-122"/>
                <a:cs typeface="Arial" pitchFamily="34" charset="-120"/>
              </a:rPr>
              <a:t>שלב 4: ניתוח מדדי חיישן FreeStyle Libre 2 ו-AGP תחת Wegovy 2.4mg</a:t>
            </a:r>
            <a:endParaRPr lang="he-IL" sz="2100" dirty="0"/>
          </a:p>
        </p:txBody>
      </p:sp>
      <p:sp>
        <p:nvSpPr>
          <p:cNvPr id="5" name="Text 3"/>
          <p:cNvSpPr txBox="1"/>
          <p:nvPr/>
        </p:nvSpPr>
        <p:spPr>
          <a:xfrm>
            <a:off x="548640" y="1444752"/>
            <a:ext cx="5120640" cy="365760"/>
          </a:xfrm>
          <a:prstGeom prst="rect">
            <a:avLst/>
          </a:prstGeom>
          <a:noFill/>
          <a:ln/>
        </p:spPr>
        <p:txBody>
          <a:bodyPr wrap="square" lIns="0" tIns="0" rIns="0" bIns="0" rtlCol="0" anchor="t"/>
          <a:lstStyle/>
          <a:p>
            <a:pPr rtl="1" algn="r" indent="0" marL="0">
              <a:buNone/>
            </a:pPr>
            <a:r>
              <a:rPr lang="he-IL" altLang="en-US" sz="1450" b="1" dirty="0">
                <a:solidFill>
                  <a:srgbClr val="6E4494"/>
                </a:solidFill>
                <a:latin typeface="Arial" pitchFamily="34" charset="0"/>
                <a:ea typeface="Arial" pitchFamily="34" charset="-122"/>
                <a:cs typeface="Arial" pitchFamily="34" charset="-120"/>
              </a:rPr>
              <a:t>תוצאות דוח ה-AGP המעודכן (24/8/2026 - 6/9/2026)</a:t>
            </a:r>
            <a:endParaRPr lang="he-IL" sz="1450" dirty="0"/>
          </a:p>
        </p:txBody>
      </p:sp>
      <p:pic>
        <p:nvPicPr>
          <p:cNvPr id="6" name="Image 0" descr="/tmp/claude-0/-home-claude/83ba285b-7ef1-5a4f-9afe-ea04c4b9d63d/scratchpad/src/ppt/media/image-23-2.png">    </p:cNvPr>
          <p:cNvPicPr>
            <a:picLocks noChangeAspect="1"/>
          </p:cNvPicPr>
          <p:nvPr/>
        </p:nvPicPr>
        <p:blipFill>
          <a:blip r:embed="rId1"/>
          <a:stretch>
            <a:fillRect/>
          </a:stretch>
        </p:blipFill>
        <p:spPr>
          <a:xfrm>
            <a:off x="548640" y="1874520"/>
            <a:ext cx="5120640" cy="4023360"/>
          </a:xfrm>
          <a:prstGeom prst="rect">
            <a:avLst/>
          </a:prstGeom>
          <a:effectLst>
            <a:outerShdw sx="100000" sy="100000" kx="0" ky="0" algn="bl" rotWithShape="0" blurRad="127000" dist="38100" dir="5400000">
              <a:srgbClr val="2B2560">
                <a:alpha val="10000"/>
              </a:srgbClr>
            </a:outerShdw>
          </a:effectLst>
        </p:spPr>
      </p:pic>
      <p:sp>
        <p:nvSpPr>
          <p:cNvPr id="7" name="Shape 4"/>
          <p:cNvSpPr/>
          <p:nvPr/>
        </p:nvSpPr>
        <p:spPr>
          <a:xfrm>
            <a:off x="8883396" y="1508760"/>
            <a:ext cx="2756916" cy="1399032"/>
          </a:xfrm>
          <a:prstGeom prst="roundRect">
            <a:avLst>
              <a:gd name="adj" fmla="val 7843"/>
            </a:avLst>
          </a:prstGeom>
          <a:solidFill>
            <a:srgbClr val="6E4494"/>
          </a:solidFill>
          <a:ln/>
          <a:effectLst>
            <a:outerShdw sx="100000" sy="100000" kx="0" ky="0" algn="bl" rotWithShape="0" blurRad="127000" dist="38100" dir="5400000">
              <a:srgbClr val="2B2560">
                <a:alpha val="10000"/>
              </a:srgbClr>
            </a:outerShdw>
          </a:effectLst>
        </p:spPr>
      </p:sp>
      <p:sp>
        <p:nvSpPr>
          <p:cNvPr id="8" name="Text 5"/>
          <p:cNvSpPr txBox="1"/>
          <p:nvPr/>
        </p:nvSpPr>
        <p:spPr>
          <a:xfrm>
            <a:off x="9047988" y="1618488"/>
            <a:ext cx="2427732" cy="292608"/>
          </a:xfrm>
          <a:prstGeom prst="rect">
            <a:avLst/>
          </a:prstGeom>
          <a:noFill/>
          <a:ln/>
        </p:spPr>
        <p:txBody>
          <a:bodyPr wrap="square" lIns="0" tIns="0" rIns="0" bIns="0" rtlCol="0" anchor="t"/>
          <a:lstStyle/>
          <a:p>
            <a:pPr rtl="1" algn="r" indent="0" marL="0">
              <a:buNone/>
            </a:pPr>
            <a:r>
              <a:rPr lang="he-IL" altLang="en-US" sz="1250" b="1" dirty="0">
                <a:solidFill>
                  <a:srgbClr val="D6D0F0"/>
                </a:solidFill>
                <a:latin typeface="Arial" pitchFamily="34" charset="0"/>
                <a:ea typeface="Arial" pitchFamily="34" charset="-122"/>
                <a:cs typeface="Arial" pitchFamily="34" charset="-120"/>
              </a:rPr>
              <a:t>זמן בטווח היעד (TIR 70-180 mg/dL)</a:t>
            </a:r>
            <a:endParaRPr lang="he-IL" sz="1250" dirty="0"/>
          </a:p>
        </p:txBody>
      </p:sp>
      <p:sp>
        <p:nvSpPr>
          <p:cNvPr id="9" name="Text 6"/>
          <p:cNvSpPr txBox="1"/>
          <p:nvPr/>
        </p:nvSpPr>
        <p:spPr>
          <a:xfrm>
            <a:off x="9047988" y="1920240"/>
            <a:ext cx="2427732" cy="530352"/>
          </a:xfrm>
          <a:prstGeom prst="rect">
            <a:avLst/>
          </a:prstGeom>
          <a:noFill/>
          <a:ln/>
        </p:spPr>
        <p:txBody>
          <a:bodyPr wrap="square" lIns="0" tIns="0" rIns="0" bIns="0" rtlCol="0" anchor="ctr"/>
          <a:lstStyle/>
          <a:p>
            <a:pPr algn="r" indent="0" marL="0">
              <a:buNone/>
            </a:pPr>
            <a:r>
              <a:rPr lang="en-US" altLang="en-US" sz="2800" b="1" dirty="0">
                <a:solidFill>
                  <a:srgbClr val="FFFFFF"/>
                </a:solidFill>
                <a:latin typeface="Arial" pitchFamily="34" charset="0"/>
                <a:ea typeface="Arial" pitchFamily="34" charset="-122"/>
                <a:cs typeface="Arial" pitchFamily="34" charset="-120"/>
              </a:rPr>
              <a:t>79%</a:t>
            </a:r>
            <a:endParaRPr lang="en-US" sz="2800" dirty="0"/>
          </a:p>
        </p:txBody>
      </p:sp>
      <p:sp>
        <p:nvSpPr>
          <p:cNvPr id="10" name="Text 7"/>
          <p:cNvSpPr txBox="1"/>
          <p:nvPr/>
        </p:nvSpPr>
        <p:spPr>
          <a:xfrm>
            <a:off x="9047988" y="2478024"/>
            <a:ext cx="2427732" cy="365760"/>
          </a:xfrm>
          <a:prstGeom prst="rect">
            <a:avLst/>
          </a:prstGeom>
          <a:noFill/>
          <a:ln/>
        </p:spPr>
        <p:txBody>
          <a:bodyPr wrap="square" lIns="0" tIns="0" rIns="0" bIns="0" rtlCol="0" anchor="t"/>
          <a:lstStyle/>
          <a:p>
            <a:pPr rtl="1" algn="r" indent="0" marL="0">
              <a:buNone/>
            </a:pPr>
            <a:r>
              <a:rPr lang="he-IL" altLang="en-US" sz="1200" dirty="0">
                <a:solidFill>
                  <a:srgbClr val="FFFFFF"/>
                </a:solidFill>
                <a:latin typeface="Arial" pitchFamily="34" charset="0"/>
                <a:ea typeface="Arial" pitchFamily="34" charset="-122"/>
                <a:cs typeface="Arial" pitchFamily="34" charset="-120"/>
              </a:rPr>
              <a:t>עבר בהצלחה רבה את היעד הבינלאומי (&gt;70%)!</a:t>
            </a:r>
            <a:endParaRPr lang="he-IL" sz="1200" dirty="0"/>
          </a:p>
        </p:txBody>
      </p:sp>
      <p:sp>
        <p:nvSpPr>
          <p:cNvPr id="11" name="Shape 8"/>
          <p:cNvSpPr/>
          <p:nvPr/>
        </p:nvSpPr>
        <p:spPr>
          <a:xfrm>
            <a:off x="5943600" y="1508760"/>
            <a:ext cx="2756916" cy="1399032"/>
          </a:xfrm>
          <a:prstGeom prst="roundRect">
            <a:avLst>
              <a:gd name="adj" fmla="val 7843"/>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2" name="Text 9"/>
          <p:cNvSpPr txBox="1"/>
          <p:nvPr/>
        </p:nvSpPr>
        <p:spPr>
          <a:xfrm>
            <a:off x="6108192" y="1618488"/>
            <a:ext cx="2427732" cy="292608"/>
          </a:xfrm>
          <a:prstGeom prst="rect">
            <a:avLst/>
          </a:prstGeom>
          <a:noFill/>
          <a:ln/>
        </p:spPr>
        <p:txBody>
          <a:bodyPr wrap="square" lIns="0" tIns="0" rIns="0" bIns="0" rtlCol="0" anchor="t"/>
          <a:lstStyle/>
          <a:p>
            <a:pPr rtl="1" algn="r" indent="0" marL="0">
              <a:buNone/>
            </a:pPr>
            <a:r>
              <a:rPr lang="he-IL" altLang="en-US" sz="1250" b="1" dirty="0">
                <a:solidFill>
                  <a:srgbClr val="6B6785"/>
                </a:solidFill>
                <a:latin typeface="Arial" pitchFamily="34" charset="0"/>
                <a:ea typeface="Arial" pitchFamily="34" charset="-122"/>
                <a:cs typeface="Arial" pitchFamily="34" charset="-120"/>
              </a:rPr>
              <a:t>רמת גלוקוז ממוצעת</a:t>
            </a:r>
            <a:endParaRPr lang="he-IL" sz="1250" dirty="0"/>
          </a:p>
        </p:txBody>
      </p:sp>
      <p:sp>
        <p:nvSpPr>
          <p:cNvPr id="13" name="Text 10"/>
          <p:cNvSpPr txBox="1"/>
          <p:nvPr/>
        </p:nvSpPr>
        <p:spPr>
          <a:xfrm>
            <a:off x="6108192" y="1920240"/>
            <a:ext cx="2427732" cy="530352"/>
          </a:xfrm>
          <a:prstGeom prst="rect">
            <a:avLst/>
          </a:prstGeom>
          <a:noFill/>
          <a:ln/>
        </p:spPr>
        <p:txBody>
          <a:bodyPr wrap="square" lIns="0" tIns="0" rIns="0" bIns="0" rtlCol="0" anchor="ctr"/>
          <a:lstStyle/>
          <a:p>
            <a:pPr algn="r" indent="0" marL="0">
              <a:buNone/>
            </a:pPr>
            <a:r>
              <a:rPr lang="en-US" altLang="en-US" sz="2800" b="1" dirty="0">
                <a:solidFill>
                  <a:srgbClr val="2B2560"/>
                </a:solidFill>
                <a:latin typeface="Arial" pitchFamily="34" charset="0"/>
                <a:ea typeface="Arial" pitchFamily="34" charset="-122"/>
                <a:cs typeface="Arial" pitchFamily="34" charset="-120"/>
              </a:rPr>
              <a:t>116 mg/dL</a:t>
            </a:r>
            <a:endParaRPr lang="en-US" sz="2800" dirty="0"/>
          </a:p>
        </p:txBody>
      </p:sp>
      <p:sp>
        <p:nvSpPr>
          <p:cNvPr id="14" name="Text 11"/>
          <p:cNvSpPr txBox="1"/>
          <p:nvPr/>
        </p:nvSpPr>
        <p:spPr>
          <a:xfrm>
            <a:off x="6108192" y="2478024"/>
            <a:ext cx="2427732" cy="365760"/>
          </a:xfrm>
          <a:prstGeom prst="rect">
            <a:avLst/>
          </a:prstGeom>
          <a:noFill/>
          <a:ln/>
        </p:spPr>
        <p:txBody>
          <a:bodyPr wrap="square" lIns="0" tIns="0" rIns="0" bIns="0" rtlCol="0" anchor="t"/>
          <a:lstStyle/>
          <a:p>
            <a:pPr rtl="1" algn="r" indent="0" marL="0">
              <a:buNone/>
            </a:pPr>
            <a:r>
              <a:rPr lang="he-IL" altLang="en-US" sz="1200" dirty="0">
                <a:solidFill>
                  <a:srgbClr val="2E2A47"/>
                </a:solidFill>
                <a:latin typeface="Arial" pitchFamily="34" charset="0"/>
                <a:ea typeface="Arial" pitchFamily="34" charset="-122"/>
                <a:cs typeface="Arial" pitchFamily="34" charset="-120"/>
              </a:rPr>
              <a:t>ירדה מ-220 mg/dL בדוח הקודם!</a:t>
            </a:r>
            <a:endParaRPr lang="he-IL" sz="1200" dirty="0"/>
          </a:p>
        </p:txBody>
      </p:sp>
      <p:sp>
        <p:nvSpPr>
          <p:cNvPr id="15" name="Shape 12"/>
          <p:cNvSpPr/>
          <p:nvPr/>
        </p:nvSpPr>
        <p:spPr>
          <a:xfrm>
            <a:off x="8883396" y="3044952"/>
            <a:ext cx="2756916" cy="1399032"/>
          </a:xfrm>
          <a:prstGeom prst="roundRect">
            <a:avLst>
              <a:gd name="adj" fmla="val 7843"/>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6" name="Text 13"/>
          <p:cNvSpPr txBox="1"/>
          <p:nvPr/>
        </p:nvSpPr>
        <p:spPr>
          <a:xfrm>
            <a:off x="9047988" y="3154680"/>
            <a:ext cx="2427732" cy="292608"/>
          </a:xfrm>
          <a:prstGeom prst="rect">
            <a:avLst/>
          </a:prstGeom>
          <a:noFill/>
          <a:ln/>
        </p:spPr>
        <p:txBody>
          <a:bodyPr wrap="square" lIns="0" tIns="0" rIns="0" bIns="0" rtlCol="0" anchor="t"/>
          <a:lstStyle/>
          <a:p>
            <a:pPr rtl="1" algn="r" indent="0" marL="0">
              <a:buNone/>
            </a:pPr>
            <a:r>
              <a:rPr lang="he-IL" altLang="en-US" sz="1250" b="1" dirty="0">
                <a:solidFill>
                  <a:srgbClr val="6B6785"/>
                </a:solidFill>
                <a:latin typeface="Arial" pitchFamily="34" charset="0"/>
                <a:ea typeface="Arial" pitchFamily="34" charset="-122"/>
                <a:cs typeface="Arial" pitchFamily="34" charset="-120"/>
              </a:rPr>
              <a:t>מדד ניהול גלוקוז משוער (GMI)</a:t>
            </a:r>
            <a:endParaRPr lang="he-IL" sz="1250" dirty="0"/>
          </a:p>
        </p:txBody>
      </p:sp>
      <p:sp>
        <p:nvSpPr>
          <p:cNvPr id="17" name="Text 14"/>
          <p:cNvSpPr txBox="1"/>
          <p:nvPr/>
        </p:nvSpPr>
        <p:spPr>
          <a:xfrm>
            <a:off x="9047988" y="3456432"/>
            <a:ext cx="2427732" cy="530352"/>
          </a:xfrm>
          <a:prstGeom prst="rect">
            <a:avLst/>
          </a:prstGeom>
          <a:noFill/>
          <a:ln/>
        </p:spPr>
        <p:txBody>
          <a:bodyPr wrap="square" lIns="0" tIns="0" rIns="0" bIns="0" rtlCol="0" anchor="ctr"/>
          <a:lstStyle/>
          <a:p>
            <a:pPr algn="r" indent="0" marL="0">
              <a:buNone/>
            </a:pPr>
            <a:r>
              <a:rPr lang="en-US" altLang="en-US" sz="2800" b="1" dirty="0">
                <a:solidFill>
                  <a:srgbClr val="2B2560"/>
                </a:solidFill>
                <a:latin typeface="Arial" pitchFamily="34" charset="0"/>
                <a:ea typeface="Arial" pitchFamily="34" charset="-122"/>
                <a:cs typeface="Arial" pitchFamily="34" charset="-120"/>
              </a:rPr>
              <a:t>6.1%</a:t>
            </a:r>
            <a:endParaRPr lang="en-US" sz="2800" dirty="0"/>
          </a:p>
        </p:txBody>
      </p:sp>
      <p:sp>
        <p:nvSpPr>
          <p:cNvPr id="18" name="Text 15"/>
          <p:cNvSpPr txBox="1"/>
          <p:nvPr/>
        </p:nvSpPr>
        <p:spPr>
          <a:xfrm>
            <a:off x="9047988" y="4014216"/>
            <a:ext cx="2427732" cy="365760"/>
          </a:xfrm>
          <a:prstGeom prst="rect">
            <a:avLst/>
          </a:prstGeom>
          <a:noFill/>
          <a:ln/>
        </p:spPr>
        <p:txBody>
          <a:bodyPr wrap="square" lIns="0" tIns="0" rIns="0" bIns="0" rtlCol="0" anchor="t"/>
          <a:lstStyle/>
          <a:p>
            <a:pPr rtl="1" algn="r" indent="0" marL="0">
              <a:buNone/>
            </a:pPr>
            <a:r>
              <a:rPr lang="he-IL" altLang="en-US" sz="1200" dirty="0">
                <a:solidFill>
                  <a:srgbClr val="2E2A47"/>
                </a:solidFill>
                <a:latin typeface="Arial" pitchFamily="34" charset="0"/>
                <a:ea typeface="Arial" pitchFamily="34" charset="-122"/>
                <a:cs typeface="Arial" pitchFamily="34" charset="-120"/>
              </a:rPr>
              <a:t>תואם A1C של כ-6.1% (43 mmol/mol)</a:t>
            </a:r>
            <a:endParaRPr lang="he-IL" sz="1200" dirty="0"/>
          </a:p>
        </p:txBody>
      </p:sp>
      <p:sp>
        <p:nvSpPr>
          <p:cNvPr id="19" name="Shape 16"/>
          <p:cNvSpPr/>
          <p:nvPr/>
        </p:nvSpPr>
        <p:spPr>
          <a:xfrm>
            <a:off x="5943600" y="3044952"/>
            <a:ext cx="2756916" cy="1399032"/>
          </a:xfrm>
          <a:prstGeom prst="roundRect">
            <a:avLst>
              <a:gd name="adj" fmla="val 7843"/>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0" name="Text 17"/>
          <p:cNvSpPr txBox="1"/>
          <p:nvPr/>
        </p:nvSpPr>
        <p:spPr>
          <a:xfrm>
            <a:off x="6108192" y="3154680"/>
            <a:ext cx="2427732" cy="292608"/>
          </a:xfrm>
          <a:prstGeom prst="rect">
            <a:avLst/>
          </a:prstGeom>
          <a:noFill/>
          <a:ln/>
        </p:spPr>
        <p:txBody>
          <a:bodyPr wrap="square" lIns="0" tIns="0" rIns="0" bIns="0" rtlCol="0" anchor="t"/>
          <a:lstStyle/>
          <a:p>
            <a:pPr rtl="1" algn="r" indent="0" marL="0">
              <a:buNone/>
            </a:pPr>
            <a:r>
              <a:rPr lang="he-IL" altLang="en-US" sz="1250" b="1" dirty="0">
                <a:solidFill>
                  <a:srgbClr val="6B6785"/>
                </a:solidFill>
                <a:latin typeface="Arial" pitchFamily="34" charset="0"/>
                <a:ea typeface="Arial" pitchFamily="34" charset="-122"/>
                <a:cs typeface="Arial" pitchFamily="34" charset="-120"/>
              </a:rPr>
              <a:t>ערכים מעל הטווח (&gt;180 mg/dL)</a:t>
            </a:r>
            <a:endParaRPr lang="he-IL" sz="1250" dirty="0"/>
          </a:p>
        </p:txBody>
      </p:sp>
      <p:sp>
        <p:nvSpPr>
          <p:cNvPr id="21" name="Text 18"/>
          <p:cNvSpPr txBox="1"/>
          <p:nvPr/>
        </p:nvSpPr>
        <p:spPr>
          <a:xfrm>
            <a:off x="6108192" y="3456432"/>
            <a:ext cx="2427732" cy="530352"/>
          </a:xfrm>
          <a:prstGeom prst="rect">
            <a:avLst/>
          </a:prstGeom>
          <a:noFill/>
          <a:ln/>
        </p:spPr>
        <p:txBody>
          <a:bodyPr wrap="square" lIns="0" tIns="0" rIns="0" bIns="0" rtlCol="0" anchor="ctr"/>
          <a:lstStyle/>
          <a:p>
            <a:pPr algn="r" indent="0" marL="0">
              <a:buNone/>
            </a:pPr>
            <a:r>
              <a:rPr lang="en-US" altLang="en-US" sz="2800" b="1" dirty="0">
                <a:solidFill>
                  <a:srgbClr val="2B2560"/>
                </a:solidFill>
                <a:latin typeface="Arial" pitchFamily="34" charset="0"/>
                <a:ea typeface="Arial" pitchFamily="34" charset="-122"/>
                <a:cs typeface="Arial" pitchFamily="34" charset="-120"/>
              </a:rPr>
              <a:t>8%</a:t>
            </a:r>
            <a:endParaRPr lang="en-US" sz="2800" dirty="0"/>
          </a:p>
        </p:txBody>
      </p:sp>
      <p:sp>
        <p:nvSpPr>
          <p:cNvPr id="22" name="Text 19"/>
          <p:cNvSpPr txBox="1"/>
          <p:nvPr/>
        </p:nvSpPr>
        <p:spPr>
          <a:xfrm>
            <a:off x="6108192" y="4014216"/>
            <a:ext cx="2427732" cy="365760"/>
          </a:xfrm>
          <a:prstGeom prst="rect">
            <a:avLst/>
          </a:prstGeom>
          <a:noFill/>
          <a:ln/>
        </p:spPr>
        <p:txBody>
          <a:bodyPr wrap="square" lIns="0" tIns="0" rIns="0" bIns="0" rtlCol="0" anchor="t"/>
          <a:lstStyle/>
          <a:p>
            <a:pPr rtl="1" algn="r" indent="0" marL="0">
              <a:buNone/>
            </a:pPr>
            <a:r>
              <a:rPr lang="he-IL" altLang="en-US" sz="1200" dirty="0">
                <a:solidFill>
                  <a:srgbClr val="2E2A47"/>
                </a:solidFill>
                <a:latin typeface="Arial" pitchFamily="34" charset="0"/>
                <a:ea typeface="Arial" pitchFamily="34" charset="-122"/>
                <a:cs typeface="Arial" pitchFamily="34" charset="-120"/>
              </a:rPr>
              <a:t>ירדו מ-70% ל-8% בלבד (0% מעל 250!)</a:t>
            </a:r>
            <a:endParaRPr lang="he-IL" sz="1200" dirty="0"/>
          </a:p>
        </p:txBody>
      </p:sp>
      <p:sp>
        <p:nvSpPr>
          <p:cNvPr id="23" name="Shape 20"/>
          <p:cNvSpPr/>
          <p:nvPr/>
        </p:nvSpPr>
        <p:spPr>
          <a:xfrm>
            <a:off x="8883396" y="4581144"/>
            <a:ext cx="2756916" cy="1399032"/>
          </a:xfrm>
          <a:prstGeom prst="roundRect">
            <a:avLst>
              <a:gd name="adj" fmla="val 7843"/>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4" name="Text 21"/>
          <p:cNvSpPr txBox="1"/>
          <p:nvPr/>
        </p:nvSpPr>
        <p:spPr>
          <a:xfrm>
            <a:off x="9047988" y="4690872"/>
            <a:ext cx="2427732" cy="292608"/>
          </a:xfrm>
          <a:prstGeom prst="rect">
            <a:avLst/>
          </a:prstGeom>
          <a:noFill/>
          <a:ln/>
        </p:spPr>
        <p:txBody>
          <a:bodyPr wrap="square" lIns="0" tIns="0" rIns="0" bIns="0" rtlCol="0" anchor="t"/>
          <a:lstStyle/>
          <a:p>
            <a:pPr rtl="1" algn="r" indent="0" marL="0">
              <a:buNone/>
            </a:pPr>
            <a:r>
              <a:rPr lang="he-IL" altLang="en-US" sz="1250" b="1" dirty="0">
                <a:solidFill>
                  <a:srgbClr val="6B6785"/>
                </a:solidFill>
                <a:latin typeface="Arial" pitchFamily="34" charset="0"/>
                <a:ea typeface="Arial" pitchFamily="34" charset="-122"/>
                <a:cs typeface="Arial" pitchFamily="34" charset="-120"/>
              </a:rPr>
              <a:t>שונות גלוקוז (%CV)</a:t>
            </a:r>
            <a:endParaRPr lang="he-IL" sz="1250" dirty="0"/>
          </a:p>
        </p:txBody>
      </p:sp>
      <p:sp>
        <p:nvSpPr>
          <p:cNvPr id="25" name="Text 22"/>
          <p:cNvSpPr txBox="1"/>
          <p:nvPr/>
        </p:nvSpPr>
        <p:spPr>
          <a:xfrm>
            <a:off x="9047988" y="4992624"/>
            <a:ext cx="2427732" cy="530352"/>
          </a:xfrm>
          <a:prstGeom prst="rect">
            <a:avLst/>
          </a:prstGeom>
          <a:noFill/>
          <a:ln/>
        </p:spPr>
        <p:txBody>
          <a:bodyPr wrap="square" lIns="0" tIns="0" rIns="0" bIns="0" rtlCol="0" anchor="ctr"/>
          <a:lstStyle/>
          <a:p>
            <a:pPr algn="r" indent="0" marL="0">
              <a:buNone/>
            </a:pPr>
            <a:r>
              <a:rPr lang="en-US" altLang="en-US" sz="2800" b="1" dirty="0">
                <a:solidFill>
                  <a:srgbClr val="2B2560"/>
                </a:solidFill>
                <a:latin typeface="Arial" pitchFamily="34" charset="0"/>
                <a:ea typeface="Arial" pitchFamily="34" charset="-122"/>
                <a:cs typeface="Arial" pitchFamily="34" charset="-120"/>
              </a:rPr>
              <a:t>37.3%</a:t>
            </a:r>
            <a:endParaRPr lang="en-US" sz="2800" dirty="0"/>
          </a:p>
        </p:txBody>
      </p:sp>
      <p:sp>
        <p:nvSpPr>
          <p:cNvPr id="26" name="Text 23"/>
          <p:cNvSpPr txBox="1"/>
          <p:nvPr/>
        </p:nvSpPr>
        <p:spPr>
          <a:xfrm>
            <a:off x="9047988" y="5550408"/>
            <a:ext cx="2427732" cy="365760"/>
          </a:xfrm>
          <a:prstGeom prst="rect">
            <a:avLst/>
          </a:prstGeom>
          <a:noFill/>
          <a:ln/>
        </p:spPr>
        <p:txBody>
          <a:bodyPr wrap="square" lIns="0" tIns="0" rIns="0" bIns="0" rtlCol="0" anchor="t"/>
          <a:lstStyle/>
          <a:p>
            <a:pPr rtl="1" algn="r" indent="0" marL="0">
              <a:buNone/>
            </a:pPr>
            <a:r>
              <a:rPr lang="he-IL" altLang="en-US" sz="1200" dirty="0">
                <a:solidFill>
                  <a:srgbClr val="2E2A47"/>
                </a:solidFill>
                <a:latin typeface="Arial" pitchFamily="34" charset="0"/>
                <a:ea typeface="Arial" pitchFamily="34" charset="-122"/>
                <a:cs typeface="Arial" pitchFamily="34" charset="-120"/>
              </a:rPr>
              <a:t>קרובה מאוד ליעד היציבות (≤36%)</a:t>
            </a:r>
            <a:endParaRPr lang="he-IL" sz="1200" dirty="0"/>
          </a:p>
        </p:txBody>
      </p:sp>
      <p:sp>
        <p:nvSpPr>
          <p:cNvPr id="27" name="Shape 24"/>
          <p:cNvSpPr/>
          <p:nvPr/>
        </p:nvSpPr>
        <p:spPr>
          <a:xfrm>
            <a:off x="5943600" y="4581144"/>
            <a:ext cx="2756916" cy="1399032"/>
          </a:xfrm>
          <a:prstGeom prst="roundRect">
            <a:avLst>
              <a:gd name="adj" fmla="val 7843"/>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8" name="Text 25"/>
          <p:cNvSpPr txBox="1"/>
          <p:nvPr/>
        </p:nvSpPr>
        <p:spPr>
          <a:xfrm>
            <a:off x="6108192" y="4690872"/>
            <a:ext cx="2427732" cy="292608"/>
          </a:xfrm>
          <a:prstGeom prst="rect">
            <a:avLst/>
          </a:prstGeom>
          <a:noFill/>
          <a:ln/>
        </p:spPr>
        <p:txBody>
          <a:bodyPr wrap="square" lIns="0" tIns="0" rIns="0" bIns="0" rtlCol="0" anchor="t"/>
          <a:lstStyle/>
          <a:p>
            <a:pPr rtl="1" algn="r" indent="0" marL="0">
              <a:buNone/>
            </a:pPr>
            <a:r>
              <a:rPr lang="he-IL" altLang="en-US" sz="1250" b="1" dirty="0">
                <a:solidFill>
                  <a:srgbClr val="6B6785"/>
                </a:solidFill>
                <a:latin typeface="Arial" pitchFamily="34" charset="0"/>
                <a:ea typeface="Arial" pitchFamily="34" charset="-122"/>
                <a:cs typeface="Arial" pitchFamily="34" charset="-120"/>
              </a:rPr>
              <a:t>אירועי היפוגליקמיה (&lt;70 mg/dL)</a:t>
            </a:r>
            <a:endParaRPr lang="he-IL" sz="1250" dirty="0"/>
          </a:p>
        </p:txBody>
      </p:sp>
      <p:sp>
        <p:nvSpPr>
          <p:cNvPr id="29" name="Text 26"/>
          <p:cNvSpPr txBox="1"/>
          <p:nvPr/>
        </p:nvSpPr>
        <p:spPr>
          <a:xfrm>
            <a:off x="6108192" y="4992624"/>
            <a:ext cx="2427732" cy="530352"/>
          </a:xfrm>
          <a:prstGeom prst="rect">
            <a:avLst/>
          </a:prstGeom>
          <a:noFill/>
          <a:ln/>
        </p:spPr>
        <p:txBody>
          <a:bodyPr wrap="square" lIns="0" tIns="0" rIns="0" bIns="0" rtlCol="0" anchor="ctr"/>
          <a:lstStyle/>
          <a:p>
            <a:pPr algn="r" indent="0" marL="0">
              <a:buNone/>
            </a:pPr>
            <a:r>
              <a:rPr lang="en-US" altLang="en-US" sz="2800" b="1" dirty="0">
                <a:solidFill>
                  <a:srgbClr val="2B2560"/>
                </a:solidFill>
                <a:latin typeface="Arial" pitchFamily="34" charset="0"/>
                <a:ea typeface="Arial" pitchFamily="34" charset="-122"/>
                <a:cs typeface="Arial" pitchFamily="34" charset="-120"/>
              </a:rPr>
              <a:t>13%</a:t>
            </a:r>
            <a:endParaRPr lang="en-US" sz="2800" dirty="0"/>
          </a:p>
        </p:txBody>
      </p:sp>
      <p:sp>
        <p:nvSpPr>
          <p:cNvPr id="30" name="Text 27"/>
          <p:cNvSpPr txBox="1"/>
          <p:nvPr/>
        </p:nvSpPr>
        <p:spPr>
          <a:xfrm>
            <a:off x="6108192" y="5550408"/>
            <a:ext cx="2427732" cy="365760"/>
          </a:xfrm>
          <a:prstGeom prst="rect">
            <a:avLst/>
          </a:prstGeom>
          <a:noFill/>
          <a:ln/>
        </p:spPr>
        <p:txBody>
          <a:bodyPr wrap="square" lIns="0" tIns="0" rIns="0" bIns="0" rtlCol="0" anchor="t"/>
          <a:lstStyle/>
          <a:p>
            <a:pPr rtl="1" algn="r" indent="0" marL="0">
              <a:buNone/>
            </a:pPr>
            <a:r>
              <a:rPr lang="he-IL" altLang="en-US" sz="1200" dirty="0">
                <a:solidFill>
                  <a:srgbClr val="2E2A47"/>
                </a:solidFill>
                <a:latin typeface="Arial" pitchFamily="34" charset="0"/>
                <a:ea typeface="Arial" pitchFamily="34" charset="-122"/>
                <a:cs typeface="Arial" pitchFamily="34" charset="-120"/>
              </a:rPr>
              <a:t>אירועים קלים (54-69), 0% אירועים חמורים (&lt;54)</a:t>
            </a:r>
            <a:endParaRPr lang="he-IL" sz="12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4 • מעקב ספטמבר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100" b="1" dirty="0">
                <a:solidFill>
                  <a:srgbClr val="2B2560"/>
                </a:solidFill>
                <a:latin typeface="Arial" pitchFamily="34" charset="0"/>
                <a:ea typeface="Arial" pitchFamily="34" charset="-122"/>
                <a:cs typeface="Arial" pitchFamily="34" charset="-120"/>
              </a:rPr>
              <a:t>שלב 4: השוואת מדדי החיישן – לפני וויגובי לעומת תחת Wegovy 2.4mg</a:t>
            </a:r>
            <a:endParaRPr lang="he-IL" sz="2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840480"/>
                <a:gridCol w="3566160"/>
                <a:gridCol w="3687775"/>
              </a:tblGrid>
              <a:tr h="493776">
                <a:tc>
                  <a:txBody>
                    <a:bodyPr/>
                    <a:lstStyle/>
                    <a:p>
                      <a:pPr rtl="1" algn="ctr" indent="0" marL="0">
                        <a:buNone/>
                      </a:pPr>
                      <a:r>
                        <a:rPr lang="he-IL" altLang="en-US" sz="1500" b="1" dirty="0">
                          <a:solidFill>
                            <a:srgbClr val="FFFFFF"/>
                          </a:solidFill>
                          <a:latin typeface="Arial" pitchFamily="34" charset="0"/>
                          <a:ea typeface="Arial" pitchFamily="34" charset="-122"/>
                          <a:cs typeface="Arial" pitchFamily="34" charset="-120"/>
                        </a:rPr>
                        <a:t>תחת Wegovy 2.4mg (ספטמבר 2026)</a:t>
                      </a:r>
                      <a:endParaRPr lang="he-IL" sz="1500" dirty="0">
                        <a:latin typeface="Arial" charset="0"/>
                        <a:ea typeface="Arial" charset="0"/>
                        <a:cs typeface="Arial" charset="0"/>
                      </a:endParaRPr>
                    </a:p>
                  </a:txBody>
                  <a:tcPr marL="137160" marR="137160" marT="45720" marB="4572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c>
                  <a:txBody>
                    <a:bodyPr/>
                    <a:lstStyle/>
                    <a:p>
                      <a:pPr rtl="1" algn="ctr" indent="0" marL="0">
                        <a:buNone/>
                      </a:pPr>
                      <a:r>
                        <a:rPr lang="he-IL" altLang="en-US" sz="1500" b="1" dirty="0">
                          <a:solidFill>
                            <a:srgbClr val="FFFFFF"/>
                          </a:solidFill>
                          <a:latin typeface="Arial" pitchFamily="34" charset="0"/>
                          <a:ea typeface="Arial" pitchFamily="34" charset="-122"/>
                          <a:cs typeface="Arial" pitchFamily="34" charset="-120"/>
                        </a:rPr>
                        <a:t>לפני וויגובי (פברואר 2026)</a:t>
                      </a:r>
                      <a:endParaRPr lang="he-IL" sz="1500" dirty="0">
                        <a:latin typeface="Arial" charset="0"/>
                        <a:ea typeface="Arial" charset="0"/>
                        <a:cs typeface="Arial" charset="0"/>
                      </a:endParaRPr>
                    </a:p>
                  </a:txBody>
                  <a:tcPr marL="137160" marR="137160" marT="45720" marB="4572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c>
                  <a:txBody>
                    <a:bodyPr/>
                    <a:lstStyle/>
                    <a:p>
                      <a:pPr rtl="1" algn="r" indent="0" marL="0">
                        <a:buNone/>
                      </a:pPr>
                      <a:r>
                        <a:rPr lang="he-IL" altLang="en-US" sz="1500" b="1" dirty="0">
                          <a:solidFill>
                            <a:srgbClr val="FFFFFF"/>
                          </a:solidFill>
                          <a:latin typeface="Arial" pitchFamily="34" charset="0"/>
                          <a:ea typeface="Arial" pitchFamily="34" charset="-122"/>
                          <a:cs typeface="Arial" pitchFamily="34" charset="-120"/>
                        </a:rPr>
                        <a:t>מדד קליני ב-AGP</a:t>
                      </a:r>
                      <a:endParaRPr lang="he-IL" sz="1500" dirty="0">
                        <a:latin typeface="Arial" charset="0"/>
                        <a:ea typeface="Arial" charset="0"/>
                        <a:cs typeface="Arial" charset="0"/>
                      </a:endParaRPr>
                    </a:p>
                  </a:txBody>
                  <a:tcPr marL="137160" marR="137160" marT="45720" marB="4572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r>
              <a:tr h="493776">
                <a:tc>
                  <a:txBody>
                    <a:bodyP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79% (עבר את היעד!)</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rtl="1" algn="ctr" indent="0" marL="0">
                        <a:buNone/>
                      </a:pPr>
                      <a:r>
                        <a:rPr lang="he-IL" altLang="en-US" sz="1500" dirty="0">
                          <a:solidFill>
                            <a:srgbClr val="C24863"/>
                          </a:solidFill>
                          <a:latin typeface="Arial" pitchFamily="34" charset="0"/>
                          <a:ea typeface="Arial" pitchFamily="34" charset="-122"/>
                          <a:cs typeface="Arial" pitchFamily="34" charset="-120"/>
                        </a:rPr>
                        <a:t>30% בלבד</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rtl="1" algn="r" indent="0" marL="0">
                        <a:buNone/>
                      </a:pPr>
                      <a:r>
                        <a:rPr lang="he-IL" altLang="en-US" sz="1500" b="1" dirty="0">
                          <a:solidFill>
                            <a:srgbClr val="2B2560"/>
                          </a:solidFill>
                          <a:latin typeface="Arial" pitchFamily="34" charset="0"/>
                          <a:ea typeface="Arial" pitchFamily="34" charset="-122"/>
                          <a:cs typeface="Arial" pitchFamily="34" charset="-120"/>
                        </a:rPr>
                        <a:t>זמן בטווח היעד (TIR 70-180 mg/dL)</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r>
              <a:tr h="493776">
                <a:tc>
                  <a:txBody>
                    <a:bodyP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116 mg/dL (נחתך בחצי!)</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rtl="1" algn="ctr" indent="0" marL="0">
                        <a:buNone/>
                      </a:pPr>
                      <a:r>
                        <a:rPr lang="he-IL" altLang="en-US" sz="1500" dirty="0">
                          <a:solidFill>
                            <a:srgbClr val="C24863"/>
                          </a:solidFill>
                          <a:latin typeface="Arial" pitchFamily="34" charset="0"/>
                          <a:ea typeface="Arial" pitchFamily="34" charset="-122"/>
                          <a:cs typeface="Arial" pitchFamily="34" charset="-120"/>
                        </a:rPr>
                        <a:t>220 mg/dL</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rtl="1" algn="r" indent="0" marL="0">
                        <a:buNone/>
                      </a:pPr>
                      <a:r>
                        <a:rPr lang="he-IL" altLang="en-US" sz="1500" b="1" dirty="0">
                          <a:solidFill>
                            <a:srgbClr val="2B2560"/>
                          </a:solidFill>
                          <a:latin typeface="Arial" pitchFamily="34" charset="0"/>
                          <a:ea typeface="Arial" pitchFamily="34" charset="-122"/>
                          <a:cs typeface="Arial" pitchFamily="34" charset="-120"/>
                        </a:rPr>
                        <a:t>רמת גלוקוז ממוצעת</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r>
              <a:tr h="493776">
                <a:tc>
                  <a:txBody>
                    <a:bodyP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6.1%</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rtl="1" algn="ctr" indent="0" marL="0">
                        <a:buNone/>
                      </a:pPr>
                      <a:r>
                        <a:rPr lang="he-IL" altLang="en-US" sz="1500" dirty="0">
                          <a:solidFill>
                            <a:srgbClr val="C24863"/>
                          </a:solidFill>
                          <a:latin typeface="Arial" pitchFamily="34" charset="0"/>
                          <a:ea typeface="Arial" pitchFamily="34" charset="-122"/>
                          <a:cs typeface="Arial" pitchFamily="34" charset="-120"/>
                        </a:rPr>
                        <a:t>8.6%</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rtl="1" algn="r" indent="0" marL="0">
                        <a:buNone/>
                      </a:pPr>
                      <a:r>
                        <a:rPr lang="he-IL" altLang="en-US" sz="1500" b="1" dirty="0">
                          <a:solidFill>
                            <a:srgbClr val="2B2560"/>
                          </a:solidFill>
                          <a:latin typeface="Arial" pitchFamily="34" charset="0"/>
                          <a:ea typeface="Arial" pitchFamily="34" charset="-122"/>
                          <a:cs typeface="Arial" pitchFamily="34" charset="-120"/>
                        </a:rPr>
                        <a:t>מדד ניהול גלוקוז משוער (GMI)</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r>
              <a:tr h="493776">
                <a:tc>
                  <a:txBody>
                    <a:bodyP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8% בלבד (0% מעל 250!)</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rtl="1" algn="ctr" indent="0" marL="0">
                        <a:buNone/>
                      </a:pPr>
                      <a:r>
                        <a:rPr lang="he-IL" altLang="en-US" sz="1500" dirty="0">
                          <a:solidFill>
                            <a:srgbClr val="C24863"/>
                          </a:solidFill>
                          <a:latin typeface="Arial" pitchFamily="34" charset="0"/>
                          <a:ea typeface="Arial" pitchFamily="34" charset="-122"/>
                          <a:cs typeface="Arial" pitchFamily="34" charset="-120"/>
                        </a:rPr>
                        <a:t>70% (מתוכם 27% מעל 250!)</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rtl="1" algn="r" indent="0" marL="0">
                        <a:buNone/>
                      </a:pPr>
                      <a:r>
                        <a:rPr lang="he-IL" altLang="en-US" sz="1500" b="1" dirty="0">
                          <a:solidFill>
                            <a:srgbClr val="2B2560"/>
                          </a:solidFill>
                          <a:latin typeface="Arial" pitchFamily="34" charset="0"/>
                          <a:ea typeface="Arial" pitchFamily="34" charset="-122"/>
                          <a:cs typeface="Arial" pitchFamily="34" charset="-120"/>
                        </a:rPr>
                        <a:t>ערכים מעל הטווח (&gt;180 mg/dL)</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r>
              <a:tr h="493776">
                <a:tc>
                  <a:txBody>
                    <a:bodyP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37.3%</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rtl="1" algn="ctr" indent="0" marL="0">
                        <a:buNone/>
                      </a:pPr>
                      <a:r>
                        <a:rPr lang="he-IL" altLang="en-US" sz="1500" dirty="0">
                          <a:solidFill>
                            <a:srgbClr val="C24863"/>
                          </a:solidFill>
                          <a:latin typeface="Arial" pitchFamily="34" charset="0"/>
                          <a:ea typeface="Arial" pitchFamily="34" charset="-122"/>
                          <a:cs typeface="Arial" pitchFamily="34" charset="-120"/>
                        </a:rPr>
                        <a:t>32.1%</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rtl="1" algn="r" indent="0" marL="0">
                        <a:buNone/>
                      </a:pPr>
                      <a:r>
                        <a:rPr lang="he-IL" altLang="en-US" sz="1500" b="1" dirty="0">
                          <a:solidFill>
                            <a:srgbClr val="2B2560"/>
                          </a:solidFill>
                          <a:latin typeface="Arial" pitchFamily="34" charset="0"/>
                          <a:ea typeface="Arial" pitchFamily="34" charset="-122"/>
                          <a:cs typeface="Arial" pitchFamily="34" charset="-120"/>
                        </a:rPr>
                        <a:t>שונות גלוקוז (%CV)</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r>
              <a:tr h="493776">
                <a:tc>
                  <a:txBody>
                    <a:bodyP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85 ק"ג (BMI 32.0)</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rtl="1" algn="ctr" indent="0" marL="0">
                        <a:buNone/>
                      </a:pPr>
                      <a:r>
                        <a:rPr lang="he-IL" altLang="en-US" sz="1500" dirty="0">
                          <a:solidFill>
                            <a:srgbClr val="C24863"/>
                          </a:solidFill>
                          <a:latin typeface="Arial" pitchFamily="34" charset="0"/>
                          <a:ea typeface="Arial" pitchFamily="34" charset="-122"/>
                          <a:cs typeface="Arial" pitchFamily="34" charset="-120"/>
                        </a:rPr>
                        <a:t>96 ק"ג (BMI 36.1)</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rtl="1" algn="r" indent="0" marL="0">
                        <a:buNone/>
                      </a:pPr>
                      <a:r>
                        <a:rPr lang="he-IL" altLang="en-US" sz="1500" b="1" dirty="0">
                          <a:solidFill>
                            <a:srgbClr val="2B2560"/>
                          </a:solidFill>
                          <a:latin typeface="Arial" pitchFamily="34" charset="0"/>
                          <a:ea typeface="Arial" pitchFamily="34" charset="-122"/>
                          <a:cs typeface="Arial" pitchFamily="34" charset="-120"/>
                        </a:rPr>
                        <a:t>משקל המטופל ו-BMI</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r>
              <a:tr h="493776">
                <a:tc>
                  <a:txBody>
                    <a:bodyP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8 יחידות לארוחה</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rtl="1" algn="ctr" indent="0" marL="0">
                        <a:buNone/>
                      </a:pPr>
                      <a:r>
                        <a:rPr lang="he-IL" altLang="en-US" sz="1500" dirty="0">
                          <a:solidFill>
                            <a:srgbClr val="C24863"/>
                          </a:solidFill>
                          <a:latin typeface="Arial" pitchFamily="34" charset="0"/>
                          <a:ea typeface="Arial" pitchFamily="34" charset="-122"/>
                          <a:cs typeface="Arial" pitchFamily="34" charset="-120"/>
                        </a:rPr>
                        <a:t>12 יחידות לארוחה</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rtl="1" algn="r" indent="0" marL="0">
                        <a:buNone/>
                      </a:pPr>
                      <a:r>
                        <a:rPr lang="he-IL" altLang="en-US" sz="1500" b="1" dirty="0">
                          <a:solidFill>
                            <a:srgbClr val="2B2560"/>
                          </a:solidFill>
                          <a:latin typeface="Arial" pitchFamily="34" charset="0"/>
                          <a:ea typeface="Arial" pitchFamily="34" charset="-122"/>
                          <a:cs typeface="Arial" pitchFamily="34" charset="-120"/>
                        </a:rPr>
                        <a:t>מינון אינסולין בולוס (נובורפיד)</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r>
              <a:tr h="493776">
                <a:tc>
                  <a:txBody>
                    <a:bodyPr/>
                    <a:lstStyle/>
                    <a:p>
                      <a:pPr rtl="1" algn="ctr" indent="0" marL="0">
                        <a:buNone/>
                      </a:pPr>
                      <a:r>
                        <a:rPr lang="he-IL" altLang="en-US" sz="1500" b="1" dirty="0">
                          <a:solidFill>
                            <a:srgbClr val="1F8F83"/>
                          </a:solidFill>
                          <a:latin typeface="Arial" pitchFamily="34" charset="0"/>
                          <a:ea typeface="Arial" pitchFamily="34" charset="-122"/>
                          <a:cs typeface="Arial" pitchFamily="34" charset="-120"/>
                        </a:rPr>
                        <a:t>36 יחידות פעם ביום</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rtl="1" algn="ctr" indent="0" marL="0">
                        <a:buNone/>
                      </a:pPr>
                      <a:r>
                        <a:rPr lang="he-IL" altLang="en-US" sz="1500" dirty="0">
                          <a:solidFill>
                            <a:srgbClr val="C24863"/>
                          </a:solidFill>
                          <a:latin typeface="Arial" pitchFamily="34" charset="0"/>
                          <a:ea typeface="Arial" pitchFamily="34" charset="-122"/>
                          <a:cs typeface="Arial" pitchFamily="34" charset="-120"/>
                        </a:rPr>
                        <a:t>40 יחידות פעם ביום</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rtl="1" algn="r" indent="0" marL="0">
                        <a:buNone/>
                      </a:pPr>
                      <a:r>
                        <a:rPr lang="he-IL" altLang="en-US" sz="1500" b="1" dirty="0">
                          <a:solidFill>
                            <a:srgbClr val="2B2560"/>
                          </a:solidFill>
                          <a:latin typeface="Arial" pitchFamily="34" charset="0"/>
                          <a:ea typeface="Arial" pitchFamily="34" charset="-122"/>
                          <a:cs typeface="Arial" pitchFamily="34" charset="-120"/>
                        </a:rPr>
                        <a:t>מינון אינסולין בזאלי (טרגלודק)</a:t>
                      </a:r>
                      <a:endParaRPr lang="he-IL" sz="1500" dirty="0">
                        <a:latin typeface="Arial" charset="0"/>
                        <a:ea typeface="Arial" charset="0"/>
                        <a:cs typeface="Arial" charset="0"/>
                      </a:endParaRPr>
                    </a:p>
                  </a:txBody>
                  <a:tcPr marL="137160" marR="137160" marT="45720" marB="4572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sp>
      <p:sp>
        <p:nvSpPr>
          <p:cNvPr id="3" name="Shape 1"/>
          <p:cNvSpPr/>
          <p:nvPr/>
        </p:nvSpPr>
        <p:spPr>
          <a:xfrm rot="5400000">
            <a:off x="1300364" y="2377440"/>
            <a:ext cx="2428473" cy="2103120"/>
          </a:xfrm>
          <a:prstGeom prst="hexagon">
            <a:avLst/>
          </a:prstGeom>
          <a:ln w="25400">
            <a:solidFill>
              <a:srgbClr val="9CC4EE"/>
            </a:solidFill>
            <a:prstDash val="solid"/>
          </a:ln>
        </p:spPr>
      </p:sp>
      <p:sp>
        <p:nvSpPr>
          <p:cNvPr id="4" name="Text 2"/>
          <p:cNvSpPr txBox="1"/>
          <p:nvPr/>
        </p:nvSpPr>
        <p:spPr>
          <a:xfrm>
            <a:off x="1463040" y="2743200"/>
            <a:ext cx="2103120" cy="1371600"/>
          </a:xfrm>
          <a:prstGeom prst="rect">
            <a:avLst/>
          </a:prstGeom>
          <a:noFill/>
          <a:ln/>
        </p:spPr>
        <p:txBody>
          <a:bodyPr wrap="square" lIns="0" tIns="0" rIns="0" bIns="0" rtlCol="0" anchor="ctr"/>
          <a:lstStyle/>
          <a:p>
            <a:pPr algn="ctr" indent="0" marL="0">
              <a:buNone/>
            </a:pPr>
            <a:r>
              <a:rPr lang="en-US" altLang="en-US" sz="6000" b="1" dirty="0">
                <a:solidFill>
                  <a:srgbClr val="FFFFFF"/>
                </a:solidFill>
                <a:latin typeface="Arial" pitchFamily="34" charset="0"/>
                <a:ea typeface="Arial" pitchFamily="34" charset="-122"/>
                <a:cs typeface="Arial" pitchFamily="34" charset="-120"/>
              </a:rPr>
              <a:t>05</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rtl="1" algn="r" indent="0" marL="0">
              <a:buNone/>
            </a:pPr>
            <a:r>
              <a:rPr lang="he-IL" altLang="en-US" sz="2000" b="1" dirty="0">
                <a:solidFill>
                  <a:srgbClr val="9CC4EE"/>
                </a:solidFill>
                <a:latin typeface="Arial" pitchFamily="34" charset="0"/>
                <a:ea typeface="Arial" pitchFamily="34" charset="-122"/>
                <a:cs typeface="Arial" pitchFamily="34" charset="-120"/>
              </a:rPr>
              <a:t>שלב 5</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rtl="1" algn="r" indent="0" marL="0">
              <a:buNone/>
            </a:pPr>
            <a:r>
              <a:rPr lang="he-IL" altLang="en-US" sz="4000" b="1" dirty="0">
                <a:solidFill>
                  <a:srgbClr val="FFFFFF"/>
                </a:solidFill>
                <a:latin typeface="Arial" pitchFamily="34" charset="0"/>
                <a:ea typeface="Arial" pitchFamily="34" charset="-122"/>
                <a:cs typeface="Arial" pitchFamily="34" charset="-120"/>
              </a:rPr>
              <a:t>סיכום מקרה</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rtl="1" algn="r" indent="0" marL="0">
              <a:buNone/>
            </a:pPr>
            <a:r>
              <a:rPr lang="he-IL" altLang="en-US" sz="1800" dirty="0">
                <a:solidFill>
                  <a:srgbClr val="D6D0F0"/>
                </a:solidFill>
                <a:latin typeface="Arial" pitchFamily="34" charset="0"/>
                <a:ea typeface="Arial" pitchFamily="34" charset="-122"/>
                <a:cs typeface="Arial" pitchFamily="34" charset="-120"/>
              </a:rPr>
              <a:t>הטבה במשקל, בשינה ובפצע כף הרגל, הפחתת סיכון טרשתי ועקרונות לפרקטיקה</a:t>
            </a:r>
            <a:endParaRPr lang="he-IL" sz="1800" dirty="0"/>
          </a:p>
        </p:txBody>
      </p:sp>
      <p:pic>
        <p:nvPicPr>
          <p:cNvPr id="8" name="Image 0" descr="/tmp/claude-0/-home-claude/83ba285b-7ef1-5a4f-9afe-ea04c4b9d63d/scratchpad/assets/logo_white.png">    </p:cNvPr>
          <p:cNvPicPr>
            <a:picLocks noChangeAspect="1"/>
          </p:cNvPicPr>
          <p:nvPr/>
        </p:nvPicPr>
        <p:blipFill>
          <a:blip r:embed="rId1"/>
          <a:stretch>
            <a:fillRect/>
          </a:stretch>
        </p:blipFill>
        <p:spPr>
          <a:xfrm>
            <a:off x="10744200" y="5897880"/>
            <a:ext cx="896112" cy="73700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5 • סיכום מקרה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5: סיכום קליני של המקרה</a:t>
            </a:r>
            <a:endParaRPr lang="he-IL" sz="2600" dirty="0"/>
          </a:p>
        </p:txBody>
      </p:sp>
      <p:sp>
        <p:nvSpPr>
          <p:cNvPr id="5" name="Shape 3"/>
          <p:cNvSpPr/>
          <p:nvPr/>
        </p:nvSpPr>
        <p:spPr>
          <a:xfrm>
            <a:off x="548640" y="1481328"/>
            <a:ext cx="11094415" cy="2240280"/>
          </a:xfrm>
          <a:prstGeom prst="roundRect">
            <a:avLst>
              <a:gd name="adj" fmla="val 4898"/>
            </a:avLst>
          </a:prstGeom>
          <a:solidFill>
            <a:srgbClr val="F3F0FA"/>
          </a:solidFill>
          <a:ln/>
        </p:spPr>
      </p:sp>
      <p:sp>
        <p:nvSpPr>
          <p:cNvPr id="6" name="Shape 4"/>
          <p:cNvSpPr/>
          <p:nvPr/>
        </p:nvSpPr>
        <p:spPr>
          <a:xfrm rot="5400000">
            <a:off x="10672072" y="2235708"/>
            <a:ext cx="844686" cy="731520"/>
          </a:xfrm>
          <a:prstGeom prst="hexagon">
            <a:avLst/>
          </a:prstGeom>
          <a:solidFill>
            <a:srgbClr val="6E4494"/>
          </a:solidFill>
          <a:ln/>
        </p:spPr>
      </p:sp>
      <p:pic>
        <p:nvPicPr>
          <p:cNvPr id="7" name="Image 0" descr="preencoded.png">    </p:cNvPr>
          <p:cNvPicPr>
            <a:picLocks noChangeAspect="1"/>
          </p:cNvPicPr>
          <p:nvPr/>
        </p:nvPicPr>
        <p:blipFill>
          <a:blip r:embed="rId1"/>
          <a:stretch>
            <a:fillRect/>
          </a:stretch>
        </p:blipFill>
        <p:spPr>
          <a:xfrm>
            <a:off x="10926166" y="2433218"/>
            <a:ext cx="336499" cy="336499"/>
          </a:xfrm>
          <a:prstGeom prst="rect">
            <a:avLst/>
          </a:prstGeom>
        </p:spPr>
      </p:pic>
      <p:sp>
        <p:nvSpPr>
          <p:cNvPr id="8" name="Text 5"/>
          <p:cNvSpPr txBox="1"/>
          <p:nvPr/>
        </p:nvSpPr>
        <p:spPr>
          <a:xfrm>
            <a:off x="822960" y="1572768"/>
            <a:ext cx="9585655" cy="2057400"/>
          </a:xfrm>
          <a:prstGeom prst="rect">
            <a:avLst/>
          </a:prstGeom>
          <a:noFill/>
          <a:ln/>
        </p:spPr>
        <p:txBody>
          <a:bodyPr wrap="square" lIns="0" tIns="0" rIns="0" bIns="0" rtlCol="0" anchor="ctr"/>
          <a:lstStyle/>
          <a:p>
            <a:pPr rtl="1" algn="r" indent="0" marL="0">
              <a:spcAft>
                <a:spcPts val="500"/>
              </a:spcAft>
              <a:buNone/>
            </a:pPr>
            <a:r>
              <a:rPr lang="he-IL" altLang="en-US" sz="1700" b="1" dirty="0">
                <a:solidFill>
                  <a:srgbClr val="6E4494"/>
                </a:solidFill>
                <a:latin typeface="Arial" pitchFamily="34" charset="0"/>
                <a:ea typeface="Arial" pitchFamily="34" charset="-122"/>
                <a:cs typeface="Arial" pitchFamily="34" charset="-120"/>
              </a:rPr>
              <a:t>סיכום המקרה המרפאי:</a:t>
            </a:r>
            <a:endParaRPr lang="he-IL" sz="1400" dirty="0"/>
          </a:p>
          <a:p>
            <a:pPr rtl="1" algn="r" indent="0" marL="0">
              <a:spcAft>
                <a:spcPts val="500"/>
              </a:spcAft>
              <a:buNone/>
            </a:pPr>
            <a:r>
              <a:rPr lang="he-IL" altLang="en-US" sz="1550" dirty="0">
                <a:solidFill>
                  <a:srgbClr val="2E2A47"/>
                </a:solidFill>
                <a:latin typeface="Arial" pitchFamily="34" charset="0"/>
                <a:ea typeface="Arial" pitchFamily="34" charset="-122"/>
                <a:cs typeface="Arial" pitchFamily="34" charset="-120"/>
              </a:rPr>
              <a:t>המטופל סבל מהשמנה וריבוי של סיבוכי השמנה וסוכרת, ביניהם כבד שומני, דום נשימה בשינה, ומחלות טרשתיות כמו CVA ו-IHD. בעקבות התחלת הטיפול בהשמנה באמצעות וויגובי (Wegovy), המטופל ירד במשקל, מדווח על שינה טובה יותר, הסוכרת התאזנה משמעותית תוך הורדה במינוני האינסולין, נרשם שיפור בפצע שהתפתח בכף הרגל, והסיכון למחלות טרשתיות הופחת באופן משמעותי.</a:t>
            </a:r>
            <a:endParaRPr lang="he-IL" sz="1400" dirty="0"/>
          </a:p>
        </p:txBody>
      </p:sp>
      <p:sp>
        <p:nvSpPr>
          <p:cNvPr id="9" name="Shape 6"/>
          <p:cNvSpPr/>
          <p:nvPr/>
        </p:nvSpPr>
        <p:spPr>
          <a:xfrm>
            <a:off x="9040901" y="3931920"/>
            <a:ext cx="2602154" cy="2121408"/>
          </a:xfrm>
          <a:prstGeom prst="roundRect">
            <a:avLst>
              <a:gd name="adj" fmla="val 517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0" name="Shape 7"/>
          <p:cNvSpPr/>
          <p:nvPr/>
        </p:nvSpPr>
        <p:spPr>
          <a:xfrm rot="5400000">
            <a:off x="9734860" y="4046220"/>
            <a:ext cx="1214236" cy="1051560"/>
          </a:xfrm>
          <a:prstGeom prst="hexagon">
            <a:avLst/>
          </a:prstGeom>
          <a:solidFill>
            <a:srgbClr val="5280C8"/>
          </a:solidFill>
          <a:ln/>
        </p:spPr>
      </p:sp>
      <p:sp>
        <p:nvSpPr>
          <p:cNvPr id="11" name="Text 8"/>
          <p:cNvSpPr txBox="1"/>
          <p:nvPr/>
        </p:nvSpPr>
        <p:spPr>
          <a:xfrm>
            <a:off x="9747618" y="4046220"/>
            <a:ext cx="1188720" cy="1051560"/>
          </a:xfrm>
          <a:prstGeom prst="rect">
            <a:avLst/>
          </a:prstGeom>
          <a:noFill/>
          <a:ln/>
        </p:spPr>
        <p:txBody>
          <a:bodyPr wrap="square" lIns="0" tIns="0" rIns="0" bIns="0" rtlCol="0" anchor="ctr"/>
          <a:lstStyle/>
          <a:p>
            <a:pPr algn="ctr" indent="0" marL="0">
              <a:buNone/>
            </a:pPr>
            <a:r>
              <a:rPr lang="en-US" altLang="en-US" sz="2100" b="1" dirty="0">
                <a:solidFill>
                  <a:srgbClr val="FFFFFF"/>
                </a:solidFill>
                <a:latin typeface="Arial" pitchFamily="34" charset="0"/>
                <a:ea typeface="Arial" pitchFamily="34" charset="-122"/>
                <a:cs typeface="Arial" pitchFamily="34" charset="-120"/>
              </a:rPr>
              <a:t>79%</a:t>
            </a:r>
            <a:endParaRPr lang="en-US" sz="2100" dirty="0"/>
          </a:p>
        </p:txBody>
      </p:sp>
      <p:sp>
        <p:nvSpPr>
          <p:cNvPr id="12" name="Text 9"/>
          <p:cNvSpPr txBox="1"/>
          <p:nvPr/>
        </p:nvSpPr>
        <p:spPr>
          <a:xfrm>
            <a:off x="9178061" y="5193792"/>
            <a:ext cx="2327834" cy="292608"/>
          </a:xfrm>
          <a:prstGeom prst="rect">
            <a:avLst/>
          </a:prstGeom>
          <a:noFill/>
          <a:ln/>
        </p:spPr>
        <p:txBody>
          <a:bodyPr wrap="square" lIns="0" tIns="0" rIns="0" bIns="0" rtlCol="0" anchor="t"/>
          <a:lstStyle/>
          <a:p>
            <a:pPr rtl="1" algn="ctr" indent="0" marL="0">
              <a:buNone/>
            </a:pPr>
            <a:r>
              <a:rPr lang="he-IL" altLang="en-US" sz="1400" b="1" dirty="0">
                <a:solidFill>
                  <a:srgbClr val="2B2560"/>
                </a:solidFill>
                <a:latin typeface="Arial" pitchFamily="34" charset="0"/>
                <a:ea typeface="Arial" pitchFamily="34" charset="-122"/>
                <a:cs typeface="Arial" pitchFamily="34" charset="-120"/>
              </a:rPr>
              <a:t>זמן בטווח היעד (TIR)</a:t>
            </a:r>
            <a:endParaRPr lang="he-IL" sz="1400" dirty="0"/>
          </a:p>
        </p:txBody>
      </p:sp>
      <p:sp>
        <p:nvSpPr>
          <p:cNvPr id="13" name="Text 10"/>
          <p:cNvSpPr txBox="1"/>
          <p:nvPr/>
        </p:nvSpPr>
        <p:spPr>
          <a:xfrm>
            <a:off x="9178061" y="5504688"/>
            <a:ext cx="2327834" cy="292608"/>
          </a:xfrm>
          <a:prstGeom prst="rect">
            <a:avLst/>
          </a:prstGeom>
          <a:noFill/>
          <a:ln/>
        </p:spPr>
        <p:txBody>
          <a:bodyPr wrap="square" lIns="0" tIns="0" rIns="0" bIns="0" rtlCol="0" anchor="t"/>
          <a:lstStyle/>
          <a:p>
            <a:pPr rtl="1" algn="ctr" indent="0" marL="0">
              <a:buNone/>
            </a:pPr>
            <a:r>
              <a:rPr lang="he-IL" altLang="en-US" sz="1300" b="1" dirty="0">
                <a:solidFill>
                  <a:srgbClr val="1F8F83"/>
                </a:solidFill>
                <a:latin typeface="Arial" pitchFamily="34" charset="0"/>
                <a:ea typeface="Arial" pitchFamily="34" charset="-122"/>
                <a:cs typeface="Arial" pitchFamily="34" charset="-120"/>
              </a:rPr>
              <a:t>זינוק מ-30% ל-79%!</a:t>
            </a:r>
            <a:endParaRPr lang="he-IL" sz="1300" dirty="0"/>
          </a:p>
        </p:txBody>
      </p:sp>
      <p:sp>
        <p:nvSpPr>
          <p:cNvPr id="14" name="Shape 11"/>
          <p:cNvSpPr/>
          <p:nvPr/>
        </p:nvSpPr>
        <p:spPr>
          <a:xfrm>
            <a:off x="6210148" y="3931920"/>
            <a:ext cx="2602154" cy="2121408"/>
          </a:xfrm>
          <a:prstGeom prst="roundRect">
            <a:avLst>
              <a:gd name="adj" fmla="val 517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5" name="Shape 12"/>
          <p:cNvSpPr/>
          <p:nvPr/>
        </p:nvSpPr>
        <p:spPr>
          <a:xfrm rot="5400000">
            <a:off x="6904106" y="4046220"/>
            <a:ext cx="1214236" cy="1051560"/>
          </a:xfrm>
          <a:prstGeom prst="hexagon">
            <a:avLst/>
          </a:prstGeom>
          <a:solidFill>
            <a:srgbClr val="5B6BB5"/>
          </a:solidFill>
          <a:ln/>
        </p:spPr>
      </p:sp>
      <p:sp>
        <p:nvSpPr>
          <p:cNvPr id="16" name="Text 13"/>
          <p:cNvSpPr txBox="1"/>
          <p:nvPr/>
        </p:nvSpPr>
        <p:spPr>
          <a:xfrm>
            <a:off x="6916864" y="4046220"/>
            <a:ext cx="1188720" cy="1051560"/>
          </a:xfrm>
          <a:prstGeom prst="rect">
            <a:avLst/>
          </a:prstGeom>
          <a:noFill/>
          <a:ln/>
        </p:spPr>
        <p:txBody>
          <a:bodyPr wrap="square" lIns="0" tIns="0" rIns="0" bIns="0" rtlCol="0" anchor="ctr"/>
          <a:lstStyle/>
          <a:p>
            <a:pPr algn="ctr" indent="0" marL="0">
              <a:buNone/>
            </a:pPr>
            <a:r>
              <a:rPr lang="en-US" altLang="en-US" sz="2100" b="1" dirty="0">
                <a:solidFill>
                  <a:srgbClr val="FFFFFF"/>
                </a:solidFill>
                <a:latin typeface="Arial" pitchFamily="34" charset="0"/>
                <a:ea typeface="Arial" pitchFamily="34" charset="-122"/>
                <a:cs typeface="Arial" pitchFamily="34" charset="-120"/>
              </a:rPr>
              <a:t>6.1%</a:t>
            </a:r>
            <a:endParaRPr lang="en-US" sz="2100" dirty="0"/>
          </a:p>
        </p:txBody>
      </p:sp>
      <p:sp>
        <p:nvSpPr>
          <p:cNvPr id="17" name="Text 14"/>
          <p:cNvSpPr txBox="1"/>
          <p:nvPr/>
        </p:nvSpPr>
        <p:spPr>
          <a:xfrm>
            <a:off x="6347308" y="5193792"/>
            <a:ext cx="2327834" cy="292608"/>
          </a:xfrm>
          <a:prstGeom prst="rect">
            <a:avLst/>
          </a:prstGeom>
          <a:noFill/>
          <a:ln/>
        </p:spPr>
        <p:txBody>
          <a:bodyPr wrap="square" lIns="0" tIns="0" rIns="0" bIns="0" rtlCol="0" anchor="t"/>
          <a:lstStyle/>
          <a:p>
            <a:pPr rtl="1" algn="ctr" indent="0" marL="0">
              <a:buNone/>
            </a:pPr>
            <a:r>
              <a:rPr lang="he-IL" altLang="en-US" sz="1400" b="1" dirty="0">
                <a:solidFill>
                  <a:srgbClr val="2B2560"/>
                </a:solidFill>
                <a:latin typeface="Arial" pitchFamily="34" charset="0"/>
                <a:ea typeface="Arial" pitchFamily="34" charset="-122"/>
                <a:cs typeface="Arial" pitchFamily="34" charset="-120"/>
              </a:rPr>
              <a:t>אינדיקטור גליקמי (GMI)</a:t>
            </a:r>
            <a:endParaRPr lang="he-IL" sz="1400" dirty="0"/>
          </a:p>
        </p:txBody>
      </p:sp>
      <p:sp>
        <p:nvSpPr>
          <p:cNvPr id="18" name="Text 15"/>
          <p:cNvSpPr txBox="1"/>
          <p:nvPr/>
        </p:nvSpPr>
        <p:spPr>
          <a:xfrm>
            <a:off x="6347308" y="5504688"/>
            <a:ext cx="2327834" cy="292608"/>
          </a:xfrm>
          <a:prstGeom prst="rect">
            <a:avLst/>
          </a:prstGeom>
          <a:noFill/>
          <a:ln/>
        </p:spPr>
        <p:txBody>
          <a:bodyPr wrap="square" lIns="0" tIns="0" rIns="0" bIns="0" rtlCol="0" anchor="t"/>
          <a:lstStyle/>
          <a:p>
            <a:pPr rtl="1" algn="ctr" indent="0" marL="0">
              <a:buNone/>
            </a:pPr>
            <a:r>
              <a:rPr lang="he-IL" altLang="en-US" sz="1300" b="1" dirty="0">
                <a:solidFill>
                  <a:srgbClr val="1F8F83"/>
                </a:solidFill>
                <a:latin typeface="Arial" pitchFamily="34" charset="0"/>
                <a:ea typeface="Arial" pitchFamily="34" charset="-122"/>
                <a:cs typeface="Arial" pitchFamily="34" charset="-120"/>
              </a:rPr>
              <a:t>סוכר ממוצע 116 mg/dL</a:t>
            </a:r>
            <a:endParaRPr lang="he-IL" sz="1300" dirty="0"/>
          </a:p>
        </p:txBody>
      </p:sp>
      <p:sp>
        <p:nvSpPr>
          <p:cNvPr id="19" name="Shape 16"/>
          <p:cNvSpPr/>
          <p:nvPr/>
        </p:nvSpPr>
        <p:spPr>
          <a:xfrm>
            <a:off x="3379394" y="3931920"/>
            <a:ext cx="2602154" cy="2121408"/>
          </a:xfrm>
          <a:prstGeom prst="roundRect">
            <a:avLst>
              <a:gd name="adj" fmla="val 517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0" name="Shape 17"/>
          <p:cNvSpPr/>
          <p:nvPr/>
        </p:nvSpPr>
        <p:spPr>
          <a:xfrm rot="5400000">
            <a:off x="4073353" y="4046220"/>
            <a:ext cx="1214236" cy="1051560"/>
          </a:xfrm>
          <a:prstGeom prst="hexagon">
            <a:avLst/>
          </a:prstGeom>
          <a:solidFill>
            <a:srgbClr val="6658A6"/>
          </a:solidFill>
          <a:ln/>
        </p:spPr>
      </p:sp>
      <p:sp>
        <p:nvSpPr>
          <p:cNvPr id="21" name="Text 18"/>
          <p:cNvSpPr txBox="1"/>
          <p:nvPr/>
        </p:nvSpPr>
        <p:spPr>
          <a:xfrm>
            <a:off x="4086111" y="4046220"/>
            <a:ext cx="1188720" cy="1051560"/>
          </a:xfrm>
          <a:prstGeom prst="rect">
            <a:avLst/>
          </a:prstGeom>
          <a:noFill/>
          <a:ln/>
        </p:spPr>
        <p:txBody>
          <a:bodyPr wrap="square" lIns="0" tIns="0" rIns="0" bIns="0" rtlCol="0" anchor="ctr"/>
          <a:lstStyle/>
          <a:p>
            <a:pPr rtl="1" algn="ctr" indent="0" marL="0">
              <a:buNone/>
            </a:pPr>
            <a:r>
              <a:rPr lang="he-IL" altLang="en-US" sz="2100" b="1" dirty="0">
                <a:solidFill>
                  <a:srgbClr val="FFFFFF"/>
                </a:solidFill>
                <a:latin typeface="Arial" pitchFamily="34" charset="0"/>
                <a:ea typeface="Arial" pitchFamily="34" charset="-122"/>
                <a:cs typeface="Arial" pitchFamily="34" charset="-120"/>
              </a:rPr>
              <a:t>85 ק"ג</a:t>
            </a:r>
            <a:endParaRPr lang="he-IL" sz="2100" dirty="0"/>
          </a:p>
        </p:txBody>
      </p:sp>
      <p:sp>
        <p:nvSpPr>
          <p:cNvPr id="22" name="Text 19"/>
          <p:cNvSpPr txBox="1"/>
          <p:nvPr/>
        </p:nvSpPr>
        <p:spPr>
          <a:xfrm>
            <a:off x="3516554" y="5193792"/>
            <a:ext cx="2327834" cy="292608"/>
          </a:xfrm>
          <a:prstGeom prst="rect">
            <a:avLst/>
          </a:prstGeom>
          <a:noFill/>
          <a:ln/>
        </p:spPr>
        <p:txBody>
          <a:bodyPr wrap="square" lIns="0" tIns="0" rIns="0" bIns="0" rtlCol="0" anchor="t"/>
          <a:lstStyle/>
          <a:p>
            <a:pPr rtl="1" algn="ctr" indent="0" marL="0">
              <a:buNone/>
            </a:pPr>
            <a:r>
              <a:rPr lang="he-IL" altLang="en-US" sz="1400" b="1" dirty="0">
                <a:solidFill>
                  <a:srgbClr val="2B2560"/>
                </a:solidFill>
                <a:latin typeface="Arial" pitchFamily="34" charset="0"/>
                <a:ea typeface="Arial" pitchFamily="34" charset="-122"/>
                <a:cs typeface="Arial" pitchFamily="34" charset="-120"/>
              </a:rPr>
              <a:t>ירידה במשקל המטופל</a:t>
            </a:r>
            <a:endParaRPr lang="he-IL" sz="1400" dirty="0"/>
          </a:p>
        </p:txBody>
      </p:sp>
      <p:sp>
        <p:nvSpPr>
          <p:cNvPr id="23" name="Text 20"/>
          <p:cNvSpPr txBox="1"/>
          <p:nvPr/>
        </p:nvSpPr>
        <p:spPr>
          <a:xfrm>
            <a:off x="3516554" y="5504688"/>
            <a:ext cx="2327834" cy="292608"/>
          </a:xfrm>
          <a:prstGeom prst="rect">
            <a:avLst/>
          </a:prstGeom>
          <a:noFill/>
          <a:ln/>
        </p:spPr>
        <p:txBody>
          <a:bodyPr wrap="square" lIns="0" tIns="0" rIns="0" bIns="0" rtlCol="0" anchor="t"/>
          <a:lstStyle/>
          <a:p>
            <a:pPr rtl="1" algn="ctr" indent="0" marL="0">
              <a:buNone/>
            </a:pPr>
            <a:r>
              <a:rPr lang="he-IL" altLang="en-US" sz="1300" b="1" dirty="0">
                <a:solidFill>
                  <a:srgbClr val="1F8F83"/>
                </a:solidFill>
                <a:latin typeface="Arial" pitchFamily="34" charset="0"/>
                <a:ea typeface="Arial" pitchFamily="34" charset="-122"/>
                <a:cs typeface="Arial" pitchFamily="34" charset="-120"/>
              </a:rPr>
              <a:t>הפחתה של 11 ק"ג</a:t>
            </a:r>
            <a:endParaRPr lang="he-IL" sz="1300" dirty="0"/>
          </a:p>
        </p:txBody>
      </p:sp>
      <p:sp>
        <p:nvSpPr>
          <p:cNvPr id="24" name="Shape 21"/>
          <p:cNvSpPr/>
          <p:nvPr/>
        </p:nvSpPr>
        <p:spPr>
          <a:xfrm>
            <a:off x="548640" y="3931920"/>
            <a:ext cx="2602154" cy="2121408"/>
          </a:xfrm>
          <a:prstGeom prst="roundRect">
            <a:avLst>
              <a:gd name="adj" fmla="val 5172"/>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5" name="Shape 22"/>
          <p:cNvSpPr/>
          <p:nvPr/>
        </p:nvSpPr>
        <p:spPr>
          <a:xfrm rot="5400000">
            <a:off x="1242599" y="4046220"/>
            <a:ext cx="1214236" cy="1051560"/>
          </a:xfrm>
          <a:prstGeom prst="hexagon">
            <a:avLst/>
          </a:prstGeom>
          <a:solidFill>
            <a:srgbClr val="6E4494"/>
          </a:solidFill>
          <a:ln/>
        </p:spPr>
      </p:sp>
      <p:sp>
        <p:nvSpPr>
          <p:cNvPr id="26" name="Text 23"/>
          <p:cNvSpPr txBox="1"/>
          <p:nvPr/>
        </p:nvSpPr>
        <p:spPr>
          <a:xfrm>
            <a:off x="1255357" y="4046220"/>
            <a:ext cx="1188720" cy="1051560"/>
          </a:xfrm>
          <a:prstGeom prst="rect">
            <a:avLst/>
          </a:prstGeom>
          <a:noFill/>
          <a:ln/>
        </p:spPr>
        <p:txBody>
          <a:bodyPr wrap="square" lIns="0" tIns="0" rIns="0" bIns="0" rtlCol="0" anchor="ctr"/>
          <a:lstStyle/>
          <a:p>
            <a:pPr algn="ctr" indent="0" marL="0">
              <a:buNone/>
            </a:pPr>
            <a:r>
              <a:rPr lang="en-US" altLang="en-US" sz="2100" b="1" dirty="0">
                <a:solidFill>
                  <a:srgbClr val="FFFFFF"/>
                </a:solidFill>
                <a:latin typeface="Arial" pitchFamily="34" charset="0"/>
                <a:ea typeface="Arial" pitchFamily="34" charset="-122"/>
                <a:cs typeface="Arial" pitchFamily="34" charset="-120"/>
              </a:rPr>
              <a:t>36u</a:t>
            </a:r>
            <a:endParaRPr lang="en-US" sz="2100" dirty="0"/>
          </a:p>
        </p:txBody>
      </p:sp>
      <p:sp>
        <p:nvSpPr>
          <p:cNvPr id="27" name="Text 24"/>
          <p:cNvSpPr txBox="1"/>
          <p:nvPr/>
        </p:nvSpPr>
        <p:spPr>
          <a:xfrm>
            <a:off x="685800" y="5193792"/>
            <a:ext cx="2327834" cy="292608"/>
          </a:xfrm>
          <a:prstGeom prst="rect">
            <a:avLst/>
          </a:prstGeom>
          <a:noFill/>
          <a:ln/>
        </p:spPr>
        <p:txBody>
          <a:bodyPr wrap="square" lIns="0" tIns="0" rIns="0" bIns="0" rtlCol="0" anchor="t"/>
          <a:lstStyle/>
          <a:p>
            <a:pPr rtl="1" algn="ctr" indent="0" marL="0">
              <a:buNone/>
            </a:pPr>
            <a:r>
              <a:rPr lang="he-IL" altLang="en-US" sz="1400" b="1" dirty="0">
                <a:solidFill>
                  <a:srgbClr val="2B2560"/>
                </a:solidFill>
                <a:latin typeface="Arial" pitchFamily="34" charset="0"/>
                <a:ea typeface="Arial" pitchFamily="34" charset="-122"/>
                <a:cs typeface="Arial" pitchFamily="34" charset="-120"/>
              </a:rPr>
              <a:t>אינסולין בזאלי מותאם</a:t>
            </a:r>
            <a:endParaRPr lang="he-IL" sz="1400" dirty="0"/>
          </a:p>
        </p:txBody>
      </p:sp>
      <p:sp>
        <p:nvSpPr>
          <p:cNvPr id="28" name="Text 25"/>
          <p:cNvSpPr txBox="1"/>
          <p:nvPr/>
        </p:nvSpPr>
        <p:spPr>
          <a:xfrm>
            <a:off x="685800" y="5504688"/>
            <a:ext cx="2327834" cy="292608"/>
          </a:xfrm>
          <a:prstGeom prst="rect">
            <a:avLst/>
          </a:prstGeom>
          <a:noFill/>
          <a:ln/>
        </p:spPr>
        <p:txBody>
          <a:bodyPr wrap="square" lIns="0" tIns="0" rIns="0" bIns="0" rtlCol="0" anchor="t"/>
          <a:lstStyle/>
          <a:p>
            <a:pPr rtl="1" algn="ctr" indent="0" marL="0">
              <a:buNone/>
            </a:pPr>
            <a:r>
              <a:rPr lang="he-IL" altLang="en-US" sz="1300" b="1" dirty="0">
                <a:solidFill>
                  <a:srgbClr val="1F8F83"/>
                </a:solidFill>
                <a:latin typeface="Arial" pitchFamily="34" charset="0"/>
                <a:ea typeface="Arial" pitchFamily="34" charset="-122"/>
                <a:cs typeface="Arial" pitchFamily="34" charset="-120"/>
              </a:rPr>
              <a:t>טרגלודק ליום</a:t>
            </a:r>
            <a:endParaRPr lang="he-IL" sz="13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5 • עקרונות לפרקטיקה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5: ארבעת העקרונות המנחים לפרקטיקה הרפואית</a:t>
            </a:r>
            <a:endParaRPr lang="he-IL" sz="2600" dirty="0"/>
          </a:p>
        </p:txBody>
      </p:sp>
      <p:sp>
        <p:nvSpPr>
          <p:cNvPr id="5" name="Shape 3"/>
          <p:cNvSpPr/>
          <p:nvPr/>
        </p:nvSpPr>
        <p:spPr>
          <a:xfrm>
            <a:off x="6233008" y="1508760"/>
            <a:ext cx="5410048" cy="2194560"/>
          </a:xfrm>
          <a:prstGeom prst="roundRect">
            <a:avLst>
              <a:gd name="adj" fmla="val 50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6" name="Shape 4"/>
          <p:cNvSpPr/>
          <p:nvPr/>
        </p:nvSpPr>
        <p:spPr>
          <a:xfrm rot="5400000">
            <a:off x="10627388" y="1714500"/>
            <a:ext cx="897479" cy="777240"/>
          </a:xfrm>
          <a:prstGeom prst="hexagon">
            <a:avLst/>
          </a:prstGeom>
          <a:solidFill>
            <a:srgbClr val="5280C8"/>
          </a:solidFill>
          <a:ln/>
        </p:spPr>
      </p:sp>
      <p:sp>
        <p:nvSpPr>
          <p:cNvPr id="7" name="Text 5"/>
          <p:cNvSpPr txBox="1"/>
          <p:nvPr/>
        </p:nvSpPr>
        <p:spPr>
          <a:xfrm>
            <a:off x="10687507" y="1714500"/>
            <a:ext cx="777240" cy="77724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8" name="Text 6"/>
          <p:cNvSpPr txBox="1"/>
          <p:nvPr/>
        </p:nvSpPr>
        <p:spPr>
          <a:xfrm>
            <a:off x="6507328" y="1783080"/>
            <a:ext cx="3947008" cy="640080"/>
          </a:xfrm>
          <a:prstGeom prst="rect">
            <a:avLst/>
          </a:prstGeom>
          <a:noFill/>
          <a:ln/>
        </p:spPr>
        <p:txBody>
          <a:bodyPr wrap="square" lIns="0" tIns="0" rIns="0" bIns="0" rtlCol="0" anchor="ctr"/>
          <a:lstStyle/>
          <a:p>
            <a:pPr rtl="1" algn="r" indent="0" marL="0">
              <a:buNone/>
            </a:pPr>
            <a:r>
              <a:rPr lang="he-IL" altLang="en-US" sz="1800" b="1" dirty="0">
                <a:solidFill>
                  <a:srgbClr val="2B2560"/>
                </a:solidFill>
                <a:latin typeface="Arial" pitchFamily="34" charset="0"/>
                <a:ea typeface="Arial" pitchFamily="34" charset="-122"/>
                <a:cs typeface="Arial" pitchFamily="34" charset="-120"/>
              </a:rPr>
              <a:t>מעקב אורח חיים ותזונה</a:t>
            </a:r>
            <a:endParaRPr lang="he-IL" sz="1800" dirty="0"/>
          </a:p>
        </p:txBody>
      </p:sp>
      <p:sp>
        <p:nvSpPr>
          <p:cNvPr id="9" name="Text 7"/>
          <p:cNvSpPr txBox="1"/>
          <p:nvPr/>
        </p:nvSpPr>
        <p:spPr>
          <a:xfrm>
            <a:off x="6507328" y="2514600"/>
            <a:ext cx="3947008" cy="1097280"/>
          </a:xfrm>
          <a:prstGeom prst="rect">
            <a:avLst/>
          </a:prstGeom>
          <a:noFill/>
          <a:ln/>
        </p:spPr>
        <p:txBody>
          <a:bodyPr wrap="square" lIns="0" tIns="0" rIns="0" bIns="0" rtlCol="0" anchor="t"/>
          <a:lstStyle/>
          <a:p>
            <a:pPr rtl="1" algn="r" indent="0" marL="0">
              <a:buNone/>
            </a:pPr>
            <a:r>
              <a:rPr lang="he-IL" altLang="en-US" sz="1450" dirty="0">
                <a:solidFill>
                  <a:srgbClr val="2E2A47"/>
                </a:solidFill>
                <a:latin typeface="Arial" pitchFamily="34" charset="0"/>
                <a:ea typeface="Arial" pitchFamily="34" charset="-122"/>
                <a:cs typeface="Arial" pitchFamily="34" charset="-120"/>
              </a:rPr>
              <a:t>המטופל נמצא במעקב רציף של דיאטנית קלינית ומבצע, גם אם בצורה מוגבלת, פעילות גופנית סדירה המותאמת למצבו הבריאותי.</a:t>
            </a:r>
            <a:endParaRPr lang="he-IL" sz="1450" dirty="0"/>
          </a:p>
        </p:txBody>
      </p:sp>
      <p:sp>
        <p:nvSpPr>
          <p:cNvPr id="10" name="Shape 8"/>
          <p:cNvSpPr/>
          <p:nvPr/>
        </p:nvSpPr>
        <p:spPr>
          <a:xfrm>
            <a:off x="548640" y="1508760"/>
            <a:ext cx="5410048" cy="2194560"/>
          </a:xfrm>
          <a:prstGeom prst="roundRect">
            <a:avLst>
              <a:gd name="adj" fmla="val 50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1" name="Shape 9"/>
          <p:cNvSpPr/>
          <p:nvPr/>
        </p:nvSpPr>
        <p:spPr>
          <a:xfrm rot="5400000">
            <a:off x="4943020" y="1714500"/>
            <a:ext cx="897479" cy="777240"/>
          </a:xfrm>
          <a:prstGeom prst="hexagon">
            <a:avLst/>
          </a:prstGeom>
          <a:solidFill>
            <a:srgbClr val="5B6BB5"/>
          </a:solidFill>
          <a:ln/>
        </p:spPr>
      </p:sp>
      <p:sp>
        <p:nvSpPr>
          <p:cNvPr id="12" name="Text 10"/>
          <p:cNvSpPr txBox="1"/>
          <p:nvPr/>
        </p:nvSpPr>
        <p:spPr>
          <a:xfrm>
            <a:off x="5003140" y="1714500"/>
            <a:ext cx="777240" cy="77724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txBox="1"/>
          <p:nvPr/>
        </p:nvSpPr>
        <p:spPr>
          <a:xfrm>
            <a:off x="822960" y="1783080"/>
            <a:ext cx="3947008" cy="640080"/>
          </a:xfrm>
          <a:prstGeom prst="rect">
            <a:avLst/>
          </a:prstGeom>
          <a:noFill/>
          <a:ln/>
        </p:spPr>
        <p:txBody>
          <a:bodyPr wrap="square" lIns="0" tIns="0" rIns="0" bIns="0" rtlCol="0" anchor="ctr"/>
          <a:lstStyle/>
          <a:p>
            <a:pPr rtl="1" algn="r" indent="0" marL="0">
              <a:buNone/>
            </a:pPr>
            <a:r>
              <a:rPr lang="he-IL" altLang="en-US" sz="1800" b="1" dirty="0">
                <a:solidFill>
                  <a:srgbClr val="2B2560"/>
                </a:solidFill>
                <a:latin typeface="Arial" pitchFamily="34" charset="0"/>
                <a:ea typeface="Arial" pitchFamily="34" charset="-122"/>
                <a:cs typeface="Arial" pitchFamily="34" charset="-120"/>
              </a:rPr>
              <a:t>הפחתת תנגודת לאינסולין והורדת משקל</a:t>
            </a:r>
            <a:endParaRPr lang="he-IL" sz="1800" dirty="0"/>
          </a:p>
        </p:txBody>
      </p:sp>
      <p:sp>
        <p:nvSpPr>
          <p:cNvPr id="14" name="Text 12"/>
          <p:cNvSpPr txBox="1"/>
          <p:nvPr/>
        </p:nvSpPr>
        <p:spPr>
          <a:xfrm>
            <a:off x="822960" y="2514600"/>
            <a:ext cx="3947008" cy="1097280"/>
          </a:xfrm>
          <a:prstGeom prst="rect">
            <a:avLst/>
          </a:prstGeom>
          <a:noFill/>
          <a:ln/>
        </p:spPr>
        <p:txBody>
          <a:bodyPr wrap="square" lIns="0" tIns="0" rIns="0" bIns="0" rtlCol="0" anchor="t"/>
          <a:lstStyle/>
          <a:p>
            <a:pPr rtl="1" algn="r" indent="0" marL="0">
              <a:buNone/>
            </a:pPr>
            <a:r>
              <a:rPr lang="he-IL" altLang="en-US" sz="1450" dirty="0">
                <a:solidFill>
                  <a:srgbClr val="2E2A47"/>
                </a:solidFill>
                <a:latin typeface="Arial" pitchFamily="34" charset="0"/>
                <a:ea typeface="Arial" pitchFamily="34" charset="-122"/>
                <a:cs typeface="Arial" pitchFamily="34" charset="-120"/>
              </a:rPr>
              <a:t>הטיפול ב-GLP-1 RA (Wegovy 2.4mg) הביא לירידה במשקל מ-96 ק"ג ל-85 ק"ג ולהפחתה דרמטית במינון האינסולין הבולוס (מ-12u ל-8u לארוחה) והאינסולין הבזאלי (מ-40u ל-36u).</a:t>
            </a:r>
            <a:endParaRPr lang="he-IL" sz="1450" dirty="0"/>
          </a:p>
        </p:txBody>
      </p:sp>
      <p:sp>
        <p:nvSpPr>
          <p:cNvPr id="15" name="Shape 13"/>
          <p:cNvSpPr/>
          <p:nvPr/>
        </p:nvSpPr>
        <p:spPr>
          <a:xfrm>
            <a:off x="6233008" y="3840480"/>
            <a:ext cx="5410048" cy="2194560"/>
          </a:xfrm>
          <a:prstGeom prst="roundRect">
            <a:avLst>
              <a:gd name="adj" fmla="val 50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16" name="Shape 14"/>
          <p:cNvSpPr/>
          <p:nvPr/>
        </p:nvSpPr>
        <p:spPr>
          <a:xfrm rot="5400000">
            <a:off x="10627388" y="4046220"/>
            <a:ext cx="897479" cy="777240"/>
          </a:xfrm>
          <a:prstGeom prst="hexagon">
            <a:avLst/>
          </a:prstGeom>
          <a:solidFill>
            <a:srgbClr val="6658A6"/>
          </a:solidFill>
          <a:ln/>
        </p:spPr>
      </p:sp>
      <p:sp>
        <p:nvSpPr>
          <p:cNvPr id="17" name="Text 15"/>
          <p:cNvSpPr txBox="1"/>
          <p:nvPr/>
        </p:nvSpPr>
        <p:spPr>
          <a:xfrm>
            <a:off x="10687507" y="4046220"/>
            <a:ext cx="777240" cy="77724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txBox="1"/>
          <p:nvPr/>
        </p:nvSpPr>
        <p:spPr>
          <a:xfrm>
            <a:off x="6507328" y="4114800"/>
            <a:ext cx="3947008" cy="640080"/>
          </a:xfrm>
          <a:prstGeom prst="rect">
            <a:avLst/>
          </a:prstGeom>
          <a:noFill/>
          <a:ln/>
        </p:spPr>
        <p:txBody>
          <a:bodyPr wrap="square" lIns="0" tIns="0" rIns="0" bIns="0" rtlCol="0" anchor="ctr"/>
          <a:lstStyle/>
          <a:p>
            <a:pPr rtl="1" algn="r" indent="0" marL="0">
              <a:buNone/>
            </a:pPr>
            <a:r>
              <a:rPr lang="he-IL" altLang="en-US" sz="1800" b="1" dirty="0">
                <a:solidFill>
                  <a:srgbClr val="2B2560"/>
                </a:solidFill>
                <a:latin typeface="Arial" pitchFamily="34" charset="0"/>
                <a:ea typeface="Arial" pitchFamily="34" charset="-122"/>
                <a:cs typeface="Arial" pitchFamily="34" charset="-120"/>
              </a:rPr>
              <a:t>הגנה קרדיווסקולרית ומוחית והטבה בסיבוכים</a:t>
            </a:r>
            <a:endParaRPr lang="he-IL" sz="1800" dirty="0"/>
          </a:p>
        </p:txBody>
      </p:sp>
      <p:sp>
        <p:nvSpPr>
          <p:cNvPr id="19" name="Text 17"/>
          <p:cNvSpPr txBox="1"/>
          <p:nvPr/>
        </p:nvSpPr>
        <p:spPr>
          <a:xfrm>
            <a:off x="6507328" y="4846320"/>
            <a:ext cx="3947008" cy="1097280"/>
          </a:xfrm>
          <a:prstGeom prst="rect">
            <a:avLst/>
          </a:prstGeom>
          <a:noFill/>
          <a:ln/>
        </p:spPr>
        <p:txBody>
          <a:bodyPr wrap="square" lIns="0" tIns="0" rIns="0" bIns="0" rtlCol="0" anchor="t"/>
          <a:lstStyle/>
          <a:p>
            <a:pPr rtl="1" algn="r" indent="0" marL="0">
              <a:buNone/>
            </a:pPr>
            <a:r>
              <a:rPr lang="he-IL" altLang="en-US" sz="1450" dirty="0">
                <a:solidFill>
                  <a:srgbClr val="2E2A47"/>
                </a:solidFill>
                <a:latin typeface="Arial" pitchFamily="34" charset="0"/>
                <a:ea typeface="Arial" pitchFamily="34" charset="-122"/>
                <a:cs typeface="Arial" pitchFamily="34" charset="-120"/>
              </a:rPr>
              <a:t>שיפור משמעותי באיכות השינה (דום נשימה בשינה), הטבה בהחלמת הפצע בכף הרגל והפחתת הסיכון למחלות טרשתיות במטופל לאחר CVA ו-IHD.</a:t>
            </a:r>
            <a:endParaRPr lang="he-IL" sz="1450" dirty="0"/>
          </a:p>
        </p:txBody>
      </p:sp>
      <p:sp>
        <p:nvSpPr>
          <p:cNvPr id="20" name="Shape 18"/>
          <p:cNvSpPr/>
          <p:nvPr/>
        </p:nvSpPr>
        <p:spPr>
          <a:xfrm>
            <a:off x="548640" y="3840480"/>
            <a:ext cx="5410048" cy="2194560"/>
          </a:xfrm>
          <a:prstGeom prst="roundRect">
            <a:avLst>
              <a:gd name="adj" fmla="val 5000"/>
            </a:avLst>
          </a:prstGeom>
          <a:solidFill>
            <a:srgbClr val="FFFFFF"/>
          </a:solidFill>
          <a:ln w="9525">
            <a:solidFill>
              <a:srgbClr val="E3DFF0"/>
            </a:solidFill>
            <a:prstDash val="solid"/>
          </a:ln>
          <a:effectLst>
            <a:outerShdw sx="100000" sy="100000" kx="0" ky="0" algn="bl" rotWithShape="0" blurRad="127000" dist="38100" dir="5400000">
              <a:srgbClr val="2B2560">
                <a:alpha val="10000"/>
              </a:srgbClr>
            </a:outerShdw>
          </a:effectLst>
        </p:spPr>
      </p:sp>
      <p:sp>
        <p:nvSpPr>
          <p:cNvPr id="21" name="Shape 19"/>
          <p:cNvSpPr/>
          <p:nvPr/>
        </p:nvSpPr>
        <p:spPr>
          <a:xfrm rot="5400000">
            <a:off x="4943020" y="4046220"/>
            <a:ext cx="897479" cy="777240"/>
          </a:xfrm>
          <a:prstGeom prst="hexagon">
            <a:avLst/>
          </a:prstGeom>
          <a:solidFill>
            <a:srgbClr val="6E4494"/>
          </a:solidFill>
          <a:ln/>
        </p:spPr>
      </p:sp>
      <p:sp>
        <p:nvSpPr>
          <p:cNvPr id="22" name="Text 20"/>
          <p:cNvSpPr txBox="1"/>
          <p:nvPr/>
        </p:nvSpPr>
        <p:spPr>
          <a:xfrm>
            <a:off x="5003140" y="4046220"/>
            <a:ext cx="777240" cy="777240"/>
          </a:xfrm>
          <a:prstGeom prst="rect">
            <a:avLst/>
          </a:prstGeom>
          <a:noFill/>
          <a:ln/>
        </p:spPr>
        <p:txBody>
          <a:bodyPr wrap="square" lIns="0" tIns="0" rIns="0" bIns="0" rtlCol="0" anchor="ctr"/>
          <a:lstStyle/>
          <a:p>
            <a:pPr algn="ctr" indent="0" marL="0">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3" name="Text 21"/>
          <p:cNvSpPr txBox="1"/>
          <p:nvPr/>
        </p:nvSpPr>
        <p:spPr>
          <a:xfrm>
            <a:off x="822960" y="4114800"/>
            <a:ext cx="3947008" cy="640080"/>
          </a:xfrm>
          <a:prstGeom prst="rect">
            <a:avLst/>
          </a:prstGeom>
          <a:noFill/>
          <a:ln/>
        </p:spPr>
        <p:txBody>
          <a:bodyPr wrap="square" lIns="0" tIns="0" rIns="0" bIns="0" rtlCol="0" anchor="ctr"/>
          <a:lstStyle/>
          <a:p>
            <a:pPr rtl="1" algn="r" indent="0" marL="0">
              <a:buNone/>
            </a:pPr>
            <a:r>
              <a:rPr lang="he-IL" altLang="en-US" sz="1800" b="1" dirty="0">
                <a:solidFill>
                  <a:srgbClr val="2B2560"/>
                </a:solidFill>
                <a:latin typeface="Arial" pitchFamily="34" charset="0"/>
                <a:ea typeface="Arial" pitchFamily="34" charset="-122"/>
                <a:cs typeface="Arial" pitchFamily="34" charset="-120"/>
              </a:rPr>
              <a:t>איזון גליקמי מוכח ב-CGM</a:t>
            </a:r>
            <a:endParaRPr lang="he-IL" sz="1800" dirty="0"/>
          </a:p>
        </p:txBody>
      </p:sp>
      <p:sp>
        <p:nvSpPr>
          <p:cNvPr id="24" name="Text 22"/>
          <p:cNvSpPr txBox="1"/>
          <p:nvPr/>
        </p:nvSpPr>
        <p:spPr>
          <a:xfrm>
            <a:off x="822960" y="4846320"/>
            <a:ext cx="3947008" cy="1097280"/>
          </a:xfrm>
          <a:prstGeom prst="rect">
            <a:avLst/>
          </a:prstGeom>
          <a:noFill/>
          <a:ln/>
        </p:spPr>
        <p:txBody>
          <a:bodyPr wrap="square" lIns="0" tIns="0" rIns="0" bIns="0" rtlCol="0" anchor="t"/>
          <a:lstStyle/>
          <a:p>
            <a:pPr rtl="1" algn="r" indent="0" marL="0">
              <a:buNone/>
            </a:pPr>
            <a:r>
              <a:rPr lang="he-IL" altLang="en-US" sz="1450" dirty="0">
                <a:solidFill>
                  <a:srgbClr val="2E2A47"/>
                </a:solidFill>
                <a:latin typeface="Arial" pitchFamily="34" charset="0"/>
                <a:ea typeface="Arial" pitchFamily="34" charset="-122"/>
                <a:cs typeface="Arial" pitchFamily="34" charset="-120"/>
              </a:rPr>
              <a:t>חיישן Libre 2 מדגים זינוק מרהיב מ-30% ל-79% בטווח היעד (TIR) וירידה בסוכר הממוצע מ-220 ל-116 mg/dL עם GMI של 6.1%.</a:t>
            </a:r>
            <a:endParaRPr lang="he-IL" sz="14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rtl="1" algn="r" indent="0" marL="0">
              <a:buNone/>
            </a:pPr>
            <a:r>
              <a:rPr lang="he-IL" altLang="en-US" sz="1000" dirty="0">
                <a:solidFill>
                  <a:srgbClr val="6B6785"/>
                </a:solidFill>
                <a:latin typeface="Arial" pitchFamily="34" charset="0"/>
                <a:ea typeface="Arial" pitchFamily="34" charset="-122"/>
                <a:cs typeface="Arial" pitchFamily="34" charset="-120"/>
              </a:rPr>
              <a:t>סימולציית טיפול ב-GLP1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rtl="1" algn="r" indent="0" marL="0">
              <a:buNone/>
            </a:pPr>
            <a:r>
              <a:rPr lang="he-IL" altLang="en-US" sz="1300" b="1" dirty="0">
                <a:solidFill>
                  <a:srgbClr val="4A90D0"/>
                </a:solidFill>
                <a:latin typeface="Arial" pitchFamily="34" charset="0"/>
                <a:ea typeface="Arial" pitchFamily="34" charset="-122"/>
                <a:cs typeface="Arial" pitchFamily="34" charset="-120"/>
              </a:rPr>
              <a:t>שלב 5 • סיכום ומעקב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rtl="1" algn="r" indent="0" marL="0">
              <a:buNone/>
            </a:pPr>
            <a:r>
              <a:rPr lang="he-IL" altLang="en-US" sz="2600" b="1" dirty="0">
                <a:solidFill>
                  <a:srgbClr val="2B2560"/>
                </a:solidFill>
                <a:latin typeface="Arial" pitchFamily="34" charset="0"/>
                <a:ea typeface="Arial" pitchFamily="34" charset="-122"/>
                <a:cs typeface="Arial" pitchFamily="34" charset="-120"/>
              </a:rPr>
              <a:t>שלב 5: תוכנית המשך מעקב וסגירה</a:t>
            </a:r>
            <a:endParaRPr lang="he-IL" sz="26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rtl="1" algn="r" indent="0" marL="0">
              <a:buNone/>
            </a:pPr>
            <a:r>
              <a:rPr lang="he-IL" altLang="en-US" sz="1900" b="1" dirty="0">
                <a:solidFill>
                  <a:srgbClr val="6E4494"/>
                </a:solidFill>
                <a:latin typeface="Arial" pitchFamily="34" charset="0"/>
                <a:ea typeface="Arial" pitchFamily="34" charset="-122"/>
                <a:cs typeface="Arial" pitchFamily="34" charset="-120"/>
              </a:rPr>
              <a:t>הנחיות המשך מעקב קליני עבור יעקב:</a:t>
            </a:r>
            <a:endParaRPr lang="he-IL" sz="1900" dirty="0"/>
          </a:p>
        </p:txBody>
      </p:sp>
      <p:sp>
        <p:nvSpPr>
          <p:cNvPr id="6" name="Shape 4"/>
          <p:cNvSpPr/>
          <p:nvPr/>
        </p:nvSpPr>
        <p:spPr>
          <a:xfrm>
            <a:off x="6492240" y="1920240"/>
            <a:ext cx="5148072" cy="4114800"/>
          </a:xfrm>
          <a:prstGeom prst="roundRect">
            <a:avLst>
              <a:gd name="adj" fmla="val 2667"/>
            </a:avLst>
          </a:prstGeom>
          <a:solidFill>
            <a:srgbClr val="2B2560"/>
          </a:solidFill>
          <a:ln/>
          <a:effectLst>
            <a:outerShdw sx="100000" sy="100000" kx="0" ky="0" algn="bl" rotWithShape="0" blurRad="127000" dist="38100" dir="5400000">
              <a:srgbClr val="2B2560">
                <a:alpha val="10000"/>
              </a:srgbClr>
            </a:outerShdw>
          </a:effectLst>
        </p:spPr>
      </p:sp>
      <p:sp>
        <p:nvSpPr>
          <p:cNvPr id="7" name="Text 5"/>
          <p:cNvSpPr txBox="1"/>
          <p:nvPr/>
        </p:nvSpPr>
        <p:spPr>
          <a:xfrm>
            <a:off x="6766560" y="2103120"/>
            <a:ext cx="4599432" cy="411480"/>
          </a:xfrm>
          <a:prstGeom prst="rect">
            <a:avLst/>
          </a:prstGeom>
          <a:noFill/>
          <a:ln/>
        </p:spPr>
        <p:txBody>
          <a:bodyPr wrap="square" lIns="0" tIns="0" rIns="0" bIns="0" rtlCol="0" anchor="t"/>
          <a:lstStyle/>
          <a:p>
            <a:pPr rtl="1" algn="r" indent="0" marL="0">
              <a:buNone/>
            </a:pPr>
            <a:r>
              <a:rPr lang="he-IL" altLang="en-US" sz="1800" b="1" dirty="0">
                <a:solidFill>
                  <a:srgbClr val="9CC4EE"/>
                </a:solidFill>
                <a:latin typeface="Arial" pitchFamily="34" charset="0"/>
                <a:ea typeface="Arial" pitchFamily="34" charset="-122"/>
                <a:cs typeface="Arial" pitchFamily="34" charset="-120"/>
              </a:rPr>
              <a:t>מינונים תרופתיים מעודכנים:</a:t>
            </a:r>
            <a:endParaRPr lang="he-IL" sz="1800" dirty="0"/>
          </a:p>
        </p:txBody>
      </p:sp>
      <p:sp>
        <p:nvSpPr>
          <p:cNvPr id="8" name="Shape 6"/>
          <p:cNvSpPr/>
          <p:nvPr/>
        </p:nvSpPr>
        <p:spPr>
          <a:xfrm>
            <a:off x="6720840" y="2697480"/>
            <a:ext cx="4690872" cy="932688"/>
          </a:xfrm>
          <a:prstGeom prst="roundRect">
            <a:avLst>
              <a:gd name="adj" fmla="val 11765"/>
            </a:avLst>
          </a:prstGeom>
          <a:solidFill>
            <a:srgbClr val="3A3377"/>
          </a:solidFill>
          <a:ln/>
        </p:spPr>
      </p:sp>
      <p:sp>
        <p:nvSpPr>
          <p:cNvPr id="9" name="Shape 7"/>
          <p:cNvSpPr/>
          <p:nvPr/>
        </p:nvSpPr>
        <p:spPr>
          <a:xfrm rot="5400000">
            <a:off x="10728159" y="2912364"/>
            <a:ext cx="580722" cy="502920"/>
          </a:xfrm>
          <a:prstGeom prst="hexagon">
            <a:avLst/>
          </a:prstGeom>
          <a:solidFill>
            <a:srgbClr val="4A90D0"/>
          </a:solidFill>
          <a:ln/>
        </p:spPr>
      </p:sp>
      <p:pic>
        <p:nvPicPr>
          <p:cNvPr id="10" name="Image 0" descr="preencoded.png">    </p:cNvPr>
          <p:cNvPicPr>
            <a:picLocks noChangeAspect="1"/>
          </p:cNvPicPr>
          <p:nvPr/>
        </p:nvPicPr>
        <p:blipFill>
          <a:blip r:embed="rId1"/>
          <a:stretch>
            <a:fillRect/>
          </a:stretch>
        </p:blipFill>
        <p:spPr>
          <a:xfrm>
            <a:off x="10902848" y="3048152"/>
            <a:ext cx="231343" cy="231343"/>
          </a:xfrm>
          <a:prstGeom prst="rect">
            <a:avLst/>
          </a:prstGeom>
        </p:spPr>
      </p:pic>
      <p:sp>
        <p:nvSpPr>
          <p:cNvPr id="11" name="Text 8"/>
          <p:cNvSpPr txBox="1"/>
          <p:nvPr/>
        </p:nvSpPr>
        <p:spPr>
          <a:xfrm>
            <a:off x="6903720" y="2770632"/>
            <a:ext cx="3657600" cy="786384"/>
          </a:xfrm>
          <a:prstGeom prst="rect">
            <a:avLst/>
          </a:prstGeom>
          <a:noFill/>
          <a:ln/>
        </p:spPr>
        <p:txBody>
          <a:bodyPr wrap="square" lIns="0" tIns="0" rIns="0" bIns="0" rtlCol="0" anchor="ctr"/>
          <a:lstStyle/>
          <a:p>
            <a:pPr rtl="1" algn="r" indent="0" marL="0">
              <a:buNone/>
            </a:pPr>
            <a:r>
              <a:rPr lang="he-IL" altLang="en-US" sz="1450" dirty="0">
                <a:solidFill>
                  <a:srgbClr val="FFFFFF"/>
                </a:solidFill>
                <a:latin typeface="Arial" pitchFamily="34" charset="0"/>
                <a:ea typeface="Arial" pitchFamily="34" charset="-122"/>
                <a:cs typeface="Arial" pitchFamily="34" charset="-120"/>
              </a:rPr>
              <a:t>המשך מינון אחזקתי של Wegovy 2.4 mg אחת לשבוע.</a:t>
            </a:r>
            <a:endParaRPr lang="he-IL" sz="1450" dirty="0"/>
          </a:p>
        </p:txBody>
      </p:sp>
      <p:sp>
        <p:nvSpPr>
          <p:cNvPr id="12" name="Shape 9"/>
          <p:cNvSpPr/>
          <p:nvPr/>
        </p:nvSpPr>
        <p:spPr>
          <a:xfrm>
            <a:off x="6720840" y="3776472"/>
            <a:ext cx="4690872" cy="932688"/>
          </a:xfrm>
          <a:prstGeom prst="roundRect">
            <a:avLst>
              <a:gd name="adj" fmla="val 11765"/>
            </a:avLst>
          </a:prstGeom>
          <a:solidFill>
            <a:srgbClr val="3A3377"/>
          </a:solidFill>
          <a:ln/>
        </p:spPr>
      </p:sp>
      <p:sp>
        <p:nvSpPr>
          <p:cNvPr id="13" name="Shape 10"/>
          <p:cNvSpPr/>
          <p:nvPr/>
        </p:nvSpPr>
        <p:spPr>
          <a:xfrm rot="5400000">
            <a:off x="10728159" y="3991356"/>
            <a:ext cx="580722" cy="502920"/>
          </a:xfrm>
          <a:prstGeom prst="hexagon">
            <a:avLst/>
          </a:prstGeom>
          <a:solidFill>
            <a:srgbClr val="5B6BB5"/>
          </a:solidFill>
          <a:ln/>
        </p:spPr>
      </p:sp>
      <p:pic>
        <p:nvPicPr>
          <p:cNvPr id="14" name="Image 1" descr="preencoded.png">    </p:cNvPr>
          <p:cNvPicPr>
            <a:picLocks noChangeAspect="1"/>
          </p:cNvPicPr>
          <p:nvPr/>
        </p:nvPicPr>
        <p:blipFill>
          <a:blip r:embed="rId2"/>
          <a:stretch>
            <a:fillRect/>
          </a:stretch>
        </p:blipFill>
        <p:spPr>
          <a:xfrm>
            <a:off x="10902848" y="4127144"/>
            <a:ext cx="231343" cy="231343"/>
          </a:xfrm>
          <a:prstGeom prst="rect">
            <a:avLst/>
          </a:prstGeom>
        </p:spPr>
      </p:pic>
      <p:sp>
        <p:nvSpPr>
          <p:cNvPr id="15" name="Text 11"/>
          <p:cNvSpPr txBox="1"/>
          <p:nvPr/>
        </p:nvSpPr>
        <p:spPr>
          <a:xfrm>
            <a:off x="6903720" y="3849624"/>
            <a:ext cx="3657600" cy="786384"/>
          </a:xfrm>
          <a:prstGeom prst="rect">
            <a:avLst/>
          </a:prstGeom>
          <a:noFill/>
          <a:ln/>
        </p:spPr>
        <p:txBody>
          <a:bodyPr wrap="square" lIns="0" tIns="0" rIns="0" bIns="0" rtlCol="0" anchor="ctr"/>
          <a:lstStyle/>
          <a:p>
            <a:pPr rtl="1" algn="r" indent="0" marL="0">
              <a:buNone/>
            </a:pPr>
            <a:r>
              <a:rPr lang="he-IL" altLang="en-US" sz="1450" dirty="0">
                <a:solidFill>
                  <a:srgbClr val="FFFFFF"/>
                </a:solidFill>
                <a:latin typeface="Arial" pitchFamily="34" charset="0"/>
                <a:ea typeface="Arial" pitchFamily="34" charset="-122"/>
                <a:cs typeface="Arial" pitchFamily="34" charset="-120"/>
              </a:rPr>
              <a:t>המשך אינסולין בזאלי Degludec (טרגלודק) 36 יחידות ליום.</a:t>
            </a:r>
            <a:endParaRPr lang="he-IL" sz="1450" dirty="0"/>
          </a:p>
        </p:txBody>
      </p:sp>
      <p:sp>
        <p:nvSpPr>
          <p:cNvPr id="16" name="Shape 12"/>
          <p:cNvSpPr/>
          <p:nvPr/>
        </p:nvSpPr>
        <p:spPr>
          <a:xfrm>
            <a:off x="6720840" y="4855464"/>
            <a:ext cx="4690872" cy="932688"/>
          </a:xfrm>
          <a:prstGeom prst="roundRect">
            <a:avLst>
              <a:gd name="adj" fmla="val 11765"/>
            </a:avLst>
          </a:prstGeom>
          <a:solidFill>
            <a:srgbClr val="3A3377"/>
          </a:solidFill>
          <a:ln/>
        </p:spPr>
      </p:sp>
      <p:sp>
        <p:nvSpPr>
          <p:cNvPr id="17" name="Shape 13"/>
          <p:cNvSpPr/>
          <p:nvPr/>
        </p:nvSpPr>
        <p:spPr>
          <a:xfrm rot="5400000">
            <a:off x="10728159" y="5070348"/>
            <a:ext cx="580722" cy="502920"/>
          </a:xfrm>
          <a:prstGeom prst="hexagon">
            <a:avLst/>
          </a:prstGeom>
          <a:solidFill>
            <a:srgbClr val="6E4494"/>
          </a:solidFill>
          <a:ln/>
        </p:spPr>
      </p:sp>
      <p:pic>
        <p:nvPicPr>
          <p:cNvPr id="18" name="Image 2" descr="preencoded.png">    </p:cNvPr>
          <p:cNvPicPr>
            <a:picLocks noChangeAspect="1"/>
          </p:cNvPicPr>
          <p:nvPr/>
        </p:nvPicPr>
        <p:blipFill>
          <a:blip r:embed="rId3"/>
          <a:stretch>
            <a:fillRect/>
          </a:stretch>
        </p:blipFill>
        <p:spPr>
          <a:xfrm>
            <a:off x="10902848" y="5206136"/>
            <a:ext cx="231343" cy="231343"/>
          </a:xfrm>
          <a:prstGeom prst="rect">
            <a:avLst/>
          </a:prstGeom>
        </p:spPr>
      </p:pic>
      <p:sp>
        <p:nvSpPr>
          <p:cNvPr id="19" name="Text 14"/>
          <p:cNvSpPr txBox="1"/>
          <p:nvPr/>
        </p:nvSpPr>
        <p:spPr>
          <a:xfrm>
            <a:off x="6903720" y="4928616"/>
            <a:ext cx="3657600" cy="786384"/>
          </a:xfrm>
          <a:prstGeom prst="rect">
            <a:avLst/>
          </a:prstGeom>
          <a:noFill/>
          <a:ln/>
        </p:spPr>
        <p:txBody>
          <a:bodyPr wrap="square" lIns="0" tIns="0" rIns="0" bIns="0" rtlCol="0" anchor="ctr"/>
          <a:lstStyle/>
          <a:p>
            <a:pPr rtl="1" algn="r" indent="0" marL="0">
              <a:buNone/>
            </a:pPr>
            <a:r>
              <a:rPr lang="he-IL" altLang="en-US" sz="1450" dirty="0">
                <a:solidFill>
                  <a:srgbClr val="FFFFFF"/>
                </a:solidFill>
                <a:latin typeface="Arial" pitchFamily="34" charset="0"/>
                <a:ea typeface="Arial" pitchFamily="34" charset="-122"/>
                <a:cs typeface="Arial" pitchFamily="34" charset="-120"/>
              </a:rPr>
              <a:t>אינסולין נובורפיד 8 יחידות לפני כל ארוחה לפי מעקב ערכים.</a:t>
            </a:r>
            <a:endParaRPr lang="he-IL" sz="1450" dirty="0"/>
          </a:p>
        </p:txBody>
      </p:sp>
      <p:sp>
        <p:nvSpPr>
          <p:cNvPr id="20" name="Shape 15"/>
          <p:cNvSpPr/>
          <p:nvPr/>
        </p:nvSpPr>
        <p:spPr>
          <a:xfrm>
            <a:off x="548640" y="1920240"/>
            <a:ext cx="5669280" cy="932688"/>
          </a:xfrm>
          <a:prstGeom prst="roundRect">
            <a:avLst>
              <a:gd name="adj" fmla="val 11765"/>
            </a:avLst>
          </a:prstGeom>
          <a:solidFill>
            <a:srgbClr val="FFFFFF"/>
          </a:solidFill>
          <a:ln w="9525">
            <a:solidFill>
              <a:srgbClr val="E3DFF0"/>
            </a:solidFill>
            <a:prstDash val="solid"/>
          </a:ln>
        </p:spPr>
      </p:sp>
      <p:sp>
        <p:nvSpPr>
          <p:cNvPr id="21" name="Shape 16"/>
          <p:cNvSpPr/>
          <p:nvPr/>
        </p:nvSpPr>
        <p:spPr>
          <a:xfrm rot="5400000">
            <a:off x="5561799" y="2135124"/>
            <a:ext cx="580722" cy="502920"/>
          </a:xfrm>
          <a:prstGeom prst="hexagon">
            <a:avLst/>
          </a:prstGeom>
          <a:solidFill>
            <a:srgbClr val="5280C8"/>
          </a:solidFill>
          <a:ln/>
        </p:spPr>
      </p:sp>
      <p:pic>
        <p:nvPicPr>
          <p:cNvPr id="22" name="Image 3" descr="preencoded.png">    </p:cNvPr>
          <p:cNvPicPr>
            <a:picLocks noChangeAspect="1"/>
          </p:cNvPicPr>
          <p:nvPr/>
        </p:nvPicPr>
        <p:blipFill>
          <a:blip r:embed="rId4"/>
          <a:stretch>
            <a:fillRect/>
          </a:stretch>
        </p:blipFill>
        <p:spPr>
          <a:xfrm>
            <a:off x="5736488" y="2270912"/>
            <a:ext cx="231343" cy="231343"/>
          </a:xfrm>
          <a:prstGeom prst="rect">
            <a:avLst/>
          </a:prstGeom>
        </p:spPr>
      </p:pic>
      <p:sp>
        <p:nvSpPr>
          <p:cNvPr id="23" name="Text 17"/>
          <p:cNvSpPr txBox="1"/>
          <p:nvPr/>
        </p:nvSpPr>
        <p:spPr>
          <a:xfrm>
            <a:off x="731520" y="1993392"/>
            <a:ext cx="4709160" cy="78638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מעקב מרפאת פצע: </a:t>
            </a:r>
            <a:pPr rtl="1" algn="r" indent="0" marL="0">
              <a:buNone/>
            </a:pPr>
            <a:r>
              <a:rPr lang="he-IL" altLang="en-US" sz="1400" dirty="0">
                <a:solidFill>
                  <a:srgbClr val="2E2A47"/>
                </a:solidFill>
                <a:latin typeface="Arial" pitchFamily="34" charset="0"/>
                <a:ea typeface="Arial" pitchFamily="34" charset="-122"/>
                <a:cs typeface="Arial" pitchFamily="34" charset="-120"/>
              </a:rPr>
              <a:t>המשך ביקורים שבועיים במרפאת פצע להשלמת סגירת הכיב ברגל ימין.</a:t>
            </a:r>
            <a:endParaRPr lang="he-IL" sz="1400" dirty="0"/>
          </a:p>
        </p:txBody>
      </p:sp>
      <p:sp>
        <p:nvSpPr>
          <p:cNvPr id="24" name="Shape 18"/>
          <p:cNvSpPr/>
          <p:nvPr/>
        </p:nvSpPr>
        <p:spPr>
          <a:xfrm>
            <a:off x="548640" y="2971800"/>
            <a:ext cx="5669280" cy="932688"/>
          </a:xfrm>
          <a:prstGeom prst="roundRect">
            <a:avLst>
              <a:gd name="adj" fmla="val 11765"/>
            </a:avLst>
          </a:prstGeom>
          <a:solidFill>
            <a:srgbClr val="FFFFFF"/>
          </a:solidFill>
          <a:ln w="9525">
            <a:solidFill>
              <a:srgbClr val="E3DFF0"/>
            </a:solidFill>
            <a:prstDash val="solid"/>
          </a:ln>
        </p:spPr>
      </p:sp>
      <p:sp>
        <p:nvSpPr>
          <p:cNvPr id="25" name="Shape 19"/>
          <p:cNvSpPr/>
          <p:nvPr/>
        </p:nvSpPr>
        <p:spPr>
          <a:xfrm rot="5400000">
            <a:off x="5561799" y="3186684"/>
            <a:ext cx="580722" cy="502920"/>
          </a:xfrm>
          <a:prstGeom prst="hexagon">
            <a:avLst/>
          </a:prstGeom>
          <a:solidFill>
            <a:srgbClr val="5B6BB5"/>
          </a:solidFill>
          <a:ln/>
        </p:spPr>
      </p:sp>
      <p:pic>
        <p:nvPicPr>
          <p:cNvPr id="26" name="Image 4" descr="preencoded.png">    </p:cNvPr>
          <p:cNvPicPr>
            <a:picLocks noChangeAspect="1"/>
          </p:cNvPicPr>
          <p:nvPr/>
        </p:nvPicPr>
        <p:blipFill>
          <a:blip r:embed="rId5"/>
          <a:stretch>
            <a:fillRect/>
          </a:stretch>
        </p:blipFill>
        <p:spPr>
          <a:xfrm>
            <a:off x="5736488" y="3322472"/>
            <a:ext cx="231343" cy="231343"/>
          </a:xfrm>
          <a:prstGeom prst="rect">
            <a:avLst/>
          </a:prstGeom>
        </p:spPr>
      </p:pic>
      <p:sp>
        <p:nvSpPr>
          <p:cNvPr id="27" name="Text 20"/>
          <p:cNvSpPr txBox="1"/>
          <p:nvPr/>
        </p:nvSpPr>
        <p:spPr>
          <a:xfrm>
            <a:off x="731520" y="3044952"/>
            <a:ext cx="4709160" cy="78638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ניטור רציף ב-Libre 2: </a:t>
            </a:r>
            <a:pPr rtl="1" algn="r" indent="0" marL="0">
              <a:buNone/>
            </a:pPr>
            <a:r>
              <a:rPr lang="he-IL" altLang="en-US" sz="1400" dirty="0">
                <a:solidFill>
                  <a:srgbClr val="2E2A47"/>
                </a:solidFill>
                <a:latin typeface="Arial" pitchFamily="34" charset="0"/>
                <a:ea typeface="Arial" pitchFamily="34" charset="-122"/>
                <a:cs typeface="Arial" pitchFamily="34" charset="-120"/>
              </a:rPr>
              <a:t>המשך סריקה יומיומית, מעקב אחר התראות היפוגליקמיה ליליות ושמירה על TIR &gt; 70%.</a:t>
            </a:r>
            <a:endParaRPr lang="he-IL" sz="1400" dirty="0"/>
          </a:p>
        </p:txBody>
      </p:sp>
      <p:sp>
        <p:nvSpPr>
          <p:cNvPr id="28" name="Shape 21"/>
          <p:cNvSpPr/>
          <p:nvPr/>
        </p:nvSpPr>
        <p:spPr>
          <a:xfrm>
            <a:off x="548640" y="4023360"/>
            <a:ext cx="5669280" cy="932688"/>
          </a:xfrm>
          <a:prstGeom prst="roundRect">
            <a:avLst>
              <a:gd name="adj" fmla="val 11765"/>
            </a:avLst>
          </a:prstGeom>
          <a:solidFill>
            <a:srgbClr val="FFFFFF"/>
          </a:solidFill>
          <a:ln w="9525">
            <a:solidFill>
              <a:srgbClr val="E3DFF0"/>
            </a:solidFill>
            <a:prstDash val="solid"/>
          </a:ln>
        </p:spPr>
      </p:sp>
      <p:sp>
        <p:nvSpPr>
          <p:cNvPr id="29" name="Shape 22"/>
          <p:cNvSpPr/>
          <p:nvPr/>
        </p:nvSpPr>
        <p:spPr>
          <a:xfrm rot="5400000">
            <a:off x="5561799" y="4238244"/>
            <a:ext cx="580722" cy="502920"/>
          </a:xfrm>
          <a:prstGeom prst="hexagon">
            <a:avLst/>
          </a:prstGeom>
          <a:solidFill>
            <a:srgbClr val="6658A6"/>
          </a:solidFill>
          <a:ln/>
        </p:spPr>
      </p:sp>
      <p:pic>
        <p:nvPicPr>
          <p:cNvPr id="30" name="Image 5" descr="preencoded.png">    </p:cNvPr>
          <p:cNvPicPr>
            <a:picLocks noChangeAspect="1"/>
          </p:cNvPicPr>
          <p:nvPr/>
        </p:nvPicPr>
        <p:blipFill>
          <a:blip r:embed="rId6"/>
          <a:stretch>
            <a:fillRect/>
          </a:stretch>
        </p:blipFill>
        <p:spPr>
          <a:xfrm>
            <a:off x="5736488" y="4374032"/>
            <a:ext cx="231343" cy="231343"/>
          </a:xfrm>
          <a:prstGeom prst="rect">
            <a:avLst/>
          </a:prstGeom>
        </p:spPr>
      </p:pic>
      <p:sp>
        <p:nvSpPr>
          <p:cNvPr id="31" name="Text 23"/>
          <p:cNvSpPr txBox="1"/>
          <p:nvPr/>
        </p:nvSpPr>
        <p:spPr>
          <a:xfrm>
            <a:off x="731520" y="4096512"/>
            <a:ext cx="4709160" cy="78638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תזונה ופעילות גופנית: </a:t>
            </a:r>
            <a:pPr rtl="1" algn="r" indent="0" marL="0">
              <a:buNone/>
            </a:pPr>
            <a:r>
              <a:rPr lang="he-IL" altLang="en-US" sz="1400" dirty="0">
                <a:solidFill>
                  <a:srgbClr val="2E2A47"/>
                </a:solidFill>
                <a:latin typeface="Arial" pitchFamily="34" charset="0"/>
                <a:ea typeface="Arial" pitchFamily="34" charset="-122"/>
                <a:cs typeface="Arial" pitchFamily="34" charset="-120"/>
              </a:rPr>
              <a:t>מפגש חודשי עם דיאטנית קלינית ושמירה על שגרת הליכות מותאמת.</a:t>
            </a:r>
            <a:endParaRPr lang="he-IL" sz="1400" dirty="0"/>
          </a:p>
        </p:txBody>
      </p:sp>
      <p:sp>
        <p:nvSpPr>
          <p:cNvPr id="32" name="Shape 24"/>
          <p:cNvSpPr/>
          <p:nvPr/>
        </p:nvSpPr>
        <p:spPr>
          <a:xfrm>
            <a:off x="548640" y="5074920"/>
            <a:ext cx="5669280" cy="932688"/>
          </a:xfrm>
          <a:prstGeom prst="roundRect">
            <a:avLst>
              <a:gd name="adj" fmla="val 11765"/>
            </a:avLst>
          </a:prstGeom>
          <a:solidFill>
            <a:srgbClr val="FFFFFF"/>
          </a:solidFill>
          <a:ln w="9525">
            <a:solidFill>
              <a:srgbClr val="E3DFF0"/>
            </a:solidFill>
            <a:prstDash val="solid"/>
          </a:ln>
        </p:spPr>
      </p:sp>
      <p:sp>
        <p:nvSpPr>
          <p:cNvPr id="33" name="Shape 25"/>
          <p:cNvSpPr/>
          <p:nvPr/>
        </p:nvSpPr>
        <p:spPr>
          <a:xfrm rot="5400000">
            <a:off x="5561799" y="5289804"/>
            <a:ext cx="580722" cy="502920"/>
          </a:xfrm>
          <a:prstGeom prst="hexagon">
            <a:avLst/>
          </a:prstGeom>
          <a:solidFill>
            <a:srgbClr val="6E4494"/>
          </a:solidFill>
          <a:ln/>
        </p:spPr>
      </p:sp>
      <p:pic>
        <p:nvPicPr>
          <p:cNvPr id="34" name="Image 6" descr="preencoded.png">    </p:cNvPr>
          <p:cNvPicPr>
            <a:picLocks noChangeAspect="1"/>
          </p:cNvPicPr>
          <p:nvPr/>
        </p:nvPicPr>
        <p:blipFill>
          <a:blip r:embed="rId7"/>
          <a:stretch>
            <a:fillRect/>
          </a:stretch>
        </p:blipFill>
        <p:spPr>
          <a:xfrm>
            <a:off x="5736488" y="5425592"/>
            <a:ext cx="231343" cy="231343"/>
          </a:xfrm>
          <a:prstGeom prst="rect">
            <a:avLst/>
          </a:prstGeom>
        </p:spPr>
      </p:pic>
      <p:sp>
        <p:nvSpPr>
          <p:cNvPr id="35" name="Text 26"/>
          <p:cNvSpPr txBox="1"/>
          <p:nvPr/>
        </p:nvSpPr>
        <p:spPr>
          <a:xfrm>
            <a:off x="731520" y="5148072"/>
            <a:ext cx="4709160" cy="786384"/>
          </a:xfrm>
          <a:prstGeom prst="rect">
            <a:avLst/>
          </a:prstGeom>
          <a:noFill/>
          <a:ln/>
        </p:spPr>
        <p:txBody>
          <a:bodyPr wrap="square" lIns="0" tIns="0" rIns="0" bIns="0" rtlCol="0" anchor="ctr"/>
          <a:lstStyle/>
          <a:p>
            <a:pPr rtl="1" algn="r" indent="0" marL="0">
              <a:buNone/>
            </a:pPr>
            <a:r>
              <a:rPr lang="he-IL" altLang="en-US" sz="1400" b="1" dirty="0">
                <a:solidFill>
                  <a:srgbClr val="2B2560"/>
                </a:solidFill>
                <a:latin typeface="Arial" pitchFamily="34" charset="0"/>
                <a:ea typeface="Arial" pitchFamily="34" charset="-122"/>
                <a:cs typeface="Arial" pitchFamily="34" charset="-120"/>
              </a:rPr>
              <a:t>בדיקות מעבדה תקופתיות: </a:t>
            </a:r>
            <a:pPr rtl="1" algn="r" indent="0" marL="0">
              <a:buNone/>
            </a:pPr>
            <a:r>
              <a:rPr lang="he-IL" altLang="en-US" sz="1400" dirty="0">
                <a:solidFill>
                  <a:srgbClr val="2E2A47"/>
                </a:solidFill>
                <a:latin typeface="Arial" pitchFamily="34" charset="0"/>
                <a:ea typeface="Arial" pitchFamily="34" charset="-122"/>
                <a:cs typeface="Arial" pitchFamily="34" charset="-120"/>
              </a:rPr>
              <a:t>בדיקת HbA1C, ליפידים ותפקודי כליה (eGFR, ACR) בעוד 3 חודשים.</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tmp/claude-0/-home-claude/83ba285b-7ef1-5a4f-9afe-ea04c4b9d63d/scratchpad/assets/logo_white.png">    </p:cNvPr>
          <p:cNvPicPr>
            <a:picLocks noChangeAspect="1"/>
          </p:cNvPicPr>
          <p:nvPr/>
        </p:nvPicPr>
        <p:blipFill>
          <a:blip r:embed="rId1"/>
          <a:stretch>
            <a:fillRect/>
          </a:stretch>
        </p:blipFill>
        <p:spPr>
          <a:xfrm>
            <a:off x="4724248" y="685800"/>
            <a:ext cx="2743200" cy="2258568"/>
          </a:xfrm>
          <a:prstGeom prst="rect">
            <a:avLst/>
          </a:prstGeom>
        </p:spPr>
      </p:pic>
      <p:sp>
        <p:nvSpPr>
          <p:cNvPr id="3" name="Text 0"/>
          <p:cNvSpPr txBox="1"/>
          <p:nvPr/>
        </p:nvSpPr>
        <p:spPr>
          <a:xfrm>
            <a:off x="914400" y="3246120"/>
            <a:ext cx="10362895" cy="731520"/>
          </a:xfrm>
          <a:prstGeom prst="rect">
            <a:avLst/>
          </a:prstGeom>
          <a:noFill/>
          <a:ln/>
        </p:spPr>
        <p:txBody>
          <a:bodyPr wrap="square" lIns="0" tIns="0" rIns="0" bIns="0" rtlCol="0" anchor="ctr"/>
          <a:lstStyle/>
          <a:p>
            <a:pPr rtl="1" algn="ctr" indent="0" marL="0">
              <a:buNone/>
            </a:pPr>
            <a:r>
              <a:rPr lang="he-IL" altLang="en-US" sz="3800" b="1" dirty="0">
                <a:solidFill>
                  <a:srgbClr val="FFFFFF"/>
                </a:solidFill>
                <a:latin typeface="Arial" pitchFamily="34" charset="0"/>
                <a:ea typeface="Arial" pitchFamily="34" charset="-122"/>
                <a:cs typeface="Arial" pitchFamily="34" charset="-120"/>
              </a:rPr>
              <a:t>סיום הלומדה והמצגת בהצלחה!</a:t>
            </a:r>
            <a:endParaRPr lang="he-IL" sz="3800" dirty="0"/>
          </a:p>
        </p:txBody>
      </p:sp>
      <p:sp>
        <p:nvSpPr>
          <p:cNvPr id="4" name="Text 1"/>
          <p:cNvSpPr txBox="1"/>
          <p:nvPr/>
        </p:nvSpPr>
        <p:spPr>
          <a:xfrm>
            <a:off x="1737360" y="4160520"/>
            <a:ext cx="8716975" cy="1371600"/>
          </a:xfrm>
          <a:prstGeom prst="rect">
            <a:avLst/>
          </a:prstGeom>
          <a:noFill/>
          <a:ln/>
        </p:spPr>
        <p:txBody>
          <a:bodyPr wrap="square" lIns="0" tIns="0" rIns="0" bIns="0" rtlCol="0" anchor="t"/>
          <a:lstStyle/>
          <a:p>
            <a:pPr rtl="1" algn="ctr" indent="0" marL="0">
              <a:buNone/>
            </a:pPr>
            <a:r>
              <a:rPr lang="he-IL" altLang="en-US" sz="1800" dirty="0">
                <a:solidFill>
                  <a:srgbClr val="D6D0F0"/>
                </a:solidFill>
                <a:latin typeface="Arial" pitchFamily="34" charset="0"/>
                <a:ea typeface="Arial" pitchFamily="34" charset="-122"/>
                <a:cs typeface="Arial" pitchFamily="34" charset="-120"/>
              </a:rPr>
              <a:t>המקרה של יעקב ממחיש את המהפך הטיפולי שמאפשר טיפול מבוסס GLP-1 RA (Wegovy 2.4mg) במטופלי סוכרת והשמנה מורכבים – שיפור דרמטי באיזון הסוכרת, ירידה במשקל, הפחתת עומס אינסולין והגנה טרשתית מצילת חיים.</a:t>
            </a:r>
            <a:endParaRPr lang="he-IL" sz="1800" dirty="0"/>
          </a:p>
        </p:txBody>
      </p:sp>
      <p:sp>
        <p:nvSpPr>
          <p:cNvPr id="5" name="Text 2"/>
          <p:cNvSpPr txBox="1"/>
          <p:nvPr/>
        </p:nvSpPr>
        <p:spPr>
          <a:xfrm>
            <a:off x="914400" y="5943600"/>
            <a:ext cx="10362895" cy="365760"/>
          </a:xfrm>
          <a:prstGeom prst="rect">
            <a:avLst/>
          </a:prstGeom>
          <a:noFill/>
          <a:ln/>
        </p:spPr>
        <p:txBody>
          <a:bodyPr wrap="square" lIns="0" tIns="0" rIns="0" bIns="0" rtlCol="0" anchor="t"/>
          <a:lstStyle/>
          <a:p>
            <a:pPr algn="ctr" indent="0" marL="0">
              <a:buNone/>
            </a:pPr>
            <a:r>
              <a:rPr lang="en-US" altLang="en-US" sz="1300" b="1" spc="200" kern="0" dirty="0">
                <a:solidFill>
                  <a:srgbClr val="9CC4EE"/>
                </a:solidFill>
                <a:latin typeface="Arial" pitchFamily="34" charset="0"/>
                <a:ea typeface="Arial" pitchFamily="34" charset="-122"/>
                <a:cs typeface="Arial" pitchFamily="34" charset="-120"/>
              </a:rPr>
              <a:t>TIFERET ELIAV • Diabetes &amp; AI</a:t>
            </a:r>
            <a:endParaRPr lang="en-US" sz="1300" dirty="0"/>
          </a:p>
        </p:txBody>
      </p:sp>
    </p:spTree>
  </p:cSld>
  <p:clrMapOvr>
    <a:masterClrMapping/>
  </p:clrMapOvr>
</p:sld>
</file>

<file path=ppt/theme/theme1.xml><?xml version="1.0" encoding="utf-8"?>
<a:theme xmlns:a="http://schemas.openxmlformats.org/drawingml/2006/main" name="Tiferet Eliav">
  <a:themeElements>
    <a:clrScheme name="Tiferet Eliav">
      <a:dk1>
        <a:srgbClr val="2E2A47"/>
      </a:dk1>
      <a:lt1>
        <a:srgbClr val="FFFFFF"/>
      </a:lt1>
      <a:dk2>
        <a:srgbClr val="2B2560"/>
      </a:dk2>
      <a:lt2>
        <a:srgbClr val="F3F0FA"/>
      </a:lt2>
      <a:accent1>
        <a:srgbClr val="4A90D0"/>
      </a:accent1>
      <a:accent2>
        <a:srgbClr val="6E4494"/>
      </a:accent2>
      <a:accent3>
        <a:srgbClr val="5B6BB5"/>
      </a:accent3>
      <a:accent4>
        <a:srgbClr val="1F8F83"/>
      </a:accent4>
      <a:accent5>
        <a:srgbClr val="C24863"/>
      </a:accent5>
      <a:accent6>
        <a:srgbClr val="B8741A"/>
      </a:accent6>
      <a:hlink>
        <a:srgbClr val="4A90D0"/>
      </a:hlink>
      <a:folHlink>
        <a:srgbClr val="6E4494"/>
      </a:folHlink>
    </a:clrScheme>
    <a:fontScheme name="Tiferet Eliav">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סימולציית טיפול ב-GLP1 במטופל הסובל מסוכרת והשמנה וסיבוכים נילווים</dc:title>
  <dc:subject>PptxGenJS Presentation</dc:subject>
  <dc:creator>Tiferet Eliav</dc:creator>
  <cp:lastModifiedBy>Tiferet Eliav</cp:lastModifiedBy>
  <cp:revision>1</cp:revision>
  <dcterms:created xsi:type="dcterms:W3CDTF">2026-10-10T17:42:45Z</dcterms:created>
  <dcterms:modified xsi:type="dcterms:W3CDTF">2026-10-10T17:42:45Z</dcterms:modified>
</cp:coreProperties>
</file>