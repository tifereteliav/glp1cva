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image" Target="../media/image-27-1.jp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0284C7"/>
          </a:solidFill>
          <a:ln/>
        </p:spPr>
      </p:sp>
      <p:pic>
        <p:nvPicPr>
          <p:cNvPr id="3" name="Image 0" descr="C:\Users\tifer\OneDrive\שולחן העבודה\אנטיגרביטי\GLP1CVA\public\tiferet_eliav_logo.jpg">    </p:cNvPr>
          <p:cNvPicPr>
            <a:picLocks noChangeAspect="1"/>
          </p:cNvPicPr>
          <p:nvPr/>
        </p:nvPicPr>
        <p:blipFill>
          <a:blip r:embed="rId1"/>
          <a:stretch>
            <a:fillRect/>
          </a:stretch>
        </p:blipFill>
        <p:spPr>
          <a:xfrm>
            <a:off x="4846320" y="731520"/>
            <a:ext cx="2468880" cy="1280160"/>
          </a:xfrm>
          <a:prstGeom prst="rect">
            <a:avLst/>
          </a:prstGeom>
        </p:spPr>
      </p:pic>
      <p:sp>
        <p:nvSpPr>
          <p:cNvPr id="4" name="Text 1"/>
          <p:cNvSpPr/>
          <p:nvPr/>
        </p:nvSpPr>
        <p:spPr>
          <a:xfrm>
            <a:off x="1371600" y="2148840"/>
            <a:ext cx="9418320" cy="365760"/>
          </a:xfrm>
          <a:prstGeom prst="rect">
            <a:avLst/>
          </a:prstGeom>
          <a:noFill/>
          <a:ln/>
        </p:spPr>
        <p:txBody>
          <a:bodyPr wrap="square" rtlCol="0" anchor="ctr"/>
          <a:lstStyle/>
          <a:p>
            <a:pPr algn="ctr" indent="0" marL="0">
              <a:buNone/>
            </a:pPr>
            <a:r>
              <a:rPr lang="en-US" sz="1600" b="1" dirty="0">
                <a:solidFill>
                  <a:srgbClr val="4F46E5"/>
                </a:solidFill>
                <a:latin typeface="Arial" pitchFamily="34" charset="0"/>
                <a:ea typeface="Arial" pitchFamily="34" charset="-122"/>
                <a:cs typeface="Arial" pitchFamily="34" charset="-120"/>
              </a:rPr>
              <a:t>TIFERET ELIAV • Diabetes &amp; AI</a:t>
            </a:r>
            <a:endParaRPr lang="en-US" sz="1600" dirty="0"/>
          </a:p>
        </p:txBody>
      </p:sp>
      <p:sp>
        <p:nvSpPr>
          <p:cNvPr id="5" name="Text 2"/>
          <p:cNvSpPr/>
          <p:nvPr/>
        </p:nvSpPr>
        <p:spPr>
          <a:xfrm>
            <a:off x="731520" y="2606040"/>
            <a:ext cx="10698480" cy="1005840"/>
          </a:xfrm>
          <a:prstGeom prst="rect">
            <a:avLst/>
          </a:prstGeom>
          <a:noFill/>
          <a:ln/>
        </p:spPr>
        <p:txBody>
          <a:bodyPr wrap="square" rtlCol="0" anchor="ctr"/>
          <a:lstStyle/>
          <a:p>
            <a:pPr algn="ctr" indent="0" marL="0">
              <a:buNone/>
            </a:pPr>
            <a:r>
              <a:rPr lang="en-US" sz="2700" b="1" dirty="0">
                <a:solidFill>
                  <a:srgbClr val="0F172A"/>
                </a:solidFill>
                <a:latin typeface="Arial" pitchFamily="34" charset="0"/>
                <a:ea typeface="Arial" pitchFamily="34" charset="-122"/>
                <a:cs typeface="Arial" pitchFamily="34" charset="-120"/>
              </a:rPr>
              <a:t>סימולציית טיפול ב-GLP1 במטופל הסובל מסוכרת והשמנה וסיבוכים נילווים</a:t>
            </a:r>
            <a:endParaRPr lang="en-US" sz="2700" dirty="0"/>
          </a:p>
        </p:txBody>
      </p:sp>
      <p:sp>
        <p:nvSpPr>
          <p:cNvPr id="6" name="Text 3"/>
          <p:cNvSpPr/>
          <p:nvPr/>
        </p:nvSpPr>
        <p:spPr>
          <a:xfrm>
            <a:off x="1097280" y="3749040"/>
            <a:ext cx="10058400" cy="685800"/>
          </a:xfrm>
          <a:prstGeom prst="rect">
            <a:avLst/>
          </a:prstGeom>
          <a:noFill/>
          <a:ln/>
        </p:spPr>
        <p:txBody>
          <a:bodyPr wrap="square" rtlCol="0" anchor="ctr"/>
          <a:lstStyle/>
          <a:p>
            <a:pPr algn="ctr" indent="0" marL="0">
              <a:buNone/>
            </a:pPr>
            <a:r>
              <a:rPr lang="en-US" sz="1350" dirty="0">
                <a:solidFill>
                  <a:srgbClr val="1E293B"/>
                </a:solidFill>
                <a:latin typeface="Arial" pitchFamily="34" charset="0"/>
                <a:ea typeface="Arial" pitchFamily="34" charset="-122"/>
                <a:cs typeface="Arial" pitchFamily="34" charset="-120"/>
              </a:rPr>
              <a:t>מפגש קליני מורכב: יעקב (בן 67) | Double Diabetes (T1D + השמנה BMI 36.1) | רקע CVA 2023 ו-IHD</a:t>
            </a:r>
            <a:endParaRPr lang="en-US" sz="1350" dirty="0"/>
          </a:p>
          <a:p>
            <a:pPr algn="ctr" indent="0" marL="0">
              <a:buNone/>
            </a:pPr>
            <a:r>
              <a:rPr lang="en-US" sz="1350" dirty="0">
                <a:solidFill>
                  <a:srgbClr val="1E293B"/>
                </a:solidFill>
                <a:latin typeface="Arial" pitchFamily="34" charset="0"/>
                <a:ea typeface="Arial" pitchFamily="34" charset="-122"/>
                <a:cs typeface="Arial" pitchFamily="34" charset="-120"/>
              </a:rPr>
              <a:t>ניהול טיפול מתקדם, טיטרציית Wegovy 2.4mg, התאמת מינוני אינסולין וניטור רציף ב-Libre 2</a:t>
            </a:r>
            <a:endParaRPr lang="en-US" sz="1350" dirty="0"/>
          </a:p>
        </p:txBody>
      </p:sp>
      <p:sp>
        <p:nvSpPr>
          <p:cNvPr id="7" name="Shape 4"/>
          <p:cNvSpPr/>
          <p:nvPr/>
        </p:nvSpPr>
        <p:spPr>
          <a:xfrm>
            <a:off x="914400" y="4709160"/>
            <a:ext cx="3291840" cy="1371600"/>
          </a:xfrm>
          <a:prstGeom prst="roundRect">
            <a:avLst/>
          </a:prstGeom>
          <a:solidFill>
            <a:srgbClr val="E0F2FE"/>
          </a:solidFill>
          <a:ln w="19050">
            <a:solidFill>
              <a:srgbClr val="BAE6FD"/>
            </a:solidFill>
            <a:prstDash val="solid"/>
          </a:ln>
        </p:spPr>
      </p:sp>
      <p:sp>
        <p:nvSpPr>
          <p:cNvPr id="8" name="Text 5"/>
          <p:cNvSpPr/>
          <p:nvPr/>
        </p:nvSpPr>
        <p:spPr>
          <a:xfrm>
            <a:off x="1051560" y="4800600"/>
            <a:ext cx="3017520" cy="320040"/>
          </a:xfrm>
          <a:prstGeom prst="rect">
            <a:avLst/>
          </a:prstGeom>
          <a:noFill/>
          <a:ln/>
        </p:spPr>
        <p:txBody>
          <a:bodyPr wrap="square" rtlCol="0" anchor="ctr"/>
          <a:lstStyle/>
          <a:p>
            <a:pPr algn="ctr" indent="0" marL="0">
              <a:buNone/>
            </a:pPr>
            <a:r>
              <a:rPr lang="en-US" sz="1300" b="1" dirty="0">
                <a:solidFill>
                  <a:srgbClr val="0369A1"/>
                </a:solidFill>
                <a:latin typeface="Arial" pitchFamily="34" charset="0"/>
                <a:ea typeface="Arial" pitchFamily="34" charset="-122"/>
                <a:cs typeface="Arial" pitchFamily="34" charset="-120"/>
              </a:rPr>
              <a:t>פרופיל מטופל מורכב</a:t>
            </a:r>
            <a:endParaRPr lang="en-US" sz="1300" dirty="0"/>
          </a:p>
        </p:txBody>
      </p:sp>
      <p:sp>
        <p:nvSpPr>
          <p:cNvPr id="9" name="Text 6"/>
          <p:cNvSpPr/>
          <p:nvPr/>
        </p:nvSpPr>
        <p:spPr>
          <a:xfrm>
            <a:off x="1051560" y="5166360"/>
            <a:ext cx="3017520" cy="82296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שילוב סוכרת סוג 1, השמנה (BMI 36.1), רקע מוחי CVA, צנתור IHD, דום נשימה וכיב ברגל</a:t>
            </a:r>
            <a:endParaRPr lang="en-US" sz="1000" dirty="0"/>
          </a:p>
        </p:txBody>
      </p:sp>
      <p:sp>
        <p:nvSpPr>
          <p:cNvPr id="10" name="Shape 7"/>
          <p:cNvSpPr/>
          <p:nvPr/>
        </p:nvSpPr>
        <p:spPr>
          <a:xfrm>
            <a:off x="4434840" y="4709160"/>
            <a:ext cx="3291840" cy="1371600"/>
          </a:xfrm>
          <a:prstGeom prst="roundRect">
            <a:avLst/>
          </a:prstGeom>
          <a:solidFill>
            <a:srgbClr val="F3E8FF"/>
          </a:solidFill>
          <a:ln w="19050">
            <a:solidFill>
              <a:srgbClr val="E9D5FF"/>
            </a:solidFill>
            <a:prstDash val="solid"/>
          </a:ln>
        </p:spPr>
      </p:sp>
      <p:sp>
        <p:nvSpPr>
          <p:cNvPr id="11" name="Text 8"/>
          <p:cNvSpPr/>
          <p:nvPr/>
        </p:nvSpPr>
        <p:spPr>
          <a:xfrm>
            <a:off x="4572000" y="4800600"/>
            <a:ext cx="3017520" cy="320040"/>
          </a:xfrm>
          <a:prstGeom prst="rect">
            <a:avLst/>
          </a:prstGeom>
          <a:noFill/>
          <a:ln/>
        </p:spPr>
        <p:txBody>
          <a:bodyPr wrap="square" rtlCol="0" anchor="ctr"/>
          <a:lstStyle/>
          <a:p>
            <a:pPr algn="ctr" indent="0" marL="0">
              <a:buNone/>
            </a:pPr>
            <a:r>
              <a:rPr lang="en-US" sz="1300" b="1" dirty="0">
                <a:solidFill>
                  <a:srgbClr val="6B21A8"/>
                </a:solidFill>
                <a:latin typeface="Arial" pitchFamily="34" charset="0"/>
                <a:ea typeface="Arial" pitchFamily="34" charset="-122"/>
                <a:cs typeface="Arial" pitchFamily="34" charset="-120"/>
              </a:rPr>
              <a:t>התאמת טיפול וטיטרציה</a:t>
            </a:r>
            <a:endParaRPr lang="en-US" sz="1300" dirty="0"/>
          </a:p>
        </p:txBody>
      </p:sp>
      <p:sp>
        <p:nvSpPr>
          <p:cNvPr id="12" name="Text 9"/>
          <p:cNvSpPr/>
          <p:nvPr/>
        </p:nvSpPr>
        <p:spPr>
          <a:xfrm>
            <a:off x="4572000" y="5166360"/>
            <a:ext cx="3017520" cy="82296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טיטרציית Wegovy עד 2.4mg, הפחתת 70% באינסולין בולוס והורדת בזאלי ל-36 יחידות</a:t>
            </a:r>
            <a:endParaRPr lang="en-US" sz="1000" dirty="0"/>
          </a:p>
        </p:txBody>
      </p:sp>
      <p:sp>
        <p:nvSpPr>
          <p:cNvPr id="13" name="Shape 10"/>
          <p:cNvSpPr/>
          <p:nvPr/>
        </p:nvSpPr>
        <p:spPr>
          <a:xfrm>
            <a:off x="7955280" y="4709160"/>
            <a:ext cx="3291840" cy="1371600"/>
          </a:xfrm>
          <a:prstGeom prst="roundRect">
            <a:avLst/>
          </a:prstGeom>
          <a:solidFill>
            <a:srgbClr val="DCFCE7"/>
          </a:solidFill>
          <a:ln w="19050">
            <a:solidFill>
              <a:srgbClr val="A7F3D0"/>
            </a:solidFill>
            <a:prstDash val="solid"/>
          </a:ln>
        </p:spPr>
      </p:sp>
      <p:sp>
        <p:nvSpPr>
          <p:cNvPr id="14" name="Text 11"/>
          <p:cNvSpPr/>
          <p:nvPr/>
        </p:nvSpPr>
        <p:spPr>
          <a:xfrm>
            <a:off x="8092440" y="4800600"/>
            <a:ext cx="3017520" cy="320040"/>
          </a:xfrm>
          <a:prstGeom prst="rect">
            <a:avLst/>
          </a:prstGeom>
          <a:noFill/>
          <a:ln/>
        </p:spPr>
        <p:txBody>
          <a:bodyPr wrap="square" rtlCol="0" anchor="ctr"/>
          <a:lstStyle/>
          <a:p>
            <a:pPr algn="ctr" indent="0" marL="0">
              <a:buNone/>
            </a:pPr>
            <a:r>
              <a:rPr lang="en-US" sz="1300" b="1" dirty="0">
                <a:solidFill>
                  <a:srgbClr val="15803D"/>
                </a:solidFill>
                <a:latin typeface="Arial" pitchFamily="34" charset="0"/>
                <a:ea typeface="Arial" pitchFamily="34" charset="-122"/>
                <a:cs typeface="Arial" pitchFamily="34" charset="-120"/>
              </a:rPr>
              <a:t>הישגי חיישן Libre 2</a:t>
            </a:r>
            <a:endParaRPr lang="en-US" sz="1300" dirty="0"/>
          </a:p>
        </p:txBody>
      </p:sp>
      <p:sp>
        <p:nvSpPr>
          <p:cNvPr id="15" name="Text 12"/>
          <p:cNvSpPr/>
          <p:nvPr/>
        </p:nvSpPr>
        <p:spPr>
          <a:xfrm>
            <a:off x="8092440" y="5166360"/>
            <a:ext cx="3017520" cy="82296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זינוק ב-TIR מ-30% ל-79%, סוכר ממוצע 116 mg/dL, GMI 6.1% וירידה של 11 ק"ג</a:t>
            </a:r>
            <a:endParaRPr lang="en-US" sz="1000" dirty="0"/>
          </a:p>
        </p:txBody>
      </p:sp>
      <p:sp>
        <p:nvSpPr>
          <p:cNvPr id="16" name="Shape 13"/>
          <p:cNvSpPr/>
          <p:nvPr/>
        </p:nvSpPr>
        <p:spPr>
          <a:xfrm>
            <a:off x="0" y="6473952"/>
            <a:ext cx="9144000" cy="384048"/>
          </a:xfrm>
          <a:prstGeom prst="rect">
            <a:avLst/>
          </a:prstGeom>
          <a:solidFill>
            <a:srgbClr val="FFFFFF"/>
          </a:solidFill>
          <a:ln w="12700">
            <a:solidFill>
              <a:srgbClr val="E2E8F0"/>
            </a:solidFill>
            <a:prstDash val="solid"/>
          </a:ln>
        </p:spPr>
      </p:sp>
      <p:sp>
        <p:nvSpPr>
          <p:cNvPr id="17" name="Text 14"/>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8" name="Text 15"/>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 / 27</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מפת הדרך הקלינית</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מבנה הלומדה ומסלול הטיפול במטופל</a:t>
            </a:r>
            <a:endParaRPr lang="en-US" sz="2000" dirty="0"/>
          </a:p>
        </p:txBody>
      </p:sp>
      <p:sp>
        <p:nvSpPr>
          <p:cNvPr id="7" name="Shape 4"/>
          <p:cNvSpPr/>
          <p:nvPr/>
        </p:nvSpPr>
        <p:spPr>
          <a:xfrm>
            <a:off x="731520" y="1325880"/>
            <a:ext cx="10698480" cy="868680"/>
          </a:xfrm>
          <a:prstGeom prst="roundRect">
            <a:avLst/>
          </a:prstGeom>
          <a:solidFill>
            <a:srgbClr val="FFFFFF"/>
          </a:solidFill>
          <a:ln w="15240">
            <a:solidFill>
              <a:srgbClr val="E2E8F0"/>
            </a:solidFill>
            <a:prstDash val="solid"/>
          </a:ln>
        </p:spPr>
      </p:sp>
      <p:sp>
        <p:nvSpPr>
          <p:cNvPr id="8" name="Shape 5"/>
          <p:cNvSpPr/>
          <p:nvPr/>
        </p:nvSpPr>
        <p:spPr>
          <a:xfrm>
            <a:off x="9784080" y="1490472"/>
            <a:ext cx="1371600" cy="502920"/>
          </a:xfrm>
          <a:prstGeom prst="roundRect">
            <a:avLst/>
          </a:prstGeom>
          <a:solidFill>
            <a:srgbClr val="E0F2FE"/>
          </a:solidFill>
          <a:ln w="19050">
            <a:solidFill>
              <a:srgbClr val="0284C7"/>
            </a:solidFill>
            <a:prstDash val="solid"/>
          </a:ln>
        </p:spPr>
      </p:sp>
      <p:sp>
        <p:nvSpPr>
          <p:cNvPr id="9" name="Text 6"/>
          <p:cNvSpPr/>
          <p:nvPr/>
        </p:nvSpPr>
        <p:spPr>
          <a:xfrm>
            <a:off x="9784080" y="1554480"/>
            <a:ext cx="1371600" cy="365760"/>
          </a:xfrm>
          <a:prstGeom prst="rect">
            <a:avLst/>
          </a:prstGeom>
          <a:noFill/>
          <a:ln/>
        </p:spPr>
        <p:txBody>
          <a:bodyPr wrap="square" rtlCol="0" anchor="ctr"/>
          <a:lstStyle/>
          <a:p>
            <a:pPr algn="ctr" indent="0" marL="0">
              <a:buNone/>
            </a:pPr>
            <a:r>
              <a:rPr lang="en-US" sz="1200" b="1" dirty="0">
                <a:solidFill>
                  <a:srgbClr val="0284C7"/>
                </a:solidFill>
                <a:latin typeface="Arial" pitchFamily="34" charset="0"/>
                <a:ea typeface="Arial" pitchFamily="34" charset="-122"/>
                <a:cs typeface="Arial" pitchFamily="34" charset="-120"/>
              </a:rPr>
              <a:t>שלב 1</a:t>
            </a:r>
            <a:endParaRPr lang="en-US" sz="1200" dirty="0"/>
          </a:p>
        </p:txBody>
      </p:sp>
      <p:sp>
        <p:nvSpPr>
          <p:cNvPr id="10" name="Text 7"/>
          <p:cNvSpPr/>
          <p:nvPr/>
        </p:nvSpPr>
        <p:spPr>
          <a:xfrm>
            <a:off x="1097280" y="1435608"/>
            <a:ext cx="8503920" cy="320040"/>
          </a:xfrm>
          <a:prstGeom prst="rect">
            <a:avLst/>
          </a:prstGeom>
          <a:noFill/>
          <a:ln/>
        </p:spPr>
        <p:txBody>
          <a:bodyPr wrap="square" rtlCol="0" anchor="ctr"/>
          <a:lstStyle/>
          <a:p>
            <a:pPr algn="r" indent="0" marL="0">
              <a:buNone/>
            </a:pPr>
            <a:r>
              <a:rPr lang="en-US" sz="1400" b="1" dirty="0">
                <a:solidFill>
                  <a:srgbClr val="0F172A"/>
                </a:solidFill>
                <a:latin typeface="Arial" pitchFamily="34" charset="0"/>
                <a:ea typeface="Arial" pitchFamily="34" charset="-122"/>
                <a:cs typeface="Arial" pitchFamily="34" charset="-120"/>
              </a:rPr>
              <a:t>קבלת המטופל והערכה ראשונית</a:t>
            </a:r>
            <a:endParaRPr lang="en-US" sz="1400" dirty="0"/>
          </a:p>
        </p:txBody>
      </p:sp>
      <p:sp>
        <p:nvSpPr>
          <p:cNvPr id="11" name="Text 8"/>
          <p:cNvSpPr/>
          <p:nvPr/>
        </p:nvSpPr>
        <p:spPr>
          <a:xfrm>
            <a:off x="1097280" y="1764792"/>
            <a:ext cx="8503920" cy="347472"/>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אנמנזה מקיפה, תקשורת מקרבת, מחלות רקע, מעבדה, בדיקה גופנית ודילמת Double Diabetes</a:t>
            </a:r>
            <a:endParaRPr lang="en-US" sz="1050" dirty="0"/>
          </a:p>
        </p:txBody>
      </p:sp>
      <p:sp>
        <p:nvSpPr>
          <p:cNvPr id="12" name="Shape 9"/>
          <p:cNvSpPr/>
          <p:nvPr/>
        </p:nvSpPr>
        <p:spPr>
          <a:xfrm>
            <a:off x="731520" y="2286000"/>
            <a:ext cx="10698480" cy="868680"/>
          </a:xfrm>
          <a:prstGeom prst="roundRect">
            <a:avLst/>
          </a:prstGeom>
          <a:solidFill>
            <a:srgbClr val="FFFFFF"/>
          </a:solidFill>
          <a:ln w="15240">
            <a:solidFill>
              <a:srgbClr val="E2E8F0"/>
            </a:solidFill>
            <a:prstDash val="solid"/>
          </a:ln>
        </p:spPr>
      </p:sp>
      <p:sp>
        <p:nvSpPr>
          <p:cNvPr id="13" name="Shape 10"/>
          <p:cNvSpPr/>
          <p:nvPr/>
        </p:nvSpPr>
        <p:spPr>
          <a:xfrm>
            <a:off x="9784080" y="2450592"/>
            <a:ext cx="1371600" cy="502920"/>
          </a:xfrm>
          <a:prstGeom prst="roundRect">
            <a:avLst/>
          </a:prstGeom>
          <a:solidFill>
            <a:srgbClr val="CCFBF1"/>
          </a:solidFill>
          <a:ln w="19050">
            <a:solidFill>
              <a:srgbClr val="0D9488"/>
            </a:solidFill>
            <a:prstDash val="solid"/>
          </a:ln>
        </p:spPr>
      </p:sp>
      <p:sp>
        <p:nvSpPr>
          <p:cNvPr id="14" name="Text 11"/>
          <p:cNvSpPr/>
          <p:nvPr/>
        </p:nvSpPr>
        <p:spPr>
          <a:xfrm>
            <a:off x="9784080" y="2514600"/>
            <a:ext cx="1371600" cy="365760"/>
          </a:xfrm>
          <a:prstGeom prst="rect">
            <a:avLst/>
          </a:prstGeom>
          <a:noFill/>
          <a:ln/>
        </p:spPr>
        <p:txBody>
          <a:bodyPr wrap="square" rtlCol="0" anchor="ctr"/>
          <a:lstStyle/>
          <a:p>
            <a:pPr algn="ctr" indent="0" marL="0">
              <a:buNone/>
            </a:pPr>
            <a:r>
              <a:rPr lang="en-US" sz="1200" b="1" dirty="0">
                <a:solidFill>
                  <a:srgbClr val="0D9488"/>
                </a:solidFill>
                <a:latin typeface="Arial" pitchFamily="34" charset="0"/>
                <a:ea typeface="Arial" pitchFamily="34" charset="-122"/>
                <a:cs typeface="Arial" pitchFamily="34" charset="-120"/>
              </a:rPr>
              <a:t>שלב 2</a:t>
            </a:r>
            <a:endParaRPr lang="en-US" sz="1200" dirty="0"/>
          </a:p>
        </p:txBody>
      </p:sp>
      <p:sp>
        <p:nvSpPr>
          <p:cNvPr id="15" name="Text 12"/>
          <p:cNvSpPr/>
          <p:nvPr/>
        </p:nvSpPr>
        <p:spPr>
          <a:xfrm>
            <a:off x="1097280" y="2395728"/>
            <a:ext cx="8503920" cy="320040"/>
          </a:xfrm>
          <a:prstGeom prst="rect">
            <a:avLst/>
          </a:prstGeom>
          <a:noFill/>
          <a:ln/>
        </p:spPr>
        <p:txBody>
          <a:bodyPr wrap="square" rtlCol="0" anchor="ctr"/>
          <a:lstStyle/>
          <a:p>
            <a:pPr algn="r" indent="0" marL="0">
              <a:buNone/>
            </a:pPr>
            <a:r>
              <a:rPr lang="en-US" sz="1400" b="1" dirty="0">
                <a:solidFill>
                  <a:srgbClr val="0F172A"/>
                </a:solidFill>
                <a:latin typeface="Arial" pitchFamily="34" charset="0"/>
                <a:ea typeface="Arial" pitchFamily="34" charset="-122"/>
                <a:cs typeface="Arial" pitchFamily="34" charset="-120"/>
              </a:rPr>
              <a:t>ביקור ראשון (חלק ב')</a:t>
            </a:r>
            <a:endParaRPr lang="en-US" sz="1400" dirty="0"/>
          </a:p>
        </p:txBody>
      </p:sp>
      <p:sp>
        <p:nvSpPr>
          <p:cNvPr id="16" name="Text 13"/>
          <p:cNvSpPr/>
          <p:nvPr/>
        </p:nvSpPr>
        <p:spPr>
          <a:xfrm>
            <a:off x="1097280" y="2724912"/>
            <a:ext cx="8503920" cy="347472"/>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החלטה על אינסולין קצר טווח, פריקת Libre, בדיקת הזרקות, ראיות מחקריות (STEP, SELECT, שב"ן)</a:t>
            </a:r>
            <a:endParaRPr lang="en-US" sz="1050" dirty="0"/>
          </a:p>
        </p:txBody>
      </p:sp>
      <p:sp>
        <p:nvSpPr>
          <p:cNvPr id="17" name="Shape 14"/>
          <p:cNvSpPr/>
          <p:nvPr/>
        </p:nvSpPr>
        <p:spPr>
          <a:xfrm>
            <a:off x="731520" y="3246120"/>
            <a:ext cx="10698480" cy="868680"/>
          </a:xfrm>
          <a:prstGeom prst="roundRect">
            <a:avLst/>
          </a:prstGeom>
          <a:solidFill>
            <a:srgbClr val="FFFFFF"/>
          </a:solidFill>
          <a:ln w="15240">
            <a:solidFill>
              <a:srgbClr val="E2E8F0"/>
            </a:solidFill>
            <a:prstDash val="solid"/>
          </a:ln>
        </p:spPr>
      </p:sp>
      <p:sp>
        <p:nvSpPr>
          <p:cNvPr id="18" name="Shape 15"/>
          <p:cNvSpPr/>
          <p:nvPr/>
        </p:nvSpPr>
        <p:spPr>
          <a:xfrm>
            <a:off x="9784080" y="3410712"/>
            <a:ext cx="1371600" cy="502920"/>
          </a:xfrm>
          <a:prstGeom prst="roundRect">
            <a:avLst/>
          </a:prstGeom>
          <a:solidFill>
            <a:srgbClr val="F3E8FF"/>
          </a:solidFill>
          <a:ln w="19050">
            <a:solidFill>
              <a:srgbClr val="7E22CE"/>
            </a:solidFill>
            <a:prstDash val="solid"/>
          </a:ln>
        </p:spPr>
      </p:sp>
      <p:sp>
        <p:nvSpPr>
          <p:cNvPr id="19" name="Text 16"/>
          <p:cNvSpPr/>
          <p:nvPr/>
        </p:nvSpPr>
        <p:spPr>
          <a:xfrm>
            <a:off x="9784080" y="3474720"/>
            <a:ext cx="1371600" cy="365760"/>
          </a:xfrm>
          <a:prstGeom prst="rect">
            <a:avLst/>
          </a:prstGeom>
          <a:noFill/>
          <a:ln/>
        </p:spPr>
        <p:txBody>
          <a:bodyPr wrap="square" rtlCol="0" anchor="ctr"/>
          <a:lstStyle/>
          <a:p>
            <a:pPr algn="ctr" indent="0" marL="0">
              <a:buNone/>
            </a:pPr>
            <a:r>
              <a:rPr lang="en-US" sz="1200" b="1" dirty="0">
                <a:solidFill>
                  <a:srgbClr val="7E22CE"/>
                </a:solidFill>
                <a:latin typeface="Arial" pitchFamily="34" charset="0"/>
                <a:ea typeface="Arial" pitchFamily="34" charset="-122"/>
                <a:cs typeface="Arial" pitchFamily="34" charset="-120"/>
              </a:rPr>
              <a:t>שלב 3</a:t>
            </a:r>
            <a:endParaRPr lang="en-US" sz="1200" dirty="0"/>
          </a:p>
        </p:txBody>
      </p:sp>
      <p:sp>
        <p:nvSpPr>
          <p:cNvPr id="20" name="Text 17"/>
          <p:cNvSpPr/>
          <p:nvPr/>
        </p:nvSpPr>
        <p:spPr>
          <a:xfrm>
            <a:off x="1097280" y="3355848"/>
            <a:ext cx="8503920" cy="320040"/>
          </a:xfrm>
          <a:prstGeom prst="rect">
            <a:avLst/>
          </a:prstGeom>
          <a:noFill/>
          <a:ln/>
        </p:spPr>
        <p:txBody>
          <a:bodyPr wrap="square" rtlCol="0" anchor="ctr"/>
          <a:lstStyle/>
          <a:p>
            <a:pPr algn="r" indent="0" marL="0">
              <a:buNone/>
            </a:pPr>
            <a:r>
              <a:rPr lang="en-US" sz="1400" b="1" dirty="0">
                <a:solidFill>
                  <a:srgbClr val="0F172A"/>
                </a:solidFill>
                <a:latin typeface="Arial" pitchFamily="34" charset="0"/>
                <a:ea typeface="Arial" pitchFamily="34" charset="-122"/>
                <a:cs typeface="Arial" pitchFamily="34" charset="-120"/>
              </a:rPr>
              <a:t>מעקב וטיטרציה תחת Wegovy 2.4mg</a:t>
            </a:r>
            <a:endParaRPr lang="en-US" sz="1400" dirty="0"/>
          </a:p>
        </p:txBody>
      </p:sp>
      <p:sp>
        <p:nvSpPr>
          <p:cNvPr id="21" name="Text 18"/>
          <p:cNvSpPr/>
          <p:nvPr/>
        </p:nvSpPr>
        <p:spPr>
          <a:xfrm>
            <a:off x="1097280" y="3685032"/>
            <a:ext cx="8503920" cy="347472"/>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סולם מינוני Wegovy, הורדת 70% באינסולין בולוס, התאמת בזאלי ומניעת היפוגליקמיה</a:t>
            </a:r>
            <a:endParaRPr lang="en-US" sz="1050" dirty="0"/>
          </a:p>
        </p:txBody>
      </p:sp>
      <p:sp>
        <p:nvSpPr>
          <p:cNvPr id="22" name="Shape 19"/>
          <p:cNvSpPr/>
          <p:nvPr/>
        </p:nvSpPr>
        <p:spPr>
          <a:xfrm>
            <a:off x="731520" y="4206240"/>
            <a:ext cx="10698480" cy="868680"/>
          </a:xfrm>
          <a:prstGeom prst="roundRect">
            <a:avLst/>
          </a:prstGeom>
          <a:solidFill>
            <a:srgbClr val="FFFFFF"/>
          </a:solidFill>
          <a:ln w="15240">
            <a:solidFill>
              <a:srgbClr val="E2E8F0"/>
            </a:solidFill>
            <a:prstDash val="solid"/>
          </a:ln>
        </p:spPr>
      </p:sp>
      <p:sp>
        <p:nvSpPr>
          <p:cNvPr id="23" name="Shape 20"/>
          <p:cNvSpPr/>
          <p:nvPr/>
        </p:nvSpPr>
        <p:spPr>
          <a:xfrm>
            <a:off x="9784080" y="4370832"/>
            <a:ext cx="1371600" cy="502920"/>
          </a:xfrm>
          <a:prstGeom prst="roundRect">
            <a:avLst/>
          </a:prstGeom>
          <a:solidFill>
            <a:srgbClr val="DCFCE7"/>
          </a:solidFill>
          <a:ln w="19050">
            <a:solidFill>
              <a:srgbClr val="10B981"/>
            </a:solidFill>
            <a:prstDash val="solid"/>
          </a:ln>
        </p:spPr>
      </p:sp>
      <p:sp>
        <p:nvSpPr>
          <p:cNvPr id="24" name="Text 21"/>
          <p:cNvSpPr/>
          <p:nvPr/>
        </p:nvSpPr>
        <p:spPr>
          <a:xfrm>
            <a:off x="9784080" y="4434840"/>
            <a:ext cx="1371600" cy="365760"/>
          </a:xfrm>
          <a:prstGeom prst="rect">
            <a:avLst/>
          </a:prstGeom>
          <a:noFill/>
          <a:ln/>
        </p:spPr>
        <p:txBody>
          <a:bodyPr wrap="square" rtlCol="0" anchor="ctr"/>
          <a:lstStyle/>
          <a:p>
            <a:pPr algn="ctr" indent="0" marL="0">
              <a:buNone/>
            </a:pPr>
            <a:r>
              <a:rPr lang="en-US" sz="1200" b="1" dirty="0">
                <a:solidFill>
                  <a:srgbClr val="10B981"/>
                </a:solidFill>
                <a:latin typeface="Arial" pitchFamily="34" charset="0"/>
                <a:ea typeface="Arial" pitchFamily="34" charset="-122"/>
                <a:cs typeface="Arial" pitchFamily="34" charset="-120"/>
              </a:rPr>
              <a:t>שלב 4</a:t>
            </a:r>
            <a:endParaRPr lang="en-US" sz="1200" dirty="0"/>
          </a:p>
        </p:txBody>
      </p:sp>
      <p:sp>
        <p:nvSpPr>
          <p:cNvPr id="25" name="Text 22"/>
          <p:cNvSpPr/>
          <p:nvPr/>
        </p:nvSpPr>
        <p:spPr>
          <a:xfrm>
            <a:off x="1097280" y="4315968"/>
            <a:ext cx="8503920" cy="320040"/>
          </a:xfrm>
          <a:prstGeom prst="rect">
            <a:avLst/>
          </a:prstGeom>
          <a:noFill/>
          <a:ln/>
        </p:spPr>
        <p:txBody>
          <a:bodyPr wrap="square" rtlCol="0" anchor="ctr"/>
          <a:lstStyle/>
          <a:p>
            <a:pPr algn="r" indent="0" marL="0">
              <a:buNone/>
            </a:pPr>
            <a:r>
              <a:rPr lang="en-US" sz="1400" b="1" dirty="0">
                <a:solidFill>
                  <a:srgbClr val="0F172A"/>
                </a:solidFill>
                <a:latin typeface="Arial" pitchFamily="34" charset="0"/>
                <a:ea typeface="Arial" pitchFamily="34" charset="-122"/>
                <a:cs typeface="Arial" pitchFamily="34" charset="-120"/>
              </a:rPr>
              <a:t>ניתוח מדדי חיישן סוכר Libre 2 / AGP</a:t>
            </a:r>
            <a:endParaRPr lang="en-US" sz="1400" dirty="0"/>
          </a:p>
        </p:txBody>
      </p:sp>
      <p:sp>
        <p:nvSpPr>
          <p:cNvPr id="26" name="Text 23"/>
          <p:cNvSpPr/>
          <p:nvPr/>
        </p:nvSpPr>
        <p:spPr>
          <a:xfrm>
            <a:off x="1097280" y="4645152"/>
            <a:ext cx="8503920" cy="347472"/>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זינוק ב-TIR מ-30% ל-79%, סוכר ממוצע 116 mg/dL, GMI 6.1% וניתוח פרופיל יממתי מלא</a:t>
            </a:r>
            <a:endParaRPr lang="en-US" sz="1050" dirty="0"/>
          </a:p>
        </p:txBody>
      </p:sp>
      <p:sp>
        <p:nvSpPr>
          <p:cNvPr id="27" name="Shape 24"/>
          <p:cNvSpPr/>
          <p:nvPr/>
        </p:nvSpPr>
        <p:spPr>
          <a:xfrm>
            <a:off x="731520" y="5166360"/>
            <a:ext cx="10698480" cy="868680"/>
          </a:xfrm>
          <a:prstGeom prst="roundRect">
            <a:avLst/>
          </a:prstGeom>
          <a:solidFill>
            <a:srgbClr val="FFFFFF"/>
          </a:solidFill>
          <a:ln w="15240">
            <a:solidFill>
              <a:srgbClr val="E2E8F0"/>
            </a:solidFill>
            <a:prstDash val="solid"/>
          </a:ln>
        </p:spPr>
      </p:sp>
      <p:sp>
        <p:nvSpPr>
          <p:cNvPr id="28" name="Shape 25"/>
          <p:cNvSpPr/>
          <p:nvPr/>
        </p:nvSpPr>
        <p:spPr>
          <a:xfrm>
            <a:off x="9784080" y="5330952"/>
            <a:ext cx="1371600" cy="502920"/>
          </a:xfrm>
          <a:prstGeom prst="roundRect">
            <a:avLst/>
          </a:prstGeom>
          <a:solidFill>
            <a:srgbClr val="FEF3C7"/>
          </a:solidFill>
          <a:ln w="19050">
            <a:solidFill>
              <a:srgbClr val="D97706"/>
            </a:solidFill>
            <a:prstDash val="solid"/>
          </a:ln>
        </p:spPr>
      </p:sp>
      <p:sp>
        <p:nvSpPr>
          <p:cNvPr id="29" name="Text 26"/>
          <p:cNvSpPr/>
          <p:nvPr/>
        </p:nvSpPr>
        <p:spPr>
          <a:xfrm>
            <a:off x="9784080" y="5394960"/>
            <a:ext cx="1371600" cy="365760"/>
          </a:xfrm>
          <a:prstGeom prst="rect">
            <a:avLst/>
          </a:prstGeom>
          <a:noFill/>
          <a:ln/>
        </p:spPr>
        <p:txBody>
          <a:bodyPr wrap="square" rtlCol="0" anchor="ctr"/>
          <a:lstStyle/>
          <a:p>
            <a:pPr algn="ctr" indent="0" marL="0">
              <a:buNone/>
            </a:pPr>
            <a:r>
              <a:rPr lang="en-US" sz="1200" b="1" dirty="0">
                <a:solidFill>
                  <a:srgbClr val="D97706"/>
                </a:solidFill>
                <a:latin typeface="Arial" pitchFamily="34" charset="0"/>
                <a:ea typeface="Arial" pitchFamily="34" charset="-122"/>
                <a:cs typeface="Arial" pitchFamily="34" charset="-120"/>
              </a:rPr>
              <a:t>שלב 5</a:t>
            </a:r>
            <a:endParaRPr lang="en-US" sz="1200" dirty="0"/>
          </a:p>
        </p:txBody>
      </p:sp>
      <p:sp>
        <p:nvSpPr>
          <p:cNvPr id="30" name="Text 27"/>
          <p:cNvSpPr/>
          <p:nvPr/>
        </p:nvSpPr>
        <p:spPr>
          <a:xfrm>
            <a:off x="1097280" y="5276088"/>
            <a:ext cx="8503920" cy="320040"/>
          </a:xfrm>
          <a:prstGeom prst="rect">
            <a:avLst/>
          </a:prstGeom>
          <a:noFill/>
          <a:ln/>
        </p:spPr>
        <p:txBody>
          <a:bodyPr wrap="square" rtlCol="0" anchor="ctr"/>
          <a:lstStyle/>
          <a:p>
            <a:pPr algn="r" indent="0" marL="0">
              <a:buNone/>
            </a:pPr>
            <a:r>
              <a:rPr lang="en-US" sz="1400" b="1" dirty="0">
                <a:solidFill>
                  <a:srgbClr val="0F172A"/>
                </a:solidFill>
                <a:latin typeface="Arial" pitchFamily="34" charset="0"/>
                <a:ea typeface="Arial" pitchFamily="34" charset="-122"/>
                <a:cs typeface="Arial" pitchFamily="34" charset="-120"/>
              </a:rPr>
              <a:t>סיכום קליני ומסקנות מנחות</a:t>
            </a:r>
            <a:endParaRPr lang="en-US" sz="1400" dirty="0"/>
          </a:p>
        </p:txBody>
      </p:sp>
      <p:sp>
        <p:nvSpPr>
          <p:cNvPr id="31" name="Text 28"/>
          <p:cNvSpPr/>
          <p:nvPr/>
        </p:nvSpPr>
        <p:spPr>
          <a:xfrm>
            <a:off x="1097280" y="5605272"/>
            <a:ext cx="8503920" cy="347472"/>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הטבה במשקל, בשינה ובפצע כף הרגל, הפחתת סיכון טרשתי ועקרונות לפרקטיקה</a:t>
            </a:r>
            <a:endParaRPr lang="en-US" sz="1050" dirty="0"/>
          </a:p>
        </p:txBody>
      </p:sp>
      <p:sp>
        <p:nvSpPr>
          <p:cNvPr id="32" name="Shape 29"/>
          <p:cNvSpPr/>
          <p:nvPr/>
        </p:nvSpPr>
        <p:spPr>
          <a:xfrm>
            <a:off x="0" y="6473952"/>
            <a:ext cx="9144000" cy="384048"/>
          </a:xfrm>
          <a:prstGeom prst="rect">
            <a:avLst/>
          </a:prstGeom>
          <a:solidFill>
            <a:srgbClr val="FFFFFF"/>
          </a:solidFill>
          <a:ln w="12700">
            <a:solidFill>
              <a:srgbClr val="E2E8F0"/>
            </a:solidFill>
            <a:prstDash val="solid"/>
          </a:ln>
        </p:spPr>
      </p:sp>
      <p:sp>
        <p:nvSpPr>
          <p:cNvPr id="33" name="Text 30"/>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4" name="Text 31"/>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 / 27</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קבלת המטופל – תיאור המטופל ורקע משפחתי</a:t>
            </a:r>
            <a:endParaRPr lang="en-US" sz="2000" dirty="0"/>
          </a:p>
        </p:txBody>
      </p:sp>
      <p:sp>
        <p:nvSpPr>
          <p:cNvPr id="7" name="Shape 4"/>
          <p:cNvSpPr/>
          <p:nvPr/>
        </p:nvSpPr>
        <p:spPr>
          <a:xfrm>
            <a:off x="4754880" y="1280160"/>
            <a:ext cx="6675120" cy="4892040"/>
          </a:xfrm>
          <a:prstGeom prst="roundRect">
            <a:avLst/>
          </a:prstGeom>
          <a:solidFill>
            <a:srgbClr val="FFFFFF"/>
          </a:solidFill>
          <a:ln w="15240">
            <a:solidFill>
              <a:srgbClr val="BAE6FD"/>
            </a:solidFill>
            <a:prstDash val="solid"/>
          </a:ln>
        </p:spPr>
      </p:sp>
      <p:sp>
        <p:nvSpPr>
          <p:cNvPr id="8" name="Text 5"/>
          <p:cNvSpPr/>
          <p:nvPr/>
        </p:nvSpPr>
        <p:spPr>
          <a:xfrm>
            <a:off x="5029200" y="1463040"/>
            <a:ext cx="6126480" cy="365760"/>
          </a:xfrm>
          <a:prstGeom prst="rect">
            <a:avLst/>
          </a:prstGeom>
          <a:noFill/>
          <a:ln/>
        </p:spPr>
        <p:txBody>
          <a:bodyPr wrap="square" rtlCol="0" anchor="ctr"/>
          <a:lstStyle/>
          <a:p>
            <a:pPr algn="r" indent="0" marL="0">
              <a:buNone/>
            </a:pPr>
            <a:r>
              <a:rPr lang="en-US" sz="1600" b="1" dirty="0">
                <a:solidFill>
                  <a:srgbClr val="0284C7"/>
                </a:solidFill>
                <a:latin typeface="Arial" pitchFamily="34" charset="0"/>
                <a:ea typeface="Arial" pitchFamily="34" charset="-122"/>
                <a:cs typeface="Arial" pitchFamily="34" charset="-120"/>
              </a:rPr>
              <a:t>פרופיל אישי ומשפחתי – יעקב</a:t>
            </a:r>
            <a:endParaRPr lang="en-US" sz="1600" dirty="0"/>
          </a:p>
        </p:txBody>
      </p:sp>
      <p:sp>
        <p:nvSpPr>
          <p:cNvPr id="9" name="Text 6"/>
          <p:cNvSpPr/>
          <p:nvPr/>
        </p:nvSpPr>
        <p:spPr>
          <a:xfrm>
            <a:off x="5029200" y="1965960"/>
            <a:ext cx="6126480" cy="4023360"/>
          </a:xfrm>
          <a:prstGeom prst="rect">
            <a:avLst/>
          </a:prstGeom>
          <a:noFill/>
          <a:ln/>
        </p:spPr>
        <p:txBody>
          <a:bodyPr wrap="square" rtlCol="0" anchor="ctr"/>
          <a:lstStyle/>
          <a:p>
            <a:pPr algn="r" indent="0" marL="0">
              <a:buNone/>
            </a:pPr>
            <a:r>
              <a:rPr lang="en-US" sz="1150" dirty="0">
                <a:solidFill>
                  <a:srgbClr val="1E293B"/>
                </a:solidFill>
                <a:latin typeface="Arial" pitchFamily="34" charset="0"/>
                <a:ea typeface="Arial" pitchFamily="34" charset="-122"/>
                <a:cs typeface="Arial" pitchFamily="34" charset="-120"/>
              </a:rPr>
              <a:t>•  שם וגיל: יעקב, בן 67 (יליד 1959)</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מצב משפחתי: נשוי + 8 ילדים, אב וסב למשפחה ברוכת ילדים</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תעסוקה ואורח חיים: עובד בישיבה, סדר יום לחוץ, נסיעות וטיסות תכופות לחו"ל</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היסטוריית סוכרת: מאובחנת משנת 2011 (כ-15 שנות מחלה מתועדות)</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סיפור משפחתי: היסטוריה משפחתית מובהקת של סוכרת בקרב קרובי משפחה</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רקע וסקולרי וקרדיווסקולרי: אירוע מוחי CVA (2023) עם שארית קושי בדיבור ואי יציבות, מחלת לב איסכמית IHD לאחר צנתור (חסימות 40%-50%)</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תסמונת דום נשימה בשינה (Severe Sleep Apnea): מאובחנת משנת 2024</a:t>
            </a:r>
            <a:endParaRPr lang="en-US" sz="1150" dirty="0"/>
          </a:p>
          <a:p>
            <a:pPr algn="r" indent="0" marL="0">
              <a:buNone/>
            </a:pP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  כבד שומני (Fatty Liver): מאובחן משנת 1994 (למעלה מ-30 שנה)</a:t>
            </a:r>
            <a:endParaRPr lang="en-US" sz="1150" dirty="0"/>
          </a:p>
        </p:txBody>
      </p:sp>
      <p:sp>
        <p:nvSpPr>
          <p:cNvPr id="10" name="Shape 7"/>
          <p:cNvSpPr/>
          <p:nvPr/>
        </p:nvSpPr>
        <p:spPr>
          <a:xfrm>
            <a:off x="731520" y="1280160"/>
            <a:ext cx="3749040" cy="4892040"/>
          </a:xfrm>
          <a:prstGeom prst="roundRect">
            <a:avLst/>
          </a:prstGeom>
          <a:solidFill>
            <a:srgbClr val="FFFFFF"/>
          </a:solidFill>
          <a:ln w="15240">
            <a:solidFill>
              <a:srgbClr val="E2E8F0"/>
            </a:solidFill>
            <a:prstDash val="solid"/>
          </a:ln>
        </p:spPr>
      </p:sp>
      <p:pic>
        <p:nvPicPr>
          <p:cNvPr id="11" name="Image 1" descr="C:\Users\tifer\OneDrive\שולחן העבודה\אנטיגרביטי\GLP1CVA\public\yaakov_first_visit.png">    </p:cNvPr>
          <p:cNvPicPr>
            <a:picLocks noChangeAspect="1"/>
          </p:cNvPicPr>
          <p:nvPr/>
        </p:nvPicPr>
        <p:blipFill>
          <a:blip r:embed="rId2"/>
          <a:stretch>
            <a:fillRect/>
          </a:stretch>
        </p:blipFill>
        <p:spPr>
          <a:xfrm>
            <a:off x="914400" y="1463040"/>
            <a:ext cx="3383280" cy="2926080"/>
          </a:xfrm>
          <a:prstGeom prst="rect">
            <a:avLst/>
          </a:prstGeom>
        </p:spPr>
      </p:pic>
      <p:sp>
        <p:nvSpPr>
          <p:cNvPr id="12" name="Shape 8"/>
          <p:cNvSpPr/>
          <p:nvPr/>
        </p:nvSpPr>
        <p:spPr>
          <a:xfrm>
            <a:off x="914400" y="4526280"/>
            <a:ext cx="3383280" cy="1463040"/>
          </a:xfrm>
          <a:prstGeom prst="roundRect">
            <a:avLst/>
          </a:prstGeom>
          <a:solidFill>
            <a:srgbClr val="FEF3C7"/>
          </a:solidFill>
          <a:ln w="12700">
            <a:solidFill>
              <a:srgbClr val="FDE68A"/>
            </a:solidFill>
            <a:prstDash val="solid"/>
          </a:ln>
        </p:spPr>
      </p:sp>
      <p:sp>
        <p:nvSpPr>
          <p:cNvPr id="13" name="Text 9"/>
          <p:cNvSpPr/>
          <p:nvPr/>
        </p:nvSpPr>
        <p:spPr>
          <a:xfrm>
            <a:off x="1005840" y="4617720"/>
            <a:ext cx="3200400" cy="274320"/>
          </a:xfrm>
          <a:prstGeom prst="rect">
            <a:avLst/>
          </a:prstGeom>
          <a:noFill/>
          <a:ln/>
        </p:spPr>
        <p:txBody>
          <a:bodyPr wrap="square" rtlCol="0" anchor="ctr"/>
          <a:lstStyle/>
          <a:p>
            <a:pPr algn="r" indent="0" marL="0">
              <a:buNone/>
            </a:pPr>
            <a:r>
              <a:rPr lang="en-US" sz="1100" b="1" dirty="0">
                <a:solidFill>
                  <a:srgbClr val="D97706"/>
                </a:solidFill>
                <a:latin typeface="Arial" pitchFamily="34" charset="0"/>
                <a:ea typeface="Arial" pitchFamily="34" charset="-122"/>
                <a:cs typeface="Arial" pitchFamily="34" charset="-120"/>
              </a:rPr>
              <a:t>נתוני פתיחה קריטיים:</a:t>
            </a:r>
            <a:endParaRPr lang="en-US" sz="1100" dirty="0"/>
          </a:p>
        </p:txBody>
      </p:sp>
      <p:sp>
        <p:nvSpPr>
          <p:cNvPr id="14" name="Text 10"/>
          <p:cNvSpPr/>
          <p:nvPr/>
        </p:nvSpPr>
        <p:spPr>
          <a:xfrm>
            <a:off x="1005840" y="4892040"/>
            <a:ext cx="3200400" cy="1005840"/>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 A1C בסיס: 13.4% (לא מאוזן באופן קיצוני)</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משקל בסיס: 96 ק"ג | גובה: 163 ס"מ</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BMI התחלתי: 36.1 (השמנה דרגה 2)</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נוגדני GAD חיוביים (2.8 U/mL) משנת 2010</a:t>
            </a:r>
            <a:endParaRPr lang="en-US" sz="1000" dirty="0"/>
          </a:p>
        </p:txBody>
      </p:sp>
      <p:sp>
        <p:nvSpPr>
          <p:cNvPr id="15" name="Shape 11"/>
          <p:cNvSpPr/>
          <p:nvPr/>
        </p:nvSpPr>
        <p:spPr>
          <a:xfrm>
            <a:off x="0" y="6473952"/>
            <a:ext cx="9144000" cy="384048"/>
          </a:xfrm>
          <a:prstGeom prst="rect">
            <a:avLst/>
          </a:prstGeom>
          <a:solidFill>
            <a:srgbClr val="FFFFFF"/>
          </a:solidFill>
          <a:ln w="12700">
            <a:solidFill>
              <a:srgbClr val="E2E8F0"/>
            </a:solidFill>
            <a:prstDash val="solid"/>
          </a:ln>
        </p:spPr>
      </p:sp>
      <p:sp>
        <p:nvSpPr>
          <p:cNvPr id="16" name="Text 12"/>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7" name="Text 13"/>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3 / 27</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מחלות רקע של המטופל (Past Medical History)</a:t>
            </a:r>
            <a:endParaRPr lang="en-US" sz="2000" dirty="0"/>
          </a:p>
        </p:txBody>
      </p:sp>
      <p:sp>
        <p:nvSpPr>
          <p:cNvPr id="7" name="Shape 4"/>
          <p:cNvSpPr/>
          <p:nvPr/>
        </p:nvSpPr>
        <p:spPr>
          <a:xfrm>
            <a:off x="4572000" y="1280160"/>
            <a:ext cx="6858000" cy="4892040"/>
          </a:xfrm>
          <a:prstGeom prst="roundRect">
            <a:avLst/>
          </a:prstGeom>
          <a:solidFill>
            <a:srgbClr val="FFFFFF"/>
          </a:solidFill>
          <a:ln w="15240">
            <a:solidFill>
              <a:srgbClr val="FECACA"/>
            </a:solidFill>
            <a:prstDash val="solid"/>
          </a:ln>
        </p:spPr>
      </p:sp>
      <p:sp>
        <p:nvSpPr>
          <p:cNvPr id="8" name="Text 5"/>
          <p:cNvSpPr/>
          <p:nvPr/>
        </p:nvSpPr>
        <p:spPr>
          <a:xfrm>
            <a:off x="4754880" y="1417320"/>
            <a:ext cx="6492240" cy="320040"/>
          </a:xfrm>
          <a:prstGeom prst="rect">
            <a:avLst/>
          </a:prstGeom>
          <a:noFill/>
          <a:ln/>
        </p:spPr>
        <p:txBody>
          <a:bodyPr wrap="square" rtlCol="0" anchor="ctr"/>
          <a:lstStyle/>
          <a:p>
            <a:pPr algn="r" indent="0" marL="0">
              <a:buNone/>
            </a:pPr>
            <a:r>
              <a:rPr lang="en-US" sz="1400" b="1" dirty="0">
                <a:solidFill>
                  <a:srgbClr val="DC2626"/>
                </a:solidFill>
                <a:latin typeface="Arial" pitchFamily="34" charset="0"/>
                <a:ea typeface="Arial" pitchFamily="34" charset="-122"/>
                <a:cs typeface="Arial" pitchFamily="34" charset="-120"/>
              </a:rPr>
              <a:t>רשימת מחלות רקע ואבחנות מתועדות בתיק הרפואי</a:t>
            </a:r>
            <a:endParaRPr lang="en-US" sz="1400" dirty="0"/>
          </a:p>
        </p:txBody>
      </p:sp>
      <p:sp>
        <p:nvSpPr>
          <p:cNvPr id="9" name="Shape 6"/>
          <p:cNvSpPr/>
          <p:nvPr/>
        </p:nvSpPr>
        <p:spPr>
          <a:xfrm>
            <a:off x="4754880" y="1828800"/>
            <a:ext cx="6492240" cy="310896"/>
          </a:xfrm>
          <a:prstGeom prst="roundRect">
            <a:avLst/>
          </a:prstGeom>
          <a:solidFill>
            <a:srgbClr val="F8FAFC"/>
          </a:solidFill>
          <a:ln w="6350">
            <a:solidFill>
              <a:srgbClr val="E2E8F0"/>
            </a:solidFill>
            <a:prstDash val="solid"/>
          </a:ln>
        </p:spPr>
      </p:sp>
      <p:sp>
        <p:nvSpPr>
          <p:cNvPr id="10" name="Text 7"/>
          <p:cNvSpPr/>
          <p:nvPr/>
        </p:nvSpPr>
        <p:spPr>
          <a:xfrm>
            <a:off x="6126480" y="1847088"/>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HYPERLIPIDEMIA UNSPECIFIED (יתר שומנים בדם)</a:t>
            </a:r>
            <a:endParaRPr lang="en-US" sz="950" dirty="0"/>
          </a:p>
        </p:txBody>
      </p:sp>
      <p:sp>
        <p:nvSpPr>
          <p:cNvPr id="11" name="Text 8"/>
          <p:cNvSpPr/>
          <p:nvPr/>
        </p:nvSpPr>
        <p:spPr>
          <a:xfrm>
            <a:off x="4846320" y="1847088"/>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1992</a:t>
            </a:r>
            <a:endParaRPr lang="en-US" sz="900" dirty="0"/>
          </a:p>
        </p:txBody>
      </p:sp>
      <p:sp>
        <p:nvSpPr>
          <p:cNvPr id="12" name="Shape 9"/>
          <p:cNvSpPr/>
          <p:nvPr/>
        </p:nvSpPr>
        <p:spPr>
          <a:xfrm>
            <a:off x="4754880" y="2176272"/>
            <a:ext cx="6492240" cy="310896"/>
          </a:xfrm>
          <a:prstGeom prst="roundRect">
            <a:avLst/>
          </a:prstGeom>
          <a:solidFill>
            <a:srgbClr val="FFFFFF"/>
          </a:solidFill>
          <a:ln w="6350">
            <a:solidFill>
              <a:srgbClr val="E2E8F0"/>
            </a:solidFill>
            <a:prstDash val="solid"/>
          </a:ln>
        </p:spPr>
      </p:sp>
      <p:sp>
        <p:nvSpPr>
          <p:cNvPr id="13" name="Text 10"/>
          <p:cNvSpPr/>
          <p:nvPr/>
        </p:nvSpPr>
        <p:spPr>
          <a:xfrm>
            <a:off x="6126480" y="2194560"/>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FATTY LIVER (כבד שומני)</a:t>
            </a:r>
            <a:endParaRPr lang="en-US" sz="950" dirty="0"/>
          </a:p>
        </p:txBody>
      </p:sp>
      <p:sp>
        <p:nvSpPr>
          <p:cNvPr id="14" name="Text 11"/>
          <p:cNvSpPr/>
          <p:nvPr/>
        </p:nvSpPr>
        <p:spPr>
          <a:xfrm>
            <a:off x="4846320" y="2194560"/>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1994</a:t>
            </a:r>
            <a:endParaRPr lang="en-US" sz="900" dirty="0"/>
          </a:p>
        </p:txBody>
      </p:sp>
      <p:sp>
        <p:nvSpPr>
          <p:cNvPr id="15" name="Shape 12"/>
          <p:cNvSpPr/>
          <p:nvPr/>
        </p:nvSpPr>
        <p:spPr>
          <a:xfrm>
            <a:off x="4754880" y="2523744"/>
            <a:ext cx="6492240" cy="310896"/>
          </a:xfrm>
          <a:prstGeom prst="roundRect">
            <a:avLst/>
          </a:prstGeom>
          <a:solidFill>
            <a:srgbClr val="F8FAFC"/>
          </a:solidFill>
          <a:ln w="6350">
            <a:solidFill>
              <a:srgbClr val="E2E8F0"/>
            </a:solidFill>
            <a:prstDash val="solid"/>
          </a:ln>
        </p:spPr>
      </p:sp>
      <p:sp>
        <p:nvSpPr>
          <p:cNvPr id="16" name="Text 13"/>
          <p:cNvSpPr/>
          <p:nvPr/>
        </p:nvSpPr>
        <p:spPr>
          <a:xfrm>
            <a:off x="6126480" y="2542032"/>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DIABETES MELLITUS NON-INSULIN DEPENDENT</a:t>
            </a:r>
            <a:endParaRPr lang="en-US" sz="950" dirty="0"/>
          </a:p>
        </p:txBody>
      </p:sp>
      <p:sp>
        <p:nvSpPr>
          <p:cNvPr id="17" name="Text 14"/>
          <p:cNvSpPr/>
          <p:nvPr/>
        </p:nvSpPr>
        <p:spPr>
          <a:xfrm>
            <a:off x="4846320" y="2542032"/>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2004 (2011)</a:t>
            </a:r>
            <a:endParaRPr lang="en-US" sz="900" dirty="0"/>
          </a:p>
        </p:txBody>
      </p:sp>
      <p:sp>
        <p:nvSpPr>
          <p:cNvPr id="18" name="Shape 15"/>
          <p:cNvSpPr/>
          <p:nvPr/>
        </p:nvSpPr>
        <p:spPr>
          <a:xfrm>
            <a:off x="4754880" y="2871216"/>
            <a:ext cx="6492240" cy="310896"/>
          </a:xfrm>
          <a:prstGeom prst="roundRect">
            <a:avLst/>
          </a:prstGeom>
          <a:solidFill>
            <a:srgbClr val="FFFFFF"/>
          </a:solidFill>
          <a:ln w="6350">
            <a:solidFill>
              <a:srgbClr val="E2E8F0"/>
            </a:solidFill>
            <a:prstDash val="solid"/>
          </a:ln>
        </p:spPr>
      </p:sp>
      <p:sp>
        <p:nvSpPr>
          <p:cNvPr id="19" name="Text 16"/>
          <p:cNvSpPr/>
          <p:nvPr/>
        </p:nvSpPr>
        <p:spPr>
          <a:xfrm>
            <a:off x="6126480" y="2889504"/>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DISCITIS LUMBAR REGION (L5-L3-S1)</a:t>
            </a:r>
            <a:endParaRPr lang="en-US" sz="950" dirty="0"/>
          </a:p>
        </p:txBody>
      </p:sp>
      <p:sp>
        <p:nvSpPr>
          <p:cNvPr id="20" name="Text 17"/>
          <p:cNvSpPr/>
          <p:nvPr/>
        </p:nvSpPr>
        <p:spPr>
          <a:xfrm>
            <a:off x="4846320" y="2889504"/>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2004</a:t>
            </a:r>
            <a:endParaRPr lang="en-US" sz="900" dirty="0"/>
          </a:p>
        </p:txBody>
      </p:sp>
      <p:sp>
        <p:nvSpPr>
          <p:cNvPr id="21" name="Shape 18"/>
          <p:cNvSpPr/>
          <p:nvPr/>
        </p:nvSpPr>
        <p:spPr>
          <a:xfrm>
            <a:off x="4754880" y="3218688"/>
            <a:ext cx="6492240" cy="310896"/>
          </a:xfrm>
          <a:prstGeom prst="roundRect">
            <a:avLst/>
          </a:prstGeom>
          <a:solidFill>
            <a:srgbClr val="F8FAFC"/>
          </a:solidFill>
          <a:ln w="6350">
            <a:solidFill>
              <a:srgbClr val="E2E8F0"/>
            </a:solidFill>
            <a:prstDash val="solid"/>
          </a:ln>
        </p:spPr>
      </p:sp>
      <p:sp>
        <p:nvSpPr>
          <p:cNvPr id="22" name="Text 19"/>
          <p:cNvSpPr/>
          <p:nvPr/>
        </p:nvSpPr>
        <p:spPr>
          <a:xfrm>
            <a:off x="6126480" y="3236976"/>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OBESITY (BMI 36.1, משקל 96 ק"ג)</a:t>
            </a:r>
            <a:endParaRPr lang="en-US" sz="950" dirty="0"/>
          </a:p>
        </p:txBody>
      </p:sp>
      <p:sp>
        <p:nvSpPr>
          <p:cNvPr id="23" name="Text 20"/>
          <p:cNvSpPr/>
          <p:nvPr/>
        </p:nvSpPr>
        <p:spPr>
          <a:xfrm>
            <a:off x="4846320" y="3236976"/>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2012</a:t>
            </a:r>
            <a:endParaRPr lang="en-US" sz="900" dirty="0"/>
          </a:p>
        </p:txBody>
      </p:sp>
      <p:sp>
        <p:nvSpPr>
          <p:cNvPr id="24" name="Shape 21"/>
          <p:cNvSpPr/>
          <p:nvPr/>
        </p:nvSpPr>
        <p:spPr>
          <a:xfrm>
            <a:off x="4754880" y="3566160"/>
            <a:ext cx="6492240" cy="310896"/>
          </a:xfrm>
          <a:prstGeom prst="roundRect">
            <a:avLst/>
          </a:prstGeom>
          <a:solidFill>
            <a:srgbClr val="FFFFFF"/>
          </a:solidFill>
          <a:ln w="6350">
            <a:solidFill>
              <a:srgbClr val="E2E8F0"/>
            </a:solidFill>
            <a:prstDash val="solid"/>
          </a:ln>
        </p:spPr>
      </p:sp>
      <p:sp>
        <p:nvSpPr>
          <p:cNvPr id="25" name="Text 22"/>
          <p:cNvSpPr/>
          <p:nvPr/>
        </p:nvSpPr>
        <p:spPr>
          <a:xfrm>
            <a:off x="6126480" y="3584448"/>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RIGHT HEART CARDIAC CATHETERIZATION (צנתור LAD 50%, RCA 40%)</a:t>
            </a:r>
            <a:endParaRPr lang="en-US" sz="950" dirty="0"/>
          </a:p>
        </p:txBody>
      </p:sp>
      <p:sp>
        <p:nvSpPr>
          <p:cNvPr id="26" name="Text 23"/>
          <p:cNvSpPr/>
          <p:nvPr/>
        </p:nvSpPr>
        <p:spPr>
          <a:xfrm>
            <a:off x="4846320" y="3584448"/>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2019</a:t>
            </a:r>
            <a:endParaRPr lang="en-US" sz="900" dirty="0"/>
          </a:p>
        </p:txBody>
      </p:sp>
      <p:sp>
        <p:nvSpPr>
          <p:cNvPr id="27" name="Shape 24"/>
          <p:cNvSpPr/>
          <p:nvPr/>
        </p:nvSpPr>
        <p:spPr>
          <a:xfrm>
            <a:off x="4754880" y="3913632"/>
            <a:ext cx="6492240" cy="310896"/>
          </a:xfrm>
          <a:prstGeom prst="roundRect">
            <a:avLst/>
          </a:prstGeom>
          <a:solidFill>
            <a:srgbClr val="F8FAFC"/>
          </a:solidFill>
          <a:ln w="6350">
            <a:solidFill>
              <a:srgbClr val="E2E8F0"/>
            </a:solidFill>
            <a:prstDash val="solid"/>
          </a:ln>
        </p:spPr>
      </p:sp>
      <p:sp>
        <p:nvSpPr>
          <p:cNvPr id="28" name="Text 25"/>
          <p:cNvSpPr/>
          <p:nvPr/>
        </p:nvSpPr>
        <p:spPr>
          <a:xfrm>
            <a:off x="6126480" y="3931920"/>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ISCHEMIC HEART DISEASE (IHD - מחלת לב כלילית)</a:t>
            </a:r>
            <a:endParaRPr lang="en-US" sz="950" dirty="0"/>
          </a:p>
        </p:txBody>
      </p:sp>
      <p:sp>
        <p:nvSpPr>
          <p:cNvPr id="29" name="Text 26"/>
          <p:cNvSpPr/>
          <p:nvPr/>
        </p:nvSpPr>
        <p:spPr>
          <a:xfrm>
            <a:off x="4846320" y="3931920"/>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2019</a:t>
            </a:r>
            <a:endParaRPr lang="en-US" sz="900" dirty="0"/>
          </a:p>
        </p:txBody>
      </p:sp>
      <p:sp>
        <p:nvSpPr>
          <p:cNvPr id="30" name="Shape 27"/>
          <p:cNvSpPr/>
          <p:nvPr/>
        </p:nvSpPr>
        <p:spPr>
          <a:xfrm>
            <a:off x="4754880" y="4261104"/>
            <a:ext cx="6492240" cy="310896"/>
          </a:xfrm>
          <a:prstGeom prst="roundRect">
            <a:avLst/>
          </a:prstGeom>
          <a:solidFill>
            <a:srgbClr val="FFFFFF"/>
          </a:solidFill>
          <a:ln w="6350">
            <a:solidFill>
              <a:srgbClr val="E2E8F0"/>
            </a:solidFill>
            <a:prstDash val="solid"/>
          </a:ln>
        </p:spPr>
      </p:sp>
      <p:sp>
        <p:nvSpPr>
          <p:cNvPr id="31" name="Text 28"/>
          <p:cNvSpPr/>
          <p:nvPr/>
        </p:nvSpPr>
        <p:spPr>
          <a:xfrm>
            <a:off x="6126480" y="4279392"/>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CORONARY ATHEROSCLEROSIS (טרשת עורקים כלילית)</a:t>
            </a:r>
            <a:endParaRPr lang="en-US" sz="950" dirty="0"/>
          </a:p>
        </p:txBody>
      </p:sp>
      <p:sp>
        <p:nvSpPr>
          <p:cNvPr id="32" name="Text 29"/>
          <p:cNvSpPr/>
          <p:nvPr/>
        </p:nvSpPr>
        <p:spPr>
          <a:xfrm>
            <a:off x="4846320" y="4279392"/>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2019</a:t>
            </a:r>
            <a:endParaRPr lang="en-US" sz="900" dirty="0"/>
          </a:p>
        </p:txBody>
      </p:sp>
      <p:sp>
        <p:nvSpPr>
          <p:cNvPr id="33" name="Shape 30"/>
          <p:cNvSpPr/>
          <p:nvPr/>
        </p:nvSpPr>
        <p:spPr>
          <a:xfrm>
            <a:off x="4754880" y="4608576"/>
            <a:ext cx="6492240" cy="310896"/>
          </a:xfrm>
          <a:prstGeom prst="roundRect">
            <a:avLst/>
          </a:prstGeom>
          <a:solidFill>
            <a:srgbClr val="F8FAFC"/>
          </a:solidFill>
          <a:ln w="6350">
            <a:solidFill>
              <a:srgbClr val="E2E8F0"/>
            </a:solidFill>
            <a:prstDash val="solid"/>
          </a:ln>
        </p:spPr>
      </p:sp>
      <p:sp>
        <p:nvSpPr>
          <p:cNvPr id="34" name="Text 31"/>
          <p:cNvSpPr/>
          <p:nvPr/>
        </p:nvSpPr>
        <p:spPr>
          <a:xfrm>
            <a:off x="6126480" y="4626864"/>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HYPERURICEMIA (עודף חומצת שתן בדם)</a:t>
            </a:r>
            <a:endParaRPr lang="en-US" sz="950" dirty="0"/>
          </a:p>
        </p:txBody>
      </p:sp>
      <p:sp>
        <p:nvSpPr>
          <p:cNvPr id="35" name="Text 32"/>
          <p:cNvSpPr/>
          <p:nvPr/>
        </p:nvSpPr>
        <p:spPr>
          <a:xfrm>
            <a:off x="4846320" y="4626864"/>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2019</a:t>
            </a:r>
            <a:endParaRPr lang="en-US" sz="900" dirty="0"/>
          </a:p>
        </p:txBody>
      </p:sp>
      <p:sp>
        <p:nvSpPr>
          <p:cNvPr id="36" name="Shape 33"/>
          <p:cNvSpPr/>
          <p:nvPr/>
        </p:nvSpPr>
        <p:spPr>
          <a:xfrm>
            <a:off x="4754880" y="4956048"/>
            <a:ext cx="6492240" cy="310896"/>
          </a:xfrm>
          <a:prstGeom prst="roundRect">
            <a:avLst/>
          </a:prstGeom>
          <a:solidFill>
            <a:srgbClr val="FFFFFF"/>
          </a:solidFill>
          <a:ln w="6350">
            <a:solidFill>
              <a:srgbClr val="E2E8F0"/>
            </a:solidFill>
            <a:prstDash val="solid"/>
          </a:ln>
        </p:spPr>
      </p:sp>
      <p:sp>
        <p:nvSpPr>
          <p:cNvPr id="37" name="Text 34"/>
          <p:cNvSpPr/>
          <p:nvPr/>
        </p:nvSpPr>
        <p:spPr>
          <a:xfrm>
            <a:off x="6126480" y="4974336"/>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CEREBROVASCULAR ACCIDENT - CVA (אירוע מוחי)</a:t>
            </a:r>
            <a:endParaRPr lang="en-US" sz="950" dirty="0"/>
          </a:p>
        </p:txBody>
      </p:sp>
      <p:sp>
        <p:nvSpPr>
          <p:cNvPr id="38" name="Text 35"/>
          <p:cNvSpPr/>
          <p:nvPr/>
        </p:nvSpPr>
        <p:spPr>
          <a:xfrm>
            <a:off x="4846320" y="4974336"/>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2023</a:t>
            </a:r>
            <a:endParaRPr lang="en-US" sz="900" dirty="0"/>
          </a:p>
        </p:txBody>
      </p:sp>
      <p:sp>
        <p:nvSpPr>
          <p:cNvPr id="39" name="Shape 36"/>
          <p:cNvSpPr/>
          <p:nvPr/>
        </p:nvSpPr>
        <p:spPr>
          <a:xfrm>
            <a:off x="4754880" y="5303520"/>
            <a:ext cx="6492240" cy="310896"/>
          </a:xfrm>
          <a:prstGeom prst="roundRect">
            <a:avLst/>
          </a:prstGeom>
          <a:solidFill>
            <a:srgbClr val="F8FAFC"/>
          </a:solidFill>
          <a:ln w="6350">
            <a:solidFill>
              <a:srgbClr val="E2E8F0"/>
            </a:solidFill>
            <a:prstDash val="solid"/>
          </a:ln>
        </p:spPr>
      </p:sp>
      <p:sp>
        <p:nvSpPr>
          <p:cNvPr id="40" name="Text 37"/>
          <p:cNvSpPr/>
          <p:nvPr/>
        </p:nvSpPr>
        <p:spPr>
          <a:xfrm>
            <a:off x="6126480" y="5321808"/>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SLEEP APNEA SEVERE (דום נשימה בשינה חמור)</a:t>
            </a:r>
            <a:endParaRPr lang="en-US" sz="950" dirty="0"/>
          </a:p>
        </p:txBody>
      </p:sp>
      <p:sp>
        <p:nvSpPr>
          <p:cNvPr id="41" name="Text 38"/>
          <p:cNvSpPr/>
          <p:nvPr/>
        </p:nvSpPr>
        <p:spPr>
          <a:xfrm>
            <a:off x="4846320" y="5321808"/>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2024</a:t>
            </a:r>
            <a:endParaRPr lang="en-US" sz="900" dirty="0"/>
          </a:p>
        </p:txBody>
      </p:sp>
      <p:sp>
        <p:nvSpPr>
          <p:cNvPr id="42" name="Shape 39"/>
          <p:cNvSpPr/>
          <p:nvPr/>
        </p:nvSpPr>
        <p:spPr>
          <a:xfrm>
            <a:off x="4754880" y="5650992"/>
            <a:ext cx="6492240" cy="310896"/>
          </a:xfrm>
          <a:prstGeom prst="roundRect">
            <a:avLst/>
          </a:prstGeom>
          <a:solidFill>
            <a:srgbClr val="FFFFFF"/>
          </a:solidFill>
          <a:ln w="6350">
            <a:solidFill>
              <a:srgbClr val="E2E8F0"/>
            </a:solidFill>
            <a:prstDash val="solid"/>
          </a:ln>
        </p:spPr>
      </p:sp>
      <p:sp>
        <p:nvSpPr>
          <p:cNvPr id="43" name="Text 40"/>
          <p:cNvSpPr/>
          <p:nvPr/>
        </p:nvSpPr>
        <p:spPr>
          <a:xfrm>
            <a:off x="6126480" y="5669280"/>
            <a:ext cx="5029200" cy="274320"/>
          </a:xfrm>
          <a:prstGeom prst="rect">
            <a:avLst/>
          </a:prstGeom>
          <a:noFill/>
          <a:ln/>
        </p:spPr>
        <p:txBody>
          <a:bodyPr wrap="square" rtlCol="0" anchor="ctr"/>
          <a:lstStyle/>
          <a:p>
            <a:pPr algn="r" indent="0" marL="0">
              <a:buNone/>
            </a:pPr>
            <a:r>
              <a:rPr lang="en-US" sz="950" b="1" dirty="0">
                <a:solidFill>
                  <a:srgbClr val="1E293B"/>
                </a:solidFill>
                <a:latin typeface="Arial" pitchFamily="34" charset="0"/>
                <a:ea typeface="Arial" pitchFamily="34" charset="-122"/>
                <a:cs typeface="Arial" pitchFamily="34" charset="-120"/>
              </a:rPr>
              <a:t>PAST SMOKER (עישן בעבר, הפסיק ב-2012)</a:t>
            </a:r>
            <a:endParaRPr lang="en-US" sz="950" dirty="0"/>
          </a:p>
        </p:txBody>
      </p:sp>
      <p:sp>
        <p:nvSpPr>
          <p:cNvPr id="44" name="Text 41"/>
          <p:cNvSpPr/>
          <p:nvPr/>
        </p:nvSpPr>
        <p:spPr>
          <a:xfrm>
            <a:off x="4846320" y="5669280"/>
            <a:ext cx="1188720" cy="27432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1977-2012</a:t>
            </a:r>
            <a:endParaRPr lang="en-US" sz="900" dirty="0"/>
          </a:p>
        </p:txBody>
      </p:sp>
      <p:sp>
        <p:nvSpPr>
          <p:cNvPr id="45" name="Shape 42"/>
          <p:cNvSpPr/>
          <p:nvPr/>
        </p:nvSpPr>
        <p:spPr>
          <a:xfrm>
            <a:off x="731520" y="1280160"/>
            <a:ext cx="3566160" cy="4892040"/>
          </a:xfrm>
          <a:prstGeom prst="roundRect">
            <a:avLst/>
          </a:prstGeom>
          <a:solidFill>
            <a:srgbClr val="FFFFFF"/>
          </a:solidFill>
          <a:ln w="15240">
            <a:solidFill>
              <a:srgbClr val="E2E8F0"/>
            </a:solidFill>
            <a:prstDash val="solid"/>
          </a:ln>
        </p:spPr>
      </p:sp>
      <p:pic>
        <p:nvPicPr>
          <p:cNvPr id="46" name="Image 1" descr="C:\Users\tifer\OneDrive\שולחן העבודה\אנטיגרביטי\GLP1CVA\public\labs\medical_conditions.jpg">    </p:cNvPr>
          <p:cNvPicPr>
            <a:picLocks noChangeAspect="1"/>
          </p:cNvPicPr>
          <p:nvPr/>
        </p:nvPicPr>
        <p:blipFill>
          <a:blip r:embed="rId2"/>
          <a:stretch>
            <a:fillRect/>
          </a:stretch>
        </p:blipFill>
        <p:spPr>
          <a:xfrm>
            <a:off x="914400" y="1463040"/>
            <a:ext cx="3200400" cy="3017520"/>
          </a:xfrm>
          <a:prstGeom prst="rect">
            <a:avLst/>
          </a:prstGeom>
        </p:spPr>
      </p:pic>
      <p:sp>
        <p:nvSpPr>
          <p:cNvPr id="47" name="Shape 43"/>
          <p:cNvSpPr/>
          <p:nvPr/>
        </p:nvSpPr>
        <p:spPr>
          <a:xfrm>
            <a:off x="914400" y="4617720"/>
            <a:ext cx="3200400" cy="1371600"/>
          </a:xfrm>
          <a:prstGeom prst="roundRect">
            <a:avLst/>
          </a:prstGeom>
          <a:solidFill>
            <a:srgbClr val="EFF6FF"/>
          </a:solidFill>
          <a:ln w="12700">
            <a:solidFill>
              <a:srgbClr val="BFDBFE"/>
            </a:solidFill>
            <a:prstDash val="solid"/>
          </a:ln>
        </p:spPr>
      </p:sp>
      <p:sp>
        <p:nvSpPr>
          <p:cNvPr id="48" name="Text 44"/>
          <p:cNvSpPr/>
          <p:nvPr/>
        </p:nvSpPr>
        <p:spPr>
          <a:xfrm>
            <a:off x="1005840" y="4709160"/>
            <a:ext cx="3017520" cy="27432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משמעות קלינית:</a:t>
            </a:r>
            <a:endParaRPr lang="en-US" sz="1100" dirty="0"/>
          </a:p>
        </p:txBody>
      </p:sp>
      <p:sp>
        <p:nvSpPr>
          <p:cNvPr id="49" name="Text 45"/>
          <p:cNvSpPr/>
          <p:nvPr/>
        </p:nvSpPr>
        <p:spPr>
          <a:xfrm>
            <a:off x="1005840" y="4983480"/>
            <a:ext cx="3017520" cy="91440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ריבוי תחלואה טרשתית (CVA, IHD, צנתור), השמנה משמעותית וכבד שומני מעמידים את המטופל בסיכון קרדיווסקולרי ומוחי גבוה במיוחד ומחייבים הגנה וסקולרית ממוקדת.</a:t>
            </a:r>
            <a:endParaRPr lang="en-US" sz="950" dirty="0"/>
          </a:p>
        </p:txBody>
      </p:sp>
      <p:sp>
        <p:nvSpPr>
          <p:cNvPr id="50" name="Shape 46"/>
          <p:cNvSpPr/>
          <p:nvPr/>
        </p:nvSpPr>
        <p:spPr>
          <a:xfrm>
            <a:off x="0" y="6473952"/>
            <a:ext cx="9144000" cy="384048"/>
          </a:xfrm>
          <a:prstGeom prst="rect">
            <a:avLst/>
          </a:prstGeom>
          <a:solidFill>
            <a:srgbClr val="FFFFFF"/>
          </a:solidFill>
          <a:ln w="12700">
            <a:solidFill>
              <a:srgbClr val="E2E8F0"/>
            </a:solidFill>
            <a:prstDash val="solid"/>
          </a:ln>
        </p:spPr>
      </p:sp>
      <p:sp>
        <p:nvSpPr>
          <p:cNvPr id="51" name="Text 47"/>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52" name="Text 48"/>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4 / 27</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בדיקה גופנית ומדדי סימנים חיוניים</a:t>
            </a:r>
            <a:endParaRPr lang="en-US" sz="2000" dirty="0"/>
          </a:p>
        </p:txBody>
      </p:sp>
      <p:sp>
        <p:nvSpPr>
          <p:cNvPr id="7" name="Shape 4"/>
          <p:cNvSpPr/>
          <p:nvPr/>
        </p:nvSpPr>
        <p:spPr>
          <a:xfrm>
            <a:off x="731520" y="1325880"/>
            <a:ext cx="3474720" cy="1600200"/>
          </a:xfrm>
          <a:prstGeom prst="roundRect">
            <a:avLst/>
          </a:prstGeom>
          <a:solidFill>
            <a:srgbClr val="FEF2F2"/>
          </a:solidFill>
          <a:ln w="15240">
            <a:solidFill>
              <a:srgbClr val="FECACA"/>
            </a:solidFill>
            <a:prstDash val="solid"/>
          </a:ln>
        </p:spPr>
      </p:sp>
      <p:sp>
        <p:nvSpPr>
          <p:cNvPr id="8" name="Text 5"/>
          <p:cNvSpPr/>
          <p:nvPr/>
        </p:nvSpPr>
        <p:spPr>
          <a:xfrm>
            <a:off x="914400" y="1508760"/>
            <a:ext cx="3108960" cy="274320"/>
          </a:xfrm>
          <a:prstGeom prst="rect">
            <a:avLst/>
          </a:prstGeom>
          <a:noFill/>
          <a:ln/>
        </p:spPr>
        <p:txBody>
          <a:bodyPr wrap="square" rtlCol="0" anchor="ctr"/>
          <a:lstStyle/>
          <a:p>
            <a:pPr algn="r" indent="0" marL="0">
              <a:buNone/>
            </a:pPr>
            <a:r>
              <a:rPr lang="en-US" sz="1200" b="1" dirty="0">
                <a:solidFill>
                  <a:srgbClr val="DC2626"/>
                </a:solidFill>
                <a:latin typeface="Arial" pitchFamily="34" charset="0"/>
                <a:ea typeface="Arial" pitchFamily="34" charset="-122"/>
                <a:cs typeface="Arial" pitchFamily="34" charset="-120"/>
              </a:rPr>
              <a:t>לחץ דם</a:t>
            </a:r>
            <a:endParaRPr lang="en-US" sz="1200" dirty="0"/>
          </a:p>
        </p:txBody>
      </p:sp>
      <p:sp>
        <p:nvSpPr>
          <p:cNvPr id="9" name="Text 6"/>
          <p:cNvSpPr/>
          <p:nvPr/>
        </p:nvSpPr>
        <p:spPr>
          <a:xfrm>
            <a:off x="914400" y="1828800"/>
            <a:ext cx="3108960" cy="50292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158/72 mmHg</a:t>
            </a:r>
            <a:endParaRPr lang="en-US" sz="2000" dirty="0"/>
          </a:p>
        </p:txBody>
      </p:sp>
      <p:sp>
        <p:nvSpPr>
          <p:cNvPr id="10" name="Text 7"/>
          <p:cNvSpPr/>
          <p:nvPr/>
        </p:nvSpPr>
        <p:spPr>
          <a:xfrm>
            <a:off x="914400" y="2377440"/>
            <a:ext cx="3108960" cy="365760"/>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יל"ד סיסטולי מוגבר</a:t>
            </a:r>
            <a:endParaRPr lang="en-US" sz="1050" dirty="0"/>
          </a:p>
        </p:txBody>
      </p:sp>
      <p:sp>
        <p:nvSpPr>
          <p:cNvPr id="11" name="Shape 8"/>
          <p:cNvSpPr/>
          <p:nvPr/>
        </p:nvSpPr>
        <p:spPr>
          <a:xfrm>
            <a:off x="4343400" y="1325880"/>
            <a:ext cx="3474720" cy="1600200"/>
          </a:xfrm>
          <a:prstGeom prst="roundRect">
            <a:avLst/>
          </a:prstGeom>
          <a:solidFill>
            <a:srgbClr val="EFF6FF"/>
          </a:solidFill>
          <a:ln w="15240">
            <a:solidFill>
              <a:srgbClr val="BFDBFE"/>
            </a:solidFill>
            <a:prstDash val="solid"/>
          </a:ln>
        </p:spPr>
      </p:sp>
      <p:sp>
        <p:nvSpPr>
          <p:cNvPr id="12" name="Text 9"/>
          <p:cNvSpPr/>
          <p:nvPr/>
        </p:nvSpPr>
        <p:spPr>
          <a:xfrm>
            <a:off x="4526280" y="1508760"/>
            <a:ext cx="3108960" cy="274320"/>
          </a:xfrm>
          <a:prstGeom prst="rect">
            <a:avLst/>
          </a:prstGeom>
          <a:noFill/>
          <a:ln/>
        </p:spPr>
        <p:txBody>
          <a:bodyPr wrap="square" rtlCol="0" anchor="ctr"/>
          <a:lstStyle/>
          <a:p>
            <a:pPr algn="r" indent="0" marL="0">
              <a:buNone/>
            </a:pPr>
            <a:r>
              <a:rPr lang="en-US" sz="1200" b="1" dirty="0">
                <a:solidFill>
                  <a:srgbClr val="0284C7"/>
                </a:solidFill>
                <a:latin typeface="Arial" pitchFamily="34" charset="0"/>
                <a:ea typeface="Arial" pitchFamily="34" charset="-122"/>
                <a:cs typeface="Arial" pitchFamily="34" charset="-120"/>
              </a:rPr>
              <a:t>דופק</a:t>
            </a:r>
            <a:endParaRPr lang="en-US" sz="1200" dirty="0"/>
          </a:p>
        </p:txBody>
      </p:sp>
      <p:sp>
        <p:nvSpPr>
          <p:cNvPr id="13" name="Text 10"/>
          <p:cNvSpPr/>
          <p:nvPr/>
        </p:nvSpPr>
        <p:spPr>
          <a:xfrm>
            <a:off x="4526280" y="1828800"/>
            <a:ext cx="3108960" cy="50292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80 פעימות/דקה</a:t>
            </a:r>
            <a:endParaRPr lang="en-US" sz="2000" dirty="0"/>
          </a:p>
        </p:txBody>
      </p:sp>
      <p:sp>
        <p:nvSpPr>
          <p:cNvPr id="14" name="Text 11"/>
          <p:cNvSpPr/>
          <p:nvPr/>
        </p:nvSpPr>
        <p:spPr>
          <a:xfrm>
            <a:off x="4526280" y="2377440"/>
            <a:ext cx="3108960" cy="365760"/>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קצב לב סדיר</a:t>
            </a:r>
            <a:endParaRPr lang="en-US" sz="1050" dirty="0"/>
          </a:p>
        </p:txBody>
      </p:sp>
      <p:sp>
        <p:nvSpPr>
          <p:cNvPr id="15" name="Shape 12"/>
          <p:cNvSpPr/>
          <p:nvPr/>
        </p:nvSpPr>
        <p:spPr>
          <a:xfrm>
            <a:off x="7955280" y="1325880"/>
            <a:ext cx="3474720" cy="1600200"/>
          </a:xfrm>
          <a:prstGeom prst="roundRect">
            <a:avLst/>
          </a:prstGeom>
          <a:solidFill>
            <a:srgbClr val="FFF7ED"/>
          </a:solidFill>
          <a:ln w="15240">
            <a:solidFill>
              <a:srgbClr val="FED7AA"/>
            </a:solidFill>
            <a:prstDash val="solid"/>
          </a:ln>
        </p:spPr>
      </p:sp>
      <p:sp>
        <p:nvSpPr>
          <p:cNvPr id="16" name="Text 13"/>
          <p:cNvSpPr/>
          <p:nvPr/>
        </p:nvSpPr>
        <p:spPr>
          <a:xfrm>
            <a:off x="8138160" y="1508760"/>
            <a:ext cx="3108960" cy="274320"/>
          </a:xfrm>
          <a:prstGeom prst="rect">
            <a:avLst/>
          </a:prstGeom>
          <a:noFill/>
          <a:ln/>
        </p:spPr>
        <p:txBody>
          <a:bodyPr wrap="square" rtlCol="0" anchor="ctr"/>
          <a:lstStyle/>
          <a:p>
            <a:pPr algn="r" indent="0" marL="0">
              <a:buNone/>
            </a:pPr>
            <a:r>
              <a:rPr lang="en-US" sz="1200" b="1" dirty="0">
                <a:solidFill>
                  <a:srgbClr val="EA580C"/>
                </a:solidFill>
                <a:latin typeface="Arial" pitchFamily="34" charset="0"/>
                <a:ea typeface="Arial" pitchFamily="34" charset="-122"/>
                <a:cs typeface="Arial" pitchFamily="34" charset="-120"/>
              </a:rPr>
              <a:t>משקל וגובה</a:t>
            </a:r>
            <a:endParaRPr lang="en-US" sz="1200" dirty="0"/>
          </a:p>
        </p:txBody>
      </p:sp>
      <p:sp>
        <p:nvSpPr>
          <p:cNvPr id="17" name="Text 14"/>
          <p:cNvSpPr/>
          <p:nvPr/>
        </p:nvSpPr>
        <p:spPr>
          <a:xfrm>
            <a:off x="8138160" y="1828800"/>
            <a:ext cx="3108960" cy="50292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96 ק"ג | 163 ס"מ</a:t>
            </a:r>
            <a:endParaRPr lang="en-US" sz="2000" dirty="0"/>
          </a:p>
        </p:txBody>
      </p:sp>
      <p:sp>
        <p:nvSpPr>
          <p:cNvPr id="18" name="Text 15"/>
          <p:cNvSpPr/>
          <p:nvPr/>
        </p:nvSpPr>
        <p:spPr>
          <a:xfrm>
            <a:off x="8138160" y="2377440"/>
            <a:ext cx="3108960" cy="365760"/>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משקל התחלתי בקבלה</a:t>
            </a:r>
            <a:endParaRPr lang="en-US" sz="1050" dirty="0"/>
          </a:p>
        </p:txBody>
      </p:sp>
      <p:sp>
        <p:nvSpPr>
          <p:cNvPr id="19" name="Shape 16"/>
          <p:cNvSpPr/>
          <p:nvPr/>
        </p:nvSpPr>
        <p:spPr>
          <a:xfrm>
            <a:off x="731520" y="3063240"/>
            <a:ext cx="3474720" cy="1600200"/>
          </a:xfrm>
          <a:prstGeom prst="roundRect">
            <a:avLst/>
          </a:prstGeom>
          <a:solidFill>
            <a:srgbClr val="FEF3C7"/>
          </a:solidFill>
          <a:ln w="15240">
            <a:solidFill>
              <a:srgbClr val="FDE68A"/>
            </a:solidFill>
            <a:prstDash val="solid"/>
          </a:ln>
        </p:spPr>
      </p:sp>
      <p:sp>
        <p:nvSpPr>
          <p:cNvPr id="20" name="Text 17"/>
          <p:cNvSpPr/>
          <p:nvPr/>
        </p:nvSpPr>
        <p:spPr>
          <a:xfrm>
            <a:off x="914400" y="3246120"/>
            <a:ext cx="3108960" cy="274320"/>
          </a:xfrm>
          <a:prstGeom prst="rect">
            <a:avLst/>
          </a:prstGeom>
          <a:noFill/>
          <a:ln/>
        </p:spPr>
        <p:txBody>
          <a:bodyPr wrap="square" rtlCol="0" anchor="ctr"/>
          <a:lstStyle/>
          <a:p>
            <a:pPr algn="r" indent="0" marL="0">
              <a:buNone/>
            </a:pPr>
            <a:r>
              <a:rPr lang="en-US" sz="1200" b="1" dirty="0">
                <a:solidFill>
                  <a:srgbClr val="D97706"/>
                </a:solidFill>
                <a:latin typeface="Arial" pitchFamily="34" charset="0"/>
                <a:ea typeface="Arial" pitchFamily="34" charset="-122"/>
                <a:cs typeface="Arial" pitchFamily="34" charset="-120"/>
              </a:rPr>
              <a:t>מדד מסת גוף BMI</a:t>
            </a:r>
            <a:endParaRPr lang="en-US" sz="1200" dirty="0"/>
          </a:p>
        </p:txBody>
      </p:sp>
      <p:sp>
        <p:nvSpPr>
          <p:cNvPr id="21" name="Text 18"/>
          <p:cNvSpPr/>
          <p:nvPr/>
        </p:nvSpPr>
        <p:spPr>
          <a:xfrm>
            <a:off x="914400" y="3566160"/>
            <a:ext cx="3108960" cy="50292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36.1 kg/m²</a:t>
            </a:r>
            <a:endParaRPr lang="en-US" sz="2000" dirty="0"/>
          </a:p>
        </p:txBody>
      </p:sp>
      <p:sp>
        <p:nvSpPr>
          <p:cNvPr id="22" name="Text 19"/>
          <p:cNvSpPr/>
          <p:nvPr/>
        </p:nvSpPr>
        <p:spPr>
          <a:xfrm>
            <a:off x="914400" y="4114800"/>
            <a:ext cx="3108960" cy="365760"/>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השמנה דרגה 2 (מותניים: 98 ס"מ)</a:t>
            </a:r>
            <a:endParaRPr lang="en-US" sz="1050" dirty="0"/>
          </a:p>
        </p:txBody>
      </p:sp>
      <p:sp>
        <p:nvSpPr>
          <p:cNvPr id="23" name="Shape 20"/>
          <p:cNvSpPr/>
          <p:nvPr/>
        </p:nvSpPr>
        <p:spPr>
          <a:xfrm>
            <a:off x="4343400" y="3063240"/>
            <a:ext cx="3474720" cy="1600200"/>
          </a:xfrm>
          <a:prstGeom prst="roundRect">
            <a:avLst/>
          </a:prstGeom>
          <a:solidFill>
            <a:srgbClr val="F0FDF4"/>
          </a:solidFill>
          <a:ln w="15240">
            <a:solidFill>
              <a:srgbClr val="BBF7D0"/>
            </a:solidFill>
            <a:prstDash val="solid"/>
          </a:ln>
        </p:spPr>
      </p:sp>
      <p:sp>
        <p:nvSpPr>
          <p:cNvPr id="24" name="Text 21"/>
          <p:cNvSpPr/>
          <p:nvPr/>
        </p:nvSpPr>
        <p:spPr>
          <a:xfrm>
            <a:off x="4526280" y="3246120"/>
            <a:ext cx="3108960" cy="274320"/>
          </a:xfrm>
          <a:prstGeom prst="rect">
            <a:avLst/>
          </a:prstGeom>
          <a:noFill/>
          <a:ln/>
        </p:spPr>
        <p:txBody>
          <a:bodyPr wrap="square" rtlCol="0" anchor="ctr"/>
          <a:lstStyle/>
          <a:p>
            <a:pPr algn="r" indent="0" marL="0">
              <a:buNone/>
            </a:pPr>
            <a:r>
              <a:rPr lang="en-US" sz="1200" b="1" dirty="0">
                <a:solidFill>
                  <a:srgbClr val="16A34A"/>
                </a:solidFill>
                <a:latin typeface="Arial" pitchFamily="34" charset="0"/>
                <a:ea typeface="Arial" pitchFamily="34" charset="-122"/>
                <a:cs typeface="Arial" pitchFamily="34" charset="-120"/>
              </a:rPr>
              <a:t>הרגל עישון</a:t>
            </a:r>
            <a:endParaRPr lang="en-US" sz="1200" dirty="0"/>
          </a:p>
        </p:txBody>
      </p:sp>
      <p:sp>
        <p:nvSpPr>
          <p:cNvPr id="25" name="Text 22"/>
          <p:cNvSpPr/>
          <p:nvPr/>
        </p:nvSpPr>
        <p:spPr>
          <a:xfrm>
            <a:off x="4526280" y="3566160"/>
            <a:ext cx="3108960" cy="50292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מעשן בעבר</a:t>
            </a:r>
            <a:endParaRPr lang="en-US" sz="2000" dirty="0"/>
          </a:p>
        </p:txBody>
      </p:sp>
      <p:sp>
        <p:nvSpPr>
          <p:cNvPr id="26" name="Text 23"/>
          <p:cNvSpPr/>
          <p:nvPr/>
        </p:nvSpPr>
        <p:spPr>
          <a:xfrm>
            <a:off x="4526280" y="4114800"/>
            <a:ext cx="3108960" cy="365760"/>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עישן 1977-2012 (הפסיק)</a:t>
            </a:r>
            <a:endParaRPr lang="en-US" sz="1050" dirty="0"/>
          </a:p>
        </p:txBody>
      </p:sp>
      <p:sp>
        <p:nvSpPr>
          <p:cNvPr id="27" name="Shape 24"/>
          <p:cNvSpPr/>
          <p:nvPr/>
        </p:nvSpPr>
        <p:spPr>
          <a:xfrm>
            <a:off x="7955280" y="3063240"/>
            <a:ext cx="3474720" cy="1600200"/>
          </a:xfrm>
          <a:prstGeom prst="roundRect">
            <a:avLst/>
          </a:prstGeom>
          <a:solidFill>
            <a:srgbClr val="FAF5FF"/>
          </a:solidFill>
          <a:ln w="15240">
            <a:solidFill>
              <a:srgbClr val="E9D5FF"/>
            </a:solidFill>
            <a:prstDash val="solid"/>
          </a:ln>
        </p:spPr>
      </p:sp>
      <p:sp>
        <p:nvSpPr>
          <p:cNvPr id="28" name="Text 25"/>
          <p:cNvSpPr/>
          <p:nvPr/>
        </p:nvSpPr>
        <p:spPr>
          <a:xfrm>
            <a:off x="8138160" y="3246120"/>
            <a:ext cx="3108960" cy="274320"/>
          </a:xfrm>
          <a:prstGeom prst="rect">
            <a:avLst/>
          </a:prstGeom>
          <a:noFill/>
          <a:ln/>
        </p:spPr>
        <p:txBody>
          <a:bodyPr wrap="square" rtlCol="0" anchor="ctr"/>
          <a:lstStyle/>
          <a:p>
            <a:pPr algn="r" indent="0" marL="0">
              <a:buNone/>
            </a:pPr>
            <a:r>
              <a:rPr lang="en-US" sz="1200" b="1" dirty="0">
                <a:solidFill>
                  <a:srgbClr val="7E22CE"/>
                </a:solidFill>
                <a:latin typeface="Arial" pitchFamily="34" charset="0"/>
                <a:ea typeface="Arial" pitchFamily="34" charset="-122"/>
                <a:cs typeface="Arial" pitchFamily="34" charset="-120"/>
              </a:rPr>
              <a:t>קרקעית העין</a:t>
            </a:r>
            <a:endParaRPr lang="en-US" sz="1200" dirty="0"/>
          </a:p>
        </p:txBody>
      </p:sp>
      <p:sp>
        <p:nvSpPr>
          <p:cNvPr id="29" name="Text 26"/>
          <p:cNvSpPr/>
          <p:nvPr/>
        </p:nvSpPr>
        <p:spPr>
          <a:xfrm>
            <a:off x="8138160" y="3566160"/>
            <a:ext cx="3108960" cy="50292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NODR</a:t>
            </a:r>
            <a:endParaRPr lang="en-US" sz="2000" dirty="0"/>
          </a:p>
        </p:txBody>
      </p:sp>
      <p:sp>
        <p:nvSpPr>
          <p:cNvPr id="30" name="Text 27"/>
          <p:cNvSpPr/>
          <p:nvPr/>
        </p:nvSpPr>
        <p:spPr>
          <a:xfrm>
            <a:off x="8138160" y="4114800"/>
            <a:ext cx="3108960" cy="365760"/>
          </a:xfrm>
          <a:prstGeom prst="rect">
            <a:avLst/>
          </a:prstGeom>
          <a:noFill/>
          <a:ln/>
        </p:spPr>
        <p:txBody>
          <a:bodyPr wrap="square" rtlCol="0" anchor="ctr"/>
          <a:lstStyle/>
          <a:p>
            <a:pPr algn="r" indent="0" marL="0">
              <a:buNone/>
            </a:pPr>
            <a:r>
              <a:rPr lang="en-US" sz="1050" dirty="0">
                <a:solidFill>
                  <a:srgbClr val="64748B"/>
                </a:solidFill>
                <a:latin typeface="Arial" pitchFamily="34" charset="0"/>
                <a:ea typeface="Arial" pitchFamily="34" charset="-122"/>
                <a:cs typeface="Arial" pitchFamily="34" charset="-120"/>
              </a:rPr>
              <a:t>ללא רטינופתיה סוכרתית נראית</a:t>
            </a:r>
            <a:endParaRPr lang="en-US" sz="1050" dirty="0"/>
          </a:p>
        </p:txBody>
      </p:sp>
      <p:sp>
        <p:nvSpPr>
          <p:cNvPr id="31" name="Shape 28"/>
          <p:cNvSpPr/>
          <p:nvPr/>
        </p:nvSpPr>
        <p:spPr>
          <a:xfrm>
            <a:off x="731520" y="4937760"/>
            <a:ext cx="10698480" cy="1234440"/>
          </a:xfrm>
          <a:prstGeom prst="roundRect">
            <a:avLst/>
          </a:prstGeom>
          <a:solidFill>
            <a:srgbClr val="FFFFFF"/>
          </a:solidFill>
          <a:ln w="15240">
            <a:solidFill>
              <a:srgbClr val="BAE6FD"/>
            </a:solidFill>
            <a:prstDash val="solid"/>
          </a:ln>
        </p:spPr>
      </p:sp>
      <p:sp>
        <p:nvSpPr>
          <p:cNvPr id="32" name="Shape 29"/>
          <p:cNvSpPr/>
          <p:nvPr/>
        </p:nvSpPr>
        <p:spPr>
          <a:xfrm>
            <a:off x="11292840" y="4937760"/>
            <a:ext cx="137160" cy="1234440"/>
          </a:xfrm>
          <a:prstGeom prst="rect">
            <a:avLst/>
          </a:prstGeom>
          <a:solidFill>
            <a:srgbClr val="0284C7"/>
          </a:solidFill>
          <a:ln/>
        </p:spPr>
      </p:sp>
      <p:sp>
        <p:nvSpPr>
          <p:cNvPr id="33" name="Text 30"/>
          <p:cNvSpPr/>
          <p:nvPr/>
        </p:nvSpPr>
        <p:spPr>
          <a:xfrm>
            <a:off x="914400" y="5029200"/>
            <a:ext cx="10241280" cy="320040"/>
          </a:xfrm>
          <a:prstGeom prst="rect">
            <a:avLst/>
          </a:prstGeom>
          <a:noFill/>
          <a:ln/>
        </p:spPr>
        <p:txBody>
          <a:bodyPr wrap="square" rtlCol="0" anchor="ctr"/>
          <a:lstStyle/>
          <a:p>
            <a:pPr algn="r" indent="0" marL="0">
              <a:buNone/>
            </a:pPr>
            <a:r>
              <a:rPr lang="en-US" sz="1300" b="1" dirty="0">
                <a:solidFill>
                  <a:srgbClr val="0284C7"/>
                </a:solidFill>
                <a:latin typeface="Arial" pitchFamily="34" charset="0"/>
                <a:ea typeface="Arial" pitchFamily="34" charset="-122"/>
                <a:cs typeface="Arial" pitchFamily="34" charset="-120"/>
              </a:rPr>
              <a:t>ממצאי בדיקת כפות רגליים והיקפיות:</a:t>
            </a:r>
            <a:endParaRPr lang="en-US" sz="1300" dirty="0"/>
          </a:p>
        </p:txBody>
      </p:sp>
      <p:sp>
        <p:nvSpPr>
          <p:cNvPr id="34" name="Text 31"/>
          <p:cNvSpPr/>
          <p:nvPr/>
        </p:nvSpPr>
        <p:spPr>
          <a:xfrm>
            <a:off x="914400" y="5376672"/>
            <a:ext cx="10241280" cy="685800"/>
          </a:xfrm>
          <a:prstGeom prst="rect">
            <a:avLst/>
          </a:prstGeom>
          <a:noFill/>
          <a:ln/>
        </p:spPr>
        <p:txBody>
          <a:bodyPr wrap="square" rtlCol="0" anchor="ctr"/>
          <a:lstStyle/>
          <a:p>
            <a:pPr algn="r" indent="0" marL="0">
              <a:buNone/>
            </a:pPr>
            <a:r>
              <a:rPr lang="en-US" sz="1150" dirty="0">
                <a:solidFill>
                  <a:srgbClr val="1E293B"/>
                </a:solidFill>
                <a:latin typeface="Arial" pitchFamily="34" charset="0"/>
                <a:ea typeface="Arial" pitchFamily="34" charset="-122"/>
                <a:cs typeface="Arial" pitchFamily="34" charset="-120"/>
              </a:rPr>
              <a:t>דופק טיבאלי חלש ברגל ימין עם נוכחות של כיב פעיל המטופל באופן קבוע במרפאת פצע.</a:t>
            </a:r>
            <a:endParaRPr lang="en-US" sz="1150" dirty="0"/>
          </a:p>
          <a:p>
            <a:pPr algn="r" indent="0" marL="0">
              <a:buNone/>
            </a:pPr>
            <a:r>
              <a:rPr lang="en-US" sz="1150" dirty="0">
                <a:solidFill>
                  <a:srgbClr val="1E293B"/>
                </a:solidFill>
                <a:latin typeface="Arial" pitchFamily="34" charset="0"/>
                <a:ea typeface="Arial" pitchFamily="34" charset="-122"/>
                <a:cs typeface="Arial" pitchFamily="34" charset="-120"/>
              </a:rPr>
              <a:t>המטופל מביע חרדה עמוקה מהכיב ומספר על שכנו שעבר כריתת רגל בעקבות סיבוך דומה.</a:t>
            </a:r>
            <a:endParaRPr lang="en-US" sz="1150" dirty="0"/>
          </a:p>
        </p:txBody>
      </p:sp>
      <p:sp>
        <p:nvSpPr>
          <p:cNvPr id="35" name="Shape 32"/>
          <p:cNvSpPr/>
          <p:nvPr/>
        </p:nvSpPr>
        <p:spPr>
          <a:xfrm>
            <a:off x="0" y="6473952"/>
            <a:ext cx="9144000" cy="384048"/>
          </a:xfrm>
          <a:prstGeom prst="rect">
            <a:avLst/>
          </a:prstGeom>
          <a:solidFill>
            <a:srgbClr val="FFFFFF"/>
          </a:solidFill>
          <a:ln w="12700">
            <a:solidFill>
              <a:srgbClr val="E2E8F0"/>
            </a:solidFill>
            <a:prstDash val="solid"/>
          </a:ln>
        </p:spPr>
      </p:sp>
      <p:sp>
        <p:nvSpPr>
          <p:cNvPr id="36" name="Text 33"/>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7" name="Text 34"/>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5 / 27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בדיקות מעבדה בסיסיות (Baseline Laboratory)</a:t>
            </a:r>
            <a:endParaRPr lang="en-US" sz="2000" dirty="0"/>
          </a:p>
        </p:txBody>
      </p:sp>
      <p:sp>
        <p:nvSpPr>
          <p:cNvPr id="7" name="Shape 4"/>
          <p:cNvSpPr/>
          <p:nvPr/>
        </p:nvSpPr>
        <p:spPr>
          <a:xfrm>
            <a:off x="4389120" y="1280160"/>
            <a:ext cx="7040880" cy="4892040"/>
          </a:xfrm>
          <a:prstGeom prst="roundRect">
            <a:avLst/>
          </a:prstGeom>
          <a:solidFill>
            <a:srgbClr val="FFFFFF"/>
          </a:solidFill>
          <a:ln w="15240">
            <a:solidFill>
              <a:srgbClr val="E2E8F0"/>
            </a:solidFill>
            <a:prstDash val="solid"/>
          </a:ln>
        </p:spPr>
      </p:sp>
      <p:sp>
        <p:nvSpPr>
          <p:cNvPr id="8" name="Shape 5"/>
          <p:cNvSpPr/>
          <p:nvPr/>
        </p:nvSpPr>
        <p:spPr>
          <a:xfrm>
            <a:off x="4572000" y="1463040"/>
            <a:ext cx="6675120" cy="658368"/>
          </a:xfrm>
          <a:prstGeom prst="roundRect">
            <a:avLst/>
          </a:prstGeom>
          <a:solidFill>
            <a:srgbClr val="FEF2F2"/>
          </a:solidFill>
          <a:ln w="10160">
            <a:solidFill>
              <a:srgbClr val="CBD5E1"/>
            </a:solidFill>
            <a:prstDash val="solid"/>
          </a:ln>
        </p:spPr>
      </p:sp>
      <p:sp>
        <p:nvSpPr>
          <p:cNvPr id="9" name="Text 6"/>
          <p:cNvSpPr/>
          <p:nvPr/>
        </p:nvSpPr>
        <p:spPr>
          <a:xfrm>
            <a:off x="8961120" y="1600200"/>
            <a:ext cx="21945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HbA1C בסיס</a:t>
            </a:r>
            <a:endParaRPr lang="en-US" sz="1200" dirty="0"/>
          </a:p>
        </p:txBody>
      </p:sp>
      <p:sp>
        <p:nvSpPr>
          <p:cNvPr id="10" name="Text 7"/>
          <p:cNvSpPr/>
          <p:nvPr/>
        </p:nvSpPr>
        <p:spPr>
          <a:xfrm>
            <a:off x="7498080" y="1572768"/>
            <a:ext cx="1371600" cy="411480"/>
          </a:xfrm>
          <a:prstGeom prst="rect">
            <a:avLst/>
          </a:prstGeom>
          <a:noFill/>
          <a:ln/>
        </p:spPr>
        <p:txBody>
          <a:bodyPr wrap="square" rtlCol="0" anchor="ctr"/>
          <a:lstStyle/>
          <a:p>
            <a:pPr algn="ctr" indent="0" marL="0">
              <a:buNone/>
            </a:pPr>
            <a:r>
              <a:rPr lang="en-US" sz="1600" b="1" dirty="0">
                <a:solidFill>
                  <a:srgbClr val="DC2626"/>
                </a:solidFill>
                <a:latin typeface="Arial" pitchFamily="34" charset="0"/>
                <a:ea typeface="Arial" pitchFamily="34" charset="-122"/>
                <a:cs typeface="Arial" pitchFamily="34" charset="-120"/>
              </a:rPr>
              <a:t>13.4%</a:t>
            </a:r>
            <a:endParaRPr lang="en-US" sz="1600" dirty="0"/>
          </a:p>
        </p:txBody>
      </p:sp>
      <p:sp>
        <p:nvSpPr>
          <p:cNvPr id="11" name="Text 8"/>
          <p:cNvSpPr/>
          <p:nvPr/>
        </p:nvSpPr>
        <p:spPr>
          <a:xfrm>
            <a:off x="4663440" y="1600200"/>
            <a:ext cx="2743200" cy="347472"/>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לא מאוזן באופן קריטי (דצמבר 2025)</a:t>
            </a:r>
            <a:endParaRPr lang="en-US" sz="950" dirty="0"/>
          </a:p>
        </p:txBody>
      </p:sp>
      <p:sp>
        <p:nvSpPr>
          <p:cNvPr id="12" name="Shape 9"/>
          <p:cNvSpPr/>
          <p:nvPr/>
        </p:nvSpPr>
        <p:spPr>
          <a:xfrm>
            <a:off x="4572000" y="2212848"/>
            <a:ext cx="6675120" cy="658368"/>
          </a:xfrm>
          <a:prstGeom prst="roundRect">
            <a:avLst/>
          </a:prstGeom>
          <a:solidFill>
            <a:srgbClr val="FFF7ED"/>
          </a:solidFill>
          <a:ln w="10160">
            <a:solidFill>
              <a:srgbClr val="CBD5E1"/>
            </a:solidFill>
            <a:prstDash val="solid"/>
          </a:ln>
        </p:spPr>
      </p:sp>
      <p:sp>
        <p:nvSpPr>
          <p:cNvPr id="13" name="Text 10"/>
          <p:cNvSpPr/>
          <p:nvPr/>
        </p:nvSpPr>
        <p:spPr>
          <a:xfrm>
            <a:off x="8961120" y="2350008"/>
            <a:ext cx="21945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גלוקוז בצום</a:t>
            </a:r>
            <a:endParaRPr lang="en-US" sz="1200" dirty="0"/>
          </a:p>
        </p:txBody>
      </p:sp>
      <p:sp>
        <p:nvSpPr>
          <p:cNvPr id="14" name="Text 11"/>
          <p:cNvSpPr/>
          <p:nvPr/>
        </p:nvSpPr>
        <p:spPr>
          <a:xfrm>
            <a:off x="7498080" y="2322576"/>
            <a:ext cx="1371600" cy="411480"/>
          </a:xfrm>
          <a:prstGeom prst="rect">
            <a:avLst/>
          </a:prstGeom>
          <a:noFill/>
          <a:ln/>
        </p:spPr>
        <p:txBody>
          <a:bodyPr wrap="square" rtlCol="0" anchor="ctr"/>
          <a:lstStyle/>
          <a:p>
            <a:pPr algn="ctr" indent="0" marL="0">
              <a:buNone/>
            </a:pPr>
            <a:r>
              <a:rPr lang="en-US" sz="1600" b="1" dirty="0">
                <a:solidFill>
                  <a:srgbClr val="EA580C"/>
                </a:solidFill>
                <a:latin typeface="Arial" pitchFamily="34" charset="0"/>
                <a:ea typeface="Arial" pitchFamily="34" charset="-122"/>
                <a:cs typeface="Arial" pitchFamily="34" charset="-120"/>
              </a:rPr>
              <a:t>220 mg/dL</a:t>
            </a:r>
            <a:endParaRPr lang="en-US" sz="1600" dirty="0"/>
          </a:p>
        </p:txBody>
      </p:sp>
      <p:sp>
        <p:nvSpPr>
          <p:cNvPr id="15" name="Text 12"/>
          <p:cNvSpPr/>
          <p:nvPr/>
        </p:nvSpPr>
        <p:spPr>
          <a:xfrm>
            <a:off x="4663440" y="2350008"/>
            <a:ext cx="2743200" cy="347472"/>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היפרגליקמיה חמורה בצום (H)</a:t>
            </a:r>
            <a:endParaRPr lang="en-US" sz="950" dirty="0"/>
          </a:p>
        </p:txBody>
      </p:sp>
      <p:sp>
        <p:nvSpPr>
          <p:cNvPr id="16" name="Shape 13"/>
          <p:cNvSpPr/>
          <p:nvPr/>
        </p:nvSpPr>
        <p:spPr>
          <a:xfrm>
            <a:off x="4572000" y="2962656"/>
            <a:ext cx="6675120" cy="658368"/>
          </a:xfrm>
          <a:prstGeom prst="roundRect">
            <a:avLst/>
          </a:prstGeom>
          <a:solidFill>
            <a:srgbClr val="FEF3C7"/>
          </a:solidFill>
          <a:ln w="10160">
            <a:solidFill>
              <a:srgbClr val="CBD5E1"/>
            </a:solidFill>
            <a:prstDash val="solid"/>
          </a:ln>
        </p:spPr>
      </p:sp>
      <p:sp>
        <p:nvSpPr>
          <p:cNvPr id="17" name="Text 14"/>
          <p:cNvSpPr/>
          <p:nvPr/>
        </p:nvSpPr>
        <p:spPr>
          <a:xfrm>
            <a:off x="8961120" y="3099816"/>
            <a:ext cx="21945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כולסטרול LDL</a:t>
            </a:r>
            <a:endParaRPr lang="en-US" sz="1200" dirty="0"/>
          </a:p>
        </p:txBody>
      </p:sp>
      <p:sp>
        <p:nvSpPr>
          <p:cNvPr id="18" name="Text 15"/>
          <p:cNvSpPr/>
          <p:nvPr/>
        </p:nvSpPr>
        <p:spPr>
          <a:xfrm>
            <a:off x="7498080" y="3072384"/>
            <a:ext cx="1371600" cy="411480"/>
          </a:xfrm>
          <a:prstGeom prst="rect">
            <a:avLst/>
          </a:prstGeom>
          <a:noFill/>
          <a:ln/>
        </p:spPr>
        <p:txBody>
          <a:bodyPr wrap="square" rtlCol="0" anchor="ctr"/>
          <a:lstStyle/>
          <a:p>
            <a:pPr algn="ctr" indent="0" marL="0">
              <a:buNone/>
            </a:pPr>
            <a:r>
              <a:rPr lang="en-US" sz="1600" b="1" dirty="0">
                <a:solidFill>
                  <a:srgbClr val="D97706"/>
                </a:solidFill>
                <a:latin typeface="Arial" pitchFamily="34" charset="0"/>
                <a:ea typeface="Arial" pitchFamily="34" charset="-122"/>
                <a:cs typeface="Arial" pitchFamily="34" charset="-120"/>
              </a:rPr>
              <a:t>121 mg/dL</a:t>
            </a:r>
            <a:endParaRPr lang="en-US" sz="1600" dirty="0"/>
          </a:p>
        </p:txBody>
      </p:sp>
      <p:sp>
        <p:nvSpPr>
          <p:cNvPr id="19" name="Text 16"/>
          <p:cNvSpPr/>
          <p:nvPr/>
        </p:nvSpPr>
        <p:spPr>
          <a:xfrm>
            <a:off x="4663440" y="3099816"/>
            <a:ext cx="2743200" cy="347472"/>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רחוק מיעד &lt;55 mg/dL למטופל לאחר CVA</a:t>
            </a:r>
            <a:endParaRPr lang="en-US" sz="950" dirty="0"/>
          </a:p>
        </p:txBody>
      </p:sp>
      <p:sp>
        <p:nvSpPr>
          <p:cNvPr id="20" name="Shape 17"/>
          <p:cNvSpPr/>
          <p:nvPr/>
        </p:nvSpPr>
        <p:spPr>
          <a:xfrm>
            <a:off x="4572000" y="3712464"/>
            <a:ext cx="6675120" cy="658368"/>
          </a:xfrm>
          <a:prstGeom prst="roundRect">
            <a:avLst/>
          </a:prstGeom>
          <a:solidFill>
            <a:srgbClr val="FAF5FF"/>
          </a:solidFill>
          <a:ln w="10160">
            <a:solidFill>
              <a:srgbClr val="CBD5E1"/>
            </a:solidFill>
            <a:prstDash val="solid"/>
          </a:ln>
        </p:spPr>
      </p:sp>
      <p:sp>
        <p:nvSpPr>
          <p:cNvPr id="21" name="Text 18"/>
          <p:cNvSpPr/>
          <p:nvPr/>
        </p:nvSpPr>
        <p:spPr>
          <a:xfrm>
            <a:off x="8961120" y="3849624"/>
            <a:ext cx="21945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יחס ACR בשתן</a:t>
            </a:r>
            <a:endParaRPr lang="en-US" sz="1200" dirty="0"/>
          </a:p>
        </p:txBody>
      </p:sp>
      <p:sp>
        <p:nvSpPr>
          <p:cNvPr id="22" name="Text 19"/>
          <p:cNvSpPr/>
          <p:nvPr/>
        </p:nvSpPr>
        <p:spPr>
          <a:xfrm>
            <a:off x="7498080" y="3822192"/>
            <a:ext cx="1371600" cy="411480"/>
          </a:xfrm>
          <a:prstGeom prst="rect">
            <a:avLst/>
          </a:prstGeom>
          <a:noFill/>
          <a:ln/>
        </p:spPr>
        <p:txBody>
          <a:bodyPr wrap="square" rtlCol="0" anchor="ctr"/>
          <a:lstStyle/>
          <a:p>
            <a:pPr algn="ctr" indent="0" marL="0">
              <a:buNone/>
            </a:pPr>
            <a:r>
              <a:rPr lang="en-US" sz="1600" b="1" dirty="0">
                <a:solidFill>
                  <a:srgbClr val="7E22CE"/>
                </a:solidFill>
                <a:latin typeface="Arial" pitchFamily="34" charset="0"/>
                <a:ea typeface="Arial" pitchFamily="34" charset="-122"/>
                <a:cs typeface="Arial" pitchFamily="34" charset="-120"/>
              </a:rPr>
              <a:t>180 mg/g</a:t>
            </a:r>
            <a:endParaRPr lang="en-US" sz="1600" dirty="0"/>
          </a:p>
        </p:txBody>
      </p:sp>
      <p:sp>
        <p:nvSpPr>
          <p:cNvPr id="23" name="Text 20"/>
          <p:cNvSpPr/>
          <p:nvPr/>
        </p:nvSpPr>
        <p:spPr>
          <a:xfrm>
            <a:off x="4663440" y="3849624"/>
            <a:ext cx="2743200" cy="347472"/>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מיקרואלבומינוריה / פגיעה כלייתית התחלתית</a:t>
            </a:r>
            <a:endParaRPr lang="en-US" sz="950" dirty="0"/>
          </a:p>
        </p:txBody>
      </p:sp>
      <p:sp>
        <p:nvSpPr>
          <p:cNvPr id="24" name="Shape 21"/>
          <p:cNvSpPr/>
          <p:nvPr/>
        </p:nvSpPr>
        <p:spPr>
          <a:xfrm>
            <a:off x="4572000" y="4462272"/>
            <a:ext cx="6675120" cy="658368"/>
          </a:xfrm>
          <a:prstGeom prst="roundRect">
            <a:avLst/>
          </a:prstGeom>
          <a:solidFill>
            <a:srgbClr val="F0FDFA"/>
          </a:solidFill>
          <a:ln w="10160">
            <a:solidFill>
              <a:srgbClr val="CBD5E1"/>
            </a:solidFill>
            <a:prstDash val="solid"/>
          </a:ln>
        </p:spPr>
      </p:sp>
      <p:sp>
        <p:nvSpPr>
          <p:cNvPr id="25" name="Text 22"/>
          <p:cNvSpPr/>
          <p:nvPr/>
        </p:nvSpPr>
        <p:spPr>
          <a:xfrm>
            <a:off x="8961120" y="4599432"/>
            <a:ext cx="21945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תפקוד כליות eGFR</a:t>
            </a:r>
            <a:endParaRPr lang="en-US" sz="1200" dirty="0"/>
          </a:p>
        </p:txBody>
      </p:sp>
      <p:sp>
        <p:nvSpPr>
          <p:cNvPr id="26" name="Text 23"/>
          <p:cNvSpPr/>
          <p:nvPr/>
        </p:nvSpPr>
        <p:spPr>
          <a:xfrm>
            <a:off x="7498080" y="4572000"/>
            <a:ext cx="1371600" cy="411480"/>
          </a:xfrm>
          <a:prstGeom prst="rect">
            <a:avLst/>
          </a:prstGeom>
          <a:noFill/>
          <a:ln/>
        </p:spPr>
        <p:txBody>
          <a:bodyPr wrap="square" rtlCol="0" anchor="ctr"/>
          <a:lstStyle/>
          <a:p>
            <a:pPr algn="ctr" indent="0" marL="0">
              <a:buNone/>
            </a:pPr>
            <a:r>
              <a:rPr lang="en-US" sz="1600" b="1" dirty="0">
                <a:solidFill>
                  <a:srgbClr val="0D9488"/>
                </a:solidFill>
                <a:latin typeface="Arial" pitchFamily="34" charset="0"/>
                <a:ea typeface="Arial" pitchFamily="34" charset="-122"/>
                <a:cs typeface="Arial" pitchFamily="34" charset="-120"/>
              </a:rPr>
              <a:t>75 mL/min</a:t>
            </a:r>
            <a:endParaRPr lang="en-US" sz="1600" dirty="0"/>
          </a:p>
        </p:txBody>
      </p:sp>
      <p:sp>
        <p:nvSpPr>
          <p:cNvPr id="27" name="Text 24"/>
          <p:cNvSpPr/>
          <p:nvPr/>
        </p:nvSpPr>
        <p:spPr>
          <a:xfrm>
            <a:off x="4663440" y="4599432"/>
            <a:ext cx="2743200" cy="347472"/>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תפקוד כלייתי שמור יחסית (דרגה G2)</a:t>
            </a:r>
            <a:endParaRPr lang="en-US" sz="950" dirty="0"/>
          </a:p>
        </p:txBody>
      </p:sp>
      <p:sp>
        <p:nvSpPr>
          <p:cNvPr id="28" name="Shape 25"/>
          <p:cNvSpPr/>
          <p:nvPr/>
        </p:nvSpPr>
        <p:spPr>
          <a:xfrm>
            <a:off x="4572000" y="5212080"/>
            <a:ext cx="6675120" cy="658368"/>
          </a:xfrm>
          <a:prstGeom prst="roundRect">
            <a:avLst/>
          </a:prstGeom>
          <a:solidFill>
            <a:srgbClr val="EFF6FF"/>
          </a:solidFill>
          <a:ln w="10160">
            <a:solidFill>
              <a:srgbClr val="CBD5E1"/>
            </a:solidFill>
            <a:prstDash val="solid"/>
          </a:ln>
        </p:spPr>
      </p:sp>
      <p:sp>
        <p:nvSpPr>
          <p:cNvPr id="29" name="Text 26"/>
          <p:cNvSpPr/>
          <p:nvPr/>
        </p:nvSpPr>
        <p:spPr>
          <a:xfrm>
            <a:off x="8961120" y="5349240"/>
            <a:ext cx="21945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נוגדני GAD</a:t>
            </a:r>
            <a:endParaRPr lang="en-US" sz="1200" dirty="0"/>
          </a:p>
        </p:txBody>
      </p:sp>
      <p:sp>
        <p:nvSpPr>
          <p:cNvPr id="30" name="Text 27"/>
          <p:cNvSpPr/>
          <p:nvPr/>
        </p:nvSpPr>
        <p:spPr>
          <a:xfrm>
            <a:off x="7498080" y="5321808"/>
            <a:ext cx="1371600" cy="411480"/>
          </a:xfrm>
          <a:prstGeom prst="rect">
            <a:avLst/>
          </a:prstGeom>
          <a:noFill/>
          <a:ln/>
        </p:spPr>
        <p:txBody>
          <a:bodyPr wrap="square" rtlCol="0" anchor="ctr"/>
          <a:lstStyle/>
          <a:p>
            <a:pPr algn="ctr" indent="0" marL="0">
              <a:buNone/>
            </a:pPr>
            <a:r>
              <a:rPr lang="en-US" sz="1600" b="1" dirty="0">
                <a:solidFill>
                  <a:srgbClr val="0284C7"/>
                </a:solidFill>
                <a:latin typeface="Arial" pitchFamily="34" charset="0"/>
                <a:ea typeface="Arial" pitchFamily="34" charset="-122"/>
                <a:cs typeface="Arial" pitchFamily="34" charset="-120"/>
              </a:rPr>
              <a:t>2.8 U/mL</a:t>
            </a:r>
            <a:endParaRPr lang="en-US" sz="1600" dirty="0"/>
          </a:p>
        </p:txBody>
      </p:sp>
      <p:sp>
        <p:nvSpPr>
          <p:cNvPr id="31" name="Text 28"/>
          <p:cNvSpPr/>
          <p:nvPr/>
        </p:nvSpPr>
        <p:spPr>
          <a:xfrm>
            <a:off x="4663440" y="5349240"/>
            <a:ext cx="2743200" cy="347472"/>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חיובי (משנת 2010) - עדות למרכיב אוטואימוני</a:t>
            </a:r>
            <a:endParaRPr lang="en-US" sz="950" dirty="0"/>
          </a:p>
        </p:txBody>
      </p:sp>
      <p:sp>
        <p:nvSpPr>
          <p:cNvPr id="32" name="Shape 29"/>
          <p:cNvSpPr/>
          <p:nvPr/>
        </p:nvSpPr>
        <p:spPr>
          <a:xfrm>
            <a:off x="731520" y="1280160"/>
            <a:ext cx="3474720" cy="4892040"/>
          </a:xfrm>
          <a:prstGeom prst="roundRect">
            <a:avLst/>
          </a:prstGeom>
          <a:solidFill>
            <a:srgbClr val="FFFFFF"/>
          </a:solidFill>
          <a:ln w="15240">
            <a:solidFill>
              <a:srgbClr val="BAE6FD"/>
            </a:solidFill>
            <a:prstDash val="solid"/>
          </a:ln>
        </p:spPr>
      </p:sp>
      <p:pic>
        <p:nvPicPr>
          <p:cNvPr id="33" name="Image 1" descr="C:\Users\tifer\OneDrive\שולחן העבודה\אנטיגרביטי\GLP1CVA\public\labs\biochemistry_labs.png">    </p:cNvPr>
          <p:cNvPicPr>
            <a:picLocks noChangeAspect="1"/>
          </p:cNvPicPr>
          <p:nvPr/>
        </p:nvPicPr>
        <p:blipFill>
          <a:blip r:embed="rId2"/>
          <a:stretch>
            <a:fillRect/>
          </a:stretch>
        </p:blipFill>
        <p:spPr>
          <a:xfrm>
            <a:off x="868680" y="1417320"/>
            <a:ext cx="3200400" cy="3200400"/>
          </a:xfrm>
          <a:prstGeom prst="rect">
            <a:avLst/>
          </a:prstGeom>
        </p:spPr>
      </p:pic>
      <p:sp>
        <p:nvSpPr>
          <p:cNvPr id="34" name="Shape 30"/>
          <p:cNvSpPr/>
          <p:nvPr/>
        </p:nvSpPr>
        <p:spPr>
          <a:xfrm>
            <a:off x="868680" y="4754880"/>
            <a:ext cx="3200400" cy="1280160"/>
          </a:xfrm>
          <a:prstGeom prst="roundRect">
            <a:avLst/>
          </a:prstGeom>
          <a:solidFill>
            <a:srgbClr val="EFF6FF"/>
          </a:solidFill>
          <a:ln w="12700">
            <a:solidFill>
              <a:srgbClr val="BFDBFE"/>
            </a:solidFill>
            <a:prstDash val="solid"/>
          </a:ln>
        </p:spPr>
      </p:sp>
      <p:sp>
        <p:nvSpPr>
          <p:cNvPr id="35" name="Text 31"/>
          <p:cNvSpPr/>
          <p:nvPr/>
        </p:nvSpPr>
        <p:spPr>
          <a:xfrm>
            <a:off x="960120" y="4828032"/>
            <a:ext cx="3017520" cy="274320"/>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אבחנה אנדוקרינולוגית מרכזית:</a:t>
            </a:r>
            <a:endParaRPr lang="en-US" sz="1050" dirty="0"/>
          </a:p>
        </p:txBody>
      </p:sp>
      <p:sp>
        <p:nvSpPr>
          <p:cNvPr id="36" name="Text 32"/>
          <p:cNvSpPr/>
          <p:nvPr/>
        </p:nvSpPr>
        <p:spPr>
          <a:xfrm>
            <a:off x="960120" y="5102352"/>
            <a:ext cx="3017520" cy="86868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נוגדני GAD חיוביים (2.8 U/mL משנת 2010) וסוכרת משנת 2011 מאשרים מרכיב אוטואימוני של סוכרת סוג 1, אך ההשמנה (BMI 36.1) יוצרת תנגודת קשה ומחייבת מינוני אינסולין עצומים.</a:t>
            </a:r>
            <a:endParaRPr lang="en-US" sz="950" dirty="0"/>
          </a:p>
        </p:txBody>
      </p:sp>
      <p:sp>
        <p:nvSpPr>
          <p:cNvPr id="37" name="Shape 33"/>
          <p:cNvSpPr/>
          <p:nvPr/>
        </p:nvSpPr>
        <p:spPr>
          <a:xfrm>
            <a:off x="0" y="6473952"/>
            <a:ext cx="9144000" cy="384048"/>
          </a:xfrm>
          <a:prstGeom prst="rect">
            <a:avLst/>
          </a:prstGeom>
          <a:solidFill>
            <a:srgbClr val="FFFFFF"/>
          </a:solidFill>
          <a:ln w="12700">
            <a:solidFill>
              <a:srgbClr val="E2E8F0"/>
            </a:solidFill>
            <a:prstDash val="solid"/>
          </a:ln>
        </p:spPr>
      </p:sp>
      <p:sp>
        <p:nvSpPr>
          <p:cNvPr id="38" name="Text 34"/>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9" name="Text 35"/>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6 / 27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היסטוריית מדד HbA1C לאורך השנים</a:t>
            </a:r>
            <a:endParaRPr lang="en-US" sz="2000" dirty="0"/>
          </a:p>
        </p:txBody>
      </p:sp>
      <p:sp>
        <p:nvSpPr>
          <p:cNvPr id="7" name="Shape 4"/>
          <p:cNvSpPr/>
          <p:nvPr/>
        </p:nvSpPr>
        <p:spPr>
          <a:xfrm>
            <a:off x="4572000" y="1280160"/>
            <a:ext cx="6858000" cy="4892040"/>
          </a:xfrm>
          <a:prstGeom prst="roundRect">
            <a:avLst/>
          </a:prstGeom>
          <a:solidFill>
            <a:srgbClr val="FFFFFF"/>
          </a:solidFill>
          <a:ln w="15240">
            <a:solidFill>
              <a:srgbClr val="E2E8F0"/>
            </a:solidFill>
            <a:prstDash val="solid"/>
          </a:ln>
        </p:spPr>
      </p:sp>
      <p:sp>
        <p:nvSpPr>
          <p:cNvPr id="8" name="Text 5"/>
          <p:cNvSpPr/>
          <p:nvPr/>
        </p:nvSpPr>
        <p:spPr>
          <a:xfrm>
            <a:off x="4754880" y="1463040"/>
            <a:ext cx="6492240" cy="320040"/>
          </a:xfrm>
          <a:prstGeom prst="rect">
            <a:avLst/>
          </a:prstGeom>
          <a:noFill/>
          <a:ln/>
        </p:spPr>
        <p:txBody>
          <a:bodyPr wrap="square" rtlCol="0" anchor="ctr"/>
          <a:lstStyle/>
          <a:p>
            <a:pPr algn="r" indent="0" marL="0">
              <a:buNone/>
            </a:pPr>
            <a:r>
              <a:rPr lang="en-US" sz="1500" b="1" dirty="0">
                <a:solidFill>
                  <a:srgbClr val="0284C7"/>
                </a:solidFill>
                <a:latin typeface="Arial" pitchFamily="34" charset="0"/>
                <a:ea typeface="Arial" pitchFamily="34" charset="-122"/>
                <a:cs typeface="Arial" pitchFamily="34" charset="-120"/>
              </a:rPr>
              <a:t>מעקב ערכי HbA1C מתועד בשנים 2023-2026</a:t>
            </a:r>
            <a:endParaRPr lang="en-US" sz="1500" dirty="0"/>
          </a:p>
        </p:txBody>
      </p:sp>
      <p:sp>
        <p:nvSpPr>
          <p:cNvPr id="9" name="Shape 6"/>
          <p:cNvSpPr/>
          <p:nvPr/>
        </p:nvSpPr>
        <p:spPr>
          <a:xfrm>
            <a:off x="4754880" y="1965960"/>
            <a:ext cx="6492240" cy="566928"/>
          </a:xfrm>
          <a:prstGeom prst="roundRect">
            <a:avLst/>
          </a:prstGeom>
          <a:solidFill>
            <a:srgbClr val="FEF2F2"/>
          </a:solidFill>
          <a:ln w="12700">
            <a:solidFill>
              <a:srgbClr val="FECACA"/>
            </a:solidFill>
            <a:prstDash val="solid"/>
          </a:ln>
        </p:spPr>
      </p:sp>
      <p:sp>
        <p:nvSpPr>
          <p:cNvPr id="10" name="Text 7"/>
          <p:cNvSpPr/>
          <p:nvPr/>
        </p:nvSpPr>
        <p:spPr>
          <a:xfrm>
            <a:off x="9418320" y="2075688"/>
            <a:ext cx="17373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10/2023</a:t>
            </a:r>
            <a:endParaRPr lang="en-US" sz="1200" dirty="0"/>
          </a:p>
        </p:txBody>
      </p:sp>
      <p:sp>
        <p:nvSpPr>
          <p:cNvPr id="11" name="Text 8"/>
          <p:cNvSpPr/>
          <p:nvPr/>
        </p:nvSpPr>
        <p:spPr>
          <a:xfrm>
            <a:off x="7955280" y="2057400"/>
            <a:ext cx="1371600" cy="384048"/>
          </a:xfrm>
          <a:prstGeom prst="rect">
            <a:avLst/>
          </a:prstGeom>
          <a:noFill/>
          <a:ln/>
        </p:spPr>
        <p:txBody>
          <a:bodyPr wrap="square" rtlCol="0" anchor="ctr"/>
          <a:lstStyle/>
          <a:p>
            <a:pPr algn="ctr" indent="0" marL="0">
              <a:buNone/>
            </a:pPr>
            <a:r>
              <a:rPr lang="en-US" sz="1600" b="1" dirty="0">
                <a:solidFill>
                  <a:srgbClr val="DC2626"/>
                </a:solidFill>
                <a:latin typeface="Arial" pitchFamily="34" charset="0"/>
                <a:ea typeface="Arial" pitchFamily="34" charset="-122"/>
                <a:cs typeface="Arial" pitchFamily="34" charset="-120"/>
              </a:rPr>
              <a:t>12.3%</a:t>
            </a:r>
            <a:endParaRPr lang="en-US" sz="1600" dirty="0"/>
          </a:p>
        </p:txBody>
      </p:sp>
      <p:sp>
        <p:nvSpPr>
          <p:cNvPr id="12" name="Text 9"/>
          <p:cNvSpPr/>
          <p:nvPr/>
        </p:nvSpPr>
        <p:spPr>
          <a:xfrm>
            <a:off x="4846320" y="2075688"/>
            <a:ext cx="3017520" cy="347472"/>
          </a:xfrm>
          <a:prstGeom prst="rect">
            <a:avLst/>
          </a:prstGeom>
          <a:noFill/>
          <a:ln/>
        </p:spPr>
        <p:txBody>
          <a:bodyPr wrap="square" rtlCol="0" anchor="ctr"/>
          <a:lstStyle/>
          <a:p>
            <a:pPr algn="r" indent="0" marL="0">
              <a:buNone/>
            </a:pPr>
            <a:r>
              <a:rPr lang="en-US" sz="1000" b="1" dirty="0">
                <a:solidFill>
                  <a:srgbClr val="DC2626"/>
                </a:solidFill>
                <a:latin typeface="Arial" pitchFamily="34" charset="0"/>
                <a:ea typeface="Arial" pitchFamily="34" charset="-122"/>
                <a:cs typeface="Arial" pitchFamily="34" charset="-120"/>
              </a:rPr>
              <a:t>חוסר איזון קיצוני</a:t>
            </a:r>
            <a:endParaRPr lang="en-US" sz="1000" dirty="0"/>
          </a:p>
        </p:txBody>
      </p:sp>
      <p:sp>
        <p:nvSpPr>
          <p:cNvPr id="13" name="Shape 10"/>
          <p:cNvSpPr/>
          <p:nvPr/>
        </p:nvSpPr>
        <p:spPr>
          <a:xfrm>
            <a:off x="4754880" y="2624328"/>
            <a:ext cx="6492240" cy="566928"/>
          </a:xfrm>
          <a:prstGeom prst="roundRect">
            <a:avLst/>
          </a:prstGeom>
          <a:solidFill>
            <a:srgbClr val="FEF2F2"/>
          </a:solidFill>
          <a:ln w="12700">
            <a:solidFill>
              <a:srgbClr val="FECACA"/>
            </a:solidFill>
            <a:prstDash val="solid"/>
          </a:ln>
        </p:spPr>
      </p:sp>
      <p:sp>
        <p:nvSpPr>
          <p:cNvPr id="14" name="Text 11"/>
          <p:cNvSpPr/>
          <p:nvPr/>
        </p:nvSpPr>
        <p:spPr>
          <a:xfrm>
            <a:off x="9418320" y="2734056"/>
            <a:ext cx="17373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06/2024</a:t>
            </a:r>
            <a:endParaRPr lang="en-US" sz="1200" dirty="0"/>
          </a:p>
        </p:txBody>
      </p:sp>
      <p:sp>
        <p:nvSpPr>
          <p:cNvPr id="15" name="Text 12"/>
          <p:cNvSpPr/>
          <p:nvPr/>
        </p:nvSpPr>
        <p:spPr>
          <a:xfrm>
            <a:off x="7955280" y="2715768"/>
            <a:ext cx="1371600" cy="384048"/>
          </a:xfrm>
          <a:prstGeom prst="rect">
            <a:avLst/>
          </a:prstGeom>
          <a:noFill/>
          <a:ln/>
        </p:spPr>
        <p:txBody>
          <a:bodyPr wrap="square" rtlCol="0" anchor="ctr"/>
          <a:lstStyle/>
          <a:p>
            <a:pPr algn="ctr" indent="0" marL="0">
              <a:buNone/>
            </a:pPr>
            <a:r>
              <a:rPr lang="en-US" sz="1600" b="1" dirty="0">
                <a:solidFill>
                  <a:srgbClr val="DC2626"/>
                </a:solidFill>
                <a:latin typeface="Arial" pitchFamily="34" charset="0"/>
                <a:ea typeface="Arial" pitchFamily="34" charset="-122"/>
                <a:cs typeface="Arial" pitchFamily="34" charset="-120"/>
              </a:rPr>
              <a:t>12.1%</a:t>
            </a:r>
            <a:endParaRPr lang="en-US" sz="1600" dirty="0"/>
          </a:p>
        </p:txBody>
      </p:sp>
      <p:sp>
        <p:nvSpPr>
          <p:cNvPr id="16" name="Text 13"/>
          <p:cNvSpPr/>
          <p:nvPr/>
        </p:nvSpPr>
        <p:spPr>
          <a:xfrm>
            <a:off x="4846320" y="2734056"/>
            <a:ext cx="3017520" cy="347472"/>
          </a:xfrm>
          <a:prstGeom prst="rect">
            <a:avLst/>
          </a:prstGeom>
          <a:noFill/>
          <a:ln/>
        </p:spPr>
        <p:txBody>
          <a:bodyPr wrap="square" rtlCol="0" anchor="ctr"/>
          <a:lstStyle/>
          <a:p>
            <a:pPr algn="r" indent="0" marL="0">
              <a:buNone/>
            </a:pPr>
            <a:r>
              <a:rPr lang="en-US" sz="1000" b="1" dirty="0">
                <a:solidFill>
                  <a:srgbClr val="DC2626"/>
                </a:solidFill>
                <a:latin typeface="Arial" pitchFamily="34" charset="0"/>
                <a:ea typeface="Arial" pitchFamily="34" charset="-122"/>
                <a:cs typeface="Arial" pitchFamily="34" charset="-120"/>
              </a:rPr>
              <a:t>היפרגליקמיה מתמשכת</a:t>
            </a:r>
            <a:endParaRPr lang="en-US" sz="1000" dirty="0"/>
          </a:p>
        </p:txBody>
      </p:sp>
      <p:sp>
        <p:nvSpPr>
          <p:cNvPr id="17" name="Shape 14"/>
          <p:cNvSpPr/>
          <p:nvPr/>
        </p:nvSpPr>
        <p:spPr>
          <a:xfrm>
            <a:off x="4754880" y="3282696"/>
            <a:ext cx="6492240" cy="566928"/>
          </a:xfrm>
          <a:prstGeom prst="roundRect">
            <a:avLst/>
          </a:prstGeom>
          <a:solidFill>
            <a:srgbClr val="FEF2F2"/>
          </a:solidFill>
          <a:ln w="12700">
            <a:solidFill>
              <a:srgbClr val="FECACA"/>
            </a:solidFill>
            <a:prstDash val="solid"/>
          </a:ln>
        </p:spPr>
      </p:sp>
      <p:sp>
        <p:nvSpPr>
          <p:cNvPr id="18" name="Text 15"/>
          <p:cNvSpPr/>
          <p:nvPr/>
        </p:nvSpPr>
        <p:spPr>
          <a:xfrm>
            <a:off x="9418320" y="3392424"/>
            <a:ext cx="17373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04/2025</a:t>
            </a:r>
            <a:endParaRPr lang="en-US" sz="1200" dirty="0"/>
          </a:p>
        </p:txBody>
      </p:sp>
      <p:sp>
        <p:nvSpPr>
          <p:cNvPr id="19" name="Text 16"/>
          <p:cNvSpPr/>
          <p:nvPr/>
        </p:nvSpPr>
        <p:spPr>
          <a:xfrm>
            <a:off x="7955280" y="3374136"/>
            <a:ext cx="1371600" cy="384048"/>
          </a:xfrm>
          <a:prstGeom prst="rect">
            <a:avLst/>
          </a:prstGeom>
          <a:noFill/>
          <a:ln/>
        </p:spPr>
        <p:txBody>
          <a:bodyPr wrap="square" rtlCol="0" anchor="ctr"/>
          <a:lstStyle/>
          <a:p>
            <a:pPr algn="ctr" indent="0" marL="0">
              <a:buNone/>
            </a:pPr>
            <a:r>
              <a:rPr lang="en-US" sz="1600" b="1" dirty="0">
                <a:solidFill>
                  <a:srgbClr val="DC2626"/>
                </a:solidFill>
                <a:latin typeface="Arial" pitchFamily="34" charset="0"/>
                <a:ea typeface="Arial" pitchFamily="34" charset="-122"/>
                <a:cs typeface="Arial" pitchFamily="34" charset="-120"/>
              </a:rPr>
              <a:t>13.2%</a:t>
            </a:r>
            <a:endParaRPr lang="en-US" sz="1600" dirty="0"/>
          </a:p>
        </p:txBody>
      </p:sp>
      <p:sp>
        <p:nvSpPr>
          <p:cNvPr id="20" name="Text 17"/>
          <p:cNvSpPr/>
          <p:nvPr/>
        </p:nvSpPr>
        <p:spPr>
          <a:xfrm>
            <a:off x="4846320" y="3392424"/>
            <a:ext cx="3017520" cy="347472"/>
          </a:xfrm>
          <a:prstGeom prst="rect">
            <a:avLst/>
          </a:prstGeom>
          <a:noFill/>
          <a:ln/>
        </p:spPr>
        <p:txBody>
          <a:bodyPr wrap="square" rtlCol="0" anchor="ctr"/>
          <a:lstStyle/>
          <a:p>
            <a:pPr algn="r" indent="0" marL="0">
              <a:buNone/>
            </a:pPr>
            <a:r>
              <a:rPr lang="en-US" sz="1000" b="1" dirty="0">
                <a:solidFill>
                  <a:srgbClr val="DC2626"/>
                </a:solidFill>
                <a:latin typeface="Arial" pitchFamily="34" charset="0"/>
                <a:ea typeface="Arial" pitchFamily="34" charset="-122"/>
                <a:cs typeface="Arial" pitchFamily="34" charset="-120"/>
              </a:rPr>
              <a:t>החמרה הדרגתית</a:t>
            </a:r>
            <a:endParaRPr lang="en-US" sz="1000" dirty="0"/>
          </a:p>
        </p:txBody>
      </p:sp>
      <p:sp>
        <p:nvSpPr>
          <p:cNvPr id="21" name="Shape 18"/>
          <p:cNvSpPr/>
          <p:nvPr/>
        </p:nvSpPr>
        <p:spPr>
          <a:xfrm>
            <a:off x="4754880" y="3941064"/>
            <a:ext cx="6492240" cy="566928"/>
          </a:xfrm>
          <a:prstGeom prst="roundRect">
            <a:avLst/>
          </a:prstGeom>
          <a:solidFill>
            <a:srgbClr val="FEF2F2"/>
          </a:solidFill>
          <a:ln w="12700">
            <a:solidFill>
              <a:srgbClr val="FECACA"/>
            </a:solidFill>
            <a:prstDash val="solid"/>
          </a:ln>
        </p:spPr>
      </p:sp>
      <p:sp>
        <p:nvSpPr>
          <p:cNvPr id="22" name="Text 19"/>
          <p:cNvSpPr/>
          <p:nvPr/>
        </p:nvSpPr>
        <p:spPr>
          <a:xfrm>
            <a:off x="9418320" y="4050792"/>
            <a:ext cx="17373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12/2025 (בסיס)</a:t>
            </a:r>
            <a:endParaRPr lang="en-US" sz="1200" dirty="0"/>
          </a:p>
        </p:txBody>
      </p:sp>
      <p:sp>
        <p:nvSpPr>
          <p:cNvPr id="23" name="Text 20"/>
          <p:cNvSpPr/>
          <p:nvPr/>
        </p:nvSpPr>
        <p:spPr>
          <a:xfrm>
            <a:off x="7955280" y="4032504"/>
            <a:ext cx="1371600" cy="384048"/>
          </a:xfrm>
          <a:prstGeom prst="rect">
            <a:avLst/>
          </a:prstGeom>
          <a:noFill/>
          <a:ln/>
        </p:spPr>
        <p:txBody>
          <a:bodyPr wrap="square" rtlCol="0" anchor="ctr"/>
          <a:lstStyle/>
          <a:p>
            <a:pPr algn="ctr" indent="0" marL="0">
              <a:buNone/>
            </a:pPr>
            <a:r>
              <a:rPr lang="en-US" sz="1600" b="1" dirty="0">
                <a:solidFill>
                  <a:srgbClr val="DC2626"/>
                </a:solidFill>
                <a:latin typeface="Arial" pitchFamily="34" charset="0"/>
                <a:ea typeface="Arial" pitchFamily="34" charset="-122"/>
                <a:cs typeface="Arial" pitchFamily="34" charset="-120"/>
              </a:rPr>
              <a:t>13.4%</a:t>
            </a:r>
            <a:endParaRPr lang="en-US" sz="1600" dirty="0"/>
          </a:p>
        </p:txBody>
      </p:sp>
      <p:sp>
        <p:nvSpPr>
          <p:cNvPr id="24" name="Text 21"/>
          <p:cNvSpPr/>
          <p:nvPr/>
        </p:nvSpPr>
        <p:spPr>
          <a:xfrm>
            <a:off x="4846320" y="4050792"/>
            <a:ext cx="3017520" cy="347472"/>
          </a:xfrm>
          <a:prstGeom prst="rect">
            <a:avLst/>
          </a:prstGeom>
          <a:noFill/>
          <a:ln/>
        </p:spPr>
        <p:txBody>
          <a:bodyPr wrap="square" rtlCol="0" anchor="ctr"/>
          <a:lstStyle/>
          <a:p>
            <a:pPr algn="r" indent="0" marL="0">
              <a:buNone/>
            </a:pPr>
            <a:r>
              <a:rPr lang="en-US" sz="1000" b="1" dirty="0">
                <a:solidFill>
                  <a:srgbClr val="DC2626"/>
                </a:solidFill>
                <a:latin typeface="Arial" pitchFamily="34" charset="0"/>
                <a:ea typeface="Arial" pitchFamily="34" charset="-122"/>
                <a:cs typeface="Arial" pitchFamily="34" charset="-120"/>
              </a:rPr>
              <a:t>ערך שיא - טרם התחלת Wegovy</a:t>
            </a:r>
            <a:endParaRPr lang="en-US" sz="1000" dirty="0"/>
          </a:p>
        </p:txBody>
      </p:sp>
      <p:sp>
        <p:nvSpPr>
          <p:cNvPr id="25" name="Shape 22"/>
          <p:cNvSpPr/>
          <p:nvPr/>
        </p:nvSpPr>
        <p:spPr>
          <a:xfrm>
            <a:off x="4754880" y="4599432"/>
            <a:ext cx="6492240" cy="566928"/>
          </a:xfrm>
          <a:prstGeom prst="roundRect">
            <a:avLst/>
          </a:prstGeom>
          <a:solidFill>
            <a:srgbClr val="ECFDF5"/>
          </a:solidFill>
          <a:ln w="12700">
            <a:solidFill>
              <a:srgbClr val="A7F3D0"/>
            </a:solidFill>
            <a:prstDash val="solid"/>
          </a:ln>
        </p:spPr>
      </p:sp>
      <p:sp>
        <p:nvSpPr>
          <p:cNvPr id="26" name="Text 23"/>
          <p:cNvSpPr/>
          <p:nvPr/>
        </p:nvSpPr>
        <p:spPr>
          <a:xfrm>
            <a:off x="9418320" y="4709160"/>
            <a:ext cx="17373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03/2026 (מעקב)</a:t>
            </a:r>
            <a:endParaRPr lang="en-US" sz="1200" dirty="0"/>
          </a:p>
        </p:txBody>
      </p:sp>
      <p:sp>
        <p:nvSpPr>
          <p:cNvPr id="27" name="Text 24"/>
          <p:cNvSpPr/>
          <p:nvPr/>
        </p:nvSpPr>
        <p:spPr>
          <a:xfrm>
            <a:off x="7955280" y="4690872"/>
            <a:ext cx="1371600" cy="384048"/>
          </a:xfrm>
          <a:prstGeom prst="rect">
            <a:avLst/>
          </a:prstGeom>
          <a:noFill/>
          <a:ln/>
        </p:spPr>
        <p:txBody>
          <a:bodyPr wrap="square" rtlCol="0" anchor="ctr"/>
          <a:lstStyle/>
          <a:p>
            <a:pPr algn="ctr" indent="0" marL="0">
              <a:buNone/>
            </a:pPr>
            <a:r>
              <a:rPr lang="en-US" sz="1600" b="1" dirty="0">
                <a:solidFill>
                  <a:srgbClr val="059669"/>
                </a:solidFill>
                <a:latin typeface="Arial" pitchFamily="34" charset="0"/>
                <a:ea typeface="Arial" pitchFamily="34" charset="-122"/>
                <a:cs typeface="Arial" pitchFamily="34" charset="-120"/>
              </a:rPr>
              <a:t>5.0%</a:t>
            </a:r>
            <a:endParaRPr lang="en-US" sz="1600" dirty="0"/>
          </a:p>
        </p:txBody>
      </p:sp>
      <p:sp>
        <p:nvSpPr>
          <p:cNvPr id="28" name="Text 25"/>
          <p:cNvSpPr/>
          <p:nvPr/>
        </p:nvSpPr>
        <p:spPr>
          <a:xfrm>
            <a:off x="4846320" y="4709160"/>
            <a:ext cx="3017520" cy="347472"/>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תחת Wegovy 2.4mg והתאמת אינסולין!</a:t>
            </a:r>
            <a:endParaRPr lang="en-US" sz="1000" dirty="0"/>
          </a:p>
        </p:txBody>
      </p:sp>
      <p:sp>
        <p:nvSpPr>
          <p:cNvPr id="29" name="Shape 26"/>
          <p:cNvSpPr/>
          <p:nvPr/>
        </p:nvSpPr>
        <p:spPr>
          <a:xfrm>
            <a:off x="4754880" y="5257800"/>
            <a:ext cx="6492240" cy="566928"/>
          </a:xfrm>
          <a:prstGeom prst="roundRect">
            <a:avLst/>
          </a:prstGeom>
          <a:solidFill>
            <a:srgbClr val="ECFDF5"/>
          </a:solidFill>
          <a:ln w="12700">
            <a:solidFill>
              <a:srgbClr val="A7F3D0"/>
            </a:solidFill>
            <a:prstDash val="solid"/>
          </a:ln>
        </p:spPr>
      </p:sp>
      <p:sp>
        <p:nvSpPr>
          <p:cNvPr id="30" name="Text 27"/>
          <p:cNvSpPr/>
          <p:nvPr/>
        </p:nvSpPr>
        <p:spPr>
          <a:xfrm>
            <a:off x="9418320" y="5367528"/>
            <a:ext cx="1737360" cy="347472"/>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05/2026 (מעקב)</a:t>
            </a:r>
            <a:endParaRPr lang="en-US" sz="1200" dirty="0"/>
          </a:p>
        </p:txBody>
      </p:sp>
      <p:sp>
        <p:nvSpPr>
          <p:cNvPr id="31" name="Text 28"/>
          <p:cNvSpPr/>
          <p:nvPr/>
        </p:nvSpPr>
        <p:spPr>
          <a:xfrm>
            <a:off x="7955280" y="5349240"/>
            <a:ext cx="1371600" cy="384048"/>
          </a:xfrm>
          <a:prstGeom prst="rect">
            <a:avLst/>
          </a:prstGeom>
          <a:noFill/>
          <a:ln/>
        </p:spPr>
        <p:txBody>
          <a:bodyPr wrap="square" rtlCol="0" anchor="ctr"/>
          <a:lstStyle/>
          <a:p>
            <a:pPr algn="ctr" indent="0" marL="0">
              <a:buNone/>
            </a:pPr>
            <a:r>
              <a:rPr lang="en-US" sz="1600" b="1" dirty="0">
                <a:solidFill>
                  <a:srgbClr val="059669"/>
                </a:solidFill>
                <a:latin typeface="Arial" pitchFamily="34" charset="0"/>
                <a:ea typeface="Arial" pitchFamily="34" charset="-122"/>
                <a:cs typeface="Arial" pitchFamily="34" charset="-120"/>
              </a:rPr>
              <a:t>5.7%</a:t>
            </a:r>
            <a:endParaRPr lang="en-US" sz="1600" dirty="0"/>
          </a:p>
        </p:txBody>
      </p:sp>
      <p:sp>
        <p:nvSpPr>
          <p:cNvPr id="32" name="Text 29"/>
          <p:cNvSpPr/>
          <p:nvPr/>
        </p:nvSpPr>
        <p:spPr>
          <a:xfrm>
            <a:off x="4846320" y="5367528"/>
            <a:ext cx="3017520" cy="347472"/>
          </a:xfrm>
          <a:prstGeom prst="rect">
            <a:avLst/>
          </a:prstGeom>
          <a:noFill/>
          <a:ln/>
        </p:spPr>
        <p:txBody>
          <a:bodyPr wrap="square" rtlCol="0" anchor="ctr"/>
          <a:lstStyle/>
          <a:p>
            <a:pPr algn="r" indent="0" marL="0">
              <a:buNone/>
            </a:pPr>
            <a:r>
              <a:rPr lang="en-US" sz="1000" b="1" dirty="0">
                <a:solidFill>
                  <a:srgbClr val="059669"/>
                </a:solidFill>
                <a:latin typeface="Arial" pitchFamily="34" charset="0"/>
                <a:ea typeface="Arial" pitchFamily="34" charset="-122"/>
                <a:cs typeface="Arial" pitchFamily="34" charset="-120"/>
              </a:rPr>
              <a:t>המשך שמירה על איזון מושלם ויציב</a:t>
            </a:r>
            <a:endParaRPr lang="en-US" sz="1000" dirty="0"/>
          </a:p>
        </p:txBody>
      </p:sp>
      <p:sp>
        <p:nvSpPr>
          <p:cNvPr id="33" name="Shape 30"/>
          <p:cNvSpPr/>
          <p:nvPr/>
        </p:nvSpPr>
        <p:spPr>
          <a:xfrm>
            <a:off x="731520" y="1280160"/>
            <a:ext cx="3657600" cy="4892040"/>
          </a:xfrm>
          <a:prstGeom prst="roundRect">
            <a:avLst/>
          </a:prstGeom>
          <a:solidFill>
            <a:srgbClr val="FFFFFF"/>
          </a:solidFill>
          <a:ln w="15240">
            <a:solidFill>
              <a:srgbClr val="E2E8F0"/>
            </a:solidFill>
            <a:prstDash val="solid"/>
          </a:ln>
        </p:spPr>
      </p:sp>
      <p:pic>
        <p:nvPicPr>
          <p:cNvPr id="34" name="Image 1" descr="C:\Users\tifer\OneDrive\שולחן העבודה\אנטיגרביטי\GLP1CVA\public\labs\hba1c_history.jpg">    </p:cNvPr>
          <p:cNvPicPr>
            <a:picLocks noChangeAspect="1"/>
          </p:cNvPicPr>
          <p:nvPr/>
        </p:nvPicPr>
        <p:blipFill>
          <a:blip r:embed="rId2"/>
          <a:stretch>
            <a:fillRect/>
          </a:stretch>
        </p:blipFill>
        <p:spPr>
          <a:xfrm>
            <a:off x="914400" y="1463040"/>
            <a:ext cx="3291840" cy="3108960"/>
          </a:xfrm>
          <a:prstGeom prst="rect">
            <a:avLst/>
          </a:prstGeom>
        </p:spPr>
      </p:pic>
      <p:sp>
        <p:nvSpPr>
          <p:cNvPr id="35" name="Shape 31"/>
          <p:cNvSpPr/>
          <p:nvPr/>
        </p:nvSpPr>
        <p:spPr>
          <a:xfrm>
            <a:off x="914400" y="4709160"/>
            <a:ext cx="3291840" cy="1325880"/>
          </a:xfrm>
          <a:prstGeom prst="roundRect">
            <a:avLst/>
          </a:prstGeom>
          <a:solidFill>
            <a:srgbClr val="F0FDF4"/>
          </a:solidFill>
          <a:ln w="12700">
            <a:solidFill>
              <a:srgbClr val="BBF7D0"/>
            </a:solidFill>
            <a:prstDash val="solid"/>
          </a:ln>
        </p:spPr>
      </p:sp>
      <p:sp>
        <p:nvSpPr>
          <p:cNvPr id="36" name="Text 32"/>
          <p:cNvSpPr/>
          <p:nvPr/>
        </p:nvSpPr>
        <p:spPr>
          <a:xfrm>
            <a:off x="1005840" y="4800600"/>
            <a:ext cx="3108960" cy="274320"/>
          </a:xfrm>
          <a:prstGeom prst="rect">
            <a:avLst/>
          </a:prstGeom>
          <a:noFill/>
          <a:ln/>
        </p:spPr>
        <p:txBody>
          <a:bodyPr wrap="square" rtlCol="0" anchor="ctr"/>
          <a:lstStyle/>
          <a:p>
            <a:pPr algn="r" indent="0" marL="0">
              <a:buNone/>
            </a:pPr>
            <a:r>
              <a:rPr lang="en-US" sz="1100" b="1" dirty="0">
                <a:solidFill>
                  <a:srgbClr val="059669"/>
                </a:solidFill>
                <a:latin typeface="Arial" pitchFamily="34" charset="0"/>
                <a:ea typeface="Arial" pitchFamily="34" charset="-122"/>
                <a:cs typeface="Arial" pitchFamily="34" charset="-120"/>
              </a:rPr>
              <a:t>מהפך גליקמי תחת Wegovy:</a:t>
            </a:r>
            <a:endParaRPr lang="en-US" sz="1100" dirty="0"/>
          </a:p>
        </p:txBody>
      </p:sp>
      <p:sp>
        <p:nvSpPr>
          <p:cNvPr id="37" name="Text 33"/>
          <p:cNvSpPr/>
          <p:nvPr/>
        </p:nvSpPr>
        <p:spPr>
          <a:xfrm>
            <a:off x="1005840" y="5074920"/>
            <a:ext cx="3108960" cy="86868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שנים של HbA1C מעל 12%-13% נפתרו בעקבות השילוב של Wegovy 2.4mg והפחתת התנגודת לאינסולין, עם צניחה ל-5.0%-5.7% ללא אירועי היפוגליקמיה חמורים!</a:t>
            </a:r>
            <a:endParaRPr lang="en-US" sz="950" dirty="0"/>
          </a:p>
        </p:txBody>
      </p:sp>
      <p:sp>
        <p:nvSpPr>
          <p:cNvPr id="38" name="Shape 34"/>
          <p:cNvSpPr/>
          <p:nvPr/>
        </p:nvSpPr>
        <p:spPr>
          <a:xfrm>
            <a:off x="0" y="6473952"/>
            <a:ext cx="9144000" cy="384048"/>
          </a:xfrm>
          <a:prstGeom prst="rect">
            <a:avLst/>
          </a:prstGeom>
          <a:solidFill>
            <a:srgbClr val="FFFFFF"/>
          </a:solidFill>
          <a:ln w="12700">
            <a:solidFill>
              <a:srgbClr val="E2E8F0"/>
            </a:solidFill>
            <a:prstDash val="solid"/>
          </a:ln>
        </p:spPr>
      </p:sp>
      <p:sp>
        <p:nvSpPr>
          <p:cNvPr id="39" name="Text 35"/>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40" name="Text 36"/>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7 / 27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טיפול תרופתי נוכחי בביקור הראשון</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6217920" y="1417320"/>
            <a:ext cx="5166360" cy="822960"/>
          </a:xfrm>
          <a:prstGeom prst="roundRect">
            <a:avLst/>
          </a:prstGeom>
          <a:solidFill>
            <a:srgbClr val="EFF6FF"/>
          </a:solidFill>
          <a:ln w="10160">
            <a:solidFill>
              <a:srgbClr val="CBD5E1"/>
            </a:solidFill>
            <a:prstDash val="solid"/>
          </a:ln>
        </p:spPr>
      </p:sp>
      <p:sp>
        <p:nvSpPr>
          <p:cNvPr id="9" name="Text 6"/>
          <p:cNvSpPr/>
          <p:nvPr/>
        </p:nvSpPr>
        <p:spPr>
          <a:xfrm>
            <a:off x="6355080" y="1508760"/>
            <a:ext cx="4892040" cy="27432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INS TREGLUDEC 100U/1ML (טרגלודק)</a:t>
            </a:r>
            <a:endParaRPr lang="en-US" sz="1100" dirty="0"/>
          </a:p>
        </p:txBody>
      </p:sp>
      <p:sp>
        <p:nvSpPr>
          <p:cNvPr id="10" name="Text 7"/>
          <p:cNvSpPr/>
          <p:nvPr/>
        </p:nvSpPr>
        <p:spPr>
          <a:xfrm>
            <a:off x="8046720" y="18288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אינסולין בזאלי (ארוך טווח)</a:t>
            </a:r>
            <a:endParaRPr lang="en-US" sz="950" dirty="0"/>
          </a:p>
        </p:txBody>
      </p:sp>
      <p:sp>
        <p:nvSpPr>
          <p:cNvPr id="11" name="Text 8"/>
          <p:cNvSpPr/>
          <p:nvPr/>
        </p:nvSpPr>
        <p:spPr>
          <a:xfrm>
            <a:off x="6309360" y="1828800"/>
            <a:ext cx="1645920" cy="320040"/>
          </a:xfrm>
          <a:prstGeom prst="rect">
            <a:avLst/>
          </a:prstGeom>
          <a:noFill/>
          <a:ln/>
        </p:spPr>
        <p:txBody>
          <a:bodyPr wrap="square" rtlCol="0" anchor="ctr"/>
          <a:lstStyle/>
          <a:p>
            <a:pPr algn="l" indent="0" marL="0">
              <a:buNone/>
            </a:pPr>
            <a:r>
              <a:rPr lang="en-US" sz="950" b="1" dirty="0">
                <a:solidFill>
                  <a:srgbClr val="0284C7"/>
                </a:solidFill>
                <a:latin typeface="Arial" pitchFamily="34" charset="0"/>
                <a:ea typeface="Arial" pitchFamily="34" charset="-122"/>
                <a:cs typeface="Arial" pitchFamily="34" charset="-120"/>
              </a:rPr>
              <a:t>40 יחידות פעם ביום</a:t>
            </a:r>
            <a:endParaRPr lang="en-US" sz="950" dirty="0"/>
          </a:p>
        </p:txBody>
      </p:sp>
      <p:sp>
        <p:nvSpPr>
          <p:cNvPr id="12" name="Shape 9"/>
          <p:cNvSpPr/>
          <p:nvPr/>
        </p:nvSpPr>
        <p:spPr>
          <a:xfrm>
            <a:off x="868680" y="1417320"/>
            <a:ext cx="5166360" cy="822960"/>
          </a:xfrm>
          <a:prstGeom prst="roundRect">
            <a:avLst/>
          </a:prstGeom>
          <a:solidFill>
            <a:srgbClr val="FAF5FF"/>
          </a:solidFill>
          <a:ln w="10160">
            <a:solidFill>
              <a:srgbClr val="CBD5E1"/>
            </a:solidFill>
            <a:prstDash val="solid"/>
          </a:ln>
        </p:spPr>
      </p:sp>
      <p:sp>
        <p:nvSpPr>
          <p:cNvPr id="13" name="Text 10"/>
          <p:cNvSpPr/>
          <p:nvPr/>
        </p:nvSpPr>
        <p:spPr>
          <a:xfrm>
            <a:off x="1005840" y="1508760"/>
            <a:ext cx="4892040" cy="274320"/>
          </a:xfrm>
          <a:prstGeom prst="rect">
            <a:avLst/>
          </a:prstGeom>
          <a:noFill/>
          <a:ln/>
        </p:spPr>
        <p:txBody>
          <a:bodyPr wrap="square" rtlCol="0" anchor="ctr"/>
          <a:lstStyle/>
          <a:p>
            <a:pPr algn="r" indent="0" marL="0">
              <a:buNone/>
            </a:pPr>
            <a:r>
              <a:rPr lang="en-US" sz="1100" b="1" dirty="0">
                <a:solidFill>
                  <a:srgbClr val="7E22CE"/>
                </a:solidFill>
                <a:latin typeface="Arial" pitchFamily="34" charset="0"/>
                <a:ea typeface="Arial" pitchFamily="34" charset="-122"/>
                <a:cs typeface="Arial" pitchFamily="34" charset="-120"/>
              </a:rPr>
              <a:t>SEMAGLUTIDE 1MG (אוזמפיק)</a:t>
            </a:r>
            <a:endParaRPr lang="en-US" sz="1100" dirty="0"/>
          </a:p>
        </p:txBody>
      </p:sp>
      <p:sp>
        <p:nvSpPr>
          <p:cNvPr id="14" name="Text 11"/>
          <p:cNvSpPr/>
          <p:nvPr/>
        </p:nvSpPr>
        <p:spPr>
          <a:xfrm>
            <a:off x="2697480" y="18288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GLP-1 RA (נוטל לעיתים רחוקות עקב חששות מטיסות)</a:t>
            </a:r>
            <a:endParaRPr lang="en-US" sz="950" dirty="0"/>
          </a:p>
        </p:txBody>
      </p:sp>
      <p:sp>
        <p:nvSpPr>
          <p:cNvPr id="15" name="Text 12"/>
          <p:cNvSpPr/>
          <p:nvPr/>
        </p:nvSpPr>
        <p:spPr>
          <a:xfrm>
            <a:off x="960120" y="1828800"/>
            <a:ext cx="1645920" cy="320040"/>
          </a:xfrm>
          <a:prstGeom prst="rect">
            <a:avLst/>
          </a:prstGeom>
          <a:noFill/>
          <a:ln/>
        </p:spPr>
        <p:txBody>
          <a:bodyPr wrap="square" rtlCol="0" anchor="ctr"/>
          <a:lstStyle/>
          <a:p>
            <a:pPr algn="l" indent="0" marL="0">
              <a:buNone/>
            </a:pPr>
            <a:r>
              <a:rPr lang="en-US" sz="950" b="1" dirty="0">
                <a:solidFill>
                  <a:srgbClr val="7E22CE"/>
                </a:solidFill>
                <a:latin typeface="Arial" pitchFamily="34" charset="0"/>
                <a:ea typeface="Arial" pitchFamily="34" charset="-122"/>
                <a:cs typeface="Arial" pitchFamily="34" charset="-120"/>
              </a:rPr>
              <a:t>1 מ"ג פעם בשבוע</a:t>
            </a:r>
            <a:endParaRPr lang="en-US" sz="950" dirty="0"/>
          </a:p>
        </p:txBody>
      </p:sp>
      <p:sp>
        <p:nvSpPr>
          <p:cNvPr id="16" name="Shape 13"/>
          <p:cNvSpPr/>
          <p:nvPr/>
        </p:nvSpPr>
        <p:spPr>
          <a:xfrm>
            <a:off x="6217920" y="2331720"/>
            <a:ext cx="5166360" cy="822960"/>
          </a:xfrm>
          <a:prstGeom prst="roundRect">
            <a:avLst/>
          </a:prstGeom>
          <a:solidFill>
            <a:srgbClr val="F0FDFA"/>
          </a:solidFill>
          <a:ln w="10160">
            <a:solidFill>
              <a:srgbClr val="CBD5E1"/>
            </a:solidFill>
            <a:prstDash val="solid"/>
          </a:ln>
        </p:spPr>
      </p:sp>
      <p:sp>
        <p:nvSpPr>
          <p:cNvPr id="17" name="Text 14"/>
          <p:cNvSpPr/>
          <p:nvPr/>
        </p:nvSpPr>
        <p:spPr>
          <a:xfrm>
            <a:off x="6355080" y="2423160"/>
            <a:ext cx="4892040" cy="274320"/>
          </a:xfrm>
          <a:prstGeom prst="rect">
            <a:avLst/>
          </a:prstGeom>
          <a:noFill/>
          <a:ln/>
        </p:spPr>
        <p:txBody>
          <a:bodyPr wrap="square" rtlCol="0" anchor="ctr"/>
          <a:lstStyle/>
          <a:p>
            <a:pPr algn="r" indent="0" marL="0">
              <a:buNone/>
            </a:pPr>
            <a:r>
              <a:rPr lang="en-US" sz="1100" b="1" dirty="0">
                <a:solidFill>
                  <a:srgbClr val="0D9488"/>
                </a:solidFill>
                <a:latin typeface="Arial" pitchFamily="34" charset="0"/>
                <a:ea typeface="Arial" pitchFamily="34" charset="-122"/>
                <a:cs typeface="Arial" pitchFamily="34" charset="-120"/>
              </a:rPr>
              <a:t>JARDIANCE DUO 12.5MG/850MG</a:t>
            </a:r>
            <a:endParaRPr lang="en-US" sz="1100" dirty="0"/>
          </a:p>
        </p:txBody>
      </p:sp>
      <p:sp>
        <p:nvSpPr>
          <p:cNvPr id="18" name="Text 15"/>
          <p:cNvSpPr/>
          <p:nvPr/>
        </p:nvSpPr>
        <p:spPr>
          <a:xfrm>
            <a:off x="8046720" y="27432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איזון גלוקוז משולב (Empagliflozin + Metformin)</a:t>
            </a:r>
            <a:endParaRPr lang="en-US" sz="950" dirty="0"/>
          </a:p>
        </p:txBody>
      </p:sp>
      <p:sp>
        <p:nvSpPr>
          <p:cNvPr id="19" name="Text 16"/>
          <p:cNvSpPr/>
          <p:nvPr/>
        </p:nvSpPr>
        <p:spPr>
          <a:xfrm>
            <a:off x="6309360" y="2743200"/>
            <a:ext cx="1645920" cy="320040"/>
          </a:xfrm>
          <a:prstGeom prst="rect">
            <a:avLst/>
          </a:prstGeom>
          <a:noFill/>
          <a:ln/>
        </p:spPr>
        <p:txBody>
          <a:bodyPr wrap="square" rtlCol="0" anchor="ctr"/>
          <a:lstStyle/>
          <a:p>
            <a:pPr algn="l" indent="0" marL="0">
              <a:buNone/>
            </a:pPr>
            <a:r>
              <a:rPr lang="en-US" sz="950" b="1" dirty="0">
                <a:solidFill>
                  <a:srgbClr val="0D9488"/>
                </a:solidFill>
                <a:latin typeface="Arial" pitchFamily="34" charset="0"/>
                <a:ea typeface="Arial" pitchFamily="34" charset="-122"/>
                <a:cs typeface="Arial" pitchFamily="34" charset="-120"/>
              </a:rPr>
              <a:t>1 טבליה X 2 ביום</a:t>
            </a:r>
            <a:endParaRPr lang="en-US" sz="950" dirty="0"/>
          </a:p>
        </p:txBody>
      </p:sp>
      <p:sp>
        <p:nvSpPr>
          <p:cNvPr id="20" name="Shape 17"/>
          <p:cNvSpPr/>
          <p:nvPr/>
        </p:nvSpPr>
        <p:spPr>
          <a:xfrm>
            <a:off x="868680" y="2331720"/>
            <a:ext cx="5166360" cy="822960"/>
          </a:xfrm>
          <a:prstGeom prst="roundRect">
            <a:avLst/>
          </a:prstGeom>
          <a:solidFill>
            <a:srgbClr val="FEF3C7"/>
          </a:solidFill>
          <a:ln w="10160">
            <a:solidFill>
              <a:srgbClr val="CBD5E1"/>
            </a:solidFill>
            <a:prstDash val="solid"/>
          </a:ln>
        </p:spPr>
      </p:sp>
      <p:sp>
        <p:nvSpPr>
          <p:cNvPr id="21" name="Text 18"/>
          <p:cNvSpPr/>
          <p:nvPr/>
        </p:nvSpPr>
        <p:spPr>
          <a:xfrm>
            <a:off x="1005840" y="2423160"/>
            <a:ext cx="4892040" cy="274320"/>
          </a:xfrm>
          <a:prstGeom prst="rect">
            <a:avLst/>
          </a:prstGeom>
          <a:noFill/>
          <a:ln/>
        </p:spPr>
        <p:txBody>
          <a:bodyPr wrap="square" rtlCol="0" anchor="ctr"/>
          <a:lstStyle/>
          <a:p>
            <a:pPr algn="r" indent="0" marL="0">
              <a:buNone/>
            </a:pPr>
            <a:r>
              <a:rPr lang="en-US" sz="1100" b="1" dirty="0">
                <a:solidFill>
                  <a:srgbClr val="D97706"/>
                </a:solidFill>
                <a:latin typeface="Arial" pitchFamily="34" charset="0"/>
                <a:ea typeface="Arial" pitchFamily="34" charset="-122"/>
                <a:cs typeface="Arial" pitchFamily="34" charset="-120"/>
              </a:rPr>
              <a:t>ATORVASTATIN TAB 80MG</a:t>
            </a:r>
            <a:endParaRPr lang="en-US" sz="1100" dirty="0"/>
          </a:p>
        </p:txBody>
      </p:sp>
      <p:sp>
        <p:nvSpPr>
          <p:cNvPr id="22" name="Text 19"/>
          <p:cNvSpPr/>
          <p:nvPr/>
        </p:nvSpPr>
        <p:spPr>
          <a:xfrm>
            <a:off x="2697480" y="27432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הורדת שומנים בדם וכולסטרול LDL</a:t>
            </a:r>
            <a:endParaRPr lang="en-US" sz="950" dirty="0"/>
          </a:p>
        </p:txBody>
      </p:sp>
      <p:sp>
        <p:nvSpPr>
          <p:cNvPr id="23" name="Text 20"/>
          <p:cNvSpPr/>
          <p:nvPr/>
        </p:nvSpPr>
        <p:spPr>
          <a:xfrm>
            <a:off x="960120" y="2743200"/>
            <a:ext cx="1645920" cy="320040"/>
          </a:xfrm>
          <a:prstGeom prst="rect">
            <a:avLst/>
          </a:prstGeom>
          <a:noFill/>
          <a:ln/>
        </p:spPr>
        <p:txBody>
          <a:bodyPr wrap="square" rtlCol="0" anchor="ctr"/>
          <a:lstStyle/>
          <a:p>
            <a:pPr algn="l" indent="0" marL="0">
              <a:buNone/>
            </a:pPr>
            <a:r>
              <a:rPr lang="en-US" sz="950" b="1" dirty="0">
                <a:solidFill>
                  <a:srgbClr val="D97706"/>
                </a:solidFill>
                <a:latin typeface="Arial" pitchFamily="34" charset="0"/>
                <a:ea typeface="Arial" pitchFamily="34" charset="-122"/>
                <a:cs typeface="Arial" pitchFamily="34" charset="-120"/>
              </a:rPr>
              <a:t>1 טבליה ביום</a:t>
            </a:r>
            <a:endParaRPr lang="en-US" sz="950" dirty="0"/>
          </a:p>
        </p:txBody>
      </p:sp>
      <p:sp>
        <p:nvSpPr>
          <p:cNvPr id="24" name="Shape 21"/>
          <p:cNvSpPr/>
          <p:nvPr/>
        </p:nvSpPr>
        <p:spPr>
          <a:xfrm>
            <a:off x="6217920" y="3246120"/>
            <a:ext cx="5166360" cy="822960"/>
          </a:xfrm>
          <a:prstGeom prst="roundRect">
            <a:avLst/>
          </a:prstGeom>
          <a:solidFill>
            <a:srgbClr val="FEF2F2"/>
          </a:solidFill>
          <a:ln w="10160">
            <a:solidFill>
              <a:srgbClr val="CBD5E1"/>
            </a:solidFill>
            <a:prstDash val="solid"/>
          </a:ln>
        </p:spPr>
      </p:sp>
      <p:sp>
        <p:nvSpPr>
          <p:cNvPr id="25" name="Text 22"/>
          <p:cNvSpPr/>
          <p:nvPr/>
        </p:nvSpPr>
        <p:spPr>
          <a:xfrm>
            <a:off x="6355080" y="3337560"/>
            <a:ext cx="4892040" cy="274320"/>
          </a:xfrm>
          <a:prstGeom prst="rect">
            <a:avLst/>
          </a:prstGeom>
          <a:noFill/>
          <a:ln/>
        </p:spPr>
        <p:txBody>
          <a:bodyPr wrap="square"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CARTIA TAB 100MG (אספירין)</a:t>
            </a:r>
            <a:endParaRPr lang="en-US" sz="1100" dirty="0"/>
          </a:p>
        </p:txBody>
      </p:sp>
      <p:sp>
        <p:nvSpPr>
          <p:cNvPr id="26" name="Text 23"/>
          <p:cNvSpPr/>
          <p:nvPr/>
        </p:nvSpPr>
        <p:spPr>
          <a:xfrm>
            <a:off x="8046720" y="36576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מניעה שניונית של אירועים קרדיווסקולריים ומוחיים (CVA)</a:t>
            </a:r>
            <a:endParaRPr lang="en-US" sz="950" dirty="0"/>
          </a:p>
        </p:txBody>
      </p:sp>
      <p:sp>
        <p:nvSpPr>
          <p:cNvPr id="27" name="Text 24"/>
          <p:cNvSpPr/>
          <p:nvPr/>
        </p:nvSpPr>
        <p:spPr>
          <a:xfrm>
            <a:off x="6309360" y="3657600"/>
            <a:ext cx="1645920" cy="320040"/>
          </a:xfrm>
          <a:prstGeom prst="rect">
            <a:avLst/>
          </a:prstGeom>
          <a:noFill/>
          <a:ln/>
        </p:spPr>
        <p:txBody>
          <a:bodyPr wrap="square" rtlCol="0" anchor="ctr"/>
          <a:lstStyle/>
          <a:p>
            <a:pPr algn="l" indent="0" marL="0">
              <a:buNone/>
            </a:pPr>
            <a:r>
              <a:rPr lang="en-US" sz="950" b="1" dirty="0">
                <a:solidFill>
                  <a:srgbClr val="DC2626"/>
                </a:solidFill>
                <a:latin typeface="Arial" pitchFamily="34" charset="0"/>
                <a:ea typeface="Arial" pitchFamily="34" charset="-122"/>
                <a:cs typeface="Arial" pitchFamily="34" charset="-120"/>
              </a:rPr>
              <a:t>1 טבליה ביום</a:t>
            </a:r>
            <a:endParaRPr lang="en-US" sz="950" dirty="0"/>
          </a:p>
        </p:txBody>
      </p:sp>
      <p:sp>
        <p:nvSpPr>
          <p:cNvPr id="28" name="Shape 25"/>
          <p:cNvSpPr/>
          <p:nvPr/>
        </p:nvSpPr>
        <p:spPr>
          <a:xfrm>
            <a:off x="868680" y="3246120"/>
            <a:ext cx="5166360" cy="822960"/>
          </a:xfrm>
          <a:prstGeom prst="roundRect">
            <a:avLst/>
          </a:prstGeom>
          <a:solidFill>
            <a:srgbClr val="F8FAFC"/>
          </a:solidFill>
          <a:ln w="10160">
            <a:solidFill>
              <a:srgbClr val="CBD5E1"/>
            </a:solidFill>
            <a:prstDash val="solid"/>
          </a:ln>
        </p:spPr>
      </p:sp>
      <p:sp>
        <p:nvSpPr>
          <p:cNvPr id="29" name="Text 26"/>
          <p:cNvSpPr/>
          <p:nvPr/>
        </p:nvSpPr>
        <p:spPr>
          <a:xfrm>
            <a:off x="1005840" y="3337560"/>
            <a:ext cx="4892040" cy="274320"/>
          </a:xfrm>
          <a:prstGeom prst="rect">
            <a:avLst/>
          </a:prstGeom>
          <a:noFill/>
          <a:ln/>
        </p:spPr>
        <p:txBody>
          <a:bodyPr wrap="square" rtlCol="0" anchor="ctr"/>
          <a:lstStyle/>
          <a:p>
            <a:pPr algn="r" indent="0" marL="0">
              <a:buNone/>
            </a:pPr>
            <a:r>
              <a:rPr lang="en-US" sz="1100" b="1" dirty="0">
                <a:solidFill>
                  <a:srgbClr val="64748B"/>
                </a:solidFill>
                <a:latin typeface="Arial" pitchFamily="34" charset="0"/>
                <a:ea typeface="Arial" pitchFamily="34" charset="-122"/>
                <a:cs typeface="Arial" pitchFamily="34" charset="-120"/>
              </a:rPr>
              <a:t>OMEPRADEX 20MG CAP</a:t>
            </a:r>
            <a:endParaRPr lang="en-US" sz="1100" dirty="0"/>
          </a:p>
        </p:txBody>
      </p:sp>
      <p:sp>
        <p:nvSpPr>
          <p:cNvPr id="30" name="Text 27"/>
          <p:cNvSpPr/>
          <p:nvPr/>
        </p:nvSpPr>
        <p:spPr>
          <a:xfrm>
            <a:off x="2697480" y="36576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הגנה על רירית הקיבה</a:t>
            </a:r>
            <a:endParaRPr lang="en-US" sz="950" dirty="0"/>
          </a:p>
        </p:txBody>
      </p:sp>
      <p:sp>
        <p:nvSpPr>
          <p:cNvPr id="31" name="Text 28"/>
          <p:cNvSpPr/>
          <p:nvPr/>
        </p:nvSpPr>
        <p:spPr>
          <a:xfrm>
            <a:off x="960120" y="3657600"/>
            <a:ext cx="1645920" cy="320040"/>
          </a:xfrm>
          <a:prstGeom prst="rect">
            <a:avLst/>
          </a:prstGeom>
          <a:noFill/>
          <a:ln/>
        </p:spPr>
        <p:txBody>
          <a:bodyPr wrap="square" rtlCol="0" anchor="ctr"/>
          <a:lstStyle/>
          <a:p>
            <a:pPr algn="l" indent="0" marL="0">
              <a:buNone/>
            </a:pPr>
            <a:r>
              <a:rPr lang="en-US" sz="950" b="1" dirty="0">
                <a:solidFill>
                  <a:srgbClr val="64748B"/>
                </a:solidFill>
                <a:latin typeface="Arial" pitchFamily="34" charset="0"/>
                <a:ea typeface="Arial" pitchFamily="34" charset="-122"/>
                <a:cs typeface="Arial" pitchFamily="34" charset="-120"/>
              </a:rPr>
              <a:t>1 קפסולה ביום</a:t>
            </a:r>
            <a:endParaRPr lang="en-US" sz="950" dirty="0"/>
          </a:p>
        </p:txBody>
      </p:sp>
      <p:sp>
        <p:nvSpPr>
          <p:cNvPr id="32" name="Shape 29"/>
          <p:cNvSpPr/>
          <p:nvPr/>
        </p:nvSpPr>
        <p:spPr>
          <a:xfrm>
            <a:off x="6217920" y="4160520"/>
            <a:ext cx="5166360" cy="822960"/>
          </a:xfrm>
          <a:prstGeom prst="roundRect">
            <a:avLst/>
          </a:prstGeom>
          <a:solidFill>
            <a:srgbClr val="F8FAFC"/>
          </a:solidFill>
          <a:ln w="10160">
            <a:solidFill>
              <a:srgbClr val="CBD5E1"/>
            </a:solidFill>
            <a:prstDash val="solid"/>
          </a:ln>
        </p:spPr>
      </p:sp>
      <p:sp>
        <p:nvSpPr>
          <p:cNvPr id="33" name="Text 30"/>
          <p:cNvSpPr/>
          <p:nvPr/>
        </p:nvSpPr>
        <p:spPr>
          <a:xfrm>
            <a:off x="6355080" y="4251960"/>
            <a:ext cx="4892040" cy="274320"/>
          </a:xfrm>
          <a:prstGeom prst="rect">
            <a:avLst/>
          </a:prstGeom>
          <a:noFill/>
          <a:ln/>
        </p:spPr>
        <p:txBody>
          <a:bodyPr wrap="square" rtlCol="0" anchor="ctr"/>
          <a:lstStyle/>
          <a:p>
            <a:pPr algn="r" indent="0" marL="0">
              <a:buNone/>
            </a:pPr>
            <a:r>
              <a:rPr lang="en-US" sz="1100" b="1" dirty="0">
                <a:solidFill>
                  <a:srgbClr val="64748B"/>
                </a:solidFill>
                <a:latin typeface="Arial" pitchFamily="34" charset="0"/>
                <a:ea typeface="Arial" pitchFamily="34" charset="-122"/>
                <a:cs typeface="Arial" pitchFamily="34" charset="-120"/>
              </a:rPr>
              <a:t>BETMIGA PR 25MG TAB</a:t>
            </a:r>
            <a:endParaRPr lang="en-US" sz="1100" dirty="0"/>
          </a:p>
        </p:txBody>
      </p:sp>
      <p:sp>
        <p:nvSpPr>
          <p:cNvPr id="34" name="Text 31"/>
          <p:cNvSpPr/>
          <p:nvPr/>
        </p:nvSpPr>
        <p:spPr>
          <a:xfrm>
            <a:off x="8046720" y="45720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טיפול בשלפוחית השתן</a:t>
            </a:r>
            <a:endParaRPr lang="en-US" sz="950" dirty="0"/>
          </a:p>
        </p:txBody>
      </p:sp>
      <p:sp>
        <p:nvSpPr>
          <p:cNvPr id="35" name="Text 32"/>
          <p:cNvSpPr/>
          <p:nvPr/>
        </p:nvSpPr>
        <p:spPr>
          <a:xfrm>
            <a:off x="6309360" y="4572000"/>
            <a:ext cx="1645920" cy="320040"/>
          </a:xfrm>
          <a:prstGeom prst="rect">
            <a:avLst/>
          </a:prstGeom>
          <a:noFill/>
          <a:ln/>
        </p:spPr>
        <p:txBody>
          <a:bodyPr wrap="square" rtlCol="0" anchor="ctr"/>
          <a:lstStyle/>
          <a:p>
            <a:pPr algn="l" indent="0" marL="0">
              <a:buNone/>
            </a:pPr>
            <a:r>
              <a:rPr lang="en-US" sz="950" b="1" dirty="0">
                <a:solidFill>
                  <a:srgbClr val="64748B"/>
                </a:solidFill>
                <a:latin typeface="Arial" pitchFamily="34" charset="0"/>
                <a:ea typeface="Arial" pitchFamily="34" charset="-122"/>
                <a:cs typeface="Arial" pitchFamily="34" charset="-120"/>
              </a:rPr>
              <a:t>1 טבליה ביום</a:t>
            </a:r>
            <a:endParaRPr lang="en-US" sz="950" dirty="0"/>
          </a:p>
        </p:txBody>
      </p:sp>
      <p:sp>
        <p:nvSpPr>
          <p:cNvPr id="36" name="Shape 33"/>
          <p:cNvSpPr/>
          <p:nvPr/>
        </p:nvSpPr>
        <p:spPr>
          <a:xfrm>
            <a:off x="868680" y="4160520"/>
            <a:ext cx="5166360" cy="822960"/>
          </a:xfrm>
          <a:prstGeom prst="roundRect">
            <a:avLst/>
          </a:prstGeom>
          <a:solidFill>
            <a:srgbClr val="F8FAFC"/>
          </a:solidFill>
          <a:ln w="10160">
            <a:solidFill>
              <a:srgbClr val="CBD5E1"/>
            </a:solidFill>
            <a:prstDash val="solid"/>
          </a:ln>
        </p:spPr>
      </p:sp>
      <p:sp>
        <p:nvSpPr>
          <p:cNvPr id="37" name="Text 34"/>
          <p:cNvSpPr/>
          <p:nvPr/>
        </p:nvSpPr>
        <p:spPr>
          <a:xfrm>
            <a:off x="1005840" y="4251960"/>
            <a:ext cx="4892040" cy="274320"/>
          </a:xfrm>
          <a:prstGeom prst="rect">
            <a:avLst/>
          </a:prstGeom>
          <a:noFill/>
          <a:ln/>
        </p:spPr>
        <p:txBody>
          <a:bodyPr wrap="square" rtlCol="0" anchor="ctr"/>
          <a:lstStyle/>
          <a:p>
            <a:pPr algn="r" indent="0" marL="0">
              <a:buNone/>
            </a:pPr>
            <a:r>
              <a:rPr lang="en-US" sz="1100" b="1" dirty="0">
                <a:solidFill>
                  <a:srgbClr val="64748B"/>
                </a:solidFill>
                <a:latin typeface="Arial" pitchFamily="34" charset="0"/>
                <a:ea typeface="Arial" pitchFamily="34" charset="-122"/>
                <a:cs typeface="Arial" pitchFamily="34" charset="-120"/>
              </a:rPr>
              <a:t>OMNIC CAP 0.4MG</a:t>
            </a:r>
            <a:endParaRPr lang="en-US" sz="1100" dirty="0"/>
          </a:p>
        </p:txBody>
      </p:sp>
      <p:sp>
        <p:nvSpPr>
          <p:cNvPr id="38" name="Text 35"/>
          <p:cNvSpPr/>
          <p:nvPr/>
        </p:nvSpPr>
        <p:spPr>
          <a:xfrm>
            <a:off x="2697480" y="45720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טיפול במערכת השתן</a:t>
            </a:r>
            <a:endParaRPr lang="en-US" sz="950" dirty="0"/>
          </a:p>
        </p:txBody>
      </p:sp>
      <p:sp>
        <p:nvSpPr>
          <p:cNvPr id="39" name="Text 36"/>
          <p:cNvSpPr/>
          <p:nvPr/>
        </p:nvSpPr>
        <p:spPr>
          <a:xfrm>
            <a:off x="960120" y="4572000"/>
            <a:ext cx="1645920" cy="320040"/>
          </a:xfrm>
          <a:prstGeom prst="rect">
            <a:avLst/>
          </a:prstGeom>
          <a:noFill/>
          <a:ln/>
        </p:spPr>
        <p:txBody>
          <a:bodyPr wrap="square" rtlCol="0" anchor="ctr"/>
          <a:lstStyle/>
          <a:p>
            <a:pPr algn="l" indent="0" marL="0">
              <a:buNone/>
            </a:pPr>
            <a:r>
              <a:rPr lang="en-US" sz="950" b="1" dirty="0">
                <a:solidFill>
                  <a:srgbClr val="64748B"/>
                </a:solidFill>
                <a:latin typeface="Arial" pitchFamily="34" charset="0"/>
                <a:ea typeface="Arial" pitchFamily="34" charset="-122"/>
                <a:cs typeface="Arial" pitchFamily="34" charset="-120"/>
              </a:rPr>
              <a:t>2 כמוסות ביום</a:t>
            </a:r>
            <a:endParaRPr lang="en-US" sz="950" dirty="0"/>
          </a:p>
        </p:txBody>
      </p:sp>
      <p:sp>
        <p:nvSpPr>
          <p:cNvPr id="40" name="Shape 37"/>
          <p:cNvSpPr/>
          <p:nvPr/>
        </p:nvSpPr>
        <p:spPr>
          <a:xfrm>
            <a:off x="6217920" y="5074920"/>
            <a:ext cx="5166360" cy="822960"/>
          </a:xfrm>
          <a:prstGeom prst="roundRect">
            <a:avLst/>
          </a:prstGeom>
          <a:solidFill>
            <a:srgbClr val="F8FAFC"/>
          </a:solidFill>
          <a:ln w="10160">
            <a:solidFill>
              <a:srgbClr val="CBD5E1"/>
            </a:solidFill>
            <a:prstDash val="solid"/>
          </a:ln>
        </p:spPr>
      </p:sp>
      <p:sp>
        <p:nvSpPr>
          <p:cNvPr id="41" name="Text 38"/>
          <p:cNvSpPr/>
          <p:nvPr/>
        </p:nvSpPr>
        <p:spPr>
          <a:xfrm>
            <a:off x="6355080" y="5166360"/>
            <a:ext cx="4892040" cy="274320"/>
          </a:xfrm>
          <a:prstGeom prst="rect">
            <a:avLst/>
          </a:prstGeom>
          <a:noFill/>
          <a:ln/>
        </p:spPr>
        <p:txBody>
          <a:bodyPr wrap="square" rtlCol="0" anchor="ctr"/>
          <a:lstStyle/>
          <a:p>
            <a:pPr algn="r" indent="0" marL="0">
              <a:buNone/>
            </a:pPr>
            <a:r>
              <a:rPr lang="en-US" sz="1100" b="1" dirty="0">
                <a:solidFill>
                  <a:srgbClr val="64748B"/>
                </a:solidFill>
                <a:latin typeface="Arial" pitchFamily="34" charset="0"/>
                <a:ea typeface="Arial" pitchFamily="34" charset="-122"/>
                <a:cs typeface="Arial" pitchFamily="34" charset="-120"/>
              </a:rPr>
              <a:t>SERTRALINE 100MG TAB</a:t>
            </a:r>
            <a:endParaRPr lang="en-US" sz="1100" dirty="0"/>
          </a:p>
        </p:txBody>
      </p:sp>
      <p:sp>
        <p:nvSpPr>
          <p:cNvPr id="42" name="Text 39"/>
          <p:cNvSpPr/>
          <p:nvPr/>
        </p:nvSpPr>
        <p:spPr>
          <a:xfrm>
            <a:off x="8046720" y="5486400"/>
            <a:ext cx="3200400" cy="3200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איזון נפשי ורגשי</a:t>
            </a:r>
            <a:endParaRPr lang="en-US" sz="950" dirty="0"/>
          </a:p>
        </p:txBody>
      </p:sp>
      <p:sp>
        <p:nvSpPr>
          <p:cNvPr id="43" name="Text 40"/>
          <p:cNvSpPr/>
          <p:nvPr/>
        </p:nvSpPr>
        <p:spPr>
          <a:xfrm>
            <a:off x="6309360" y="5486400"/>
            <a:ext cx="1645920" cy="320040"/>
          </a:xfrm>
          <a:prstGeom prst="rect">
            <a:avLst/>
          </a:prstGeom>
          <a:noFill/>
          <a:ln/>
        </p:spPr>
        <p:txBody>
          <a:bodyPr wrap="square" rtlCol="0" anchor="ctr"/>
          <a:lstStyle/>
          <a:p>
            <a:pPr algn="l" indent="0" marL="0">
              <a:buNone/>
            </a:pPr>
            <a:r>
              <a:rPr lang="en-US" sz="950" b="1" dirty="0">
                <a:solidFill>
                  <a:srgbClr val="64748B"/>
                </a:solidFill>
                <a:latin typeface="Arial" pitchFamily="34" charset="0"/>
                <a:ea typeface="Arial" pitchFamily="34" charset="-122"/>
                <a:cs typeface="Arial" pitchFamily="34" charset="-120"/>
              </a:rPr>
              <a:t>1 טבליה ביום</a:t>
            </a:r>
            <a:endParaRPr lang="en-US" sz="950" dirty="0"/>
          </a:p>
        </p:txBody>
      </p:sp>
      <p:sp>
        <p:nvSpPr>
          <p:cNvPr id="44" name="Shape 41"/>
          <p:cNvSpPr/>
          <p:nvPr/>
        </p:nvSpPr>
        <p:spPr>
          <a:xfrm>
            <a:off x="0" y="6473952"/>
            <a:ext cx="9144000" cy="384048"/>
          </a:xfrm>
          <a:prstGeom prst="rect">
            <a:avLst/>
          </a:prstGeom>
          <a:solidFill>
            <a:srgbClr val="FFFFFF"/>
          </a:solidFill>
          <a:ln w="12700">
            <a:solidFill>
              <a:srgbClr val="E2E8F0"/>
            </a:solidFill>
            <a:prstDash val="solid"/>
          </a:ln>
        </p:spPr>
      </p:sp>
      <p:sp>
        <p:nvSpPr>
          <p:cNvPr id="45" name="Text 42"/>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46" name="Text 43"/>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8 / 27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תזכורת – סיבוכי מחלת ההשמנה (Obesity Complications)</a:t>
            </a:r>
            <a:endParaRPr lang="en-US" sz="2000" dirty="0"/>
          </a:p>
        </p:txBody>
      </p:sp>
      <p:sp>
        <p:nvSpPr>
          <p:cNvPr id="7" name="Shape 4"/>
          <p:cNvSpPr/>
          <p:nvPr/>
        </p:nvSpPr>
        <p:spPr>
          <a:xfrm>
            <a:off x="4754880" y="1280160"/>
            <a:ext cx="6675120" cy="4892040"/>
          </a:xfrm>
          <a:prstGeom prst="roundRect">
            <a:avLst/>
          </a:prstGeom>
          <a:solidFill>
            <a:srgbClr val="FFFFFF"/>
          </a:solidFill>
          <a:ln w="15240">
            <a:solidFill>
              <a:srgbClr val="FCE7F3"/>
            </a:solidFill>
            <a:prstDash val="solid"/>
          </a:ln>
        </p:spPr>
      </p:sp>
      <p:sp>
        <p:nvSpPr>
          <p:cNvPr id="8" name="Text 5"/>
          <p:cNvSpPr/>
          <p:nvPr/>
        </p:nvSpPr>
        <p:spPr>
          <a:xfrm>
            <a:off x="4937760" y="1463040"/>
            <a:ext cx="6309360" cy="320040"/>
          </a:xfrm>
          <a:prstGeom prst="rect">
            <a:avLst/>
          </a:prstGeom>
          <a:noFill/>
          <a:ln/>
        </p:spPr>
        <p:txBody>
          <a:bodyPr wrap="square" rtlCol="0" anchor="ctr"/>
          <a:lstStyle/>
          <a:p>
            <a:pPr algn="r" indent="0" marL="0">
              <a:buNone/>
            </a:pPr>
            <a:r>
              <a:rPr lang="en-US" sz="1500" b="1" dirty="0">
                <a:solidFill>
                  <a:srgbClr val="DB2777"/>
                </a:solidFill>
                <a:latin typeface="Arial" pitchFamily="34" charset="0"/>
                <a:ea typeface="Arial" pitchFamily="34" charset="-122"/>
                <a:cs typeface="Arial" pitchFamily="34" charset="-120"/>
              </a:rPr>
              <a:t>ההשמנה כמחלה כרונית רב-מערכתית</a:t>
            </a:r>
            <a:endParaRPr lang="en-US" sz="1500" dirty="0"/>
          </a:p>
        </p:txBody>
      </p:sp>
      <p:sp>
        <p:nvSpPr>
          <p:cNvPr id="9" name="Text 6"/>
          <p:cNvSpPr/>
          <p:nvPr/>
        </p:nvSpPr>
        <p:spPr>
          <a:xfrm>
            <a:off x="4937760" y="1874520"/>
            <a:ext cx="6309360" cy="411480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מחלת ההשמנה הינה מחלה כרונית פרוגרסיבית המשפיעה על כל מערכות הגוף ומהווה גורם שורש ישיר למחלות נלוות קשות.</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סיבוכים מטבוליים:</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תנגודת קשה לאינסולין, סוכרת סוג 2 והחמרה קיצונית בסוכרת סוג 1 (Double Diabetes)</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דיסליפידמיה אגרסיבית, טרשת עורקים ומחלת לב איסכמית (IHD)</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כבד שומני (MASLD/MASH) המוביל לשחמת כבד</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סיבוכים וסקולריים ומוחיים:</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אירועים מוחיים (CVA) ומיקרו/מאקרו-וסקולופתיה</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יתר לחץ דם עורקי ועומס לבבי מוגבר</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סיבוכים מכניים ואיכות חיים:</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תסמונת דום נשימה חסימתי בשינה (OSA) הגורמת לעייפות יומיומית</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עומס על מערכת השלד, כאבי גב כרוניים ופגיעה באספקת דם לכפות הרגליים המובילה לכיבים כרוניים</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מסקנה טיפולית: טיפול ממוקד בהשמנה באמצעות GLP-1 RA מעניק מענה רב-מערכתי בו-זמנית!</a:t>
            </a:r>
            <a:endParaRPr lang="en-US" sz="1050" dirty="0"/>
          </a:p>
        </p:txBody>
      </p:sp>
      <p:sp>
        <p:nvSpPr>
          <p:cNvPr id="10" name="Shape 7"/>
          <p:cNvSpPr/>
          <p:nvPr/>
        </p:nvSpPr>
        <p:spPr>
          <a:xfrm>
            <a:off x="731520" y="1280160"/>
            <a:ext cx="3840480" cy="4892040"/>
          </a:xfrm>
          <a:prstGeom prst="roundRect">
            <a:avLst/>
          </a:prstGeom>
          <a:solidFill>
            <a:srgbClr val="FFFFFF"/>
          </a:solidFill>
          <a:ln w="15240">
            <a:solidFill>
              <a:srgbClr val="E2E8F0"/>
            </a:solidFill>
            <a:prstDash val="solid"/>
          </a:ln>
        </p:spPr>
      </p:sp>
      <p:pic>
        <p:nvPicPr>
          <p:cNvPr id="11" name="Image 1" descr="C:\Users\tifer\OneDrive\שולחן העבודה\אנטיגרביטי\GLP1CVA\public\labs\obesity_complications.png">    </p:cNvPr>
          <p:cNvPicPr>
            <a:picLocks noChangeAspect="1"/>
          </p:cNvPicPr>
          <p:nvPr/>
        </p:nvPicPr>
        <p:blipFill>
          <a:blip r:embed="rId2"/>
          <a:stretch>
            <a:fillRect/>
          </a:stretch>
        </p:blipFill>
        <p:spPr>
          <a:xfrm>
            <a:off x="868680" y="1417320"/>
            <a:ext cx="3566160" cy="4617720"/>
          </a:xfrm>
          <a:prstGeom prst="rect">
            <a:avLst/>
          </a:prstGeom>
        </p:spPr>
      </p:pic>
      <p:sp>
        <p:nvSpPr>
          <p:cNvPr id="12" name="Shape 8"/>
          <p:cNvSpPr/>
          <p:nvPr/>
        </p:nvSpPr>
        <p:spPr>
          <a:xfrm>
            <a:off x="0" y="6473952"/>
            <a:ext cx="9144000" cy="384048"/>
          </a:xfrm>
          <a:prstGeom prst="rect">
            <a:avLst/>
          </a:prstGeom>
          <a:solidFill>
            <a:srgbClr val="FFFFFF"/>
          </a:solidFill>
          <a:ln w="12700">
            <a:solidFill>
              <a:srgbClr val="E2E8F0"/>
            </a:solidFill>
            <a:prstDash val="solid"/>
          </a:ln>
        </p:spPr>
      </p:sp>
      <p:sp>
        <p:nvSpPr>
          <p:cNvPr id="13" name="Text 9"/>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4" name="Text 10"/>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9 / 27</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(חלק א'): תחקור המטופל על ידי האחות (אנמנזה)</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914400" y="1417320"/>
            <a:ext cx="10332720" cy="822960"/>
          </a:xfrm>
          <a:prstGeom prst="roundRect">
            <a:avLst/>
          </a:prstGeom>
          <a:solidFill>
            <a:srgbClr val="FFFBEB"/>
          </a:solidFill>
          <a:ln w="10160">
            <a:solidFill>
              <a:srgbClr val="CBD5E1"/>
            </a:solidFill>
            <a:prstDash val="solid"/>
          </a:ln>
        </p:spPr>
      </p:sp>
      <p:sp>
        <p:nvSpPr>
          <p:cNvPr id="9" name="Text 6"/>
          <p:cNvSpPr/>
          <p:nvPr/>
        </p:nvSpPr>
        <p:spPr>
          <a:xfrm>
            <a:off x="3200400" y="1490472"/>
            <a:ext cx="7863840" cy="320040"/>
          </a:xfrm>
          <a:prstGeom prst="rect">
            <a:avLst/>
          </a:prstGeom>
          <a:noFill/>
          <a:ln/>
        </p:spPr>
        <p:txBody>
          <a:bodyPr wrap="square" rtlCol="0" anchor="ctr"/>
          <a:lstStyle/>
          <a:p>
            <a:pPr algn="r" indent="0" marL="0">
              <a:buNone/>
            </a:pPr>
            <a:r>
              <a:rPr lang="en-US" sz="1100" b="1" dirty="0">
                <a:solidFill>
                  <a:srgbClr val="D97706"/>
                </a:solidFill>
                <a:latin typeface="Arial" pitchFamily="34" charset="0"/>
                <a:ea typeface="Arial" pitchFamily="34" charset="-122"/>
                <a:cs typeface="Arial" pitchFamily="34" charset="-120"/>
              </a:rPr>
              <a:t>שאלת האחות: 1. איך אתה מתנהל ביום יום ומהם הרגלי התזונה שלך?</a:t>
            </a:r>
            <a:endParaRPr lang="en-US" sz="1100" dirty="0"/>
          </a:p>
        </p:txBody>
      </p:sp>
      <p:sp>
        <p:nvSpPr>
          <p:cNvPr id="10" name="Text 7"/>
          <p:cNvSpPr/>
          <p:nvPr/>
        </p:nvSpPr>
        <p:spPr>
          <a:xfrm>
            <a:off x="1097280" y="1490472"/>
            <a:ext cx="2011680" cy="292608"/>
          </a:xfrm>
          <a:prstGeom prst="rect">
            <a:avLst/>
          </a:prstGeom>
          <a:noFill/>
          <a:ln/>
        </p:spPr>
        <p:txBody>
          <a:bodyPr wrap="square" rtlCol="0" anchor="ctr"/>
          <a:lstStyle/>
          <a:p>
            <a:pPr algn="l" indent="0" marL="0">
              <a:buNone/>
            </a:pPr>
            <a:r>
              <a:rPr lang="en-US" sz="950" b="1" dirty="0">
                <a:solidFill>
                  <a:srgbClr val="D97706"/>
                </a:solidFill>
                <a:latin typeface="Arial" pitchFamily="34" charset="0"/>
                <a:ea typeface="Arial" pitchFamily="34" charset="-122"/>
                <a:cs typeface="Arial" pitchFamily="34" charset="-120"/>
              </a:rPr>
              <a:t>סדר יום ותזונה</a:t>
            </a:r>
            <a:endParaRPr lang="en-US" sz="950" dirty="0"/>
          </a:p>
        </p:txBody>
      </p:sp>
      <p:sp>
        <p:nvSpPr>
          <p:cNvPr id="11" name="Text 8"/>
          <p:cNvSpPr/>
          <p:nvPr/>
        </p:nvSpPr>
        <p:spPr>
          <a:xfrm>
            <a:off x="1097280" y="1828800"/>
            <a:ext cx="9966960" cy="347472"/>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תשובת יעקב: "יש לי עבודה מאוד לחוצה, ואני אוכל בנשנושים ולא באופן מסודר."</a:t>
            </a:r>
            <a:endParaRPr lang="en-US" sz="1050" dirty="0"/>
          </a:p>
        </p:txBody>
      </p:sp>
      <p:sp>
        <p:nvSpPr>
          <p:cNvPr id="12" name="Shape 9"/>
          <p:cNvSpPr/>
          <p:nvPr/>
        </p:nvSpPr>
        <p:spPr>
          <a:xfrm>
            <a:off x="914400" y="2331720"/>
            <a:ext cx="10332720" cy="822960"/>
          </a:xfrm>
          <a:prstGeom prst="roundRect">
            <a:avLst/>
          </a:prstGeom>
          <a:solidFill>
            <a:srgbClr val="EFF6FF"/>
          </a:solidFill>
          <a:ln w="10160">
            <a:solidFill>
              <a:srgbClr val="CBD5E1"/>
            </a:solidFill>
            <a:prstDash val="solid"/>
          </a:ln>
        </p:spPr>
      </p:sp>
      <p:sp>
        <p:nvSpPr>
          <p:cNvPr id="13" name="Text 10"/>
          <p:cNvSpPr/>
          <p:nvPr/>
        </p:nvSpPr>
        <p:spPr>
          <a:xfrm>
            <a:off x="3200400" y="2404872"/>
            <a:ext cx="7863840" cy="32004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שאלת האחות: 2. האם אתה מבצע פעילות גופנית בחיי היומיום?</a:t>
            </a:r>
            <a:endParaRPr lang="en-US" sz="1100" dirty="0"/>
          </a:p>
        </p:txBody>
      </p:sp>
      <p:sp>
        <p:nvSpPr>
          <p:cNvPr id="14" name="Text 11"/>
          <p:cNvSpPr/>
          <p:nvPr/>
        </p:nvSpPr>
        <p:spPr>
          <a:xfrm>
            <a:off x="1097280" y="2404872"/>
            <a:ext cx="2011680" cy="292608"/>
          </a:xfrm>
          <a:prstGeom prst="rect">
            <a:avLst/>
          </a:prstGeom>
          <a:noFill/>
          <a:ln/>
        </p:spPr>
        <p:txBody>
          <a:bodyPr wrap="square" rtlCol="0" anchor="ctr"/>
          <a:lstStyle/>
          <a:p>
            <a:pPr algn="l" indent="0" marL="0">
              <a:buNone/>
            </a:pPr>
            <a:r>
              <a:rPr lang="en-US" sz="950" b="1" dirty="0">
                <a:solidFill>
                  <a:srgbClr val="0284C7"/>
                </a:solidFill>
                <a:latin typeface="Arial" pitchFamily="34" charset="0"/>
                <a:ea typeface="Arial" pitchFamily="34" charset="-122"/>
                <a:cs typeface="Arial" pitchFamily="34" charset="-120"/>
              </a:rPr>
              <a:t>פעילות גופנית</a:t>
            </a:r>
            <a:endParaRPr lang="en-US" sz="950" dirty="0"/>
          </a:p>
        </p:txBody>
      </p:sp>
      <p:sp>
        <p:nvSpPr>
          <p:cNvPr id="15" name="Text 12"/>
          <p:cNvSpPr/>
          <p:nvPr/>
        </p:nvSpPr>
        <p:spPr>
          <a:xfrm>
            <a:off x="1097280" y="2743200"/>
            <a:ext cx="9966960" cy="347472"/>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תשובת יעקב: "אני עושה הרבה הליכות תוך כדי העבודה כי אני רץ ממקום למקום, אבל חוץ מזה אני לא עושה פעילות גופנית כלשהי."</a:t>
            </a:r>
            <a:endParaRPr lang="en-US" sz="1050" dirty="0"/>
          </a:p>
        </p:txBody>
      </p:sp>
      <p:sp>
        <p:nvSpPr>
          <p:cNvPr id="16" name="Shape 13"/>
          <p:cNvSpPr/>
          <p:nvPr/>
        </p:nvSpPr>
        <p:spPr>
          <a:xfrm>
            <a:off x="914400" y="3246120"/>
            <a:ext cx="10332720" cy="822960"/>
          </a:xfrm>
          <a:prstGeom prst="roundRect">
            <a:avLst/>
          </a:prstGeom>
          <a:solidFill>
            <a:srgbClr val="FAF5FF"/>
          </a:solidFill>
          <a:ln w="10160">
            <a:solidFill>
              <a:srgbClr val="CBD5E1"/>
            </a:solidFill>
            <a:prstDash val="solid"/>
          </a:ln>
        </p:spPr>
      </p:sp>
      <p:sp>
        <p:nvSpPr>
          <p:cNvPr id="17" name="Text 14"/>
          <p:cNvSpPr/>
          <p:nvPr/>
        </p:nvSpPr>
        <p:spPr>
          <a:xfrm>
            <a:off x="3200400" y="3319272"/>
            <a:ext cx="7863840" cy="320040"/>
          </a:xfrm>
          <a:prstGeom prst="rect">
            <a:avLst/>
          </a:prstGeom>
          <a:noFill/>
          <a:ln/>
        </p:spPr>
        <p:txBody>
          <a:bodyPr wrap="square" rtlCol="0" anchor="ctr"/>
          <a:lstStyle/>
          <a:p>
            <a:pPr algn="r" indent="0" marL="0">
              <a:buNone/>
            </a:pPr>
            <a:r>
              <a:rPr lang="en-US" sz="1100" b="1" dirty="0">
                <a:solidFill>
                  <a:srgbClr val="7E22CE"/>
                </a:solidFill>
                <a:latin typeface="Arial" pitchFamily="34" charset="0"/>
                <a:ea typeface="Arial" pitchFamily="34" charset="-122"/>
                <a:cs typeface="Arial" pitchFamily="34" charset="-120"/>
              </a:rPr>
              <a:t>שאלת האחות: 3. איך השינה שלך בלילה?</a:t>
            </a:r>
            <a:endParaRPr lang="en-US" sz="1100" dirty="0"/>
          </a:p>
        </p:txBody>
      </p:sp>
      <p:sp>
        <p:nvSpPr>
          <p:cNvPr id="18" name="Text 15"/>
          <p:cNvSpPr/>
          <p:nvPr/>
        </p:nvSpPr>
        <p:spPr>
          <a:xfrm>
            <a:off x="1097280" y="3319272"/>
            <a:ext cx="2011680" cy="292608"/>
          </a:xfrm>
          <a:prstGeom prst="rect">
            <a:avLst/>
          </a:prstGeom>
          <a:noFill/>
          <a:ln/>
        </p:spPr>
        <p:txBody>
          <a:bodyPr wrap="square" rtlCol="0" anchor="ctr"/>
          <a:lstStyle/>
          <a:p>
            <a:pPr algn="l" indent="0" marL="0">
              <a:buNone/>
            </a:pPr>
            <a:r>
              <a:rPr lang="en-US" sz="950" b="1" dirty="0">
                <a:solidFill>
                  <a:srgbClr val="7E22CE"/>
                </a:solidFill>
                <a:latin typeface="Arial" pitchFamily="34" charset="0"/>
                <a:ea typeface="Arial" pitchFamily="34" charset="-122"/>
                <a:cs typeface="Arial" pitchFamily="34" charset="-120"/>
              </a:rPr>
              <a:t>איכות ומשך השינה</a:t>
            </a:r>
            <a:endParaRPr lang="en-US" sz="950" dirty="0"/>
          </a:p>
        </p:txBody>
      </p:sp>
      <p:sp>
        <p:nvSpPr>
          <p:cNvPr id="19" name="Text 16"/>
          <p:cNvSpPr/>
          <p:nvPr/>
        </p:nvSpPr>
        <p:spPr>
          <a:xfrm>
            <a:off x="1097280" y="3657600"/>
            <a:ext cx="9966960" cy="347472"/>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תשובת יעקב: "אני לא ישן הרבה, אולי 4 או 5 שעות בלילה, ואני ישן גרוע."</a:t>
            </a:r>
            <a:endParaRPr lang="en-US" sz="1050" dirty="0"/>
          </a:p>
        </p:txBody>
      </p:sp>
      <p:sp>
        <p:nvSpPr>
          <p:cNvPr id="20" name="Shape 17"/>
          <p:cNvSpPr/>
          <p:nvPr/>
        </p:nvSpPr>
        <p:spPr>
          <a:xfrm>
            <a:off x="914400" y="4160520"/>
            <a:ext cx="10332720" cy="822960"/>
          </a:xfrm>
          <a:prstGeom prst="roundRect">
            <a:avLst/>
          </a:prstGeom>
          <a:solidFill>
            <a:srgbClr val="FEF2F2"/>
          </a:solidFill>
          <a:ln w="10160">
            <a:solidFill>
              <a:srgbClr val="CBD5E1"/>
            </a:solidFill>
            <a:prstDash val="solid"/>
          </a:ln>
        </p:spPr>
      </p:sp>
      <p:sp>
        <p:nvSpPr>
          <p:cNvPr id="21" name="Text 18"/>
          <p:cNvSpPr/>
          <p:nvPr/>
        </p:nvSpPr>
        <p:spPr>
          <a:xfrm>
            <a:off x="3200400" y="4233672"/>
            <a:ext cx="7863840" cy="320040"/>
          </a:xfrm>
          <a:prstGeom prst="rect">
            <a:avLst/>
          </a:prstGeom>
          <a:noFill/>
          <a:ln/>
        </p:spPr>
        <p:txBody>
          <a:bodyPr wrap="square" rtlCol="0" anchor="ctr"/>
          <a:lstStyle/>
          <a:p>
            <a:pPr algn="r" indent="0" marL="0">
              <a:buNone/>
            </a:pPr>
            <a:r>
              <a:rPr lang="en-US" sz="1100" b="1" dirty="0">
                <a:solidFill>
                  <a:srgbClr val="DC2626"/>
                </a:solidFill>
                <a:latin typeface="Arial" pitchFamily="34" charset="0"/>
                <a:ea typeface="Arial" pitchFamily="34" charset="-122"/>
                <a:cs typeface="Arial" pitchFamily="34" charset="-120"/>
              </a:rPr>
              <a:t>שאלת האחות: 4. מה הכי מטריד אותך כרגע מבחינה בריאותית?</a:t>
            </a:r>
            <a:endParaRPr lang="en-US" sz="1100" dirty="0"/>
          </a:p>
        </p:txBody>
      </p:sp>
      <p:sp>
        <p:nvSpPr>
          <p:cNvPr id="22" name="Text 19"/>
          <p:cNvSpPr/>
          <p:nvPr/>
        </p:nvSpPr>
        <p:spPr>
          <a:xfrm>
            <a:off x="1097280" y="4233672"/>
            <a:ext cx="2011680" cy="292608"/>
          </a:xfrm>
          <a:prstGeom prst="rect">
            <a:avLst/>
          </a:prstGeom>
          <a:noFill/>
          <a:ln/>
        </p:spPr>
        <p:txBody>
          <a:bodyPr wrap="square" rtlCol="0" anchor="ctr"/>
          <a:lstStyle/>
          <a:p>
            <a:pPr algn="l" indent="0" marL="0">
              <a:buNone/>
            </a:pPr>
            <a:r>
              <a:rPr lang="en-US" sz="950" b="1" dirty="0">
                <a:solidFill>
                  <a:srgbClr val="DC2626"/>
                </a:solidFill>
                <a:latin typeface="Arial" pitchFamily="34" charset="0"/>
                <a:ea typeface="Arial" pitchFamily="34" charset="-122"/>
                <a:cs typeface="Arial" pitchFamily="34" charset="-120"/>
              </a:rPr>
              <a:t>חששות וגורמים מטרידים</a:t>
            </a:r>
            <a:endParaRPr lang="en-US" sz="950" dirty="0"/>
          </a:p>
        </p:txBody>
      </p:sp>
      <p:sp>
        <p:nvSpPr>
          <p:cNvPr id="23" name="Text 20"/>
          <p:cNvSpPr/>
          <p:nvPr/>
        </p:nvSpPr>
        <p:spPr>
          <a:xfrm>
            <a:off x="1097280" y="4572000"/>
            <a:ext cx="9966960" cy="347472"/>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תשובת יעקב: "אני מאוד מפחד מהפצע שיש לי ברגל, כי יש לי שכן שכרתו לו את הרגל ואני מאוד מפחד מזה."</a:t>
            </a:r>
            <a:endParaRPr lang="en-US" sz="1050" dirty="0"/>
          </a:p>
        </p:txBody>
      </p:sp>
      <p:sp>
        <p:nvSpPr>
          <p:cNvPr id="24" name="Shape 21"/>
          <p:cNvSpPr/>
          <p:nvPr/>
        </p:nvSpPr>
        <p:spPr>
          <a:xfrm>
            <a:off x="914400" y="5074920"/>
            <a:ext cx="10332720" cy="822960"/>
          </a:xfrm>
          <a:prstGeom prst="roundRect">
            <a:avLst/>
          </a:prstGeom>
          <a:solidFill>
            <a:srgbClr val="ECFDF5"/>
          </a:solidFill>
          <a:ln w="10160">
            <a:solidFill>
              <a:srgbClr val="CBD5E1"/>
            </a:solidFill>
            <a:prstDash val="solid"/>
          </a:ln>
        </p:spPr>
      </p:sp>
      <p:sp>
        <p:nvSpPr>
          <p:cNvPr id="25" name="Text 22"/>
          <p:cNvSpPr/>
          <p:nvPr/>
        </p:nvSpPr>
        <p:spPr>
          <a:xfrm>
            <a:off x="3200400" y="5148072"/>
            <a:ext cx="7863840" cy="320040"/>
          </a:xfrm>
          <a:prstGeom prst="rect">
            <a:avLst/>
          </a:prstGeom>
          <a:noFill/>
          <a:ln/>
        </p:spPr>
        <p:txBody>
          <a:bodyPr wrap="square" rtlCol="0" anchor="ctr"/>
          <a:lstStyle/>
          <a:p>
            <a:pPr algn="r" indent="0" marL="0">
              <a:buNone/>
            </a:pPr>
            <a:r>
              <a:rPr lang="en-US" sz="1100" b="1" dirty="0">
                <a:solidFill>
                  <a:srgbClr val="059669"/>
                </a:solidFill>
                <a:latin typeface="Arial" pitchFamily="34" charset="0"/>
                <a:ea typeface="Arial" pitchFamily="34" charset="-122"/>
                <a:cs typeface="Arial" pitchFamily="34" charset="-120"/>
              </a:rPr>
              <a:t>שאלת האחות: 5. האם אתה מקפיד לקחת את הטיפול התרופתי הקבוע שלך?</a:t>
            </a:r>
            <a:endParaRPr lang="en-US" sz="1100" dirty="0"/>
          </a:p>
        </p:txBody>
      </p:sp>
      <p:sp>
        <p:nvSpPr>
          <p:cNvPr id="26" name="Text 23"/>
          <p:cNvSpPr/>
          <p:nvPr/>
        </p:nvSpPr>
        <p:spPr>
          <a:xfrm>
            <a:off x="1097280" y="5148072"/>
            <a:ext cx="2011680" cy="292608"/>
          </a:xfrm>
          <a:prstGeom prst="rect">
            <a:avLst/>
          </a:prstGeom>
          <a:noFill/>
          <a:ln/>
        </p:spPr>
        <p:txBody>
          <a:bodyPr wrap="square" rtlCol="0" anchor="ctr"/>
          <a:lstStyle/>
          <a:p>
            <a:pPr algn="l" indent="0" marL="0">
              <a:buNone/>
            </a:pPr>
            <a:r>
              <a:rPr lang="en-US" sz="950" b="1" dirty="0">
                <a:solidFill>
                  <a:srgbClr val="059669"/>
                </a:solidFill>
                <a:latin typeface="Arial" pitchFamily="34" charset="0"/>
                <a:ea typeface="Arial" pitchFamily="34" charset="-122"/>
                <a:cs typeface="Arial" pitchFamily="34" charset="-120"/>
              </a:rPr>
              <a:t>היענות לתרופות</a:t>
            </a:r>
            <a:endParaRPr lang="en-US" sz="950" dirty="0"/>
          </a:p>
        </p:txBody>
      </p:sp>
      <p:sp>
        <p:nvSpPr>
          <p:cNvPr id="27" name="Text 24"/>
          <p:cNvSpPr/>
          <p:nvPr/>
        </p:nvSpPr>
        <p:spPr>
          <a:xfrm>
            <a:off x="1097280" y="5486400"/>
            <a:ext cx="9966960" cy="347472"/>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תשובת יעקב: "אני לוקח את האוזמפיק רק לפעמים כי אני חושש שזה יכול לפגוע לי בעיניים, וגם אני חושש לקחת את זה כי אני מרבה לטוס ולעבור בין מדינות וחושש מתופעות לוואי."</a:t>
            </a:r>
            <a:endParaRPr lang="en-US" sz="1050" dirty="0"/>
          </a:p>
        </p:txBody>
      </p:sp>
      <p:sp>
        <p:nvSpPr>
          <p:cNvPr id="28" name="Shape 25"/>
          <p:cNvSpPr/>
          <p:nvPr/>
        </p:nvSpPr>
        <p:spPr>
          <a:xfrm>
            <a:off x="0" y="6473952"/>
            <a:ext cx="9144000" cy="384048"/>
          </a:xfrm>
          <a:prstGeom prst="rect">
            <a:avLst/>
          </a:prstGeom>
          <a:solidFill>
            <a:srgbClr val="FFFFFF"/>
          </a:solidFill>
          <a:ln w="12700">
            <a:solidFill>
              <a:srgbClr val="E2E8F0"/>
            </a:solidFill>
            <a:prstDash val="solid"/>
          </a:ln>
        </p:spPr>
      </p:sp>
      <p:sp>
        <p:nvSpPr>
          <p:cNvPr id="29" name="Text 26"/>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0" name="Text 27"/>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10 / 27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(חלק ב'): שיח טיפולי ותקשורת מקרבת לבניית אמון</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6217920" y="1417320"/>
            <a:ext cx="5212080" cy="2176272"/>
          </a:xfrm>
          <a:prstGeom prst="roundRect">
            <a:avLst/>
          </a:prstGeom>
          <a:solidFill>
            <a:srgbClr val="F0FDF4"/>
          </a:solidFill>
          <a:ln w="15240">
            <a:solidFill>
              <a:srgbClr val="A7F3D0"/>
            </a:solidFill>
            <a:prstDash val="solid"/>
          </a:ln>
        </p:spPr>
      </p:sp>
      <p:sp>
        <p:nvSpPr>
          <p:cNvPr id="9" name="Text 6"/>
          <p:cNvSpPr/>
          <p:nvPr/>
        </p:nvSpPr>
        <p:spPr>
          <a:xfrm>
            <a:off x="6355080" y="1508760"/>
            <a:ext cx="4937760" cy="274320"/>
          </a:xfrm>
          <a:prstGeom prst="rect">
            <a:avLst/>
          </a:prstGeom>
          <a:noFill/>
          <a:ln/>
        </p:spPr>
        <p:txBody>
          <a:bodyPr wrap="square" rtlCol="0" anchor="ctr"/>
          <a:lstStyle/>
          <a:p>
            <a:pPr algn="r" indent="0" marL="0">
              <a:buNone/>
            </a:pPr>
            <a:r>
              <a:rPr lang="en-US" sz="1100" b="1" dirty="0">
                <a:solidFill>
                  <a:srgbClr val="10B981"/>
                </a:solidFill>
                <a:latin typeface="Arial" pitchFamily="34" charset="0"/>
                <a:ea typeface="Arial" pitchFamily="34" charset="-122"/>
                <a:cs typeface="Arial" pitchFamily="34" charset="-120"/>
              </a:rPr>
              <a:t>תגובה 1 (מומלצת) - תגובה אמפתית, מנרמלת ומגייסת</a:t>
            </a:r>
            <a:endParaRPr lang="en-US" sz="1100" dirty="0"/>
          </a:p>
        </p:txBody>
      </p:sp>
      <p:sp>
        <p:nvSpPr>
          <p:cNvPr id="10" name="Text 7"/>
          <p:cNvSpPr/>
          <p:nvPr/>
        </p:nvSpPr>
        <p:spPr>
          <a:xfrm>
            <a:off x="6355080" y="1801368"/>
            <a:ext cx="4937760" cy="7772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"יעקב, אני מבינה אותך לגמרי. זה הכי טבעי בעולם שתפחד מהפצע ברגל, בטח אחרי מה שקרה לשכן שלך. העומס בעבודה והשינה המועטה לא מוסיפים... דע שאתה לא לבד בזה, יש פה צוות שלם לצידך. נשמור על הרגל שלך ביחד ונאזן את הסוכר צעד אחר צעד."</a:t>
            </a:r>
            <a:endParaRPr lang="en-US" sz="950" dirty="0"/>
          </a:p>
        </p:txBody>
      </p:sp>
      <p:sp>
        <p:nvSpPr>
          <p:cNvPr id="11" name="Text 8"/>
          <p:cNvSpPr/>
          <p:nvPr/>
        </p:nvSpPr>
        <p:spPr>
          <a:xfrm>
            <a:off x="6355080" y="2606040"/>
            <a:ext cx="4937760" cy="438912"/>
          </a:xfrm>
          <a:prstGeom prst="rect">
            <a:avLst/>
          </a:prstGeom>
          <a:noFill/>
          <a:ln/>
        </p:spPr>
        <p:txBody>
          <a:bodyPr wrap="square" rtlCol="0" anchor="ctr"/>
          <a:lstStyle/>
          <a:p>
            <a:pPr algn="r" indent="0" marL="0">
              <a:buNone/>
            </a:pPr>
            <a:r>
              <a:rPr lang="en-US" sz="900" b="1" dirty="0">
                <a:solidFill>
                  <a:srgbClr val="10B981"/>
                </a:solidFill>
                <a:latin typeface="Arial" pitchFamily="34" charset="0"/>
                <a:ea typeface="Arial" pitchFamily="34" charset="-122"/>
                <a:cs typeface="Arial" pitchFamily="34" charset="-120"/>
              </a:rPr>
              <a:t>תגובת יעקב: נושם לרווחה, מחייך: "תודה רבה, החשש משתק אותי, אני מוכן לעשות מה שצריך כדי להתאזן."</a:t>
            </a:r>
            <a:endParaRPr lang="en-US" sz="900" dirty="0"/>
          </a:p>
        </p:txBody>
      </p:sp>
      <p:sp>
        <p:nvSpPr>
          <p:cNvPr id="12" name="Text 9"/>
          <p:cNvSpPr/>
          <p:nvPr/>
        </p:nvSpPr>
        <p:spPr>
          <a:xfrm>
            <a:off x="6355080" y="3081528"/>
            <a:ext cx="4937760" cy="438912"/>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 לגיטימציה לחרדה והצעת שותפות בגובה העיניים מפיגות מתח ומביאות להיענות מקסימלית.</a:t>
            </a:r>
            <a:endParaRPr lang="en-US" sz="850" dirty="0"/>
          </a:p>
        </p:txBody>
      </p:sp>
      <p:sp>
        <p:nvSpPr>
          <p:cNvPr id="13" name="Shape 10"/>
          <p:cNvSpPr/>
          <p:nvPr/>
        </p:nvSpPr>
        <p:spPr>
          <a:xfrm>
            <a:off x="868680" y="1417320"/>
            <a:ext cx="5212080" cy="2176272"/>
          </a:xfrm>
          <a:prstGeom prst="roundRect">
            <a:avLst/>
          </a:prstGeom>
          <a:solidFill>
            <a:srgbClr val="FEF2F2"/>
          </a:solidFill>
          <a:ln w="15240">
            <a:solidFill>
              <a:srgbClr val="FECACA"/>
            </a:solidFill>
            <a:prstDash val="solid"/>
          </a:ln>
        </p:spPr>
      </p:sp>
      <p:sp>
        <p:nvSpPr>
          <p:cNvPr id="14" name="Text 11"/>
          <p:cNvSpPr/>
          <p:nvPr/>
        </p:nvSpPr>
        <p:spPr>
          <a:xfrm>
            <a:off x="1005840" y="1508760"/>
            <a:ext cx="4937760" cy="274320"/>
          </a:xfrm>
          <a:prstGeom prst="rect">
            <a:avLst/>
          </a:prstGeom>
          <a:noFill/>
          <a:ln/>
        </p:spPr>
        <p:txBody>
          <a:bodyPr wrap="square" rtlCol="0" anchor="ctr"/>
          <a:lstStyle/>
          <a:p>
            <a:pPr algn="r" indent="0" marL="0">
              <a:buNone/>
            </a:pPr>
            <a:r>
              <a:rPr lang="en-US" sz="1100" b="1" dirty="0">
                <a:solidFill>
                  <a:srgbClr val="EF4444"/>
                </a:solidFill>
                <a:latin typeface="Arial" pitchFamily="34" charset="0"/>
                <a:ea typeface="Arial" pitchFamily="34" charset="-122"/>
                <a:cs typeface="Arial" pitchFamily="34" charset="-120"/>
              </a:rPr>
              <a:t>תגובה 2 (שיפוטית) - תגובה מאיימת ומעוררת אשמה</a:t>
            </a:r>
            <a:endParaRPr lang="en-US" sz="1100" dirty="0"/>
          </a:p>
        </p:txBody>
      </p:sp>
      <p:sp>
        <p:nvSpPr>
          <p:cNvPr id="15" name="Text 12"/>
          <p:cNvSpPr/>
          <p:nvPr/>
        </p:nvSpPr>
        <p:spPr>
          <a:xfrm>
            <a:off x="1005840" y="1801368"/>
            <a:ext cx="4937760" cy="7772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"יעקב, אתה חייב להבין שעם HbA1C של 13.4% ונשנושים אתה מסכן את עצמך. אם לא תיקח את עצמך בידיים, הפצע ברגל ידרדר ותגיע למצבים קשים כמו השכן."</a:t>
            </a:r>
            <a:endParaRPr lang="en-US" sz="950" dirty="0"/>
          </a:p>
        </p:txBody>
      </p:sp>
      <p:sp>
        <p:nvSpPr>
          <p:cNvPr id="16" name="Text 13"/>
          <p:cNvSpPr/>
          <p:nvPr/>
        </p:nvSpPr>
        <p:spPr>
          <a:xfrm>
            <a:off x="1005840" y="2606040"/>
            <a:ext cx="4937760" cy="438912"/>
          </a:xfrm>
          <a:prstGeom prst="rect">
            <a:avLst/>
          </a:prstGeom>
          <a:noFill/>
          <a:ln/>
        </p:spPr>
        <p:txBody>
          <a:bodyPr wrap="square" rtlCol="0" anchor="ctr"/>
          <a:lstStyle/>
          <a:p>
            <a:pPr algn="r" indent="0" marL="0">
              <a:buNone/>
            </a:pPr>
            <a:r>
              <a:rPr lang="en-US" sz="900" b="1" dirty="0">
                <a:solidFill>
                  <a:srgbClr val="EF4444"/>
                </a:solidFill>
                <a:latin typeface="Arial" pitchFamily="34" charset="0"/>
                <a:ea typeface="Arial" pitchFamily="34" charset="-122"/>
                <a:cs typeface="Arial" pitchFamily="34" charset="-120"/>
              </a:rPr>
              <a:t>תגובת יעקב: מתכווץ בכיסא בחוסר אונים: "אני יודע שאני לא בסדר... הדיבורים האלה רק עושים לי יותר חרדה..."</a:t>
            </a:r>
            <a:endParaRPr lang="en-US" sz="900" dirty="0"/>
          </a:p>
        </p:txBody>
      </p:sp>
      <p:sp>
        <p:nvSpPr>
          <p:cNvPr id="17" name="Text 14"/>
          <p:cNvSpPr/>
          <p:nvPr/>
        </p:nvSpPr>
        <p:spPr>
          <a:xfrm>
            <a:off x="1005840" y="3081528"/>
            <a:ext cx="4937760" cy="438912"/>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 הטחת אשמה מגבירה חרדה וגורמת להסתגרות והימנעות מטיפול.</a:t>
            </a:r>
            <a:endParaRPr lang="en-US" sz="850" dirty="0"/>
          </a:p>
        </p:txBody>
      </p:sp>
      <p:sp>
        <p:nvSpPr>
          <p:cNvPr id="18" name="Shape 15"/>
          <p:cNvSpPr/>
          <p:nvPr/>
        </p:nvSpPr>
        <p:spPr>
          <a:xfrm>
            <a:off x="6217920" y="3703320"/>
            <a:ext cx="5212080" cy="2176272"/>
          </a:xfrm>
          <a:prstGeom prst="roundRect">
            <a:avLst/>
          </a:prstGeom>
          <a:solidFill>
            <a:srgbClr val="FFFBEB"/>
          </a:solidFill>
          <a:ln w="15240">
            <a:solidFill>
              <a:srgbClr val="FDE68A"/>
            </a:solidFill>
            <a:prstDash val="solid"/>
          </a:ln>
        </p:spPr>
      </p:sp>
      <p:sp>
        <p:nvSpPr>
          <p:cNvPr id="19" name="Text 16"/>
          <p:cNvSpPr/>
          <p:nvPr/>
        </p:nvSpPr>
        <p:spPr>
          <a:xfrm>
            <a:off x="6355080" y="3794760"/>
            <a:ext cx="4937760" cy="274320"/>
          </a:xfrm>
          <a:prstGeom prst="rect">
            <a:avLst/>
          </a:prstGeom>
          <a:noFill/>
          <a:ln/>
        </p:spPr>
        <p:txBody>
          <a:bodyPr wrap="square" rtlCol="0" anchor="ctr"/>
          <a:lstStyle/>
          <a:p>
            <a:pPr algn="r" indent="0" marL="0">
              <a:buNone/>
            </a:pPr>
            <a:r>
              <a:rPr lang="en-US" sz="1100" b="1" dirty="0">
                <a:solidFill>
                  <a:srgbClr val="F59E0B"/>
                </a:solidFill>
                <a:latin typeface="Arial" pitchFamily="34" charset="0"/>
                <a:ea typeface="Arial" pitchFamily="34" charset="-122"/>
                <a:cs typeface="Arial" pitchFamily="34" charset="-120"/>
              </a:rPr>
              <a:t>תגובה 3 (טכנית) - תגובה פרוטוקולית ללא אמפתיה</a:t>
            </a:r>
            <a:endParaRPr lang="en-US" sz="1100" dirty="0"/>
          </a:p>
        </p:txBody>
      </p:sp>
      <p:sp>
        <p:nvSpPr>
          <p:cNvPr id="20" name="Text 17"/>
          <p:cNvSpPr/>
          <p:nvPr/>
        </p:nvSpPr>
        <p:spPr>
          <a:xfrm>
            <a:off x="6355080" y="4087368"/>
            <a:ext cx="4937760" cy="7772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"טוב יעקב, אין מה להיכנס ללחץ. לגבי הפצע נחליף חבישה, נתאים תרופות חדשות ונשלח לבדיקות."</a:t>
            </a:r>
            <a:endParaRPr lang="en-US" sz="950" dirty="0"/>
          </a:p>
        </p:txBody>
      </p:sp>
      <p:sp>
        <p:nvSpPr>
          <p:cNvPr id="21" name="Text 18"/>
          <p:cNvSpPr/>
          <p:nvPr/>
        </p:nvSpPr>
        <p:spPr>
          <a:xfrm>
            <a:off x="6355080" y="4892040"/>
            <a:ext cx="4937760" cy="438912"/>
          </a:xfrm>
          <a:prstGeom prst="rect">
            <a:avLst/>
          </a:prstGeom>
          <a:noFill/>
          <a:ln/>
        </p:spPr>
        <p:txBody>
          <a:bodyPr wrap="square" rtlCol="0" anchor="ctr"/>
          <a:lstStyle/>
          <a:p>
            <a:pPr algn="r" indent="0" marL="0">
              <a:buNone/>
            </a:pPr>
            <a:r>
              <a:rPr lang="en-US" sz="900" b="1" dirty="0">
                <a:solidFill>
                  <a:srgbClr val="F59E0B"/>
                </a:solidFill>
                <a:latin typeface="Arial" pitchFamily="34" charset="0"/>
                <a:ea typeface="Arial" pitchFamily="34" charset="-122"/>
                <a:cs typeface="Arial" pitchFamily="34" charset="-120"/>
              </a:rPr>
              <a:t>תגובת יעקב: מהנהן בקרירות: "בסדר, מה שתגידי... רק מקווה שלא יהיו תופעות לוואי."</a:t>
            </a:r>
            <a:endParaRPr lang="en-US" sz="900" dirty="0"/>
          </a:p>
        </p:txBody>
      </p:sp>
      <p:sp>
        <p:nvSpPr>
          <p:cNvPr id="22" name="Text 19"/>
          <p:cNvSpPr/>
          <p:nvPr/>
        </p:nvSpPr>
        <p:spPr>
          <a:xfrm>
            <a:off x="6355080" y="5367528"/>
            <a:ext cx="4937760" cy="438912"/>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 התעלמות מהמצוקה הרגשית מונעת בניית אמון טיפולי עמוק.</a:t>
            </a:r>
            <a:endParaRPr lang="en-US" sz="850" dirty="0"/>
          </a:p>
        </p:txBody>
      </p:sp>
      <p:sp>
        <p:nvSpPr>
          <p:cNvPr id="23" name="Shape 20"/>
          <p:cNvSpPr/>
          <p:nvPr/>
        </p:nvSpPr>
        <p:spPr>
          <a:xfrm>
            <a:off x="868680" y="3703320"/>
            <a:ext cx="5212080" cy="2176272"/>
          </a:xfrm>
          <a:prstGeom prst="roundRect">
            <a:avLst/>
          </a:prstGeom>
          <a:solidFill>
            <a:srgbClr val="F8FAFC"/>
          </a:solidFill>
          <a:ln w="15240">
            <a:solidFill>
              <a:srgbClr val="E2E8F0"/>
            </a:solidFill>
            <a:prstDash val="solid"/>
          </a:ln>
        </p:spPr>
      </p:sp>
      <p:sp>
        <p:nvSpPr>
          <p:cNvPr id="24" name="Text 21"/>
          <p:cNvSpPr/>
          <p:nvPr/>
        </p:nvSpPr>
        <p:spPr>
          <a:xfrm>
            <a:off x="1005840" y="3794760"/>
            <a:ext cx="4937760" cy="274320"/>
          </a:xfrm>
          <a:prstGeom prst="rect">
            <a:avLst/>
          </a:prstGeom>
          <a:noFill/>
          <a:ln/>
        </p:spPr>
        <p:txBody>
          <a:bodyPr wrap="square" rtlCol="0" anchor="ctr"/>
          <a:lstStyle/>
          <a:p>
            <a:pPr algn="r" indent="0" marL="0">
              <a:buNone/>
            </a:pPr>
            <a:r>
              <a:rPr lang="en-US" sz="1100" b="1" dirty="0">
                <a:solidFill>
                  <a:srgbClr val="64748B"/>
                </a:solidFill>
                <a:latin typeface="Arial" pitchFamily="34" charset="0"/>
                <a:ea typeface="Arial" pitchFamily="34" charset="-122"/>
                <a:cs typeface="Arial" pitchFamily="34" charset="-120"/>
              </a:rPr>
              <a:t>תגובה 4 (מבטלת) - ביטול חששות שטחי ("אל תדאג")</a:t>
            </a:r>
            <a:endParaRPr lang="en-US" sz="1100" dirty="0"/>
          </a:p>
        </p:txBody>
      </p:sp>
      <p:sp>
        <p:nvSpPr>
          <p:cNvPr id="25" name="Text 22"/>
          <p:cNvSpPr/>
          <p:nvPr/>
        </p:nvSpPr>
        <p:spPr>
          <a:xfrm>
            <a:off x="1005840" y="4087368"/>
            <a:ext cx="4937760" cy="777240"/>
          </a:xfrm>
          <a:prstGeom prst="rect">
            <a:avLst/>
          </a:prstGeom>
          <a:noFill/>
          <a:ln/>
        </p:spPr>
        <p:txBody>
          <a:bodyPr wrap="square" rtlCol="0" anchor="ctr"/>
          <a:lstStyle/>
          <a:p>
            <a:pPr algn="r" indent="0" marL="0">
              <a:buNone/>
            </a:pPr>
            <a:r>
              <a:rPr lang="en-US" sz="950" dirty="0">
                <a:solidFill>
                  <a:srgbClr val="1E293B"/>
                </a:solidFill>
                <a:latin typeface="Arial" pitchFamily="34" charset="0"/>
                <a:ea typeface="Arial" pitchFamily="34" charset="-122"/>
                <a:cs typeface="Arial" pitchFamily="34" charset="-120"/>
              </a:rPr>
              <a:t>"אל תחשוב על דברים רעים כמו כריתות, תהיה אופטימי! יהיה בסדר, רק קח את התרופות."</a:t>
            </a:r>
            <a:endParaRPr lang="en-US" sz="950" dirty="0"/>
          </a:p>
        </p:txBody>
      </p:sp>
      <p:sp>
        <p:nvSpPr>
          <p:cNvPr id="26" name="Text 23"/>
          <p:cNvSpPr/>
          <p:nvPr/>
        </p:nvSpPr>
        <p:spPr>
          <a:xfrm>
            <a:off x="1005840" y="4892040"/>
            <a:ext cx="4937760" cy="438912"/>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תגובת יעקב: מניע ראשו באי-נוחות: "קל לומר תהיה אופטימי, אבל הפצע עדיין מפחיד אותי..."</a:t>
            </a:r>
            <a:endParaRPr lang="en-US" sz="900" dirty="0"/>
          </a:p>
        </p:txBody>
      </p:sp>
      <p:sp>
        <p:nvSpPr>
          <p:cNvPr id="27" name="Text 24"/>
          <p:cNvSpPr/>
          <p:nvPr/>
        </p:nvSpPr>
        <p:spPr>
          <a:xfrm>
            <a:off x="1005840" y="5367528"/>
            <a:ext cx="4937760" cy="438912"/>
          </a:xfrm>
          <a:prstGeom prst="rect">
            <a:avLst/>
          </a:prstGeom>
          <a:noFill/>
          <a:ln/>
        </p:spPr>
        <p:txBody>
          <a:bodyPr wrap="square" rtlCol="0" anchor="ctr"/>
          <a:lstStyle/>
          <a:p>
            <a:pPr algn="r" indent="0" marL="0">
              <a:buNone/>
            </a:pPr>
            <a:r>
              <a:rPr lang="en-US" sz="850" dirty="0">
                <a:solidFill>
                  <a:srgbClr val="64748B"/>
                </a:solidFill>
                <a:latin typeface="Arial" pitchFamily="34" charset="0"/>
                <a:ea typeface="Arial" pitchFamily="34" charset="-122"/>
                <a:cs typeface="Arial" pitchFamily="34" charset="-120"/>
              </a:rPr>
              <a:t>❌ עידוד שטחי מבטל את הרגש של המטופל וגורם לתחושה שלא מקשיבים לו.</a:t>
            </a:r>
            <a:endParaRPr lang="en-US" sz="850" dirty="0"/>
          </a:p>
        </p:txBody>
      </p:sp>
      <p:sp>
        <p:nvSpPr>
          <p:cNvPr id="28" name="Shape 25"/>
          <p:cNvSpPr/>
          <p:nvPr/>
        </p:nvSpPr>
        <p:spPr>
          <a:xfrm>
            <a:off x="0" y="6473952"/>
            <a:ext cx="9144000" cy="384048"/>
          </a:xfrm>
          <a:prstGeom prst="rect">
            <a:avLst/>
          </a:prstGeom>
          <a:solidFill>
            <a:srgbClr val="FFFFFF"/>
          </a:solidFill>
          <a:ln w="12700">
            <a:solidFill>
              <a:srgbClr val="E2E8F0"/>
            </a:solidFill>
            <a:prstDash val="solid"/>
          </a:ln>
        </p:spPr>
      </p:sp>
      <p:sp>
        <p:nvSpPr>
          <p:cNvPr id="29" name="Text 26"/>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0" name="Text 27"/>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11 / 27</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1 • קבלת המטופל</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1: דילמות קליניות ושאלות אבחון (Double Diabetes)</a:t>
            </a:r>
            <a:endParaRPr lang="en-US" sz="2000" dirty="0"/>
          </a:p>
        </p:txBody>
      </p:sp>
      <p:sp>
        <p:nvSpPr>
          <p:cNvPr id="7" name="Shape 4"/>
          <p:cNvSpPr/>
          <p:nvPr/>
        </p:nvSpPr>
        <p:spPr>
          <a:xfrm>
            <a:off x="731520" y="1280160"/>
            <a:ext cx="10698480" cy="2331720"/>
          </a:xfrm>
          <a:prstGeom prst="roundRect">
            <a:avLst/>
          </a:prstGeom>
          <a:solidFill>
            <a:srgbClr val="FFFFFF"/>
          </a:solidFill>
          <a:ln w="15240">
            <a:solidFill>
              <a:srgbClr val="BAE6FD"/>
            </a:solidFill>
            <a:prstDash val="solid"/>
          </a:ln>
        </p:spPr>
      </p:sp>
      <p:sp>
        <p:nvSpPr>
          <p:cNvPr id="8" name="Text 5"/>
          <p:cNvSpPr/>
          <p:nvPr/>
        </p:nvSpPr>
        <p:spPr>
          <a:xfrm>
            <a:off x="914400" y="1417320"/>
            <a:ext cx="10332720" cy="320040"/>
          </a:xfrm>
          <a:prstGeom prst="rect">
            <a:avLst/>
          </a:prstGeom>
          <a:noFill/>
          <a:ln/>
        </p:spPr>
        <p:txBody>
          <a:bodyPr wrap="square" rtlCol="0" anchor="ctr"/>
          <a:lstStyle/>
          <a:p>
            <a:pPr algn="r" indent="0" marL="0">
              <a:buNone/>
            </a:pPr>
            <a:r>
              <a:rPr lang="en-US" sz="1300" b="1" dirty="0">
                <a:solidFill>
                  <a:srgbClr val="0284C7"/>
                </a:solidFill>
                <a:latin typeface="Arial" pitchFamily="34" charset="0"/>
                <a:ea typeface="Arial" pitchFamily="34" charset="-122"/>
                <a:cs typeface="Arial" pitchFamily="34" charset="-120"/>
              </a:rPr>
              <a:t>שאלה קלינית 1: איזה סוג סוכרת לדעתך יש למטופל?</a:t>
            </a:r>
            <a:endParaRPr lang="en-US" sz="1300" dirty="0"/>
          </a:p>
        </p:txBody>
      </p:sp>
      <p:sp>
        <p:nvSpPr>
          <p:cNvPr id="9" name="Text 6"/>
          <p:cNvSpPr/>
          <p:nvPr/>
        </p:nvSpPr>
        <p:spPr>
          <a:xfrm>
            <a:off x="914400" y="1783080"/>
            <a:ext cx="10332720" cy="91440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א. סוכרת סוג 1 (תשובה חלקית בלבד: אמנם יש נוגדני GAD חיוביים ומרכיב אוטואימוני, אך מתעלמת מתנגודת קשה והשמנה)</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ב. סוכרת סוג 2 (לא מדויק: נוגדני GAD חיוביים מאשרים מרכיב אוטואימוני מובהק של T1D)</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ג. סוכרת משולבת (Double Diabetes - סוכרת סוג 1 + סוכרת סוג 2 / תנגודת קשה) - ✅ תשובה נכונה ומדויקת!</a:t>
            </a:r>
            <a:endParaRPr lang="en-US" sz="1050" dirty="0"/>
          </a:p>
        </p:txBody>
      </p:sp>
      <p:sp>
        <p:nvSpPr>
          <p:cNvPr id="10" name="Shape 7"/>
          <p:cNvSpPr/>
          <p:nvPr/>
        </p:nvSpPr>
        <p:spPr>
          <a:xfrm>
            <a:off x="914400" y="2743200"/>
            <a:ext cx="10332720" cy="731520"/>
          </a:xfrm>
          <a:prstGeom prst="roundRect">
            <a:avLst/>
          </a:prstGeom>
          <a:solidFill>
            <a:srgbClr val="F0FDF4"/>
          </a:solidFill>
          <a:ln w="12700">
            <a:solidFill>
              <a:srgbClr val="A7F3D0"/>
            </a:solidFill>
            <a:prstDash val="solid"/>
          </a:ln>
        </p:spPr>
      </p:sp>
      <p:sp>
        <p:nvSpPr>
          <p:cNvPr id="11" name="Text 8"/>
          <p:cNvSpPr/>
          <p:nvPr/>
        </p:nvSpPr>
        <p:spPr>
          <a:xfrm>
            <a:off x="1005840" y="2816352"/>
            <a:ext cx="10149840" cy="594360"/>
          </a:xfrm>
          <a:prstGeom prst="rect">
            <a:avLst/>
          </a:prstGeom>
          <a:noFill/>
          <a:ln/>
        </p:spPr>
        <p:txBody>
          <a:bodyPr wrap="square" rtlCol="0" anchor="ctr"/>
          <a:lstStyle/>
          <a:p>
            <a:pPr algn="r" indent="0" marL="0">
              <a:buNone/>
            </a:pPr>
            <a:r>
              <a:rPr lang="en-US" sz="1000" b="1" dirty="0">
                <a:solidFill>
                  <a:srgbClr val="15803D"/>
                </a:solidFill>
                <a:latin typeface="Arial" pitchFamily="34" charset="0"/>
                <a:ea typeface="Arial" pitchFamily="34" charset="-122"/>
                <a:cs typeface="Arial" pitchFamily="34" charset="-120"/>
              </a:rPr>
              <a:t>נימוק קליני: Double Diabetes מתרחשת כאשר למטופל עם T1D אוטואימוני יש גם השמנה משמעותית (BMI 36.1) הגורמת לתנגודת קשה ביותר לאינסולין ולצורך במינונים קיצוניים.</a:t>
            </a:r>
            <a:endParaRPr lang="en-US" sz="1000" dirty="0"/>
          </a:p>
        </p:txBody>
      </p:sp>
      <p:sp>
        <p:nvSpPr>
          <p:cNvPr id="12" name="Shape 9"/>
          <p:cNvSpPr/>
          <p:nvPr/>
        </p:nvSpPr>
        <p:spPr>
          <a:xfrm>
            <a:off x="731520" y="3794760"/>
            <a:ext cx="10698480" cy="2423160"/>
          </a:xfrm>
          <a:prstGeom prst="roundRect">
            <a:avLst/>
          </a:prstGeom>
          <a:solidFill>
            <a:srgbClr val="FFFFFF"/>
          </a:solidFill>
          <a:ln w="15240">
            <a:solidFill>
              <a:srgbClr val="E9D5FF"/>
            </a:solidFill>
            <a:prstDash val="solid"/>
          </a:ln>
        </p:spPr>
      </p:sp>
      <p:sp>
        <p:nvSpPr>
          <p:cNvPr id="13" name="Text 10"/>
          <p:cNvSpPr/>
          <p:nvPr/>
        </p:nvSpPr>
        <p:spPr>
          <a:xfrm>
            <a:off x="914400" y="3931920"/>
            <a:ext cx="10332720" cy="320040"/>
          </a:xfrm>
          <a:prstGeom prst="rect">
            <a:avLst/>
          </a:prstGeom>
          <a:noFill/>
          <a:ln/>
        </p:spPr>
        <p:txBody>
          <a:bodyPr wrap="square" rtlCol="0" anchor="ctr"/>
          <a:lstStyle/>
          <a:p>
            <a:pPr algn="r" indent="0" marL="0">
              <a:buNone/>
            </a:pPr>
            <a:r>
              <a:rPr lang="en-US" sz="1300" b="1" dirty="0">
                <a:solidFill>
                  <a:srgbClr val="7E22CE"/>
                </a:solidFill>
                <a:latin typeface="Arial" pitchFamily="34" charset="0"/>
                <a:ea typeface="Arial" pitchFamily="34" charset="-122"/>
                <a:cs typeface="Arial" pitchFamily="34" charset="-120"/>
              </a:rPr>
              <a:t>שאלה קלינית 2: כיצד תסביר את הצורך במינוני עתק ומה הערך המוסף של GLP-1 RA?</a:t>
            </a:r>
            <a:endParaRPr lang="en-US" sz="1300" dirty="0"/>
          </a:p>
        </p:txBody>
      </p:sp>
      <p:sp>
        <p:nvSpPr>
          <p:cNvPr id="14" name="Text 11"/>
          <p:cNvSpPr/>
          <p:nvPr/>
        </p:nvSpPr>
        <p:spPr>
          <a:xfrm>
            <a:off x="914400" y="4297680"/>
            <a:ext cx="10332720" cy="178308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הסבר מקיף: השילוב של סוכרת סוג 1 (נוגדני GAD חיוביים) יחד עם השמנה דרגה 2 (BMI 36.1) יוצר מעגל קסמים של תנגודת היקפית והזרקת מינוני אינסולין ענקיים (200 יחידות ליום!).</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ערכו הייחודי של טיפול ב-GLP-1 RA במקרה זה:</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1. שבירת התנגודת לאינסולין והורדת משקל דרמטית.</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2. קיצוץ חד במינוני האינסולין (הפחתת 70% בבולוס).</a:t>
            </a: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3. הענקת הגנה קרדיווסקולרית ומוחית חיונית למניעת אירוע מוחי או לבבי חוזר במטופל לאחר CVA ו-IHD.</a:t>
            </a:r>
            <a:endParaRPr lang="en-US" sz="1050" dirty="0"/>
          </a:p>
        </p:txBody>
      </p:sp>
      <p:sp>
        <p:nvSpPr>
          <p:cNvPr id="15" name="Shape 12"/>
          <p:cNvSpPr/>
          <p:nvPr/>
        </p:nvSpPr>
        <p:spPr>
          <a:xfrm>
            <a:off x="0" y="6473952"/>
            <a:ext cx="9144000" cy="384048"/>
          </a:xfrm>
          <a:prstGeom prst="rect">
            <a:avLst/>
          </a:prstGeom>
          <a:solidFill>
            <a:srgbClr val="FFFFFF"/>
          </a:solidFill>
          <a:ln w="12700">
            <a:solidFill>
              <a:srgbClr val="E2E8F0"/>
            </a:solidFill>
            <a:prstDash val="solid"/>
          </a:ln>
        </p:spPr>
      </p:sp>
      <p:sp>
        <p:nvSpPr>
          <p:cNvPr id="16" name="Text 13"/>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7" name="Text 14"/>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12 / 27</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ביקור ראשון (חלק ב')</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ביקור ראשון (חלק ב') – החלטה על אינסולין קצר טווח</a:t>
            </a:r>
            <a:endParaRPr lang="en-US" sz="2000" dirty="0"/>
          </a:p>
        </p:txBody>
      </p:sp>
      <p:sp>
        <p:nvSpPr>
          <p:cNvPr id="7" name="Shape 4"/>
          <p:cNvSpPr/>
          <p:nvPr/>
        </p:nvSpPr>
        <p:spPr>
          <a:xfrm>
            <a:off x="4754880" y="1280160"/>
            <a:ext cx="6675120" cy="4892040"/>
          </a:xfrm>
          <a:prstGeom prst="roundRect">
            <a:avLst/>
          </a:prstGeom>
          <a:solidFill>
            <a:srgbClr val="FFFFFF"/>
          </a:solidFill>
          <a:ln w="15240">
            <a:solidFill>
              <a:srgbClr val="A7F3D0"/>
            </a:solidFill>
            <a:prstDash val="solid"/>
          </a:ln>
        </p:spPr>
      </p:sp>
      <p:sp>
        <p:nvSpPr>
          <p:cNvPr id="8" name="Text 5"/>
          <p:cNvSpPr/>
          <p:nvPr/>
        </p:nvSpPr>
        <p:spPr>
          <a:xfrm>
            <a:off x="4937760" y="1463040"/>
            <a:ext cx="6309360" cy="320040"/>
          </a:xfrm>
          <a:prstGeom prst="rect">
            <a:avLst/>
          </a:prstGeom>
          <a:noFill/>
          <a:ln/>
        </p:spPr>
        <p:txBody>
          <a:bodyPr wrap="square" rtlCol="0" anchor="ctr"/>
          <a:lstStyle/>
          <a:p>
            <a:pPr algn="r" indent="0" marL="0">
              <a:buNone/>
            </a:pPr>
            <a:r>
              <a:rPr lang="en-US" sz="1500" b="1" dirty="0">
                <a:solidFill>
                  <a:srgbClr val="059669"/>
                </a:solidFill>
                <a:latin typeface="Arial" pitchFamily="34" charset="0"/>
                <a:ea typeface="Arial" pitchFamily="34" charset="-122"/>
                <a:cs typeface="Arial" pitchFamily="34" charset="-120"/>
              </a:rPr>
              <a:t>ההחלטה הטיפולית בביקור הראשון (ינואר 2026)</a:t>
            </a:r>
            <a:endParaRPr lang="en-US" sz="1500" dirty="0"/>
          </a:p>
        </p:txBody>
      </p:sp>
      <p:sp>
        <p:nvSpPr>
          <p:cNvPr id="9" name="Text 6"/>
          <p:cNvSpPr/>
          <p:nvPr/>
        </p:nvSpPr>
        <p:spPr>
          <a:xfrm>
            <a:off x="4937760" y="1874520"/>
            <a:ext cx="6309360" cy="4114800"/>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עקב היפרגליקמיה משמעותית לאחר האוכל ו-A1C מאוד גבוה (13.4%), הוחלט להוסיף למטופל טיפול באינסולין קצר טווח נובורפיד (Novorapid) 3 פעמים ביום לפני כל ארוחה, והוא חובר לסנסור Libre.</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ניתוח שלילת חלופות טיפוליות:</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DPP4: לא הוכיח יעילות במניעת מחלות טרשתיות, השפעתו על משקל ניטרלית ויעילותו בהורדת A1C מוגבלת מאוד.</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אקטוס (Actos): מעלה סיכון לעלייה במשקל ולאגירת נוזלים, ואינו מספק מענה לעליות סוכר חדות לאחר ארוחה.</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אקרבוז (Acarbose): יעילות מוגבלת מאוד, מלווה בתופעות לוואי גסטרואינטסטינליות קשות.</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נובונורם / אמריל (סולפונילאוריאה): רמת הרזרווה הלבלבית אינה ידועה (אין בדיקת C-Peptide), רמת ה-A1C מאוד גבוהה והמטופל מרבה לנשנש ופחות לאכול ארוחות קבועות.</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משאבת אינסולין: המטופל אינו זכאי בסל לקבלת משאבה.</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אינסולין ארוך טווח בלבד: המטופל כבר מטופל בטרגלודק, אך הבעיה העיקרית היא ספייקים פוסט-פרנדיאליים (200-350 mg/dL).</a:t>
            </a:r>
            <a:endParaRPr lang="en-US" sz="1000" dirty="0"/>
          </a:p>
        </p:txBody>
      </p:sp>
      <p:sp>
        <p:nvSpPr>
          <p:cNvPr id="10" name="Shape 7"/>
          <p:cNvSpPr/>
          <p:nvPr/>
        </p:nvSpPr>
        <p:spPr>
          <a:xfrm>
            <a:off x="731520" y="1280160"/>
            <a:ext cx="3840480" cy="4892040"/>
          </a:xfrm>
          <a:prstGeom prst="roundRect">
            <a:avLst/>
          </a:prstGeom>
          <a:solidFill>
            <a:srgbClr val="FFFFFF"/>
          </a:solidFill>
          <a:ln w="15240">
            <a:solidFill>
              <a:srgbClr val="E0F2FE"/>
            </a:solidFill>
            <a:prstDash val="solid"/>
          </a:ln>
        </p:spPr>
      </p:sp>
      <p:sp>
        <p:nvSpPr>
          <p:cNvPr id="11" name="Text 8"/>
          <p:cNvSpPr/>
          <p:nvPr/>
        </p:nvSpPr>
        <p:spPr>
          <a:xfrm>
            <a:off x="914400" y="1463040"/>
            <a:ext cx="3474720" cy="320040"/>
          </a:xfrm>
          <a:prstGeom prst="rect">
            <a:avLst/>
          </a:prstGeom>
          <a:noFill/>
          <a:ln/>
        </p:spPr>
        <p:txBody>
          <a:bodyPr wrap="square" rtlCol="0" anchor="ctr"/>
          <a:lstStyle/>
          <a:p>
            <a:pPr algn="r" indent="0" marL="0">
              <a:buNone/>
            </a:pPr>
            <a:r>
              <a:rPr lang="en-US" sz="1300" b="1" dirty="0">
                <a:solidFill>
                  <a:srgbClr val="0284C7"/>
                </a:solidFill>
                <a:latin typeface="Arial" pitchFamily="34" charset="0"/>
                <a:ea typeface="Arial" pitchFamily="34" charset="-122"/>
                <a:cs typeface="Arial" pitchFamily="34" charset="-120"/>
              </a:rPr>
              <a:t>מרכיבי ההתערבות המיידית:</a:t>
            </a:r>
            <a:endParaRPr lang="en-US" sz="1300" dirty="0"/>
          </a:p>
        </p:txBody>
      </p:sp>
      <p:sp>
        <p:nvSpPr>
          <p:cNvPr id="12" name="Shape 9"/>
          <p:cNvSpPr/>
          <p:nvPr/>
        </p:nvSpPr>
        <p:spPr>
          <a:xfrm>
            <a:off x="914400" y="1965960"/>
            <a:ext cx="3474720" cy="914400"/>
          </a:xfrm>
          <a:prstGeom prst="roundRect">
            <a:avLst/>
          </a:prstGeom>
          <a:solidFill>
            <a:srgbClr val="FFFFFF"/>
          </a:solidFill>
          <a:ln w="12700">
            <a:solidFill>
              <a:srgbClr val="BAE6FD"/>
            </a:solidFill>
            <a:prstDash val="solid"/>
          </a:ln>
        </p:spPr>
      </p:sp>
      <p:sp>
        <p:nvSpPr>
          <p:cNvPr id="13" name="Text 10"/>
          <p:cNvSpPr/>
          <p:nvPr/>
        </p:nvSpPr>
        <p:spPr>
          <a:xfrm>
            <a:off x="1005840" y="2057400"/>
            <a:ext cx="3291840" cy="27432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נובורפיד לפני ארוחות</a:t>
            </a:r>
            <a:endParaRPr lang="en-US" sz="1100" dirty="0"/>
          </a:p>
        </p:txBody>
      </p:sp>
      <p:sp>
        <p:nvSpPr>
          <p:cNvPr id="14" name="Text 11"/>
          <p:cNvSpPr/>
          <p:nvPr/>
        </p:nvSpPr>
        <p:spPr>
          <a:xfrm>
            <a:off x="1005840" y="2350008"/>
            <a:ext cx="3291840" cy="4572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מתן מענה ספציפי לעליות הסוכר החדות לאחר האוכל והתאמה לגודל הארוחה.</a:t>
            </a:r>
            <a:endParaRPr lang="en-US" sz="900" dirty="0"/>
          </a:p>
        </p:txBody>
      </p:sp>
      <p:sp>
        <p:nvSpPr>
          <p:cNvPr id="15" name="Shape 12"/>
          <p:cNvSpPr/>
          <p:nvPr/>
        </p:nvSpPr>
        <p:spPr>
          <a:xfrm>
            <a:off x="914400" y="3017520"/>
            <a:ext cx="3474720" cy="914400"/>
          </a:xfrm>
          <a:prstGeom prst="roundRect">
            <a:avLst/>
          </a:prstGeom>
          <a:solidFill>
            <a:srgbClr val="FFFFFF"/>
          </a:solidFill>
          <a:ln w="12700">
            <a:solidFill>
              <a:srgbClr val="BAE6FD"/>
            </a:solidFill>
            <a:prstDash val="solid"/>
          </a:ln>
        </p:spPr>
      </p:sp>
      <p:sp>
        <p:nvSpPr>
          <p:cNvPr id="16" name="Text 13"/>
          <p:cNvSpPr/>
          <p:nvPr/>
        </p:nvSpPr>
        <p:spPr>
          <a:xfrm>
            <a:off x="1005840" y="3108960"/>
            <a:ext cx="3291840" cy="27432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חיבור לחיישן Libre</a:t>
            </a:r>
            <a:endParaRPr lang="en-US" sz="1100" dirty="0"/>
          </a:p>
        </p:txBody>
      </p:sp>
      <p:sp>
        <p:nvSpPr>
          <p:cNvPr id="17" name="Text 14"/>
          <p:cNvSpPr/>
          <p:nvPr/>
        </p:nvSpPr>
        <p:spPr>
          <a:xfrm>
            <a:off x="1005840" y="3401568"/>
            <a:ext cx="3291840" cy="4572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התחלת ניטור סוכר רציף לקבלת תמונה מלאה של תנודתיות הגלוקוז.</a:t>
            </a:r>
            <a:endParaRPr lang="en-US" sz="900" dirty="0"/>
          </a:p>
        </p:txBody>
      </p:sp>
      <p:sp>
        <p:nvSpPr>
          <p:cNvPr id="18" name="Shape 15"/>
          <p:cNvSpPr/>
          <p:nvPr/>
        </p:nvSpPr>
        <p:spPr>
          <a:xfrm>
            <a:off x="914400" y="4069080"/>
            <a:ext cx="3474720" cy="914400"/>
          </a:xfrm>
          <a:prstGeom prst="roundRect">
            <a:avLst/>
          </a:prstGeom>
          <a:solidFill>
            <a:srgbClr val="FFFFFF"/>
          </a:solidFill>
          <a:ln w="12700">
            <a:solidFill>
              <a:srgbClr val="BAE6FD"/>
            </a:solidFill>
            <a:prstDash val="solid"/>
          </a:ln>
        </p:spPr>
      </p:sp>
      <p:sp>
        <p:nvSpPr>
          <p:cNvPr id="19" name="Text 16"/>
          <p:cNvSpPr/>
          <p:nvPr/>
        </p:nvSpPr>
        <p:spPr>
          <a:xfrm>
            <a:off x="1005840" y="4160520"/>
            <a:ext cx="3291840" cy="27432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הדרכת הזרקות</a:t>
            </a:r>
            <a:endParaRPr lang="en-US" sz="1100" dirty="0"/>
          </a:p>
        </p:txBody>
      </p:sp>
      <p:sp>
        <p:nvSpPr>
          <p:cNvPr id="20" name="Text 17"/>
          <p:cNvSpPr/>
          <p:nvPr/>
        </p:nvSpPr>
        <p:spPr>
          <a:xfrm>
            <a:off x="1005840" y="4453128"/>
            <a:ext cx="3291840" cy="4572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רוטציה קבועה במרחק 4 אצבעות מהטבור לכיוון המותן ומניעת ליפודוסטרופיה.</a:t>
            </a:r>
            <a:endParaRPr lang="en-US" sz="900" dirty="0"/>
          </a:p>
        </p:txBody>
      </p:sp>
      <p:sp>
        <p:nvSpPr>
          <p:cNvPr id="21" name="Shape 18"/>
          <p:cNvSpPr/>
          <p:nvPr/>
        </p:nvSpPr>
        <p:spPr>
          <a:xfrm>
            <a:off x="914400" y="5120640"/>
            <a:ext cx="3474720" cy="914400"/>
          </a:xfrm>
          <a:prstGeom prst="roundRect">
            <a:avLst/>
          </a:prstGeom>
          <a:solidFill>
            <a:srgbClr val="FFFFFF"/>
          </a:solidFill>
          <a:ln w="12700">
            <a:solidFill>
              <a:srgbClr val="BAE6FD"/>
            </a:solidFill>
            <a:prstDash val="solid"/>
          </a:ln>
        </p:spPr>
      </p:sp>
      <p:sp>
        <p:nvSpPr>
          <p:cNvPr id="22" name="Text 19"/>
          <p:cNvSpPr/>
          <p:nvPr/>
        </p:nvSpPr>
        <p:spPr>
          <a:xfrm>
            <a:off x="1005840" y="5212080"/>
            <a:ext cx="3291840" cy="274320"/>
          </a:xfrm>
          <a:prstGeom prst="rect">
            <a:avLst/>
          </a:prstGeom>
          <a:noFill/>
          <a:ln/>
        </p:spPr>
        <p:txBody>
          <a:bodyPr wrap="square" rtlCol="0" anchor="ctr"/>
          <a:lstStyle/>
          <a:p>
            <a:pPr algn="r" indent="0" marL="0">
              <a:buNone/>
            </a:pPr>
            <a:r>
              <a:rPr lang="en-US" sz="1100" b="1" dirty="0">
                <a:solidFill>
                  <a:srgbClr val="0284C7"/>
                </a:solidFill>
                <a:latin typeface="Arial" pitchFamily="34" charset="0"/>
                <a:ea typeface="Arial" pitchFamily="34" charset="-122"/>
                <a:cs typeface="Arial" pitchFamily="34" charset="-120"/>
              </a:rPr>
              <a:t>הכנה ל-Wegovy</a:t>
            </a:r>
            <a:endParaRPr lang="en-US" sz="1100" dirty="0"/>
          </a:p>
        </p:txBody>
      </p:sp>
      <p:sp>
        <p:nvSpPr>
          <p:cNvPr id="23" name="Text 20"/>
          <p:cNvSpPr/>
          <p:nvPr/>
        </p:nvSpPr>
        <p:spPr>
          <a:xfrm>
            <a:off x="1005840" y="5504688"/>
            <a:ext cx="3291840" cy="45720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תכנון שילוב GLP-1 RA להורדת משקל ותנגודת.</a:t>
            </a:r>
            <a:endParaRPr lang="en-US" sz="900" dirty="0"/>
          </a:p>
        </p:txBody>
      </p:sp>
      <p:sp>
        <p:nvSpPr>
          <p:cNvPr id="24" name="Shape 21"/>
          <p:cNvSpPr/>
          <p:nvPr/>
        </p:nvSpPr>
        <p:spPr>
          <a:xfrm>
            <a:off x="0" y="6473952"/>
            <a:ext cx="9144000" cy="384048"/>
          </a:xfrm>
          <a:prstGeom prst="rect">
            <a:avLst/>
          </a:prstGeom>
          <a:solidFill>
            <a:srgbClr val="FFFFFF"/>
          </a:solidFill>
          <a:ln w="12700">
            <a:solidFill>
              <a:srgbClr val="E2E8F0"/>
            </a:solidFill>
            <a:prstDash val="solid"/>
          </a:ln>
        </p:spPr>
      </p:sp>
      <p:sp>
        <p:nvSpPr>
          <p:cNvPr id="25" name="Text 22"/>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26" name="Text 23"/>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13 / 27</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ביקור ראשון (חלק ב')</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בדיקת מקומות הזרקה ופריקת נתוני קורא Libre (פברואר 2026)</a:t>
            </a:r>
            <a:endParaRPr lang="en-US" sz="2000" dirty="0"/>
          </a:p>
        </p:txBody>
      </p:sp>
      <p:sp>
        <p:nvSpPr>
          <p:cNvPr id="7" name="Shape 4"/>
          <p:cNvSpPr/>
          <p:nvPr/>
        </p:nvSpPr>
        <p:spPr>
          <a:xfrm>
            <a:off x="6217920" y="1280160"/>
            <a:ext cx="5212080" cy="4892040"/>
          </a:xfrm>
          <a:prstGeom prst="roundRect">
            <a:avLst/>
          </a:prstGeom>
          <a:solidFill>
            <a:srgbClr val="FFFFFF"/>
          </a:solidFill>
          <a:ln w="15240">
            <a:solidFill>
              <a:srgbClr val="BAE6FD"/>
            </a:solidFill>
            <a:prstDash val="solid"/>
          </a:ln>
        </p:spPr>
      </p:sp>
      <p:sp>
        <p:nvSpPr>
          <p:cNvPr id="8" name="Text 5"/>
          <p:cNvSpPr/>
          <p:nvPr/>
        </p:nvSpPr>
        <p:spPr>
          <a:xfrm>
            <a:off x="6400800" y="1463040"/>
            <a:ext cx="4846320" cy="320040"/>
          </a:xfrm>
          <a:prstGeom prst="rect">
            <a:avLst/>
          </a:prstGeom>
          <a:noFill/>
          <a:ln/>
        </p:spPr>
        <p:txBody>
          <a:bodyPr wrap="square" rtlCol="0" anchor="ctr"/>
          <a:lstStyle/>
          <a:p>
            <a:pPr algn="r" indent="0" marL="0">
              <a:buNone/>
            </a:pPr>
            <a:r>
              <a:rPr lang="en-US" sz="1400" b="1" dirty="0">
                <a:solidFill>
                  <a:srgbClr val="0284C7"/>
                </a:solidFill>
                <a:latin typeface="Arial" pitchFamily="34" charset="0"/>
                <a:ea typeface="Arial" pitchFamily="34" charset="-122"/>
                <a:cs typeface="Arial" pitchFamily="34" charset="-120"/>
              </a:rPr>
              <a:t>פריקת נתוני קורא Libre (פברואר 2026)</a:t>
            </a:r>
            <a:endParaRPr lang="en-US" sz="1400" dirty="0"/>
          </a:p>
        </p:txBody>
      </p:sp>
      <p:sp>
        <p:nvSpPr>
          <p:cNvPr id="9" name="Text 6"/>
          <p:cNvSpPr/>
          <p:nvPr/>
        </p:nvSpPr>
        <p:spPr>
          <a:xfrm>
            <a:off x="6400800" y="1874520"/>
            <a:ext cx="4846320" cy="548640"/>
          </a:xfrm>
          <a:prstGeom prst="rect">
            <a:avLst/>
          </a:prstGeom>
          <a:noFill/>
          <a:ln/>
        </p:spPr>
        <p:txBody>
          <a:bodyPr wrap="square" rtlCol="0" anchor="ctr"/>
          <a:lstStyle/>
          <a:p>
            <a:pPr algn="r" indent="0" marL="0">
              <a:buNone/>
            </a:pPr>
            <a:r>
              <a:rPr lang="en-US" sz="1100" dirty="0">
                <a:solidFill>
                  <a:srgbClr val="1E293B"/>
                </a:solidFill>
                <a:latin typeface="Arial" pitchFamily="34" charset="0"/>
                <a:ea typeface="Arial" pitchFamily="34" charset="-122"/>
                <a:cs typeface="Arial" pitchFamily="34" charset="-120"/>
              </a:rPr>
              <a:t>חיבור קורא ה-Libre הכחול בכבל USB צהוב למחשב המרפאה לפריקת נתוני הסוכר הרציפים.</a:t>
            </a:r>
            <a:endParaRPr lang="en-US" sz="1100" dirty="0"/>
          </a:p>
        </p:txBody>
      </p:sp>
      <p:pic>
        <p:nvPicPr>
          <p:cNvPr id="10" name="Image 1" descr="C:\Users\tifer\OneDrive\שולחן העבודה\אנטיגרביטי\GLP1CVA\public\labs\AGP_before_wegovy.png">    </p:cNvPr>
          <p:cNvPicPr>
            <a:picLocks noChangeAspect="1"/>
          </p:cNvPicPr>
          <p:nvPr/>
        </p:nvPicPr>
        <p:blipFill>
          <a:blip r:embed="rId2"/>
          <a:stretch>
            <a:fillRect/>
          </a:stretch>
        </p:blipFill>
        <p:spPr>
          <a:xfrm>
            <a:off x="6400800" y="2514600"/>
            <a:ext cx="4846320" cy="3474720"/>
          </a:xfrm>
          <a:prstGeom prst="rect">
            <a:avLst/>
          </a:prstGeom>
        </p:spPr>
      </p:pic>
      <p:sp>
        <p:nvSpPr>
          <p:cNvPr id="11" name="Shape 7"/>
          <p:cNvSpPr/>
          <p:nvPr/>
        </p:nvSpPr>
        <p:spPr>
          <a:xfrm>
            <a:off x="731520" y="1280160"/>
            <a:ext cx="5212080" cy="4892040"/>
          </a:xfrm>
          <a:prstGeom prst="roundRect">
            <a:avLst/>
          </a:prstGeom>
          <a:solidFill>
            <a:srgbClr val="FFFFFF"/>
          </a:solidFill>
          <a:ln w="15240">
            <a:solidFill>
              <a:srgbClr val="FED7AA"/>
            </a:solidFill>
            <a:prstDash val="solid"/>
          </a:ln>
        </p:spPr>
      </p:sp>
      <p:sp>
        <p:nvSpPr>
          <p:cNvPr id="12" name="Text 8"/>
          <p:cNvSpPr/>
          <p:nvPr/>
        </p:nvSpPr>
        <p:spPr>
          <a:xfrm>
            <a:off x="914400" y="1463040"/>
            <a:ext cx="4846320" cy="320040"/>
          </a:xfrm>
          <a:prstGeom prst="rect">
            <a:avLst/>
          </a:prstGeom>
          <a:noFill/>
          <a:ln/>
        </p:spPr>
        <p:txBody>
          <a:bodyPr wrap="square" rtlCol="0" anchor="ctr"/>
          <a:lstStyle/>
          <a:p>
            <a:pPr algn="r" indent="0" marL="0">
              <a:buNone/>
            </a:pPr>
            <a:r>
              <a:rPr lang="en-US" sz="1400" b="1" dirty="0">
                <a:solidFill>
                  <a:srgbClr val="D97706"/>
                </a:solidFill>
                <a:latin typeface="Arial" pitchFamily="34" charset="0"/>
                <a:ea typeface="Arial" pitchFamily="34" charset="-122"/>
                <a:cs typeface="Arial" pitchFamily="34" charset="-120"/>
              </a:rPr>
              <a:t>בדיקת מקומות הזרקת אינסולין וטכניקה</a:t>
            </a:r>
            <a:endParaRPr lang="en-US" sz="1400" dirty="0"/>
          </a:p>
        </p:txBody>
      </p:sp>
      <p:sp>
        <p:nvSpPr>
          <p:cNvPr id="13" name="Text 9"/>
          <p:cNvSpPr/>
          <p:nvPr/>
        </p:nvSpPr>
        <p:spPr>
          <a:xfrm>
            <a:off x="914400" y="1965960"/>
            <a:ext cx="4846320" cy="393192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בדיקה פיזיקלית של אזורי הזרקה: נצפה גוש ליפודוסטרופיה באזור הבטן עקב הזרקות חוזרות באותו מיקום.</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הערכת טכניקה ואחסון: המטופל מזריק נכון במקומות הנכונים ומאחסן נכון את האינסולין במקרר/טמפ' חדר.</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ליקוי שנמצא: המטופל לא הקפיד להחליף מחט בכל הזרקה ועשה שימוש חוזר במחטים.</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הדרכה קלינית שניתנה:</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החלפת מחט חדשה וסטרילית בכל הזרקה ללא יוצא מן הכלל.</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רוטציה קבועה במרחק 4 אצבעות מהטבור לכיוון המותן למניעת החמרת הליפודוסטרופיה.</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הסבר כי הזרקה לתוך רקמה מצולקת/שומנית משבשת קשות את ספיגת האינסולין וגורמת לתנודות גלוקוז בלתי צפויות.</a:t>
            </a:r>
            <a:endParaRPr lang="en-US" sz="1050" dirty="0"/>
          </a:p>
        </p:txBody>
      </p:sp>
      <p:sp>
        <p:nvSpPr>
          <p:cNvPr id="14" name="Shape 10"/>
          <p:cNvSpPr/>
          <p:nvPr/>
        </p:nvSpPr>
        <p:spPr>
          <a:xfrm>
            <a:off x="0" y="6473952"/>
            <a:ext cx="9144000" cy="384048"/>
          </a:xfrm>
          <a:prstGeom prst="rect">
            <a:avLst/>
          </a:prstGeom>
          <a:solidFill>
            <a:srgbClr val="FFFFFF"/>
          </a:solidFill>
          <a:ln w="12700">
            <a:solidFill>
              <a:srgbClr val="E2E8F0"/>
            </a:solidFill>
            <a:prstDash val="solid"/>
          </a:ln>
        </p:spPr>
      </p:sp>
      <p:sp>
        <p:nvSpPr>
          <p:cNvPr id="15" name="Text 11"/>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6" name="Text 12"/>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14 / 27</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ביקור ראשון (חלק ב')</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שאלות לחשיבה קלינית וקבלת החלטות</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914400" y="1417320"/>
            <a:ext cx="10332720" cy="1417320"/>
          </a:xfrm>
          <a:prstGeom prst="roundRect">
            <a:avLst/>
          </a:prstGeom>
          <a:solidFill>
            <a:srgbClr val="FEF2F2"/>
          </a:solidFill>
          <a:ln w="15240">
            <a:solidFill>
              <a:srgbClr val="FECACA"/>
            </a:solidFill>
            <a:prstDash val="solid"/>
          </a:ln>
        </p:spPr>
      </p:sp>
      <p:sp>
        <p:nvSpPr>
          <p:cNvPr id="9" name="Text 6"/>
          <p:cNvSpPr/>
          <p:nvPr/>
        </p:nvSpPr>
        <p:spPr>
          <a:xfrm>
            <a:off x="1097280" y="1527048"/>
            <a:ext cx="9966960" cy="320040"/>
          </a:xfrm>
          <a:prstGeom prst="rect">
            <a:avLst/>
          </a:prstGeom>
          <a:noFill/>
          <a:ln/>
        </p:spPr>
        <p:txBody>
          <a:bodyPr wrap="square" rtlCol="0" anchor="ctr"/>
          <a:lstStyle/>
          <a:p>
            <a:pPr algn="r" indent="0" marL="0">
              <a:buNone/>
            </a:pPr>
            <a:r>
              <a:rPr lang="en-US" sz="1250" b="1" dirty="0">
                <a:solidFill>
                  <a:srgbClr val="DC2626"/>
                </a:solidFill>
                <a:latin typeface="Arial" pitchFamily="34" charset="0"/>
                <a:ea typeface="Arial" pitchFamily="34" charset="-122"/>
                <a:cs typeface="Arial" pitchFamily="34" charset="-120"/>
              </a:rPr>
              <a:t>1. האם המטופל עומד ביעד האיזון שלו?</a:t>
            </a:r>
            <a:endParaRPr lang="en-US" sz="1250" dirty="0"/>
          </a:p>
        </p:txBody>
      </p:sp>
      <p:sp>
        <p:nvSpPr>
          <p:cNvPr id="10" name="Text 7"/>
          <p:cNvSpPr/>
          <p:nvPr/>
        </p:nvSpPr>
        <p:spPr>
          <a:xfrm>
            <a:off x="1097280" y="1856232"/>
            <a:ext cx="9966960" cy="896112"/>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לא! מדד ה-A1C עומד על 8.6% (בדוח פברואר) וסוכר ממוצע 220 mg/dL, עם זמן בטווח היעד (TIR) של 30% בלבד. המטופל רחוק מאוד מיעדי האיזון המקובלים (TIR &gt; 70%, A1C &lt; 7%).</a:t>
            </a:r>
            <a:endParaRPr lang="en-US" sz="1000" dirty="0"/>
          </a:p>
        </p:txBody>
      </p:sp>
      <p:sp>
        <p:nvSpPr>
          <p:cNvPr id="11" name="Shape 8"/>
          <p:cNvSpPr/>
          <p:nvPr/>
        </p:nvSpPr>
        <p:spPr>
          <a:xfrm>
            <a:off x="914400" y="2953512"/>
            <a:ext cx="10332720" cy="1417320"/>
          </a:xfrm>
          <a:prstGeom prst="roundRect">
            <a:avLst/>
          </a:prstGeom>
          <a:solidFill>
            <a:srgbClr val="FFF7ED"/>
          </a:solidFill>
          <a:ln w="15240">
            <a:solidFill>
              <a:srgbClr val="FED7AA"/>
            </a:solidFill>
            <a:prstDash val="solid"/>
          </a:ln>
        </p:spPr>
      </p:sp>
      <p:sp>
        <p:nvSpPr>
          <p:cNvPr id="12" name="Text 9"/>
          <p:cNvSpPr/>
          <p:nvPr/>
        </p:nvSpPr>
        <p:spPr>
          <a:xfrm>
            <a:off x="1097280" y="3063240"/>
            <a:ext cx="9966960" cy="320040"/>
          </a:xfrm>
          <a:prstGeom prst="rect">
            <a:avLst/>
          </a:prstGeom>
          <a:noFill/>
          <a:ln/>
        </p:spPr>
        <p:txBody>
          <a:bodyPr wrap="square" rtlCol="0" anchor="ctr"/>
          <a:lstStyle/>
          <a:p>
            <a:pPr algn="r" indent="0" marL="0">
              <a:buNone/>
            </a:pPr>
            <a:r>
              <a:rPr lang="en-US" sz="1250" b="1" dirty="0">
                <a:solidFill>
                  <a:srgbClr val="EA580C"/>
                </a:solidFill>
                <a:latin typeface="Arial" pitchFamily="34" charset="0"/>
                <a:ea typeface="Arial" pitchFamily="34" charset="-122"/>
                <a:cs typeface="Arial" pitchFamily="34" charset="-120"/>
              </a:rPr>
              <a:t>2. האם הטיפול שהמטופל מקבל מספיק אופטימלי למצב שלו?</a:t>
            </a:r>
            <a:endParaRPr lang="en-US" sz="1250" dirty="0"/>
          </a:p>
        </p:txBody>
      </p:sp>
      <p:sp>
        <p:nvSpPr>
          <p:cNvPr id="13" name="Text 10"/>
          <p:cNvSpPr/>
          <p:nvPr/>
        </p:nvSpPr>
        <p:spPr>
          <a:xfrm>
            <a:off x="1097280" y="3392424"/>
            <a:ext cx="9966960" cy="896112"/>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לא! מתן מינוני אינסולין גבוהים אינו מספק מענה לתנגודת לאינסולין, אינו מוריד משקל ואינו מספק הגנה כנגד סיבוכים טרשתיים ואירועי לב/מוח חוזרים.</a:t>
            </a:r>
            <a:endParaRPr lang="en-US" sz="1000" dirty="0"/>
          </a:p>
        </p:txBody>
      </p:sp>
      <p:sp>
        <p:nvSpPr>
          <p:cNvPr id="14" name="Shape 11"/>
          <p:cNvSpPr/>
          <p:nvPr/>
        </p:nvSpPr>
        <p:spPr>
          <a:xfrm>
            <a:off x="914400" y="4489704"/>
            <a:ext cx="10332720" cy="1417320"/>
          </a:xfrm>
          <a:prstGeom prst="roundRect">
            <a:avLst/>
          </a:prstGeom>
          <a:solidFill>
            <a:srgbClr val="EFF6FF"/>
          </a:solidFill>
          <a:ln w="15240">
            <a:solidFill>
              <a:srgbClr val="BAE6FD"/>
            </a:solidFill>
            <a:prstDash val="solid"/>
          </a:ln>
        </p:spPr>
      </p:sp>
      <p:sp>
        <p:nvSpPr>
          <p:cNvPr id="15" name="Text 12"/>
          <p:cNvSpPr/>
          <p:nvPr/>
        </p:nvSpPr>
        <p:spPr>
          <a:xfrm>
            <a:off x="1097280" y="4599432"/>
            <a:ext cx="9966960" cy="320040"/>
          </a:xfrm>
          <a:prstGeom prst="rect">
            <a:avLst/>
          </a:prstGeom>
          <a:noFill/>
          <a:ln/>
        </p:spPr>
        <p:txBody>
          <a:bodyPr wrap="square" rtlCol="0" anchor="ctr"/>
          <a:lstStyle/>
          <a:p>
            <a:pPr algn="r" indent="0" marL="0">
              <a:buNone/>
            </a:pPr>
            <a:r>
              <a:rPr lang="en-US" sz="1250" b="1" dirty="0">
                <a:solidFill>
                  <a:srgbClr val="0284C7"/>
                </a:solidFill>
                <a:latin typeface="Arial" pitchFamily="34" charset="0"/>
                <a:ea typeface="Arial" pitchFamily="34" charset="-122"/>
                <a:cs typeface="Arial" pitchFamily="34" charset="-120"/>
              </a:rPr>
              <a:t>3. איזה שינויים אפשר ונדרש לבצע? ולמה?</a:t>
            </a:r>
            <a:endParaRPr lang="en-US" sz="1250" dirty="0"/>
          </a:p>
        </p:txBody>
      </p:sp>
      <p:sp>
        <p:nvSpPr>
          <p:cNvPr id="16" name="Text 13"/>
          <p:cNvSpPr/>
          <p:nvPr/>
        </p:nvSpPr>
        <p:spPr>
          <a:xfrm>
            <a:off x="1097280" y="4928616"/>
            <a:ext cx="9966960" cy="896112"/>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הוספת טיפול ב-GLP-1 RA (Wegovy):</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הורדת משקל משמעותית והפחתת תיאבון.</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הענקת הגנה קרדיווסקולרית ומוחית חיונית למניעת אירועים טרשתיים במטופל לאחר CVA ו-IHD.</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שיפור ישיר בתנגודת לאינסולין המאפשר צמצום ניכר במינוני האינסולין.</a:t>
            </a: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שיפור בתסמונת דום נשימה בשינה (OSA) וסיוע להחלמת כיב כף הרגל.</a:t>
            </a:r>
            <a:endParaRPr lang="en-US" sz="1000" dirty="0"/>
          </a:p>
        </p:txBody>
      </p:sp>
      <p:sp>
        <p:nvSpPr>
          <p:cNvPr id="17" name="Shape 14"/>
          <p:cNvSpPr/>
          <p:nvPr/>
        </p:nvSpPr>
        <p:spPr>
          <a:xfrm>
            <a:off x="0" y="6473952"/>
            <a:ext cx="9144000" cy="384048"/>
          </a:xfrm>
          <a:prstGeom prst="rect">
            <a:avLst/>
          </a:prstGeom>
          <a:solidFill>
            <a:srgbClr val="FFFFFF"/>
          </a:solidFill>
          <a:ln w="12700">
            <a:solidFill>
              <a:srgbClr val="E2E8F0"/>
            </a:solidFill>
            <a:prstDash val="solid"/>
          </a:ln>
        </p:spPr>
      </p:sp>
      <p:sp>
        <p:nvSpPr>
          <p:cNvPr id="18" name="Text 15"/>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9" name="Text 16"/>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15 / 27</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מחקרים וראיות</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ראיות מחקריות – יעילות מוכחת בירידה במשקל (תוכנית STEP)</a:t>
            </a:r>
            <a:endParaRPr lang="en-US" sz="2000" dirty="0"/>
          </a:p>
        </p:txBody>
      </p:sp>
      <p:sp>
        <p:nvSpPr>
          <p:cNvPr id="7" name="Shape 4"/>
          <p:cNvSpPr/>
          <p:nvPr/>
        </p:nvSpPr>
        <p:spPr>
          <a:xfrm>
            <a:off x="5029200" y="1280160"/>
            <a:ext cx="6400800" cy="4892040"/>
          </a:xfrm>
          <a:prstGeom prst="roundRect">
            <a:avLst/>
          </a:prstGeom>
          <a:solidFill>
            <a:srgbClr val="FFFFFF"/>
          </a:solidFill>
          <a:ln w="15240">
            <a:solidFill>
              <a:srgbClr val="BAE6FD"/>
            </a:solidFill>
            <a:prstDash val="solid"/>
          </a:ln>
        </p:spPr>
      </p:sp>
      <p:sp>
        <p:nvSpPr>
          <p:cNvPr id="8" name="Text 5"/>
          <p:cNvSpPr/>
          <p:nvPr/>
        </p:nvSpPr>
        <p:spPr>
          <a:xfrm>
            <a:off x="5212080" y="1463040"/>
            <a:ext cx="6035040" cy="320040"/>
          </a:xfrm>
          <a:prstGeom prst="rect">
            <a:avLst/>
          </a:prstGeom>
          <a:noFill/>
          <a:ln/>
        </p:spPr>
        <p:txBody>
          <a:bodyPr wrap="square" rtlCol="0" anchor="ctr"/>
          <a:lstStyle/>
          <a:p>
            <a:pPr algn="r" indent="0" marL="0">
              <a:buNone/>
            </a:pPr>
            <a:r>
              <a:rPr lang="en-US" sz="1400" b="1" dirty="0">
                <a:solidFill>
                  <a:srgbClr val="0284C7"/>
                </a:solidFill>
                <a:latin typeface="Arial" pitchFamily="34" charset="0"/>
                <a:ea typeface="Arial" pitchFamily="34" charset="-122"/>
                <a:cs typeface="Arial" pitchFamily="34" charset="-120"/>
              </a:rPr>
              <a:t>תוצאות מחקרי STEP עבור Wegovy (Semaglutide 2.4mg)</a:t>
            </a:r>
            <a:endParaRPr lang="en-US" sz="1400" dirty="0"/>
          </a:p>
        </p:txBody>
      </p:sp>
      <p:sp>
        <p:nvSpPr>
          <p:cNvPr id="9" name="Text 6"/>
          <p:cNvSpPr/>
          <p:nvPr/>
        </p:nvSpPr>
        <p:spPr>
          <a:xfrm>
            <a:off x="5212080" y="1920240"/>
            <a:ext cx="6035040" cy="402336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ירידה דרמטית במשקל (STEP 1): טיפול ב-Wegovy 2.4mg הוביל לירידה ממוצעת מרשימה של 16.9% ממשקל הגוף כעבור 68 שבועות (לעומת 2.4% בלבד בפלצבו).</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שמירה על המשקל לאורך זמן (STEP 5): מעקב ארוך טווח של שנתיים (104 שבועות) הוכיח שמירה יציבה ומתמשכת על הירידה במשקל עם ירידה ממוצעת של 16.7%.</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עליונות מובהקת בהשוואה ללירגלוטייד (STEP 8): במחקר Head-to-Head ישיר, סמגלוטייד 2.4 מ"ג הראתה יעילות כפולה ויותר עם ירידה של 17.1% לעומת 6.6% בלבד בסקסנדה (לירגלוטייד 3.0 מ"ג).</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שילוב עם התערבות התנהגותית (STEP 3): בשילוב טיפול התנהגותי אינטנסיבי (IBT) הושגה ירידה ממוצעת של 17.6% במשקל.</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משמעות עבור יעקב: ירידה במשקל מורידה דרמטית את התנגודת לאינסולין, מפחיתה עומס על כף הרגל ומשפרת את תסמונת דום הנשימה בשינה!</a:t>
            </a:r>
            <a:endParaRPr lang="en-US" sz="1050" dirty="0"/>
          </a:p>
        </p:txBody>
      </p:sp>
      <p:sp>
        <p:nvSpPr>
          <p:cNvPr id="10" name="Shape 7"/>
          <p:cNvSpPr/>
          <p:nvPr/>
        </p:nvSpPr>
        <p:spPr>
          <a:xfrm>
            <a:off x="731520" y="1280160"/>
            <a:ext cx="4114800" cy="4892040"/>
          </a:xfrm>
          <a:prstGeom prst="roundRect">
            <a:avLst/>
          </a:prstGeom>
          <a:solidFill>
            <a:srgbClr val="FFFFFF"/>
          </a:solidFill>
          <a:ln w="15240">
            <a:solidFill>
              <a:srgbClr val="E2E8F0"/>
            </a:solidFill>
            <a:prstDash val="solid"/>
          </a:ln>
        </p:spPr>
      </p:sp>
      <p:pic>
        <p:nvPicPr>
          <p:cNvPr id="11" name="Image 1" descr="C:\Users\tifer\OneDrive\שולחן העבודה\אנטיגרביטי\GLP1CVA\public\labs\step_trials_weight_loss.png">    </p:cNvPr>
          <p:cNvPicPr>
            <a:picLocks noChangeAspect="1"/>
          </p:cNvPicPr>
          <p:nvPr/>
        </p:nvPicPr>
        <p:blipFill>
          <a:blip r:embed="rId2"/>
          <a:stretch>
            <a:fillRect/>
          </a:stretch>
        </p:blipFill>
        <p:spPr>
          <a:xfrm>
            <a:off x="868680" y="1417320"/>
            <a:ext cx="3840480" cy="4617720"/>
          </a:xfrm>
          <a:prstGeom prst="rect">
            <a:avLst/>
          </a:prstGeom>
        </p:spPr>
      </p:pic>
      <p:sp>
        <p:nvSpPr>
          <p:cNvPr id="12" name="Shape 8"/>
          <p:cNvSpPr/>
          <p:nvPr/>
        </p:nvSpPr>
        <p:spPr>
          <a:xfrm>
            <a:off x="0" y="6473952"/>
            <a:ext cx="9144000" cy="384048"/>
          </a:xfrm>
          <a:prstGeom prst="rect">
            <a:avLst/>
          </a:prstGeom>
          <a:solidFill>
            <a:srgbClr val="FFFFFF"/>
          </a:solidFill>
          <a:ln w="12700">
            <a:solidFill>
              <a:srgbClr val="E2E8F0"/>
            </a:solidFill>
            <a:prstDash val="solid"/>
          </a:ln>
        </p:spPr>
      </p:sp>
      <p:sp>
        <p:nvSpPr>
          <p:cNvPr id="13" name="Text 9"/>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4" name="Text 10"/>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16 / 27</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מחקרים וראיות</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ראיות מחקריות – פרופיל סבילות ובטיחות (תופעות לוואי/בחילות)</a:t>
            </a:r>
            <a:endParaRPr lang="en-US" sz="2000" dirty="0"/>
          </a:p>
        </p:txBody>
      </p:sp>
      <p:sp>
        <p:nvSpPr>
          <p:cNvPr id="7" name="Shape 4"/>
          <p:cNvSpPr/>
          <p:nvPr/>
        </p:nvSpPr>
        <p:spPr>
          <a:xfrm>
            <a:off x="5029200" y="1280160"/>
            <a:ext cx="6400800" cy="4892040"/>
          </a:xfrm>
          <a:prstGeom prst="roundRect">
            <a:avLst/>
          </a:prstGeom>
          <a:solidFill>
            <a:srgbClr val="FFFFFF"/>
          </a:solidFill>
          <a:ln w="15240">
            <a:solidFill>
              <a:srgbClr val="E2E8F0"/>
            </a:solidFill>
            <a:prstDash val="solid"/>
          </a:ln>
        </p:spPr>
      </p:sp>
      <p:sp>
        <p:nvSpPr>
          <p:cNvPr id="8" name="Text 5"/>
          <p:cNvSpPr/>
          <p:nvPr/>
        </p:nvSpPr>
        <p:spPr>
          <a:xfrm>
            <a:off x="5212080" y="1463040"/>
            <a:ext cx="6035040" cy="320040"/>
          </a:xfrm>
          <a:prstGeom prst="rect">
            <a:avLst/>
          </a:prstGeom>
          <a:noFill/>
          <a:ln/>
        </p:spPr>
        <p:txBody>
          <a:bodyPr wrap="square" rtlCol="0" anchor="ctr"/>
          <a:lstStyle/>
          <a:p>
            <a:pPr algn="r" indent="0" marL="0">
              <a:buNone/>
            </a:pPr>
            <a:r>
              <a:rPr lang="en-US" sz="1400" b="1" dirty="0">
                <a:solidFill>
                  <a:srgbClr val="0284C7"/>
                </a:solidFill>
                <a:latin typeface="Arial" pitchFamily="34" charset="0"/>
                <a:ea typeface="Arial" pitchFamily="34" charset="-122"/>
                <a:cs typeface="Arial" pitchFamily="34" charset="-120"/>
              </a:rPr>
              <a:t>פרופיל סבילות ובטיחות – ניהול תופעת הבחילה</a:t>
            </a:r>
            <a:endParaRPr lang="en-US" sz="1400" dirty="0"/>
          </a:p>
        </p:txBody>
      </p:sp>
      <p:sp>
        <p:nvSpPr>
          <p:cNvPr id="9" name="Text 6"/>
          <p:cNvSpPr/>
          <p:nvPr/>
        </p:nvSpPr>
        <p:spPr>
          <a:xfrm>
            <a:off x="5212080" y="1920240"/>
            <a:ext cx="6035040" cy="402336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דרגת חומרה קלה עד בינונית (Mild / Moderate): בחילות המופיעות תחת Wegovy הן ברובן המכריע קלות עד בינוניות בלבד וחולפות מעצמן.</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משך זמן חציוני קצר ביותר: משך הזמן החציוני (Median Duration) של תופעת הבחילה עומד על 8.0 ימים בלבד!</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שיא זמני בתקופת הטיטרציה (Dose Escalation): שכיחות הבחילות עולה זמנית בשבועות 0–16 במהלך העלייה ההדרגתית במינון, ויורדת בהתמדה עד להתייצבות מלאה.</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שיעור אפסי של תופעות חמורות (Severe): תופעות לוואי של בחילה בדרגה חמורה נדירות ביותר (הקו הוורוד בתחתית התיעוד שואף לאפס).</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הדרכה למטופל (מענה לחששותיו של יעקב): אכילת כמויות קטנות, שתייה מרובה והסבר שהתופעה חולפת במהירות, מפיגים את החשש מנסיעות ומחזקים התמדה.</a:t>
            </a:r>
            <a:endParaRPr lang="en-US" sz="1050" dirty="0"/>
          </a:p>
        </p:txBody>
      </p:sp>
      <p:sp>
        <p:nvSpPr>
          <p:cNvPr id="10" name="Shape 7"/>
          <p:cNvSpPr/>
          <p:nvPr/>
        </p:nvSpPr>
        <p:spPr>
          <a:xfrm>
            <a:off x="731520" y="1280160"/>
            <a:ext cx="4114800" cy="4892040"/>
          </a:xfrm>
          <a:prstGeom prst="roundRect">
            <a:avLst/>
          </a:prstGeom>
          <a:solidFill>
            <a:srgbClr val="FFFFFF"/>
          </a:solidFill>
          <a:ln w="15240">
            <a:solidFill>
              <a:srgbClr val="E2E8F0"/>
            </a:solidFill>
            <a:prstDash val="solid"/>
          </a:ln>
        </p:spPr>
      </p:sp>
      <p:pic>
        <p:nvPicPr>
          <p:cNvPr id="11" name="Image 1" descr="C:\Users\tifer\OneDrive\שולחן העבודה\אנטיגרביטי\GLP1CVA\public\labs\wegovy_side_effects_nausea.jpg">    </p:cNvPr>
          <p:cNvPicPr>
            <a:picLocks noChangeAspect="1"/>
          </p:cNvPicPr>
          <p:nvPr/>
        </p:nvPicPr>
        <p:blipFill>
          <a:blip r:embed="rId2"/>
          <a:stretch>
            <a:fillRect/>
          </a:stretch>
        </p:blipFill>
        <p:spPr>
          <a:xfrm>
            <a:off x="868680" y="1417320"/>
            <a:ext cx="3840480" cy="4617720"/>
          </a:xfrm>
          <a:prstGeom prst="rect">
            <a:avLst/>
          </a:prstGeom>
        </p:spPr>
      </p:pic>
      <p:sp>
        <p:nvSpPr>
          <p:cNvPr id="12" name="Shape 8"/>
          <p:cNvSpPr/>
          <p:nvPr/>
        </p:nvSpPr>
        <p:spPr>
          <a:xfrm>
            <a:off x="0" y="6473952"/>
            <a:ext cx="9144000" cy="384048"/>
          </a:xfrm>
          <a:prstGeom prst="rect">
            <a:avLst/>
          </a:prstGeom>
          <a:solidFill>
            <a:srgbClr val="FFFFFF"/>
          </a:solidFill>
          <a:ln w="12700">
            <a:solidFill>
              <a:srgbClr val="E2E8F0"/>
            </a:solidFill>
            <a:prstDash val="solid"/>
          </a:ln>
        </p:spPr>
      </p:sp>
      <p:sp>
        <p:nvSpPr>
          <p:cNvPr id="13" name="Text 9"/>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4" name="Text 10"/>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17 / 27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מחקרים וראיות</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ראיות מחקריות – הגנה קרדיווסקולרית ומוחית (מחקר SELECT)</a:t>
            </a:r>
            <a:endParaRPr lang="en-US" sz="2000" dirty="0"/>
          </a:p>
        </p:txBody>
      </p:sp>
      <p:sp>
        <p:nvSpPr>
          <p:cNvPr id="7" name="Shape 4"/>
          <p:cNvSpPr/>
          <p:nvPr/>
        </p:nvSpPr>
        <p:spPr>
          <a:xfrm>
            <a:off x="5029200" y="1280160"/>
            <a:ext cx="6400800" cy="4892040"/>
          </a:xfrm>
          <a:prstGeom prst="roundRect">
            <a:avLst/>
          </a:prstGeom>
          <a:solidFill>
            <a:srgbClr val="FFFFFF"/>
          </a:solidFill>
          <a:ln w="15240">
            <a:solidFill>
              <a:srgbClr val="FECACA"/>
            </a:solidFill>
            <a:prstDash val="solid"/>
          </a:ln>
        </p:spPr>
      </p:sp>
      <p:sp>
        <p:nvSpPr>
          <p:cNvPr id="8" name="Text 5"/>
          <p:cNvSpPr/>
          <p:nvPr/>
        </p:nvSpPr>
        <p:spPr>
          <a:xfrm>
            <a:off x="5212080" y="1463040"/>
            <a:ext cx="6035040" cy="320040"/>
          </a:xfrm>
          <a:prstGeom prst="rect">
            <a:avLst/>
          </a:prstGeom>
          <a:noFill/>
          <a:ln/>
        </p:spPr>
        <p:txBody>
          <a:bodyPr wrap="square" rtlCol="0" anchor="ctr"/>
          <a:lstStyle/>
          <a:p>
            <a:pPr algn="r" indent="0" marL="0">
              <a:buNone/>
            </a:pPr>
            <a:r>
              <a:rPr lang="en-US" sz="1400" b="1" dirty="0">
                <a:solidFill>
                  <a:srgbClr val="DC2626"/>
                </a:solidFill>
                <a:latin typeface="Arial" pitchFamily="34" charset="0"/>
                <a:ea typeface="Arial" pitchFamily="34" charset="-122"/>
                <a:cs typeface="Arial" pitchFamily="34" charset="-120"/>
              </a:rPr>
              <a:t>מחקר ה-SELECT ההיסטורי: ירידה מובהקת של 20% ב-MACE</a:t>
            </a:r>
            <a:endParaRPr lang="en-US" sz="1400" dirty="0"/>
          </a:p>
        </p:txBody>
      </p:sp>
      <p:sp>
        <p:nvSpPr>
          <p:cNvPr id="9" name="Text 6"/>
          <p:cNvSpPr/>
          <p:nvPr/>
        </p:nvSpPr>
        <p:spPr>
          <a:xfrm>
            <a:off x="5212080" y="1920240"/>
            <a:ext cx="6035040" cy="402336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הפחתה מובהקת של 20% בסיכון ל-MACE: מחקר ה-SELECT הוכיח כי Wegovy 2.4mg מביא לירידה יחסית של 20% באירועים קרדיווסקולריים מיוחלים (HR 0.80, 95% CI: 0.72-0.90, p&lt;0.001).</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הגנה מקיפה על 3 המדדים המרכזיים (3-Point MACE):</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מוות מסיבות קרדיווסקולריות (Cardiovascular Death)</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אוטם שריר הלב לא קטלני (Non-fatal Myocardial Infarction)</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 אירוע מוחי לא קטלני (Non-fatal Stroke / CVA)</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הנחיות הקרדיולוגיה האירופיות (ESC 2024): בעקבות ה-SELECT, הוכנסה Wegovy 2.4mg להנחיות הרשמיות לניהול תסמונת כלילית כרונית.</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חשיבות מכרעת עבור יעקב: במטופל בן 67 לאחר CVA (2023) ועם IHD (חסימות 50%), Wegovy מעניקה הגנה מוחית ולבבית קריטית למניעת אירוע חוזר!</a:t>
            </a:r>
            <a:endParaRPr lang="en-US" sz="1050" dirty="0"/>
          </a:p>
        </p:txBody>
      </p:sp>
      <p:sp>
        <p:nvSpPr>
          <p:cNvPr id="10" name="Shape 7"/>
          <p:cNvSpPr/>
          <p:nvPr/>
        </p:nvSpPr>
        <p:spPr>
          <a:xfrm>
            <a:off x="731520" y="1280160"/>
            <a:ext cx="4114800" cy="4892040"/>
          </a:xfrm>
          <a:prstGeom prst="roundRect">
            <a:avLst/>
          </a:prstGeom>
          <a:solidFill>
            <a:srgbClr val="FFFFFF"/>
          </a:solidFill>
          <a:ln w="15240">
            <a:solidFill>
              <a:srgbClr val="E2E8F0"/>
            </a:solidFill>
            <a:prstDash val="solid"/>
          </a:ln>
        </p:spPr>
      </p:sp>
      <p:pic>
        <p:nvPicPr>
          <p:cNvPr id="11" name="Image 1" descr="C:\Users\tifer\OneDrive\שולחן העבודה\אנטיגרביטי\GLP1CVA\public\labs\semaglutide_select_mace_cardio.png">    </p:cNvPr>
          <p:cNvPicPr>
            <a:picLocks noChangeAspect="1"/>
          </p:cNvPicPr>
          <p:nvPr/>
        </p:nvPicPr>
        <p:blipFill>
          <a:blip r:embed="rId2"/>
          <a:stretch>
            <a:fillRect/>
          </a:stretch>
        </p:blipFill>
        <p:spPr>
          <a:xfrm>
            <a:off x="868680" y="1417320"/>
            <a:ext cx="3840480" cy="4617720"/>
          </a:xfrm>
          <a:prstGeom prst="rect">
            <a:avLst/>
          </a:prstGeom>
        </p:spPr>
      </p:pic>
      <p:sp>
        <p:nvSpPr>
          <p:cNvPr id="12" name="Shape 8"/>
          <p:cNvSpPr/>
          <p:nvPr/>
        </p:nvSpPr>
        <p:spPr>
          <a:xfrm>
            <a:off x="0" y="6473952"/>
            <a:ext cx="9144000" cy="384048"/>
          </a:xfrm>
          <a:prstGeom prst="rect">
            <a:avLst/>
          </a:prstGeom>
          <a:solidFill>
            <a:srgbClr val="FFFFFF"/>
          </a:solidFill>
          <a:ln w="12700">
            <a:solidFill>
              <a:srgbClr val="E2E8F0"/>
            </a:solidFill>
            <a:prstDash val="solid"/>
          </a:ln>
        </p:spPr>
      </p:sp>
      <p:sp>
        <p:nvSpPr>
          <p:cNvPr id="13" name="Text 9"/>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4" name="Text 10"/>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18 / 27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מחקרים וראיות</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קריטריוני זכאות וסבסוד שב"ן (כולל כבד שומני ודום נשימה)</a:t>
            </a:r>
            <a:endParaRPr lang="en-US" sz="2000" dirty="0"/>
          </a:p>
        </p:txBody>
      </p:sp>
      <p:sp>
        <p:nvSpPr>
          <p:cNvPr id="7" name="Shape 4"/>
          <p:cNvSpPr/>
          <p:nvPr/>
        </p:nvSpPr>
        <p:spPr>
          <a:xfrm>
            <a:off x="5029200" y="1280160"/>
            <a:ext cx="6400800" cy="4892040"/>
          </a:xfrm>
          <a:prstGeom prst="roundRect">
            <a:avLst/>
          </a:prstGeom>
          <a:solidFill>
            <a:srgbClr val="FFFFFF"/>
          </a:solidFill>
          <a:ln w="15240">
            <a:solidFill>
              <a:srgbClr val="BAE6FD"/>
            </a:solidFill>
            <a:prstDash val="solid"/>
          </a:ln>
        </p:spPr>
      </p:sp>
      <p:sp>
        <p:nvSpPr>
          <p:cNvPr id="8" name="Text 5"/>
          <p:cNvSpPr/>
          <p:nvPr/>
        </p:nvSpPr>
        <p:spPr>
          <a:xfrm>
            <a:off x="5212080" y="1463040"/>
            <a:ext cx="6035040" cy="320040"/>
          </a:xfrm>
          <a:prstGeom prst="rect">
            <a:avLst/>
          </a:prstGeom>
          <a:noFill/>
          <a:ln/>
        </p:spPr>
        <p:txBody>
          <a:bodyPr wrap="square" rtlCol="0" anchor="ctr"/>
          <a:lstStyle/>
          <a:p>
            <a:pPr algn="r" indent="0" marL="0">
              <a:buNone/>
            </a:pPr>
            <a:r>
              <a:rPr lang="en-US" sz="1400" b="1" dirty="0">
                <a:solidFill>
                  <a:srgbClr val="0284C7"/>
                </a:solidFill>
                <a:latin typeface="Arial" pitchFamily="34" charset="0"/>
                <a:ea typeface="Arial" pitchFamily="34" charset="-122"/>
                <a:cs typeface="Arial" pitchFamily="34" charset="-120"/>
              </a:rPr>
              <a:t>זכאות וסבסוד קופות החולים (שב"ן) ל-Wegovy 2.4mg</a:t>
            </a:r>
            <a:endParaRPr lang="en-US" sz="1400" dirty="0"/>
          </a:p>
        </p:txBody>
      </p:sp>
      <p:sp>
        <p:nvSpPr>
          <p:cNvPr id="9" name="Text 6"/>
          <p:cNvSpPr/>
          <p:nvPr/>
        </p:nvSpPr>
        <p:spPr>
          <a:xfrm>
            <a:off x="5212080" y="1920240"/>
            <a:ext cx="6035040" cy="402336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סבסוד נרחב בכל קופות החולים: Wegovy זמינה בכל קופות החולים (כללית מושלם/פלטינום, מכבי שלי/זהב, מאוחדת שיא, לאומית זהב) ב-50% הנחה (338-562 ₪ בלבד בהתאם למינון).</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קריטריון 1: BMI מעל 30 (BMI &gt; 30 kg/m²) – זכאות מלאה למטופלים הסובלים מהשמנה.</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קריטריון 2: 27 ≤ BMI &lt; 30 עם גורם סיכון/סיבוך נלווה: כבד שומני, טרום סוכרת, סוכרת סוג 2, יתר לחץ דם, דיסליפידמיה, דום נשימה בשינה (OSA) או מחלה קרדיווסקולרית.</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הכללת כבד שומני (MASLD) כקריטריון מזכה רשמי!</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התאמת יעקב לקריטריונים: יעקב עומד בקריטריונים בהצטיינות – BMI בסיס 36.1, וסובל מכבד שומני, CVA, IHD ודום נשימה בשינה!</a:t>
            </a:r>
            <a:endParaRPr lang="en-US" sz="1050" dirty="0"/>
          </a:p>
        </p:txBody>
      </p:sp>
      <p:sp>
        <p:nvSpPr>
          <p:cNvPr id="10" name="Shape 7"/>
          <p:cNvSpPr/>
          <p:nvPr/>
        </p:nvSpPr>
        <p:spPr>
          <a:xfrm>
            <a:off x="731520" y="1280160"/>
            <a:ext cx="4114800" cy="4892040"/>
          </a:xfrm>
          <a:prstGeom prst="roundRect">
            <a:avLst/>
          </a:prstGeom>
          <a:solidFill>
            <a:srgbClr val="FFFFFF"/>
          </a:solidFill>
          <a:ln w="15240">
            <a:solidFill>
              <a:srgbClr val="E2E8F0"/>
            </a:solidFill>
            <a:prstDash val="solid"/>
          </a:ln>
        </p:spPr>
      </p:sp>
      <p:pic>
        <p:nvPicPr>
          <p:cNvPr id="11" name="Image 1" descr="C:\Users\tifer\OneDrive\שולחן העבודה\אנטיגרביטי\GLP1CVA\public\labs\wegovy_eligibility_shaban.png">    </p:cNvPr>
          <p:cNvPicPr>
            <a:picLocks noChangeAspect="1"/>
          </p:cNvPicPr>
          <p:nvPr/>
        </p:nvPicPr>
        <p:blipFill>
          <a:blip r:embed="rId2"/>
          <a:stretch>
            <a:fillRect/>
          </a:stretch>
        </p:blipFill>
        <p:spPr>
          <a:xfrm>
            <a:off x="868680" y="1417320"/>
            <a:ext cx="3840480" cy="4617720"/>
          </a:xfrm>
          <a:prstGeom prst="rect">
            <a:avLst/>
          </a:prstGeom>
        </p:spPr>
      </p:pic>
      <p:sp>
        <p:nvSpPr>
          <p:cNvPr id="12" name="Shape 8"/>
          <p:cNvSpPr/>
          <p:nvPr/>
        </p:nvSpPr>
        <p:spPr>
          <a:xfrm>
            <a:off x="0" y="6473952"/>
            <a:ext cx="9144000" cy="384048"/>
          </a:xfrm>
          <a:prstGeom prst="rect">
            <a:avLst/>
          </a:prstGeom>
          <a:solidFill>
            <a:srgbClr val="FFFFFF"/>
          </a:solidFill>
          <a:ln w="12700">
            <a:solidFill>
              <a:srgbClr val="E2E8F0"/>
            </a:solidFill>
            <a:prstDash val="solid"/>
          </a:ln>
        </p:spPr>
      </p:sp>
      <p:sp>
        <p:nvSpPr>
          <p:cNvPr id="13" name="Text 9"/>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4" name="Text 10"/>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19 / 27</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2 • ביקור ראשון (חלק ב')</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2: עדכון תוכנית טיפול והנחיות אורח חיים מקיפות</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914400" y="1463040"/>
            <a:ext cx="10332720" cy="1371600"/>
          </a:xfrm>
          <a:prstGeom prst="roundRect">
            <a:avLst/>
          </a:prstGeom>
          <a:solidFill>
            <a:srgbClr val="FAF5FF"/>
          </a:solidFill>
          <a:ln w="15240">
            <a:solidFill>
              <a:srgbClr val="E9D5FF"/>
            </a:solidFill>
            <a:prstDash val="solid"/>
          </a:ln>
        </p:spPr>
      </p:sp>
      <p:sp>
        <p:nvSpPr>
          <p:cNvPr id="9" name="Text 6"/>
          <p:cNvSpPr/>
          <p:nvPr/>
        </p:nvSpPr>
        <p:spPr>
          <a:xfrm>
            <a:off x="1097280" y="1572768"/>
            <a:ext cx="9966960" cy="320040"/>
          </a:xfrm>
          <a:prstGeom prst="rect">
            <a:avLst/>
          </a:prstGeom>
          <a:noFill/>
          <a:ln/>
        </p:spPr>
        <p:txBody>
          <a:bodyPr wrap="square" rtlCol="0" anchor="ctr"/>
          <a:lstStyle/>
          <a:p>
            <a:pPr algn="r" indent="0" marL="0">
              <a:buNone/>
            </a:pPr>
            <a:r>
              <a:rPr lang="en-US" sz="1300" b="1" dirty="0">
                <a:solidFill>
                  <a:srgbClr val="7E22CE"/>
                </a:solidFill>
                <a:latin typeface="Arial" pitchFamily="34" charset="0"/>
                <a:ea typeface="Arial" pitchFamily="34" charset="-122"/>
                <a:cs typeface="Arial" pitchFamily="34" charset="-120"/>
              </a:rPr>
              <a:t>התחלת טיפול ב-Wegovy (Semaglutide)</a:t>
            </a:r>
            <a:endParaRPr lang="en-US" sz="1300" dirty="0"/>
          </a:p>
        </p:txBody>
      </p:sp>
      <p:sp>
        <p:nvSpPr>
          <p:cNvPr id="10" name="Text 7"/>
          <p:cNvSpPr/>
          <p:nvPr/>
        </p:nvSpPr>
        <p:spPr>
          <a:xfrm>
            <a:off x="1097280" y="1874520"/>
            <a:ext cx="9966960" cy="27432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מעבר מאוזמפיק 1 מ"ג ל-Wegovy בטיטרציה מדורגת</a:t>
            </a:r>
            <a:endParaRPr lang="en-US" sz="1050" dirty="0"/>
          </a:p>
        </p:txBody>
      </p:sp>
      <p:sp>
        <p:nvSpPr>
          <p:cNvPr id="11" name="Text 8"/>
          <p:cNvSpPr/>
          <p:nvPr/>
        </p:nvSpPr>
        <p:spPr>
          <a:xfrm>
            <a:off x="1097280" y="2176272"/>
            <a:ext cx="9966960" cy="59436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הסבר למטופל על פרוטוקול טיטרציה חודשי: 0.25 -&gt; 0.5 -&gt; 1.0 -&gt; 1.7 -&gt; 2.4 מ"ג.</a:t>
            </a:r>
            <a:endParaRPr lang="en-US" sz="1000" dirty="0"/>
          </a:p>
          <a:p>
            <a:pPr algn="r" indent="0" marL="0">
              <a:buNone/>
            </a:pPr>
            <a:r>
              <a:rPr lang="en-US" sz="1000" dirty="0">
                <a:solidFill>
                  <a:srgbClr val="64748B"/>
                </a:solidFill>
                <a:latin typeface="Arial" pitchFamily="34" charset="0"/>
                <a:ea typeface="Arial" pitchFamily="34" charset="-122"/>
                <a:cs typeface="Arial" pitchFamily="34" charset="-120"/>
              </a:rPr>
              <a:t>מתן מענה לחששות מנסיעות, הדרכה להזרקה תת-עורית פעם בשבוע ואחסון נכון.</a:t>
            </a:r>
            <a:endParaRPr lang="en-US" sz="1000" dirty="0"/>
          </a:p>
        </p:txBody>
      </p:sp>
      <p:sp>
        <p:nvSpPr>
          <p:cNvPr id="12" name="Shape 9"/>
          <p:cNvSpPr/>
          <p:nvPr/>
        </p:nvSpPr>
        <p:spPr>
          <a:xfrm>
            <a:off x="914400" y="2971800"/>
            <a:ext cx="10332720" cy="1371600"/>
          </a:xfrm>
          <a:prstGeom prst="roundRect">
            <a:avLst/>
          </a:prstGeom>
          <a:solidFill>
            <a:srgbClr val="F0FDF4"/>
          </a:solidFill>
          <a:ln w="15240">
            <a:solidFill>
              <a:srgbClr val="A7F3D0"/>
            </a:solidFill>
            <a:prstDash val="solid"/>
          </a:ln>
        </p:spPr>
      </p:sp>
      <p:sp>
        <p:nvSpPr>
          <p:cNvPr id="13" name="Text 10"/>
          <p:cNvSpPr/>
          <p:nvPr/>
        </p:nvSpPr>
        <p:spPr>
          <a:xfrm>
            <a:off x="1097280" y="3081528"/>
            <a:ext cx="9966960" cy="320040"/>
          </a:xfrm>
          <a:prstGeom prst="rect">
            <a:avLst/>
          </a:prstGeom>
          <a:noFill/>
          <a:ln/>
        </p:spPr>
        <p:txBody>
          <a:bodyPr wrap="square" rtlCol="0" anchor="ctr"/>
          <a:lstStyle/>
          <a:p>
            <a:pPr algn="r" indent="0" marL="0">
              <a:buNone/>
            </a:pPr>
            <a:r>
              <a:rPr lang="en-US" sz="1300" b="1" dirty="0">
                <a:solidFill>
                  <a:srgbClr val="10B981"/>
                </a:solidFill>
                <a:latin typeface="Arial" pitchFamily="34" charset="0"/>
                <a:ea typeface="Arial" pitchFamily="34" charset="-122"/>
                <a:cs typeface="Arial" pitchFamily="34" charset="-120"/>
              </a:rPr>
              <a:t>פעילות גופנית מותאמת אישית</a:t>
            </a:r>
            <a:endParaRPr lang="en-US" sz="1300" dirty="0"/>
          </a:p>
        </p:txBody>
      </p:sp>
      <p:sp>
        <p:nvSpPr>
          <p:cNvPr id="14" name="Text 11"/>
          <p:cNvSpPr/>
          <p:nvPr/>
        </p:nvSpPr>
        <p:spPr>
          <a:xfrm>
            <a:off x="1097280" y="3383280"/>
            <a:ext cx="9966960" cy="27432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שילוב אירובי ואנאירובי לשיפור רגישות לאינסולין</a:t>
            </a:r>
            <a:endParaRPr lang="en-US" sz="1050" dirty="0"/>
          </a:p>
        </p:txBody>
      </p:sp>
      <p:sp>
        <p:nvSpPr>
          <p:cNvPr id="15" name="Text 12"/>
          <p:cNvSpPr/>
          <p:nvPr/>
        </p:nvSpPr>
        <p:spPr>
          <a:xfrm>
            <a:off x="1097280" y="3685032"/>
            <a:ext cx="9966960" cy="59436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הדרכה להליכות יומיות מבוקרות (התחשבות בכיב ברגל ובנעליים מתאימות), יחד עם תרגילי חיזוק שריר קלים בישיבה/עמידה לשיפור קליטת גלוקוז שרירית.</a:t>
            </a:r>
            <a:endParaRPr lang="en-US" sz="1000" dirty="0"/>
          </a:p>
        </p:txBody>
      </p:sp>
      <p:sp>
        <p:nvSpPr>
          <p:cNvPr id="16" name="Shape 13"/>
          <p:cNvSpPr/>
          <p:nvPr/>
        </p:nvSpPr>
        <p:spPr>
          <a:xfrm>
            <a:off x="914400" y="4480560"/>
            <a:ext cx="10332720" cy="1371600"/>
          </a:xfrm>
          <a:prstGeom prst="roundRect">
            <a:avLst/>
          </a:prstGeom>
          <a:solidFill>
            <a:srgbClr val="FFFBEB"/>
          </a:solidFill>
          <a:ln w="15240">
            <a:solidFill>
              <a:srgbClr val="FDE68A"/>
            </a:solidFill>
            <a:prstDash val="solid"/>
          </a:ln>
        </p:spPr>
      </p:sp>
      <p:sp>
        <p:nvSpPr>
          <p:cNvPr id="17" name="Text 14"/>
          <p:cNvSpPr/>
          <p:nvPr/>
        </p:nvSpPr>
        <p:spPr>
          <a:xfrm>
            <a:off x="1097280" y="4590288"/>
            <a:ext cx="9966960" cy="320040"/>
          </a:xfrm>
          <a:prstGeom prst="rect">
            <a:avLst/>
          </a:prstGeom>
          <a:noFill/>
          <a:ln/>
        </p:spPr>
        <p:txBody>
          <a:bodyPr wrap="square" rtlCol="0" anchor="ctr"/>
          <a:lstStyle/>
          <a:p>
            <a:pPr algn="r" indent="0" marL="0">
              <a:buNone/>
            </a:pPr>
            <a:r>
              <a:rPr lang="en-US" sz="1300" b="1" dirty="0">
                <a:solidFill>
                  <a:srgbClr val="D97706"/>
                </a:solidFill>
                <a:latin typeface="Arial" pitchFamily="34" charset="0"/>
                <a:ea typeface="Arial" pitchFamily="34" charset="-122"/>
                <a:cs typeface="Arial" pitchFamily="34" charset="-120"/>
              </a:rPr>
              <a:t>ייעוץ ותמיכה תזונתית מתמשכת</a:t>
            </a:r>
            <a:endParaRPr lang="en-US" sz="1300" dirty="0"/>
          </a:p>
        </p:txBody>
      </p:sp>
      <p:sp>
        <p:nvSpPr>
          <p:cNvPr id="18" name="Text 15"/>
          <p:cNvSpPr/>
          <p:nvPr/>
        </p:nvSpPr>
        <p:spPr>
          <a:xfrm>
            <a:off x="1097280" y="4892040"/>
            <a:ext cx="9966960" cy="27432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מעקב קבוע אצל דיאטנית קלינית</a:t>
            </a:r>
            <a:endParaRPr lang="en-US" sz="1050" dirty="0"/>
          </a:p>
        </p:txBody>
      </p:sp>
      <p:sp>
        <p:nvSpPr>
          <p:cNvPr id="19" name="Text 16"/>
          <p:cNvSpPr/>
          <p:nvPr/>
        </p:nvSpPr>
        <p:spPr>
          <a:xfrm>
            <a:off x="1097280" y="5193792"/>
            <a:ext cx="9966960" cy="594360"/>
          </a:xfrm>
          <a:prstGeom prst="rect">
            <a:avLst/>
          </a:prstGeom>
          <a:noFill/>
          <a:ln/>
        </p:spPr>
        <p:txBody>
          <a:bodyPr wrap="square" rtlCol="0" anchor="ctr"/>
          <a:lstStyle/>
          <a:p>
            <a:pPr algn="r" indent="0" marL="0">
              <a:buNone/>
            </a:pPr>
            <a:r>
              <a:rPr lang="en-US" sz="1000" dirty="0">
                <a:solidFill>
                  <a:srgbClr val="64748B"/>
                </a:solidFill>
                <a:latin typeface="Arial" pitchFamily="34" charset="0"/>
                <a:ea typeface="Arial" pitchFamily="34" charset="-122"/>
                <a:cs typeface="Arial" pitchFamily="34" charset="-120"/>
              </a:rPr>
              <a:t>הפניה מסודרת לדיאטנית מומחית סוכרת להתאמת תפריט מבוקר פחמימות, מניעת נשנושים סביב שעות העבודה בישיבה ואכילת ארוחות מסודרות.</a:t>
            </a:r>
            <a:endParaRPr lang="en-US" sz="1000" dirty="0"/>
          </a:p>
        </p:txBody>
      </p:sp>
      <p:sp>
        <p:nvSpPr>
          <p:cNvPr id="20" name="Shape 17"/>
          <p:cNvSpPr/>
          <p:nvPr/>
        </p:nvSpPr>
        <p:spPr>
          <a:xfrm>
            <a:off x="0" y="6473952"/>
            <a:ext cx="9144000" cy="384048"/>
          </a:xfrm>
          <a:prstGeom prst="rect">
            <a:avLst/>
          </a:prstGeom>
          <a:solidFill>
            <a:srgbClr val="FFFFFF"/>
          </a:solidFill>
          <a:ln w="12700">
            <a:solidFill>
              <a:srgbClr val="E2E8F0"/>
            </a:solidFill>
            <a:prstDash val="solid"/>
          </a:ln>
        </p:spPr>
      </p:sp>
      <p:sp>
        <p:nvSpPr>
          <p:cNvPr id="21" name="Text 18"/>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22" name="Text 19"/>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20 / 27</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3 • מעקב וטיטרציה</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3: מעקב תחת Wegovy 2.4mg והתאמת מינונים</a:t>
            </a:r>
            <a:endParaRPr lang="en-US" sz="2000" dirty="0"/>
          </a:p>
        </p:txBody>
      </p:sp>
      <p:sp>
        <p:nvSpPr>
          <p:cNvPr id="7" name="Shape 4"/>
          <p:cNvSpPr/>
          <p:nvPr/>
        </p:nvSpPr>
        <p:spPr>
          <a:xfrm>
            <a:off x="731520" y="1280160"/>
            <a:ext cx="10698480" cy="2103120"/>
          </a:xfrm>
          <a:prstGeom prst="roundRect">
            <a:avLst/>
          </a:prstGeom>
          <a:solidFill>
            <a:srgbClr val="FFFFFF"/>
          </a:solidFill>
          <a:ln w="15240">
            <a:solidFill>
              <a:srgbClr val="E9D5FF"/>
            </a:solidFill>
            <a:prstDash val="solid"/>
          </a:ln>
        </p:spPr>
      </p:sp>
      <p:sp>
        <p:nvSpPr>
          <p:cNvPr id="8" name="Text 5"/>
          <p:cNvSpPr/>
          <p:nvPr/>
        </p:nvSpPr>
        <p:spPr>
          <a:xfrm>
            <a:off x="914400" y="1417320"/>
            <a:ext cx="10332720" cy="320040"/>
          </a:xfrm>
          <a:prstGeom prst="rect">
            <a:avLst/>
          </a:prstGeom>
          <a:noFill/>
          <a:ln/>
        </p:spPr>
        <p:txBody>
          <a:bodyPr wrap="square" rtlCol="0" anchor="ctr"/>
          <a:lstStyle/>
          <a:p>
            <a:pPr algn="r" indent="0" marL="0">
              <a:buNone/>
            </a:pPr>
            <a:r>
              <a:rPr lang="en-US" sz="1300" b="1" dirty="0">
                <a:solidFill>
                  <a:srgbClr val="7E22CE"/>
                </a:solidFill>
                <a:latin typeface="Arial" pitchFamily="34" charset="0"/>
                <a:ea typeface="Arial" pitchFamily="34" charset="-122"/>
                <a:cs typeface="Arial" pitchFamily="34" charset="-120"/>
              </a:rPr>
              <a:t>מד סולם מינוני Wegovy (Semaglutide) – תהליך טיטרציה מדורג והגעה למינון היעד</a:t>
            </a:r>
            <a:endParaRPr lang="en-US" sz="1300" dirty="0"/>
          </a:p>
        </p:txBody>
      </p:sp>
      <p:sp>
        <p:nvSpPr>
          <p:cNvPr id="9" name="Shape 6"/>
          <p:cNvSpPr/>
          <p:nvPr/>
        </p:nvSpPr>
        <p:spPr>
          <a:xfrm>
            <a:off x="914400" y="1874520"/>
            <a:ext cx="1965960" cy="1325880"/>
          </a:xfrm>
          <a:prstGeom prst="roundRect">
            <a:avLst/>
          </a:prstGeom>
          <a:solidFill>
            <a:srgbClr val="F3E8FF"/>
          </a:solidFill>
          <a:ln w="19050">
            <a:solidFill>
              <a:srgbClr val="D8B4FE"/>
            </a:solidFill>
            <a:prstDash val="solid"/>
          </a:ln>
        </p:spPr>
      </p:sp>
      <p:sp>
        <p:nvSpPr>
          <p:cNvPr id="10" name="Text 7"/>
          <p:cNvSpPr/>
          <p:nvPr/>
        </p:nvSpPr>
        <p:spPr>
          <a:xfrm>
            <a:off x="1005840" y="1965960"/>
            <a:ext cx="1783080" cy="256032"/>
          </a:xfrm>
          <a:prstGeom prst="rect">
            <a:avLst/>
          </a:prstGeom>
          <a:noFill/>
          <a:ln/>
        </p:spPr>
        <p:txBody>
          <a:bodyPr wrap="square" rtlCol="0" anchor="ctr"/>
          <a:lstStyle/>
          <a:p>
            <a:pPr algn="ctr" indent="0" marL="0">
              <a:buNone/>
            </a:pPr>
            <a:r>
              <a:rPr lang="en-US" sz="950" b="1" dirty="0">
                <a:solidFill>
                  <a:srgbClr val="7E22CE"/>
                </a:solidFill>
                <a:latin typeface="Arial" pitchFamily="34" charset="0"/>
                <a:ea typeface="Arial" pitchFamily="34" charset="-122"/>
                <a:cs typeface="Arial" pitchFamily="34" charset="-120"/>
              </a:rPr>
              <a:t>מינון התחלתי</a:t>
            </a:r>
            <a:endParaRPr lang="en-US" sz="950" dirty="0"/>
          </a:p>
        </p:txBody>
      </p:sp>
      <p:sp>
        <p:nvSpPr>
          <p:cNvPr id="11" name="Text 8"/>
          <p:cNvSpPr/>
          <p:nvPr/>
        </p:nvSpPr>
        <p:spPr>
          <a:xfrm>
            <a:off x="1005840" y="2240280"/>
            <a:ext cx="1783080" cy="457200"/>
          </a:xfrm>
          <a:prstGeom prst="rect">
            <a:avLst/>
          </a:prstGeom>
          <a:noFill/>
          <a:ln/>
        </p:spPr>
        <p:txBody>
          <a:bodyPr wrap="square" rtlCol="0" anchor="ctr"/>
          <a:lstStyle/>
          <a:p>
            <a:pPr algn="ctr" indent="0" marL="0">
              <a:buNone/>
            </a:pPr>
            <a:r>
              <a:rPr lang="en-US" sz="1800" b="1" dirty="0">
                <a:solidFill>
                  <a:srgbClr val="0F172A"/>
                </a:solidFill>
                <a:latin typeface="Arial" pitchFamily="34" charset="0"/>
                <a:ea typeface="Arial" pitchFamily="34" charset="-122"/>
                <a:cs typeface="Arial" pitchFamily="34" charset="-120"/>
              </a:rPr>
              <a:t>0.25 mg</a:t>
            </a:r>
            <a:endParaRPr lang="en-US" sz="1800" dirty="0"/>
          </a:p>
        </p:txBody>
      </p:sp>
      <p:sp>
        <p:nvSpPr>
          <p:cNvPr id="12" name="Text 9"/>
          <p:cNvSpPr/>
          <p:nvPr/>
        </p:nvSpPr>
        <p:spPr>
          <a:xfrm>
            <a:off x="1005840" y="2743200"/>
            <a:ext cx="178308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הסתגלות</a:t>
            </a:r>
            <a:endParaRPr lang="en-US" sz="900" dirty="0"/>
          </a:p>
        </p:txBody>
      </p:sp>
      <p:sp>
        <p:nvSpPr>
          <p:cNvPr id="13" name="Shape 10"/>
          <p:cNvSpPr/>
          <p:nvPr/>
        </p:nvSpPr>
        <p:spPr>
          <a:xfrm>
            <a:off x="3017520" y="1874520"/>
            <a:ext cx="1965960" cy="1325880"/>
          </a:xfrm>
          <a:prstGeom prst="roundRect">
            <a:avLst/>
          </a:prstGeom>
          <a:solidFill>
            <a:srgbClr val="F3E8FF"/>
          </a:solidFill>
          <a:ln w="19050">
            <a:solidFill>
              <a:srgbClr val="D8B4FE"/>
            </a:solidFill>
            <a:prstDash val="solid"/>
          </a:ln>
        </p:spPr>
      </p:sp>
      <p:sp>
        <p:nvSpPr>
          <p:cNvPr id="14" name="Text 11"/>
          <p:cNvSpPr/>
          <p:nvPr/>
        </p:nvSpPr>
        <p:spPr>
          <a:xfrm>
            <a:off x="3108960" y="1965960"/>
            <a:ext cx="1783080" cy="256032"/>
          </a:xfrm>
          <a:prstGeom prst="rect">
            <a:avLst/>
          </a:prstGeom>
          <a:noFill/>
          <a:ln/>
        </p:spPr>
        <p:txBody>
          <a:bodyPr wrap="square" rtlCol="0" anchor="ctr"/>
          <a:lstStyle/>
          <a:p>
            <a:pPr algn="ctr" indent="0" marL="0">
              <a:buNone/>
            </a:pPr>
            <a:r>
              <a:rPr lang="en-US" sz="950" b="1" dirty="0">
                <a:solidFill>
                  <a:srgbClr val="7E22CE"/>
                </a:solidFill>
                <a:latin typeface="Arial" pitchFamily="34" charset="0"/>
                <a:ea typeface="Arial" pitchFamily="34" charset="-122"/>
                <a:cs typeface="Arial" pitchFamily="34" charset="-120"/>
              </a:rPr>
              <a:t>שלב 2</a:t>
            </a:r>
            <a:endParaRPr lang="en-US" sz="950" dirty="0"/>
          </a:p>
        </p:txBody>
      </p:sp>
      <p:sp>
        <p:nvSpPr>
          <p:cNvPr id="15" name="Text 12"/>
          <p:cNvSpPr/>
          <p:nvPr/>
        </p:nvSpPr>
        <p:spPr>
          <a:xfrm>
            <a:off x="3108960" y="2240280"/>
            <a:ext cx="1783080" cy="457200"/>
          </a:xfrm>
          <a:prstGeom prst="rect">
            <a:avLst/>
          </a:prstGeom>
          <a:noFill/>
          <a:ln/>
        </p:spPr>
        <p:txBody>
          <a:bodyPr wrap="square" rtlCol="0" anchor="ctr"/>
          <a:lstStyle/>
          <a:p>
            <a:pPr algn="ctr" indent="0" marL="0">
              <a:buNone/>
            </a:pPr>
            <a:r>
              <a:rPr lang="en-US" sz="1800" b="1" dirty="0">
                <a:solidFill>
                  <a:srgbClr val="0F172A"/>
                </a:solidFill>
                <a:latin typeface="Arial" pitchFamily="34" charset="0"/>
                <a:ea typeface="Arial" pitchFamily="34" charset="-122"/>
                <a:cs typeface="Arial" pitchFamily="34" charset="-120"/>
              </a:rPr>
              <a:t>0.5 mg</a:t>
            </a:r>
            <a:endParaRPr lang="en-US" sz="1800" dirty="0"/>
          </a:p>
        </p:txBody>
      </p:sp>
      <p:sp>
        <p:nvSpPr>
          <p:cNvPr id="16" name="Text 13"/>
          <p:cNvSpPr/>
          <p:nvPr/>
        </p:nvSpPr>
        <p:spPr>
          <a:xfrm>
            <a:off x="3108960" y="2743200"/>
            <a:ext cx="178308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העלאה חודש 2</a:t>
            </a:r>
            <a:endParaRPr lang="en-US" sz="900" dirty="0"/>
          </a:p>
        </p:txBody>
      </p:sp>
      <p:sp>
        <p:nvSpPr>
          <p:cNvPr id="17" name="Shape 14"/>
          <p:cNvSpPr/>
          <p:nvPr/>
        </p:nvSpPr>
        <p:spPr>
          <a:xfrm>
            <a:off x="5120640" y="1874520"/>
            <a:ext cx="1965960" cy="1325880"/>
          </a:xfrm>
          <a:prstGeom prst="roundRect">
            <a:avLst/>
          </a:prstGeom>
          <a:solidFill>
            <a:srgbClr val="F3E8FF"/>
          </a:solidFill>
          <a:ln w="19050">
            <a:solidFill>
              <a:srgbClr val="D8B4FE"/>
            </a:solidFill>
            <a:prstDash val="solid"/>
          </a:ln>
        </p:spPr>
      </p:sp>
      <p:sp>
        <p:nvSpPr>
          <p:cNvPr id="18" name="Text 15"/>
          <p:cNvSpPr/>
          <p:nvPr/>
        </p:nvSpPr>
        <p:spPr>
          <a:xfrm>
            <a:off x="5212080" y="1965960"/>
            <a:ext cx="1783080" cy="256032"/>
          </a:xfrm>
          <a:prstGeom prst="rect">
            <a:avLst/>
          </a:prstGeom>
          <a:noFill/>
          <a:ln/>
        </p:spPr>
        <p:txBody>
          <a:bodyPr wrap="square" rtlCol="0" anchor="ctr"/>
          <a:lstStyle/>
          <a:p>
            <a:pPr algn="ctr" indent="0" marL="0">
              <a:buNone/>
            </a:pPr>
            <a:r>
              <a:rPr lang="en-US" sz="950" b="1" dirty="0">
                <a:solidFill>
                  <a:srgbClr val="7E22CE"/>
                </a:solidFill>
                <a:latin typeface="Arial" pitchFamily="34" charset="0"/>
                <a:ea typeface="Arial" pitchFamily="34" charset="-122"/>
                <a:cs typeface="Arial" pitchFamily="34" charset="-120"/>
              </a:rPr>
              <a:t>שלב 3</a:t>
            </a:r>
            <a:endParaRPr lang="en-US" sz="950" dirty="0"/>
          </a:p>
        </p:txBody>
      </p:sp>
      <p:sp>
        <p:nvSpPr>
          <p:cNvPr id="19" name="Text 16"/>
          <p:cNvSpPr/>
          <p:nvPr/>
        </p:nvSpPr>
        <p:spPr>
          <a:xfrm>
            <a:off x="5212080" y="2240280"/>
            <a:ext cx="1783080" cy="457200"/>
          </a:xfrm>
          <a:prstGeom prst="rect">
            <a:avLst/>
          </a:prstGeom>
          <a:noFill/>
          <a:ln/>
        </p:spPr>
        <p:txBody>
          <a:bodyPr wrap="square" rtlCol="0" anchor="ctr"/>
          <a:lstStyle/>
          <a:p>
            <a:pPr algn="ctr" indent="0" marL="0">
              <a:buNone/>
            </a:pPr>
            <a:r>
              <a:rPr lang="en-US" sz="1800" b="1" dirty="0">
                <a:solidFill>
                  <a:srgbClr val="0F172A"/>
                </a:solidFill>
                <a:latin typeface="Arial" pitchFamily="34" charset="0"/>
                <a:ea typeface="Arial" pitchFamily="34" charset="-122"/>
                <a:cs typeface="Arial" pitchFamily="34" charset="-120"/>
              </a:rPr>
              <a:t>1.0 mg</a:t>
            </a:r>
            <a:endParaRPr lang="en-US" sz="1800" dirty="0"/>
          </a:p>
        </p:txBody>
      </p:sp>
      <p:sp>
        <p:nvSpPr>
          <p:cNvPr id="20" name="Text 17"/>
          <p:cNvSpPr/>
          <p:nvPr/>
        </p:nvSpPr>
        <p:spPr>
          <a:xfrm>
            <a:off x="5212080" y="2743200"/>
            <a:ext cx="178308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מעבר מאוזמפיק</a:t>
            </a:r>
            <a:endParaRPr lang="en-US" sz="900" dirty="0"/>
          </a:p>
        </p:txBody>
      </p:sp>
      <p:sp>
        <p:nvSpPr>
          <p:cNvPr id="21" name="Shape 18"/>
          <p:cNvSpPr/>
          <p:nvPr/>
        </p:nvSpPr>
        <p:spPr>
          <a:xfrm>
            <a:off x="7223760" y="1874520"/>
            <a:ext cx="1965960" cy="1325880"/>
          </a:xfrm>
          <a:prstGeom prst="roundRect">
            <a:avLst/>
          </a:prstGeom>
          <a:solidFill>
            <a:srgbClr val="F3E8FF"/>
          </a:solidFill>
          <a:ln w="19050">
            <a:solidFill>
              <a:srgbClr val="D8B4FE"/>
            </a:solidFill>
            <a:prstDash val="solid"/>
          </a:ln>
        </p:spPr>
      </p:sp>
      <p:sp>
        <p:nvSpPr>
          <p:cNvPr id="22" name="Text 19"/>
          <p:cNvSpPr/>
          <p:nvPr/>
        </p:nvSpPr>
        <p:spPr>
          <a:xfrm>
            <a:off x="7315200" y="1965960"/>
            <a:ext cx="1783080" cy="256032"/>
          </a:xfrm>
          <a:prstGeom prst="rect">
            <a:avLst/>
          </a:prstGeom>
          <a:noFill/>
          <a:ln/>
        </p:spPr>
        <p:txBody>
          <a:bodyPr wrap="square" rtlCol="0" anchor="ctr"/>
          <a:lstStyle/>
          <a:p>
            <a:pPr algn="ctr" indent="0" marL="0">
              <a:buNone/>
            </a:pPr>
            <a:r>
              <a:rPr lang="en-US" sz="950" b="1" dirty="0">
                <a:solidFill>
                  <a:srgbClr val="7E22CE"/>
                </a:solidFill>
                <a:latin typeface="Arial" pitchFamily="34" charset="0"/>
                <a:ea typeface="Arial" pitchFamily="34" charset="-122"/>
                <a:cs typeface="Arial" pitchFamily="34" charset="-120"/>
              </a:rPr>
              <a:t>שלב 4</a:t>
            </a:r>
            <a:endParaRPr lang="en-US" sz="950" dirty="0"/>
          </a:p>
        </p:txBody>
      </p:sp>
      <p:sp>
        <p:nvSpPr>
          <p:cNvPr id="23" name="Text 20"/>
          <p:cNvSpPr/>
          <p:nvPr/>
        </p:nvSpPr>
        <p:spPr>
          <a:xfrm>
            <a:off x="7315200" y="2240280"/>
            <a:ext cx="1783080" cy="457200"/>
          </a:xfrm>
          <a:prstGeom prst="rect">
            <a:avLst/>
          </a:prstGeom>
          <a:noFill/>
          <a:ln/>
        </p:spPr>
        <p:txBody>
          <a:bodyPr wrap="square" rtlCol="0" anchor="ctr"/>
          <a:lstStyle/>
          <a:p>
            <a:pPr algn="ctr" indent="0" marL="0">
              <a:buNone/>
            </a:pPr>
            <a:r>
              <a:rPr lang="en-US" sz="1800" b="1" dirty="0">
                <a:solidFill>
                  <a:srgbClr val="0F172A"/>
                </a:solidFill>
                <a:latin typeface="Arial" pitchFamily="34" charset="0"/>
                <a:ea typeface="Arial" pitchFamily="34" charset="-122"/>
                <a:cs typeface="Arial" pitchFamily="34" charset="-120"/>
              </a:rPr>
              <a:t>1.7 mg</a:t>
            </a:r>
            <a:endParaRPr lang="en-US" sz="1800" dirty="0"/>
          </a:p>
        </p:txBody>
      </p:sp>
      <p:sp>
        <p:nvSpPr>
          <p:cNvPr id="24" name="Text 21"/>
          <p:cNvSpPr/>
          <p:nvPr/>
        </p:nvSpPr>
        <p:spPr>
          <a:xfrm>
            <a:off x="7315200" y="2743200"/>
            <a:ext cx="1783080" cy="32004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שלב ביניים</a:t>
            </a:r>
            <a:endParaRPr lang="en-US" sz="900" dirty="0"/>
          </a:p>
        </p:txBody>
      </p:sp>
      <p:sp>
        <p:nvSpPr>
          <p:cNvPr id="25" name="Shape 22"/>
          <p:cNvSpPr/>
          <p:nvPr/>
        </p:nvSpPr>
        <p:spPr>
          <a:xfrm>
            <a:off x="9326880" y="1874520"/>
            <a:ext cx="1965960" cy="1325880"/>
          </a:xfrm>
          <a:prstGeom prst="roundRect">
            <a:avLst/>
          </a:prstGeom>
          <a:solidFill>
            <a:srgbClr val="7E22CE"/>
          </a:solidFill>
          <a:ln w="19050">
            <a:solidFill>
              <a:srgbClr val="581C87"/>
            </a:solidFill>
            <a:prstDash val="solid"/>
          </a:ln>
        </p:spPr>
      </p:sp>
      <p:sp>
        <p:nvSpPr>
          <p:cNvPr id="26" name="Text 23"/>
          <p:cNvSpPr/>
          <p:nvPr/>
        </p:nvSpPr>
        <p:spPr>
          <a:xfrm>
            <a:off x="9418320" y="1965960"/>
            <a:ext cx="1783080" cy="256032"/>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מינון יעד נוכחי</a:t>
            </a:r>
            <a:endParaRPr lang="en-US" sz="950" dirty="0"/>
          </a:p>
        </p:txBody>
      </p:sp>
      <p:sp>
        <p:nvSpPr>
          <p:cNvPr id="27" name="Text 24"/>
          <p:cNvSpPr/>
          <p:nvPr/>
        </p:nvSpPr>
        <p:spPr>
          <a:xfrm>
            <a:off x="9418320" y="2240280"/>
            <a:ext cx="1783080" cy="45720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2.4 mg</a:t>
            </a:r>
            <a:endParaRPr lang="en-US" sz="1800" dirty="0"/>
          </a:p>
        </p:txBody>
      </p:sp>
      <p:sp>
        <p:nvSpPr>
          <p:cNvPr id="28" name="Text 25"/>
          <p:cNvSpPr/>
          <p:nvPr/>
        </p:nvSpPr>
        <p:spPr>
          <a:xfrm>
            <a:off x="9418320" y="2743200"/>
            <a:ext cx="1783080" cy="320040"/>
          </a:xfrm>
          <a:prstGeom prst="rect">
            <a:avLst/>
          </a:prstGeom>
          <a:noFill/>
          <a:ln/>
        </p:spPr>
        <p:txBody>
          <a:bodyPr wrap="square" rtlCol="0" anchor="ctr"/>
          <a:lstStyle/>
          <a:p>
            <a:pPr algn="ctr" indent="0" marL="0">
              <a:buNone/>
            </a:pPr>
            <a:r>
              <a:rPr lang="en-US" sz="900" dirty="0">
                <a:solidFill>
                  <a:srgbClr val="E9D5FF"/>
                </a:solidFill>
                <a:latin typeface="Arial" pitchFamily="34" charset="0"/>
                <a:ea typeface="Arial" pitchFamily="34" charset="-122"/>
                <a:cs typeface="Arial" pitchFamily="34" charset="-120"/>
              </a:rPr>
              <a:t>מינון מלא פעיל!</a:t>
            </a:r>
            <a:endParaRPr lang="en-US" sz="900" dirty="0"/>
          </a:p>
        </p:txBody>
      </p:sp>
      <p:sp>
        <p:nvSpPr>
          <p:cNvPr id="29" name="Shape 26"/>
          <p:cNvSpPr/>
          <p:nvPr/>
        </p:nvSpPr>
        <p:spPr>
          <a:xfrm>
            <a:off x="731520" y="3520440"/>
            <a:ext cx="10698480" cy="2651760"/>
          </a:xfrm>
          <a:prstGeom prst="roundRect">
            <a:avLst/>
          </a:prstGeom>
          <a:solidFill>
            <a:srgbClr val="FFFFFF"/>
          </a:solidFill>
          <a:ln w="15240">
            <a:solidFill>
              <a:srgbClr val="BAE6FD"/>
            </a:solidFill>
            <a:prstDash val="solid"/>
          </a:ln>
        </p:spPr>
      </p:sp>
      <p:sp>
        <p:nvSpPr>
          <p:cNvPr id="30" name="Text 27"/>
          <p:cNvSpPr/>
          <p:nvPr/>
        </p:nvSpPr>
        <p:spPr>
          <a:xfrm>
            <a:off x="914400" y="3657600"/>
            <a:ext cx="10332720" cy="320040"/>
          </a:xfrm>
          <a:prstGeom prst="rect">
            <a:avLst/>
          </a:prstGeom>
          <a:noFill/>
          <a:ln/>
        </p:spPr>
        <p:txBody>
          <a:bodyPr wrap="square" rtlCol="0" anchor="ctr"/>
          <a:lstStyle/>
          <a:p>
            <a:pPr algn="r" indent="0" marL="0">
              <a:buNone/>
            </a:pPr>
            <a:r>
              <a:rPr lang="en-US" sz="1300" b="1" dirty="0">
                <a:solidFill>
                  <a:srgbClr val="0284C7"/>
                </a:solidFill>
                <a:latin typeface="Arial" pitchFamily="34" charset="0"/>
                <a:ea typeface="Arial" pitchFamily="34" charset="-122"/>
                <a:cs typeface="Arial" pitchFamily="34" charset="-120"/>
              </a:rPr>
              <a:t>התאמות מינוני אינסולין במקביל לירידה במשקל ובתנגודת:</a:t>
            </a:r>
            <a:endParaRPr lang="en-US" sz="1300" dirty="0"/>
          </a:p>
        </p:txBody>
      </p:sp>
      <p:sp>
        <p:nvSpPr>
          <p:cNvPr id="31" name="Text 28"/>
          <p:cNvSpPr/>
          <p:nvPr/>
        </p:nvSpPr>
        <p:spPr>
          <a:xfrm>
            <a:off x="914400" y="4069080"/>
            <a:ext cx="10332720" cy="196596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  אינסולין קצר טווח (נובורפיד בולוס): קוצץ מ-35-40u לארוחה (~120u ליום) ל-8-12u לארוחה (~25-35u ליום) – ירידה דרמטית של כ-70% בצריכת הבולוס!</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אינסולין בזאלי (טרגלודק Degludec): הותאם והופחת בהדרגה מ-66 יחידות ל-36 יחידות פעם ביום.</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פרוטוקול בטיחות למניעת היפוגליקמיה:</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במידה וערכי הסוכר בצום בבוקר יורדים מתחת ל-90 mg/dL – להוריד מיד 2 יחידות מהאינסולין הבזאלי (Degludec).</a:t>
            </a:r>
            <a:endParaRPr lang="en-US" sz="1050" dirty="0"/>
          </a:p>
          <a:p>
            <a:pPr algn="r" indent="0" marL="0">
              <a:buNone/>
            </a:pPr>
            <a:endParaRPr lang="en-US" sz="1050" dirty="0"/>
          </a:p>
          <a:p>
            <a:pPr algn="r" indent="0" marL="0">
              <a:buNone/>
            </a:pPr>
            <a:r>
              <a:rPr lang="en-US" sz="1050" dirty="0">
                <a:solidFill>
                  <a:srgbClr val="1E293B"/>
                </a:solidFill>
                <a:latin typeface="Arial" pitchFamily="34" charset="0"/>
                <a:ea typeface="Arial" pitchFamily="34" charset="-122"/>
                <a:cs typeface="Arial" pitchFamily="34" charset="-120"/>
              </a:rPr>
              <a:t>•  חשיבות קלינית עליונה: במטופל סוכרת סוג 1 חובה לשמור תמיד על אינסולין בזאלי מספק למניעת קטואצידוזיס (DKA), למרות הירידה המרשימה בתנגודת!</a:t>
            </a:r>
            <a:endParaRPr lang="en-US" sz="1050" dirty="0"/>
          </a:p>
        </p:txBody>
      </p:sp>
      <p:sp>
        <p:nvSpPr>
          <p:cNvPr id="32" name="Shape 29"/>
          <p:cNvSpPr/>
          <p:nvPr/>
        </p:nvSpPr>
        <p:spPr>
          <a:xfrm>
            <a:off x="0" y="6473952"/>
            <a:ext cx="9144000" cy="384048"/>
          </a:xfrm>
          <a:prstGeom prst="rect">
            <a:avLst/>
          </a:prstGeom>
          <a:solidFill>
            <a:srgbClr val="FFFFFF"/>
          </a:solidFill>
          <a:ln w="12700">
            <a:solidFill>
              <a:srgbClr val="E2E8F0"/>
            </a:solidFill>
            <a:prstDash val="solid"/>
          </a:ln>
        </p:spPr>
      </p:sp>
      <p:sp>
        <p:nvSpPr>
          <p:cNvPr id="33" name="Text 30"/>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4" name="Text 31"/>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21 / 27</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3 • מעקב וטיטרציה</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3: הישגים קליניים במעקב ספטמבר 2026</a:t>
            </a:r>
            <a:endParaRPr lang="en-US" sz="2000" dirty="0"/>
          </a:p>
        </p:txBody>
      </p:sp>
      <p:sp>
        <p:nvSpPr>
          <p:cNvPr id="7" name="Shape 4"/>
          <p:cNvSpPr/>
          <p:nvPr/>
        </p:nvSpPr>
        <p:spPr>
          <a:xfrm>
            <a:off x="731520" y="1325880"/>
            <a:ext cx="2560320" cy="3657600"/>
          </a:xfrm>
          <a:prstGeom prst="roundRect">
            <a:avLst/>
          </a:prstGeom>
          <a:solidFill>
            <a:srgbClr val="FFF1F2"/>
          </a:solidFill>
          <a:ln w="15240">
            <a:solidFill>
              <a:srgbClr val="FECDD3"/>
            </a:solidFill>
            <a:prstDash val="solid"/>
          </a:ln>
        </p:spPr>
      </p:sp>
      <p:sp>
        <p:nvSpPr>
          <p:cNvPr id="8" name="Text 5"/>
          <p:cNvSpPr/>
          <p:nvPr/>
        </p:nvSpPr>
        <p:spPr>
          <a:xfrm>
            <a:off x="868680" y="1508760"/>
            <a:ext cx="2286000" cy="320040"/>
          </a:xfrm>
          <a:prstGeom prst="rect">
            <a:avLst/>
          </a:prstGeom>
          <a:noFill/>
          <a:ln/>
        </p:spPr>
        <p:txBody>
          <a:bodyPr wrap="square" rtlCol="0" anchor="ctr"/>
          <a:lstStyle/>
          <a:p>
            <a:pPr algn="ctr" indent="0" marL="0">
              <a:buNone/>
            </a:pPr>
            <a:r>
              <a:rPr lang="en-US" sz="1150" b="1" dirty="0">
                <a:solidFill>
                  <a:srgbClr val="E11D48"/>
                </a:solidFill>
                <a:latin typeface="Arial" pitchFamily="34" charset="0"/>
                <a:ea typeface="Arial" pitchFamily="34" charset="-122"/>
                <a:cs typeface="Arial" pitchFamily="34" charset="-120"/>
              </a:rPr>
              <a:t>איזון גליקמי HbA1C</a:t>
            </a:r>
            <a:endParaRPr lang="en-US" sz="1150" dirty="0"/>
          </a:p>
        </p:txBody>
      </p:sp>
      <p:sp>
        <p:nvSpPr>
          <p:cNvPr id="9" name="Text 6"/>
          <p:cNvSpPr/>
          <p:nvPr/>
        </p:nvSpPr>
        <p:spPr>
          <a:xfrm>
            <a:off x="868680" y="1920240"/>
            <a:ext cx="2286000" cy="640080"/>
          </a:xfrm>
          <a:prstGeom prst="rect">
            <a:avLst/>
          </a:prstGeom>
          <a:noFill/>
          <a:ln/>
        </p:spPr>
        <p:txBody>
          <a:bodyPr wrap="square" rtlCol="0" anchor="ctr"/>
          <a:lstStyle/>
          <a:p>
            <a:pPr algn="ctr" indent="0" marL="0">
              <a:buNone/>
            </a:pPr>
            <a:r>
              <a:rPr lang="en-US" sz="2600" b="1" dirty="0">
                <a:solidFill>
                  <a:srgbClr val="E11D48"/>
                </a:solidFill>
                <a:latin typeface="Arial" pitchFamily="34" charset="0"/>
                <a:ea typeface="Arial" pitchFamily="34" charset="-122"/>
                <a:cs typeface="Arial" pitchFamily="34" charset="-120"/>
              </a:rPr>
              <a:t>5.0%</a:t>
            </a:r>
            <a:endParaRPr lang="en-US" sz="2600" dirty="0"/>
          </a:p>
        </p:txBody>
      </p:sp>
      <p:sp>
        <p:nvSpPr>
          <p:cNvPr id="10" name="Text 7"/>
          <p:cNvSpPr/>
          <p:nvPr/>
        </p:nvSpPr>
        <p:spPr>
          <a:xfrm>
            <a:off x="868680" y="2651760"/>
            <a:ext cx="2286000" cy="320040"/>
          </a:xfrm>
          <a:prstGeom prst="rect">
            <a:avLst/>
          </a:prstGeom>
          <a:noFill/>
          <a:ln/>
        </p:spPr>
        <p:txBody>
          <a:bodyPr wrap="square" rtlCol="0" anchor="ctr"/>
          <a:lstStyle/>
          <a:p>
            <a:pPr algn="ctr" indent="0" marL="0">
              <a:buNone/>
            </a:pPr>
            <a:r>
              <a:rPr lang="en-US" sz="1000" b="1" dirty="0">
                <a:solidFill>
                  <a:srgbClr val="1E293B"/>
                </a:solidFill>
                <a:latin typeface="Arial" pitchFamily="34" charset="0"/>
                <a:ea typeface="Arial" pitchFamily="34" charset="-122"/>
                <a:cs typeface="Arial" pitchFamily="34" charset="-120"/>
              </a:rPr>
              <a:t>צניחה מ-13.4% בבסיס!</a:t>
            </a:r>
            <a:endParaRPr lang="en-US" sz="1000" dirty="0"/>
          </a:p>
        </p:txBody>
      </p:sp>
      <p:sp>
        <p:nvSpPr>
          <p:cNvPr id="11" name="Text 8"/>
          <p:cNvSpPr/>
          <p:nvPr/>
        </p:nvSpPr>
        <p:spPr>
          <a:xfrm>
            <a:off x="868680" y="3063240"/>
            <a:ext cx="2286000" cy="1737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ירידה מוחלטת של 8.4% ב-A1C ללא אירועי היפוגליקמיה חמורים.</a:t>
            </a:r>
            <a:endParaRPr lang="en-US" sz="950" dirty="0"/>
          </a:p>
        </p:txBody>
      </p:sp>
      <p:sp>
        <p:nvSpPr>
          <p:cNvPr id="12" name="Shape 9"/>
          <p:cNvSpPr/>
          <p:nvPr/>
        </p:nvSpPr>
        <p:spPr>
          <a:xfrm>
            <a:off x="3429000" y="1325880"/>
            <a:ext cx="2560320" cy="3657600"/>
          </a:xfrm>
          <a:prstGeom prst="roundRect">
            <a:avLst/>
          </a:prstGeom>
          <a:solidFill>
            <a:srgbClr val="ECFDF5"/>
          </a:solidFill>
          <a:ln w="15240">
            <a:solidFill>
              <a:srgbClr val="A7F3D0"/>
            </a:solidFill>
            <a:prstDash val="solid"/>
          </a:ln>
        </p:spPr>
      </p:sp>
      <p:sp>
        <p:nvSpPr>
          <p:cNvPr id="13" name="Text 10"/>
          <p:cNvSpPr/>
          <p:nvPr/>
        </p:nvSpPr>
        <p:spPr>
          <a:xfrm>
            <a:off x="3566160" y="1508760"/>
            <a:ext cx="2286000" cy="320040"/>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ירידה במשקל וב-BMI</a:t>
            </a:r>
            <a:endParaRPr lang="en-US" sz="1150" dirty="0"/>
          </a:p>
        </p:txBody>
      </p:sp>
      <p:sp>
        <p:nvSpPr>
          <p:cNvPr id="14" name="Text 11"/>
          <p:cNvSpPr/>
          <p:nvPr/>
        </p:nvSpPr>
        <p:spPr>
          <a:xfrm>
            <a:off x="3566160" y="1920240"/>
            <a:ext cx="2286000" cy="640080"/>
          </a:xfrm>
          <a:prstGeom prst="rect">
            <a:avLst/>
          </a:prstGeom>
          <a:noFill/>
          <a:ln/>
        </p:spPr>
        <p:txBody>
          <a:bodyPr wrap="square" rtlCol="0" anchor="ctr"/>
          <a:lstStyle/>
          <a:p>
            <a:pPr algn="ctr" indent="0" marL="0">
              <a:buNone/>
            </a:pPr>
            <a:r>
              <a:rPr lang="en-US" sz="2600" b="1" dirty="0">
                <a:solidFill>
                  <a:srgbClr val="059669"/>
                </a:solidFill>
                <a:latin typeface="Arial" pitchFamily="34" charset="0"/>
                <a:ea typeface="Arial" pitchFamily="34" charset="-122"/>
                <a:cs typeface="Arial" pitchFamily="34" charset="-120"/>
              </a:rPr>
              <a:t>-11 ק"ג</a:t>
            </a:r>
            <a:endParaRPr lang="en-US" sz="2600" dirty="0"/>
          </a:p>
        </p:txBody>
      </p:sp>
      <p:sp>
        <p:nvSpPr>
          <p:cNvPr id="15" name="Text 12"/>
          <p:cNvSpPr/>
          <p:nvPr/>
        </p:nvSpPr>
        <p:spPr>
          <a:xfrm>
            <a:off x="3566160" y="2651760"/>
            <a:ext cx="2286000" cy="320040"/>
          </a:xfrm>
          <a:prstGeom prst="rect">
            <a:avLst/>
          </a:prstGeom>
          <a:noFill/>
          <a:ln/>
        </p:spPr>
        <p:txBody>
          <a:bodyPr wrap="square" rtlCol="0" anchor="ctr"/>
          <a:lstStyle/>
          <a:p>
            <a:pPr algn="ctr" indent="0" marL="0">
              <a:buNone/>
            </a:pPr>
            <a:r>
              <a:rPr lang="en-US" sz="1000" b="1" dirty="0">
                <a:solidFill>
                  <a:srgbClr val="1E293B"/>
                </a:solidFill>
                <a:latin typeface="Arial" pitchFamily="34" charset="0"/>
                <a:ea typeface="Arial" pitchFamily="34" charset="-122"/>
                <a:cs typeface="Arial" pitchFamily="34" charset="-120"/>
              </a:rPr>
              <a:t>משקל: 85 ק"ג (מ-96 ק"ג)</a:t>
            </a:r>
            <a:endParaRPr lang="en-US" sz="1000" dirty="0"/>
          </a:p>
        </p:txBody>
      </p:sp>
      <p:sp>
        <p:nvSpPr>
          <p:cNvPr id="16" name="Text 13"/>
          <p:cNvSpPr/>
          <p:nvPr/>
        </p:nvSpPr>
        <p:spPr>
          <a:xfrm>
            <a:off x="3566160" y="3063240"/>
            <a:ext cx="2286000" cy="1737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BMI ירד מ-36.1 ל-32.0, הפחתת היקף מותניים והקלה בעומס על הרגליים.</a:t>
            </a:r>
            <a:endParaRPr lang="en-US" sz="950" dirty="0"/>
          </a:p>
        </p:txBody>
      </p:sp>
      <p:sp>
        <p:nvSpPr>
          <p:cNvPr id="17" name="Shape 14"/>
          <p:cNvSpPr/>
          <p:nvPr/>
        </p:nvSpPr>
        <p:spPr>
          <a:xfrm>
            <a:off x="6126480" y="1325880"/>
            <a:ext cx="2560320" cy="3657600"/>
          </a:xfrm>
          <a:prstGeom prst="roundRect">
            <a:avLst/>
          </a:prstGeom>
          <a:solidFill>
            <a:srgbClr val="EFF6FF"/>
          </a:solidFill>
          <a:ln w="15240">
            <a:solidFill>
              <a:srgbClr val="BAE6FD"/>
            </a:solidFill>
            <a:prstDash val="solid"/>
          </a:ln>
        </p:spPr>
      </p:sp>
      <p:sp>
        <p:nvSpPr>
          <p:cNvPr id="18" name="Text 15"/>
          <p:cNvSpPr/>
          <p:nvPr/>
        </p:nvSpPr>
        <p:spPr>
          <a:xfrm>
            <a:off x="6263640" y="1508760"/>
            <a:ext cx="2286000" cy="320040"/>
          </a:xfrm>
          <a:prstGeom prst="rect">
            <a:avLst/>
          </a:prstGeom>
          <a:noFill/>
          <a:ln/>
        </p:spPr>
        <p:txBody>
          <a:bodyPr wrap="square" rtlCol="0" anchor="ctr"/>
          <a:lstStyle/>
          <a:p>
            <a:pPr algn="ctr" indent="0" marL="0">
              <a:buNone/>
            </a:pPr>
            <a:r>
              <a:rPr lang="en-US" sz="1150" b="1" dirty="0">
                <a:solidFill>
                  <a:srgbClr val="0284C7"/>
                </a:solidFill>
                <a:latin typeface="Arial" pitchFamily="34" charset="0"/>
                <a:ea typeface="Arial" pitchFamily="34" charset="-122"/>
                <a:cs typeface="Arial" pitchFamily="34" charset="-120"/>
              </a:rPr>
              <a:t>אינסולין בולוס (נובורפיד)</a:t>
            </a:r>
            <a:endParaRPr lang="en-US" sz="1150" dirty="0"/>
          </a:p>
        </p:txBody>
      </p:sp>
      <p:sp>
        <p:nvSpPr>
          <p:cNvPr id="19" name="Text 16"/>
          <p:cNvSpPr/>
          <p:nvPr/>
        </p:nvSpPr>
        <p:spPr>
          <a:xfrm>
            <a:off x="6263640" y="1920240"/>
            <a:ext cx="2286000" cy="640080"/>
          </a:xfrm>
          <a:prstGeom prst="rect">
            <a:avLst/>
          </a:prstGeom>
          <a:noFill/>
          <a:ln/>
        </p:spPr>
        <p:txBody>
          <a:bodyPr wrap="square" rtlCol="0" anchor="ctr"/>
          <a:lstStyle/>
          <a:p>
            <a:pPr algn="ctr" indent="0" marL="0">
              <a:buNone/>
            </a:pPr>
            <a:r>
              <a:rPr lang="en-US" sz="2600" b="1" dirty="0">
                <a:solidFill>
                  <a:srgbClr val="0284C7"/>
                </a:solidFill>
                <a:latin typeface="Arial" pitchFamily="34" charset="0"/>
                <a:ea typeface="Arial" pitchFamily="34" charset="-122"/>
                <a:cs typeface="Arial" pitchFamily="34" charset="-120"/>
              </a:rPr>
              <a:t>8u לארוחה</a:t>
            </a:r>
            <a:endParaRPr lang="en-US" sz="2600" dirty="0"/>
          </a:p>
        </p:txBody>
      </p:sp>
      <p:sp>
        <p:nvSpPr>
          <p:cNvPr id="20" name="Text 17"/>
          <p:cNvSpPr/>
          <p:nvPr/>
        </p:nvSpPr>
        <p:spPr>
          <a:xfrm>
            <a:off x="6263640" y="2651760"/>
            <a:ext cx="2286000" cy="320040"/>
          </a:xfrm>
          <a:prstGeom prst="rect">
            <a:avLst/>
          </a:prstGeom>
          <a:noFill/>
          <a:ln/>
        </p:spPr>
        <p:txBody>
          <a:bodyPr wrap="square" rtlCol="0" anchor="ctr"/>
          <a:lstStyle/>
          <a:p>
            <a:pPr algn="ctr" indent="0" marL="0">
              <a:buNone/>
            </a:pPr>
            <a:r>
              <a:rPr lang="en-US" sz="1000" b="1" dirty="0">
                <a:solidFill>
                  <a:srgbClr val="1E293B"/>
                </a:solidFill>
                <a:latin typeface="Arial" pitchFamily="34" charset="0"/>
                <a:ea typeface="Arial" pitchFamily="34" charset="-122"/>
                <a:cs typeface="Arial" pitchFamily="34" charset="-120"/>
              </a:rPr>
              <a:t>קוצץ מ-12u לארוחה</a:t>
            </a:r>
            <a:endParaRPr lang="en-US" sz="1000" dirty="0"/>
          </a:p>
        </p:txBody>
      </p:sp>
      <p:sp>
        <p:nvSpPr>
          <p:cNvPr id="21" name="Text 18"/>
          <p:cNvSpPr/>
          <p:nvPr/>
        </p:nvSpPr>
        <p:spPr>
          <a:xfrm>
            <a:off x="6263640" y="3063240"/>
            <a:ext cx="2286000" cy="1737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הפחתה של כ-70% בעומס האינסולין האקסוגני תודות לשיפור ברגישות.</a:t>
            </a:r>
            <a:endParaRPr lang="en-US" sz="950" dirty="0"/>
          </a:p>
        </p:txBody>
      </p:sp>
      <p:sp>
        <p:nvSpPr>
          <p:cNvPr id="22" name="Shape 19"/>
          <p:cNvSpPr/>
          <p:nvPr/>
        </p:nvSpPr>
        <p:spPr>
          <a:xfrm>
            <a:off x="8823960" y="1325880"/>
            <a:ext cx="2560320" cy="3657600"/>
          </a:xfrm>
          <a:prstGeom prst="roundRect">
            <a:avLst/>
          </a:prstGeom>
          <a:solidFill>
            <a:srgbClr val="FAF5FF"/>
          </a:solidFill>
          <a:ln w="15240">
            <a:solidFill>
              <a:srgbClr val="E9D5FF"/>
            </a:solidFill>
            <a:prstDash val="solid"/>
          </a:ln>
        </p:spPr>
      </p:sp>
      <p:sp>
        <p:nvSpPr>
          <p:cNvPr id="23" name="Text 20"/>
          <p:cNvSpPr/>
          <p:nvPr/>
        </p:nvSpPr>
        <p:spPr>
          <a:xfrm>
            <a:off x="8961120" y="1508760"/>
            <a:ext cx="2286000" cy="320040"/>
          </a:xfrm>
          <a:prstGeom prst="rect">
            <a:avLst/>
          </a:prstGeom>
          <a:noFill/>
          <a:ln/>
        </p:spPr>
        <p:txBody>
          <a:bodyPr wrap="square" rtlCol="0" anchor="ctr"/>
          <a:lstStyle/>
          <a:p>
            <a:pPr algn="ctr" indent="0" marL="0">
              <a:buNone/>
            </a:pPr>
            <a:r>
              <a:rPr lang="en-US" sz="1150" b="1" dirty="0">
                <a:solidFill>
                  <a:srgbClr val="7E22CE"/>
                </a:solidFill>
                <a:latin typeface="Arial" pitchFamily="34" charset="0"/>
                <a:ea typeface="Arial" pitchFamily="34" charset="-122"/>
                <a:cs typeface="Arial" pitchFamily="34" charset="-120"/>
              </a:rPr>
              <a:t>אינסולין בזאלי (טרגלודק)</a:t>
            </a:r>
            <a:endParaRPr lang="en-US" sz="1150" dirty="0"/>
          </a:p>
        </p:txBody>
      </p:sp>
      <p:sp>
        <p:nvSpPr>
          <p:cNvPr id="24" name="Text 21"/>
          <p:cNvSpPr/>
          <p:nvPr/>
        </p:nvSpPr>
        <p:spPr>
          <a:xfrm>
            <a:off x="8961120" y="1920240"/>
            <a:ext cx="2286000" cy="640080"/>
          </a:xfrm>
          <a:prstGeom prst="rect">
            <a:avLst/>
          </a:prstGeom>
          <a:noFill/>
          <a:ln/>
        </p:spPr>
        <p:txBody>
          <a:bodyPr wrap="square" rtlCol="0" anchor="ctr"/>
          <a:lstStyle/>
          <a:p>
            <a:pPr algn="ctr" indent="0" marL="0">
              <a:buNone/>
            </a:pPr>
            <a:r>
              <a:rPr lang="en-US" sz="2600" b="1" dirty="0">
                <a:solidFill>
                  <a:srgbClr val="7E22CE"/>
                </a:solidFill>
                <a:latin typeface="Arial" pitchFamily="34" charset="0"/>
                <a:ea typeface="Arial" pitchFamily="34" charset="-122"/>
                <a:cs typeface="Arial" pitchFamily="34" charset="-120"/>
              </a:rPr>
              <a:t>36 יחידות</a:t>
            </a:r>
            <a:endParaRPr lang="en-US" sz="2600" dirty="0"/>
          </a:p>
        </p:txBody>
      </p:sp>
      <p:sp>
        <p:nvSpPr>
          <p:cNvPr id="25" name="Text 22"/>
          <p:cNvSpPr/>
          <p:nvPr/>
        </p:nvSpPr>
        <p:spPr>
          <a:xfrm>
            <a:off x="8961120" y="2651760"/>
            <a:ext cx="2286000" cy="320040"/>
          </a:xfrm>
          <a:prstGeom prst="rect">
            <a:avLst/>
          </a:prstGeom>
          <a:noFill/>
          <a:ln/>
        </p:spPr>
        <p:txBody>
          <a:bodyPr wrap="square" rtlCol="0" anchor="ctr"/>
          <a:lstStyle/>
          <a:p>
            <a:pPr algn="ctr" indent="0" marL="0">
              <a:buNone/>
            </a:pPr>
            <a:r>
              <a:rPr lang="en-US" sz="1000" b="1" dirty="0">
                <a:solidFill>
                  <a:srgbClr val="1E293B"/>
                </a:solidFill>
                <a:latin typeface="Arial" pitchFamily="34" charset="0"/>
                <a:ea typeface="Arial" pitchFamily="34" charset="-122"/>
                <a:cs typeface="Arial" pitchFamily="34" charset="-120"/>
              </a:rPr>
              <a:t>מינון יציב ובטוח</a:t>
            </a:r>
            <a:endParaRPr lang="en-US" sz="1000" dirty="0"/>
          </a:p>
        </p:txBody>
      </p:sp>
      <p:sp>
        <p:nvSpPr>
          <p:cNvPr id="26" name="Text 23"/>
          <p:cNvSpPr/>
          <p:nvPr/>
        </p:nvSpPr>
        <p:spPr>
          <a:xfrm>
            <a:off x="8961120" y="3063240"/>
            <a:ext cx="2286000" cy="1737360"/>
          </a:xfrm>
          <a:prstGeom prst="rect">
            <a:avLst/>
          </a:prstGeom>
          <a:noFill/>
          <a:ln/>
        </p:spPr>
        <p:txBody>
          <a:bodyPr wrap="square" rtlCol="0" anchor="ctr"/>
          <a:lstStyle/>
          <a:p>
            <a:pPr algn="ctr" indent="0" marL="0">
              <a:buNone/>
            </a:pPr>
            <a:r>
              <a:rPr lang="en-US" sz="950" dirty="0">
                <a:solidFill>
                  <a:srgbClr val="64748B"/>
                </a:solidFill>
                <a:latin typeface="Arial" pitchFamily="34" charset="0"/>
                <a:ea typeface="Arial" pitchFamily="34" charset="-122"/>
                <a:cs typeface="Arial" pitchFamily="34" charset="-120"/>
              </a:rPr>
              <a:t>התאמה מבוקרת עם פרוטוקול צום &lt;90 mg/dL לשמירה מלאה מפני DKA.</a:t>
            </a:r>
            <a:endParaRPr lang="en-US" sz="950" dirty="0"/>
          </a:p>
        </p:txBody>
      </p:sp>
      <p:sp>
        <p:nvSpPr>
          <p:cNvPr id="27" name="Shape 24"/>
          <p:cNvSpPr/>
          <p:nvPr/>
        </p:nvSpPr>
        <p:spPr>
          <a:xfrm>
            <a:off x="731520" y="5166360"/>
            <a:ext cx="10698480" cy="1051560"/>
          </a:xfrm>
          <a:prstGeom prst="roundRect">
            <a:avLst/>
          </a:prstGeom>
          <a:solidFill>
            <a:srgbClr val="FFFFFF"/>
          </a:solidFill>
          <a:ln w="15240">
            <a:solidFill>
              <a:srgbClr val="FDE68A"/>
            </a:solidFill>
            <a:prstDash val="solid"/>
          </a:ln>
        </p:spPr>
      </p:sp>
      <p:sp>
        <p:nvSpPr>
          <p:cNvPr id="28" name="Text 25"/>
          <p:cNvSpPr/>
          <p:nvPr/>
        </p:nvSpPr>
        <p:spPr>
          <a:xfrm>
            <a:off x="914400" y="5257800"/>
            <a:ext cx="10332720" cy="274320"/>
          </a:xfrm>
          <a:prstGeom prst="rect">
            <a:avLst/>
          </a:prstGeom>
          <a:noFill/>
          <a:ln/>
        </p:spPr>
        <p:txBody>
          <a:bodyPr wrap="square" rtlCol="0" anchor="ctr"/>
          <a:lstStyle/>
          <a:p>
            <a:pPr algn="r" indent="0" marL="0">
              <a:buNone/>
            </a:pPr>
            <a:r>
              <a:rPr lang="en-US" sz="1100" b="1" dirty="0">
                <a:solidFill>
                  <a:srgbClr val="D97706"/>
                </a:solidFill>
                <a:latin typeface="Arial" pitchFamily="34" charset="0"/>
                <a:ea typeface="Arial" pitchFamily="34" charset="-122"/>
                <a:cs typeface="Arial" pitchFamily="34" charset="-120"/>
              </a:rPr>
              <a:t>שאלת בטיחות קלינית: מהו הכלל הקליני החשוב ביותר בעת טיטרציית GLP-1 ב-T1D?</a:t>
            </a:r>
            <a:endParaRPr lang="en-US" sz="1100" dirty="0"/>
          </a:p>
        </p:txBody>
      </p:sp>
      <p:sp>
        <p:nvSpPr>
          <p:cNvPr id="29" name="Text 26"/>
          <p:cNvSpPr/>
          <p:nvPr/>
        </p:nvSpPr>
        <p:spPr>
          <a:xfrm>
            <a:off x="914400" y="5532120"/>
            <a:ext cx="10332720" cy="594360"/>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ב-T1D חובה לנטר ברציפות, להפחית בולוס בהתאם לתזונה ולתנגודת, אך לשמור על כיסוי בזאלי מספק למניעת DKA קטואצידוזיס!</a:t>
            </a:r>
            <a:endParaRPr lang="en-US" sz="1000" dirty="0"/>
          </a:p>
        </p:txBody>
      </p:sp>
      <p:sp>
        <p:nvSpPr>
          <p:cNvPr id="30" name="Shape 27"/>
          <p:cNvSpPr/>
          <p:nvPr/>
        </p:nvSpPr>
        <p:spPr>
          <a:xfrm>
            <a:off x="0" y="6473952"/>
            <a:ext cx="9144000" cy="384048"/>
          </a:xfrm>
          <a:prstGeom prst="rect">
            <a:avLst/>
          </a:prstGeom>
          <a:solidFill>
            <a:srgbClr val="FFFFFF"/>
          </a:solidFill>
          <a:ln w="12700">
            <a:solidFill>
              <a:srgbClr val="E2E8F0"/>
            </a:solidFill>
            <a:prstDash val="solid"/>
          </a:ln>
        </p:spPr>
      </p:sp>
      <p:sp>
        <p:nvSpPr>
          <p:cNvPr id="31" name="Text 28"/>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2" name="Text 29"/>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22 / 27</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4 • ניטור רציף AGP</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4: ניתוח מדדי חיישן FreeStyle Libre 2 ו-AGP תחת Wegovy 2.4mg</a:t>
            </a:r>
            <a:endParaRPr lang="en-US" sz="2000" dirty="0"/>
          </a:p>
        </p:txBody>
      </p:sp>
      <p:sp>
        <p:nvSpPr>
          <p:cNvPr id="7" name="Shape 4"/>
          <p:cNvSpPr/>
          <p:nvPr/>
        </p:nvSpPr>
        <p:spPr>
          <a:xfrm>
            <a:off x="4754880" y="1280160"/>
            <a:ext cx="6675120" cy="4892040"/>
          </a:xfrm>
          <a:prstGeom prst="roundRect">
            <a:avLst/>
          </a:prstGeom>
          <a:solidFill>
            <a:srgbClr val="FFFFFF"/>
          </a:solidFill>
          <a:ln w="15240">
            <a:solidFill>
              <a:srgbClr val="A7F3D0"/>
            </a:solidFill>
            <a:prstDash val="solid"/>
          </a:ln>
        </p:spPr>
      </p:sp>
      <p:sp>
        <p:nvSpPr>
          <p:cNvPr id="8" name="Text 5"/>
          <p:cNvSpPr/>
          <p:nvPr/>
        </p:nvSpPr>
        <p:spPr>
          <a:xfrm>
            <a:off x="4937760" y="1463040"/>
            <a:ext cx="6309360" cy="320040"/>
          </a:xfrm>
          <a:prstGeom prst="rect">
            <a:avLst/>
          </a:prstGeom>
          <a:noFill/>
          <a:ln/>
        </p:spPr>
        <p:txBody>
          <a:bodyPr wrap="square" rtlCol="0" anchor="ctr"/>
          <a:lstStyle/>
          <a:p>
            <a:pPr algn="r" indent="0" marL="0">
              <a:buNone/>
            </a:pPr>
            <a:r>
              <a:rPr lang="en-US" sz="1400" b="1" dirty="0">
                <a:solidFill>
                  <a:srgbClr val="059669"/>
                </a:solidFill>
                <a:latin typeface="Arial" pitchFamily="34" charset="0"/>
                <a:ea typeface="Arial" pitchFamily="34" charset="-122"/>
                <a:cs typeface="Arial" pitchFamily="34" charset="-120"/>
              </a:rPr>
              <a:t>תוצאות דוח ה-AGP המעודכן (24/8/2026 - 6/9/2026)</a:t>
            </a:r>
            <a:endParaRPr lang="en-US" sz="1400" dirty="0"/>
          </a:p>
        </p:txBody>
      </p:sp>
      <p:sp>
        <p:nvSpPr>
          <p:cNvPr id="9" name="Shape 6"/>
          <p:cNvSpPr/>
          <p:nvPr/>
        </p:nvSpPr>
        <p:spPr>
          <a:xfrm>
            <a:off x="4937760" y="1874520"/>
            <a:ext cx="6309360" cy="594360"/>
          </a:xfrm>
          <a:prstGeom prst="roundRect">
            <a:avLst/>
          </a:prstGeom>
          <a:solidFill>
            <a:srgbClr val="ECFDF5"/>
          </a:solidFill>
          <a:ln w="12700">
            <a:solidFill>
              <a:srgbClr val="A7F3D0"/>
            </a:solidFill>
            <a:prstDash val="solid"/>
          </a:ln>
        </p:spPr>
      </p:sp>
      <p:sp>
        <p:nvSpPr>
          <p:cNvPr id="10" name="Text 7"/>
          <p:cNvSpPr/>
          <p:nvPr/>
        </p:nvSpPr>
        <p:spPr>
          <a:xfrm>
            <a:off x="7040880" y="1984248"/>
            <a:ext cx="4023360" cy="36576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זמן בטווח היעד (TIR 70-180 mg/dL)</a:t>
            </a:r>
            <a:endParaRPr lang="en-US" sz="1050" dirty="0"/>
          </a:p>
        </p:txBody>
      </p:sp>
      <p:sp>
        <p:nvSpPr>
          <p:cNvPr id="11" name="Text 8"/>
          <p:cNvSpPr/>
          <p:nvPr/>
        </p:nvSpPr>
        <p:spPr>
          <a:xfrm>
            <a:off x="6035040" y="1965960"/>
            <a:ext cx="1005840" cy="411480"/>
          </a:xfrm>
          <a:prstGeom prst="rect">
            <a:avLst/>
          </a:prstGeom>
          <a:noFill/>
          <a:ln/>
        </p:spPr>
        <p:txBody>
          <a:bodyPr wrap="square" rtlCol="0" anchor="ctr"/>
          <a:lstStyle/>
          <a:p>
            <a:pPr algn="ctr" indent="0" marL="0">
              <a:buNone/>
            </a:pPr>
            <a:r>
              <a:rPr lang="en-US" sz="1500" b="1" dirty="0">
                <a:solidFill>
                  <a:srgbClr val="059669"/>
                </a:solidFill>
                <a:latin typeface="Arial" pitchFamily="34" charset="0"/>
                <a:ea typeface="Arial" pitchFamily="34" charset="-122"/>
                <a:cs typeface="Arial" pitchFamily="34" charset="-120"/>
              </a:rPr>
              <a:t>79%</a:t>
            </a:r>
            <a:endParaRPr lang="en-US" sz="1500" dirty="0"/>
          </a:p>
        </p:txBody>
      </p:sp>
      <p:sp>
        <p:nvSpPr>
          <p:cNvPr id="12" name="Text 9"/>
          <p:cNvSpPr/>
          <p:nvPr/>
        </p:nvSpPr>
        <p:spPr>
          <a:xfrm>
            <a:off x="5029200" y="1984248"/>
            <a:ext cx="1005840" cy="365760"/>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עבר בהצלחה רבה את היעד הבינלאומי (&gt;70%)!</a:t>
            </a:r>
            <a:endParaRPr lang="en-US" sz="850" dirty="0"/>
          </a:p>
        </p:txBody>
      </p:sp>
      <p:sp>
        <p:nvSpPr>
          <p:cNvPr id="13" name="Shape 10"/>
          <p:cNvSpPr/>
          <p:nvPr/>
        </p:nvSpPr>
        <p:spPr>
          <a:xfrm>
            <a:off x="4937760" y="2532888"/>
            <a:ext cx="6309360" cy="594360"/>
          </a:xfrm>
          <a:prstGeom prst="roundRect">
            <a:avLst/>
          </a:prstGeom>
          <a:solidFill>
            <a:srgbClr val="F8FAFC"/>
          </a:solidFill>
          <a:ln w="12700">
            <a:solidFill>
              <a:srgbClr val="E2E8F0"/>
            </a:solidFill>
            <a:prstDash val="solid"/>
          </a:ln>
        </p:spPr>
      </p:sp>
      <p:sp>
        <p:nvSpPr>
          <p:cNvPr id="14" name="Text 11"/>
          <p:cNvSpPr/>
          <p:nvPr/>
        </p:nvSpPr>
        <p:spPr>
          <a:xfrm>
            <a:off x="7040880" y="2642616"/>
            <a:ext cx="4023360" cy="36576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רמת גלוקוז ממוצעת</a:t>
            </a:r>
            <a:endParaRPr lang="en-US" sz="1050" dirty="0"/>
          </a:p>
        </p:txBody>
      </p:sp>
      <p:sp>
        <p:nvSpPr>
          <p:cNvPr id="15" name="Text 12"/>
          <p:cNvSpPr/>
          <p:nvPr/>
        </p:nvSpPr>
        <p:spPr>
          <a:xfrm>
            <a:off x="6035040" y="2624328"/>
            <a:ext cx="1005840" cy="411480"/>
          </a:xfrm>
          <a:prstGeom prst="rect">
            <a:avLst/>
          </a:prstGeom>
          <a:noFill/>
          <a:ln/>
        </p:spPr>
        <p:txBody>
          <a:bodyPr wrap="square" rtlCol="0" anchor="ctr"/>
          <a:lstStyle/>
          <a:p>
            <a:pPr algn="ctr" indent="0" marL="0">
              <a:buNone/>
            </a:pPr>
            <a:r>
              <a:rPr lang="en-US" sz="1500" b="1" dirty="0">
                <a:solidFill>
                  <a:srgbClr val="0284C7"/>
                </a:solidFill>
                <a:latin typeface="Arial" pitchFamily="34" charset="0"/>
                <a:ea typeface="Arial" pitchFamily="34" charset="-122"/>
                <a:cs typeface="Arial" pitchFamily="34" charset="-120"/>
              </a:rPr>
              <a:t>116 mg/dL</a:t>
            </a:r>
            <a:endParaRPr lang="en-US" sz="1500" dirty="0"/>
          </a:p>
        </p:txBody>
      </p:sp>
      <p:sp>
        <p:nvSpPr>
          <p:cNvPr id="16" name="Text 13"/>
          <p:cNvSpPr/>
          <p:nvPr/>
        </p:nvSpPr>
        <p:spPr>
          <a:xfrm>
            <a:off x="5029200" y="2642616"/>
            <a:ext cx="1005840" cy="365760"/>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ירדה מ-220 mg/dL בדוח הקודם!</a:t>
            </a:r>
            <a:endParaRPr lang="en-US" sz="850" dirty="0"/>
          </a:p>
        </p:txBody>
      </p:sp>
      <p:sp>
        <p:nvSpPr>
          <p:cNvPr id="17" name="Shape 14"/>
          <p:cNvSpPr/>
          <p:nvPr/>
        </p:nvSpPr>
        <p:spPr>
          <a:xfrm>
            <a:off x="4937760" y="3191256"/>
            <a:ext cx="6309360" cy="594360"/>
          </a:xfrm>
          <a:prstGeom prst="roundRect">
            <a:avLst/>
          </a:prstGeom>
          <a:solidFill>
            <a:srgbClr val="F8FAFC"/>
          </a:solidFill>
          <a:ln w="12700">
            <a:solidFill>
              <a:srgbClr val="E2E8F0"/>
            </a:solidFill>
            <a:prstDash val="solid"/>
          </a:ln>
        </p:spPr>
      </p:sp>
      <p:sp>
        <p:nvSpPr>
          <p:cNvPr id="18" name="Text 15"/>
          <p:cNvSpPr/>
          <p:nvPr/>
        </p:nvSpPr>
        <p:spPr>
          <a:xfrm>
            <a:off x="7040880" y="3300984"/>
            <a:ext cx="4023360" cy="36576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מדד ניהול גלוקוז משוער (GMI)</a:t>
            </a:r>
            <a:endParaRPr lang="en-US" sz="1050" dirty="0"/>
          </a:p>
        </p:txBody>
      </p:sp>
      <p:sp>
        <p:nvSpPr>
          <p:cNvPr id="19" name="Text 16"/>
          <p:cNvSpPr/>
          <p:nvPr/>
        </p:nvSpPr>
        <p:spPr>
          <a:xfrm>
            <a:off x="6035040" y="3282696"/>
            <a:ext cx="1005840" cy="411480"/>
          </a:xfrm>
          <a:prstGeom prst="rect">
            <a:avLst/>
          </a:prstGeom>
          <a:noFill/>
          <a:ln/>
        </p:spPr>
        <p:txBody>
          <a:bodyPr wrap="square" rtlCol="0" anchor="ctr"/>
          <a:lstStyle/>
          <a:p>
            <a:pPr algn="ctr" indent="0" marL="0">
              <a:buNone/>
            </a:pPr>
            <a:r>
              <a:rPr lang="en-US" sz="1500" b="1" dirty="0">
                <a:solidFill>
                  <a:srgbClr val="0284C7"/>
                </a:solidFill>
                <a:latin typeface="Arial" pitchFamily="34" charset="0"/>
                <a:ea typeface="Arial" pitchFamily="34" charset="-122"/>
                <a:cs typeface="Arial" pitchFamily="34" charset="-120"/>
              </a:rPr>
              <a:t>6.1%</a:t>
            </a:r>
            <a:endParaRPr lang="en-US" sz="1500" dirty="0"/>
          </a:p>
        </p:txBody>
      </p:sp>
      <p:sp>
        <p:nvSpPr>
          <p:cNvPr id="20" name="Text 17"/>
          <p:cNvSpPr/>
          <p:nvPr/>
        </p:nvSpPr>
        <p:spPr>
          <a:xfrm>
            <a:off x="5029200" y="3300984"/>
            <a:ext cx="1005840" cy="365760"/>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תואם A1C של כ-6.1% (43 mmol/mol)</a:t>
            </a:r>
            <a:endParaRPr lang="en-US" sz="850" dirty="0"/>
          </a:p>
        </p:txBody>
      </p:sp>
      <p:sp>
        <p:nvSpPr>
          <p:cNvPr id="21" name="Shape 18"/>
          <p:cNvSpPr/>
          <p:nvPr/>
        </p:nvSpPr>
        <p:spPr>
          <a:xfrm>
            <a:off x="4937760" y="3849624"/>
            <a:ext cx="6309360" cy="594360"/>
          </a:xfrm>
          <a:prstGeom prst="roundRect">
            <a:avLst/>
          </a:prstGeom>
          <a:solidFill>
            <a:srgbClr val="F8FAFC"/>
          </a:solidFill>
          <a:ln w="12700">
            <a:solidFill>
              <a:srgbClr val="E2E8F0"/>
            </a:solidFill>
            <a:prstDash val="solid"/>
          </a:ln>
        </p:spPr>
      </p:sp>
      <p:sp>
        <p:nvSpPr>
          <p:cNvPr id="22" name="Text 19"/>
          <p:cNvSpPr/>
          <p:nvPr/>
        </p:nvSpPr>
        <p:spPr>
          <a:xfrm>
            <a:off x="7040880" y="3959352"/>
            <a:ext cx="4023360" cy="36576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ערכים מעל הטווח (&gt;180 mg/dL)</a:t>
            </a:r>
            <a:endParaRPr lang="en-US" sz="1050" dirty="0"/>
          </a:p>
        </p:txBody>
      </p:sp>
      <p:sp>
        <p:nvSpPr>
          <p:cNvPr id="23" name="Text 20"/>
          <p:cNvSpPr/>
          <p:nvPr/>
        </p:nvSpPr>
        <p:spPr>
          <a:xfrm>
            <a:off x="6035040" y="3941064"/>
            <a:ext cx="1005840" cy="411480"/>
          </a:xfrm>
          <a:prstGeom prst="rect">
            <a:avLst/>
          </a:prstGeom>
          <a:noFill/>
          <a:ln/>
        </p:spPr>
        <p:txBody>
          <a:bodyPr wrap="square" rtlCol="0" anchor="ctr"/>
          <a:lstStyle/>
          <a:p>
            <a:pPr algn="ctr" indent="0" marL="0">
              <a:buNone/>
            </a:pPr>
            <a:r>
              <a:rPr lang="en-US" sz="1500" b="1" dirty="0">
                <a:solidFill>
                  <a:srgbClr val="0284C7"/>
                </a:solidFill>
                <a:latin typeface="Arial" pitchFamily="34" charset="0"/>
                <a:ea typeface="Arial" pitchFamily="34" charset="-122"/>
                <a:cs typeface="Arial" pitchFamily="34" charset="-120"/>
              </a:rPr>
              <a:t>8%</a:t>
            </a:r>
            <a:endParaRPr lang="en-US" sz="1500" dirty="0"/>
          </a:p>
        </p:txBody>
      </p:sp>
      <p:sp>
        <p:nvSpPr>
          <p:cNvPr id="24" name="Text 21"/>
          <p:cNvSpPr/>
          <p:nvPr/>
        </p:nvSpPr>
        <p:spPr>
          <a:xfrm>
            <a:off x="5029200" y="3959352"/>
            <a:ext cx="1005840" cy="365760"/>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ירדו מ-70% ל-8% בלבד (0% מעל 250!)</a:t>
            </a:r>
            <a:endParaRPr lang="en-US" sz="850" dirty="0"/>
          </a:p>
        </p:txBody>
      </p:sp>
      <p:sp>
        <p:nvSpPr>
          <p:cNvPr id="25" name="Shape 22"/>
          <p:cNvSpPr/>
          <p:nvPr/>
        </p:nvSpPr>
        <p:spPr>
          <a:xfrm>
            <a:off x="4937760" y="4507992"/>
            <a:ext cx="6309360" cy="594360"/>
          </a:xfrm>
          <a:prstGeom prst="roundRect">
            <a:avLst/>
          </a:prstGeom>
          <a:solidFill>
            <a:srgbClr val="F8FAFC"/>
          </a:solidFill>
          <a:ln w="12700">
            <a:solidFill>
              <a:srgbClr val="E2E8F0"/>
            </a:solidFill>
            <a:prstDash val="solid"/>
          </a:ln>
        </p:spPr>
      </p:sp>
      <p:sp>
        <p:nvSpPr>
          <p:cNvPr id="26" name="Text 23"/>
          <p:cNvSpPr/>
          <p:nvPr/>
        </p:nvSpPr>
        <p:spPr>
          <a:xfrm>
            <a:off x="7040880" y="4617720"/>
            <a:ext cx="4023360" cy="36576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שונות גלוקוז (%CV)</a:t>
            </a:r>
            <a:endParaRPr lang="en-US" sz="1050" dirty="0"/>
          </a:p>
        </p:txBody>
      </p:sp>
      <p:sp>
        <p:nvSpPr>
          <p:cNvPr id="27" name="Text 24"/>
          <p:cNvSpPr/>
          <p:nvPr/>
        </p:nvSpPr>
        <p:spPr>
          <a:xfrm>
            <a:off x="6035040" y="4599432"/>
            <a:ext cx="1005840" cy="411480"/>
          </a:xfrm>
          <a:prstGeom prst="rect">
            <a:avLst/>
          </a:prstGeom>
          <a:noFill/>
          <a:ln/>
        </p:spPr>
        <p:txBody>
          <a:bodyPr wrap="square" rtlCol="0" anchor="ctr"/>
          <a:lstStyle/>
          <a:p>
            <a:pPr algn="ctr" indent="0" marL="0">
              <a:buNone/>
            </a:pPr>
            <a:r>
              <a:rPr lang="en-US" sz="1500" b="1" dirty="0">
                <a:solidFill>
                  <a:srgbClr val="0284C7"/>
                </a:solidFill>
                <a:latin typeface="Arial" pitchFamily="34" charset="0"/>
                <a:ea typeface="Arial" pitchFamily="34" charset="-122"/>
                <a:cs typeface="Arial" pitchFamily="34" charset="-120"/>
              </a:rPr>
              <a:t>37.3%</a:t>
            </a:r>
            <a:endParaRPr lang="en-US" sz="1500" dirty="0"/>
          </a:p>
        </p:txBody>
      </p:sp>
      <p:sp>
        <p:nvSpPr>
          <p:cNvPr id="28" name="Text 25"/>
          <p:cNvSpPr/>
          <p:nvPr/>
        </p:nvSpPr>
        <p:spPr>
          <a:xfrm>
            <a:off x="5029200" y="4617720"/>
            <a:ext cx="1005840" cy="365760"/>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קרובה מאוד ליעד היציבות (≤36%)</a:t>
            </a:r>
            <a:endParaRPr lang="en-US" sz="850" dirty="0"/>
          </a:p>
        </p:txBody>
      </p:sp>
      <p:sp>
        <p:nvSpPr>
          <p:cNvPr id="29" name="Shape 26"/>
          <p:cNvSpPr/>
          <p:nvPr/>
        </p:nvSpPr>
        <p:spPr>
          <a:xfrm>
            <a:off x="4937760" y="5166360"/>
            <a:ext cx="6309360" cy="594360"/>
          </a:xfrm>
          <a:prstGeom prst="roundRect">
            <a:avLst/>
          </a:prstGeom>
          <a:solidFill>
            <a:srgbClr val="F8FAFC"/>
          </a:solidFill>
          <a:ln w="12700">
            <a:solidFill>
              <a:srgbClr val="E2E8F0"/>
            </a:solidFill>
            <a:prstDash val="solid"/>
          </a:ln>
        </p:spPr>
      </p:sp>
      <p:sp>
        <p:nvSpPr>
          <p:cNvPr id="30" name="Text 27"/>
          <p:cNvSpPr/>
          <p:nvPr/>
        </p:nvSpPr>
        <p:spPr>
          <a:xfrm>
            <a:off x="7040880" y="5276088"/>
            <a:ext cx="4023360" cy="365760"/>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אירועי היפוגליקמיה (&lt;70 mg/dL)</a:t>
            </a:r>
            <a:endParaRPr lang="en-US" sz="1050" dirty="0"/>
          </a:p>
        </p:txBody>
      </p:sp>
      <p:sp>
        <p:nvSpPr>
          <p:cNvPr id="31" name="Text 28"/>
          <p:cNvSpPr/>
          <p:nvPr/>
        </p:nvSpPr>
        <p:spPr>
          <a:xfrm>
            <a:off x="6035040" y="5257800"/>
            <a:ext cx="1005840" cy="411480"/>
          </a:xfrm>
          <a:prstGeom prst="rect">
            <a:avLst/>
          </a:prstGeom>
          <a:noFill/>
          <a:ln/>
        </p:spPr>
        <p:txBody>
          <a:bodyPr wrap="square" rtlCol="0" anchor="ctr"/>
          <a:lstStyle/>
          <a:p>
            <a:pPr algn="ctr" indent="0" marL="0">
              <a:buNone/>
            </a:pPr>
            <a:r>
              <a:rPr lang="en-US" sz="1500" b="1" dirty="0">
                <a:solidFill>
                  <a:srgbClr val="0284C7"/>
                </a:solidFill>
                <a:latin typeface="Arial" pitchFamily="34" charset="0"/>
                <a:ea typeface="Arial" pitchFamily="34" charset="-122"/>
                <a:cs typeface="Arial" pitchFamily="34" charset="-120"/>
              </a:rPr>
              <a:t>13%</a:t>
            </a:r>
            <a:endParaRPr lang="en-US" sz="1500" dirty="0"/>
          </a:p>
        </p:txBody>
      </p:sp>
      <p:sp>
        <p:nvSpPr>
          <p:cNvPr id="32" name="Text 29"/>
          <p:cNvSpPr/>
          <p:nvPr/>
        </p:nvSpPr>
        <p:spPr>
          <a:xfrm>
            <a:off x="5029200" y="5276088"/>
            <a:ext cx="1005840" cy="365760"/>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אירועים קלים (54-69), 0% אירועים חמורים (&lt;54)</a:t>
            </a:r>
            <a:endParaRPr lang="en-US" sz="850" dirty="0"/>
          </a:p>
        </p:txBody>
      </p:sp>
      <p:sp>
        <p:nvSpPr>
          <p:cNvPr id="33" name="Shape 30"/>
          <p:cNvSpPr/>
          <p:nvPr/>
        </p:nvSpPr>
        <p:spPr>
          <a:xfrm>
            <a:off x="731520" y="1280160"/>
            <a:ext cx="3840480" cy="4892040"/>
          </a:xfrm>
          <a:prstGeom prst="roundRect">
            <a:avLst/>
          </a:prstGeom>
          <a:solidFill>
            <a:srgbClr val="FFFFFF"/>
          </a:solidFill>
          <a:ln w="15240">
            <a:solidFill>
              <a:srgbClr val="E2E8F0"/>
            </a:solidFill>
            <a:prstDash val="solid"/>
          </a:ln>
        </p:spPr>
      </p:sp>
      <p:pic>
        <p:nvPicPr>
          <p:cNvPr id="34" name="Image 1" descr="C:\Users\tifer\OneDrive\שולחן העבודה\אנטיגרביטי\GLP1CVA\public\labs\AGP_after_wegovy.png">    </p:cNvPr>
          <p:cNvPicPr>
            <a:picLocks noChangeAspect="1"/>
          </p:cNvPicPr>
          <p:nvPr/>
        </p:nvPicPr>
        <p:blipFill>
          <a:blip r:embed="rId2"/>
          <a:stretch>
            <a:fillRect/>
          </a:stretch>
        </p:blipFill>
        <p:spPr>
          <a:xfrm>
            <a:off x="868680" y="1417320"/>
            <a:ext cx="3566160" cy="4617720"/>
          </a:xfrm>
          <a:prstGeom prst="rect">
            <a:avLst/>
          </a:prstGeom>
        </p:spPr>
      </p:pic>
      <p:sp>
        <p:nvSpPr>
          <p:cNvPr id="35" name="Shape 31"/>
          <p:cNvSpPr/>
          <p:nvPr/>
        </p:nvSpPr>
        <p:spPr>
          <a:xfrm>
            <a:off x="0" y="6473952"/>
            <a:ext cx="9144000" cy="384048"/>
          </a:xfrm>
          <a:prstGeom prst="rect">
            <a:avLst/>
          </a:prstGeom>
          <a:solidFill>
            <a:srgbClr val="FFFFFF"/>
          </a:solidFill>
          <a:ln w="12700">
            <a:solidFill>
              <a:srgbClr val="E2E8F0"/>
            </a:solidFill>
            <a:prstDash val="solid"/>
          </a:ln>
        </p:spPr>
      </p:sp>
      <p:sp>
        <p:nvSpPr>
          <p:cNvPr id="36" name="Text 32"/>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37" name="Text 33"/>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23 / 27</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4 • ניטור רציף AGP</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4: השוואת מדדי החיישן – לפני וויגובי לעומת תחת Wegovy 2.4mg</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914400" y="1463040"/>
            <a:ext cx="10332720" cy="548640"/>
          </a:xfrm>
          <a:prstGeom prst="roundRect">
            <a:avLst/>
          </a:prstGeom>
          <a:solidFill>
            <a:srgbClr val="F1F5F9"/>
          </a:solidFill>
          <a:ln w="12700">
            <a:solidFill>
              <a:srgbClr val="CBD5E1"/>
            </a:solidFill>
            <a:prstDash val="solid"/>
          </a:ln>
        </p:spPr>
      </p:sp>
      <p:sp>
        <p:nvSpPr>
          <p:cNvPr id="9" name="Text 6"/>
          <p:cNvSpPr/>
          <p:nvPr/>
        </p:nvSpPr>
        <p:spPr>
          <a:xfrm>
            <a:off x="7132320" y="1572768"/>
            <a:ext cx="3931920" cy="320040"/>
          </a:xfrm>
          <a:prstGeom prst="rect">
            <a:avLst/>
          </a:prstGeom>
          <a:noFill/>
          <a:ln/>
        </p:spPr>
        <p:txBody>
          <a:bodyPr wrap="square" rtlCol="0" anchor="ctr"/>
          <a:lstStyle/>
          <a:p>
            <a:pPr algn="r" indent="0" marL="0">
              <a:buNone/>
            </a:pPr>
            <a:r>
              <a:rPr lang="en-US" sz="1200" b="1" dirty="0">
                <a:solidFill>
                  <a:srgbClr val="0F172A"/>
                </a:solidFill>
                <a:latin typeface="Arial" pitchFamily="34" charset="0"/>
                <a:ea typeface="Arial" pitchFamily="34" charset="-122"/>
                <a:cs typeface="Arial" pitchFamily="34" charset="-120"/>
              </a:rPr>
              <a:t>מדד קליני ב-AGP</a:t>
            </a:r>
            <a:endParaRPr lang="en-US" sz="1200" dirty="0"/>
          </a:p>
        </p:txBody>
      </p:sp>
      <p:sp>
        <p:nvSpPr>
          <p:cNvPr id="10" name="Text 7"/>
          <p:cNvSpPr/>
          <p:nvPr/>
        </p:nvSpPr>
        <p:spPr>
          <a:xfrm>
            <a:off x="4114800" y="1572768"/>
            <a:ext cx="2926080" cy="320040"/>
          </a:xfrm>
          <a:prstGeom prst="rect">
            <a:avLst/>
          </a:prstGeom>
          <a:noFill/>
          <a:ln/>
        </p:spPr>
        <p:txBody>
          <a:bodyPr wrap="square" rtlCol="0" anchor="ctr"/>
          <a:lstStyle/>
          <a:p>
            <a:pPr algn="ctr" indent="0" marL="0">
              <a:buNone/>
            </a:pPr>
            <a:r>
              <a:rPr lang="en-US" sz="1150" b="1" dirty="0">
                <a:solidFill>
                  <a:srgbClr val="DC2626"/>
                </a:solidFill>
                <a:latin typeface="Arial" pitchFamily="34" charset="0"/>
                <a:ea typeface="Arial" pitchFamily="34" charset="-122"/>
                <a:cs typeface="Arial" pitchFamily="34" charset="-120"/>
              </a:rPr>
              <a:t>לפני וויגובי (פברואר 2026)</a:t>
            </a:r>
            <a:endParaRPr lang="en-US" sz="1150" dirty="0"/>
          </a:p>
        </p:txBody>
      </p:sp>
      <p:sp>
        <p:nvSpPr>
          <p:cNvPr id="11" name="Text 8"/>
          <p:cNvSpPr/>
          <p:nvPr/>
        </p:nvSpPr>
        <p:spPr>
          <a:xfrm>
            <a:off x="1097280" y="1572768"/>
            <a:ext cx="2926080" cy="320040"/>
          </a:xfrm>
          <a:prstGeom prst="rect">
            <a:avLst/>
          </a:prstGeom>
          <a:noFill/>
          <a:ln/>
        </p:spPr>
        <p:txBody>
          <a:bodyPr wrap="square" rtlCol="0" anchor="ctr"/>
          <a:lstStyle/>
          <a:p>
            <a:pPr algn="ctr" indent="0" marL="0">
              <a:buNone/>
            </a:pPr>
            <a:r>
              <a:rPr lang="en-US" sz="1150" b="1" dirty="0">
                <a:solidFill>
                  <a:srgbClr val="059669"/>
                </a:solidFill>
                <a:latin typeface="Arial" pitchFamily="34" charset="0"/>
                <a:ea typeface="Arial" pitchFamily="34" charset="-122"/>
                <a:cs typeface="Arial" pitchFamily="34" charset="-120"/>
              </a:rPr>
              <a:t>תחת Wegovy 2.4mg (ספטמבר 2026)</a:t>
            </a:r>
            <a:endParaRPr lang="en-US" sz="1150" dirty="0"/>
          </a:p>
        </p:txBody>
      </p:sp>
      <p:sp>
        <p:nvSpPr>
          <p:cNvPr id="12" name="Shape 9"/>
          <p:cNvSpPr/>
          <p:nvPr/>
        </p:nvSpPr>
        <p:spPr>
          <a:xfrm>
            <a:off x="914400" y="2103120"/>
            <a:ext cx="10332720" cy="475488"/>
          </a:xfrm>
          <a:prstGeom prst="roundRect">
            <a:avLst/>
          </a:prstGeom>
          <a:solidFill>
            <a:srgbClr val="F8FAFC"/>
          </a:solidFill>
          <a:ln w="6350">
            <a:solidFill>
              <a:srgbClr val="E2E8F0"/>
            </a:solidFill>
            <a:prstDash val="solid"/>
          </a:ln>
        </p:spPr>
      </p:sp>
      <p:sp>
        <p:nvSpPr>
          <p:cNvPr id="13" name="Text 10"/>
          <p:cNvSpPr/>
          <p:nvPr/>
        </p:nvSpPr>
        <p:spPr>
          <a:xfrm>
            <a:off x="7132320" y="2194560"/>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זמן בטווח היעד (TIR 70-180 mg/dL)</a:t>
            </a:r>
            <a:endParaRPr lang="en-US" sz="1050" dirty="0"/>
          </a:p>
        </p:txBody>
      </p:sp>
      <p:sp>
        <p:nvSpPr>
          <p:cNvPr id="14" name="Text 11"/>
          <p:cNvSpPr/>
          <p:nvPr/>
        </p:nvSpPr>
        <p:spPr>
          <a:xfrm>
            <a:off x="4114800" y="2194560"/>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30% בלבד</a:t>
            </a:r>
            <a:endParaRPr lang="en-US" sz="1050" dirty="0"/>
          </a:p>
        </p:txBody>
      </p:sp>
      <p:sp>
        <p:nvSpPr>
          <p:cNvPr id="15" name="Text 12"/>
          <p:cNvSpPr/>
          <p:nvPr/>
        </p:nvSpPr>
        <p:spPr>
          <a:xfrm>
            <a:off x="1097280" y="2194560"/>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79% (עבר את היעד!)</a:t>
            </a:r>
            <a:endParaRPr lang="en-US" sz="1050" dirty="0"/>
          </a:p>
        </p:txBody>
      </p:sp>
      <p:sp>
        <p:nvSpPr>
          <p:cNvPr id="16" name="Shape 13"/>
          <p:cNvSpPr/>
          <p:nvPr/>
        </p:nvSpPr>
        <p:spPr>
          <a:xfrm>
            <a:off x="914400" y="2633472"/>
            <a:ext cx="10332720" cy="475488"/>
          </a:xfrm>
          <a:prstGeom prst="roundRect">
            <a:avLst/>
          </a:prstGeom>
          <a:solidFill>
            <a:srgbClr val="FFFFFF"/>
          </a:solidFill>
          <a:ln w="6350">
            <a:solidFill>
              <a:srgbClr val="E2E8F0"/>
            </a:solidFill>
            <a:prstDash val="solid"/>
          </a:ln>
        </p:spPr>
      </p:sp>
      <p:sp>
        <p:nvSpPr>
          <p:cNvPr id="17" name="Text 14"/>
          <p:cNvSpPr/>
          <p:nvPr/>
        </p:nvSpPr>
        <p:spPr>
          <a:xfrm>
            <a:off x="7132320" y="2724912"/>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רמת גלוקוז ממוצעת</a:t>
            </a:r>
            <a:endParaRPr lang="en-US" sz="1050" dirty="0"/>
          </a:p>
        </p:txBody>
      </p:sp>
      <p:sp>
        <p:nvSpPr>
          <p:cNvPr id="18" name="Text 15"/>
          <p:cNvSpPr/>
          <p:nvPr/>
        </p:nvSpPr>
        <p:spPr>
          <a:xfrm>
            <a:off x="4114800" y="2724912"/>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220 mg/dL</a:t>
            </a:r>
            <a:endParaRPr lang="en-US" sz="1050" dirty="0"/>
          </a:p>
        </p:txBody>
      </p:sp>
      <p:sp>
        <p:nvSpPr>
          <p:cNvPr id="19" name="Text 16"/>
          <p:cNvSpPr/>
          <p:nvPr/>
        </p:nvSpPr>
        <p:spPr>
          <a:xfrm>
            <a:off x="1097280" y="2724912"/>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116 mg/dL (נחתך בחצי!)</a:t>
            </a:r>
            <a:endParaRPr lang="en-US" sz="1050" dirty="0"/>
          </a:p>
        </p:txBody>
      </p:sp>
      <p:sp>
        <p:nvSpPr>
          <p:cNvPr id="20" name="Shape 17"/>
          <p:cNvSpPr/>
          <p:nvPr/>
        </p:nvSpPr>
        <p:spPr>
          <a:xfrm>
            <a:off x="914400" y="3163824"/>
            <a:ext cx="10332720" cy="475488"/>
          </a:xfrm>
          <a:prstGeom prst="roundRect">
            <a:avLst/>
          </a:prstGeom>
          <a:solidFill>
            <a:srgbClr val="F8FAFC"/>
          </a:solidFill>
          <a:ln w="6350">
            <a:solidFill>
              <a:srgbClr val="E2E8F0"/>
            </a:solidFill>
            <a:prstDash val="solid"/>
          </a:ln>
        </p:spPr>
      </p:sp>
      <p:sp>
        <p:nvSpPr>
          <p:cNvPr id="21" name="Text 18"/>
          <p:cNvSpPr/>
          <p:nvPr/>
        </p:nvSpPr>
        <p:spPr>
          <a:xfrm>
            <a:off x="7132320" y="3255264"/>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מדד ניהול גלוקוז משוער (GMI)</a:t>
            </a:r>
            <a:endParaRPr lang="en-US" sz="1050" dirty="0"/>
          </a:p>
        </p:txBody>
      </p:sp>
      <p:sp>
        <p:nvSpPr>
          <p:cNvPr id="22" name="Text 19"/>
          <p:cNvSpPr/>
          <p:nvPr/>
        </p:nvSpPr>
        <p:spPr>
          <a:xfrm>
            <a:off x="4114800" y="3255264"/>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8.6%</a:t>
            </a:r>
            <a:endParaRPr lang="en-US" sz="1050" dirty="0"/>
          </a:p>
        </p:txBody>
      </p:sp>
      <p:sp>
        <p:nvSpPr>
          <p:cNvPr id="23" name="Text 20"/>
          <p:cNvSpPr/>
          <p:nvPr/>
        </p:nvSpPr>
        <p:spPr>
          <a:xfrm>
            <a:off x="1097280" y="3255264"/>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6.1%</a:t>
            </a:r>
            <a:endParaRPr lang="en-US" sz="1050" dirty="0"/>
          </a:p>
        </p:txBody>
      </p:sp>
      <p:sp>
        <p:nvSpPr>
          <p:cNvPr id="24" name="Shape 21"/>
          <p:cNvSpPr/>
          <p:nvPr/>
        </p:nvSpPr>
        <p:spPr>
          <a:xfrm>
            <a:off x="914400" y="3694176"/>
            <a:ext cx="10332720" cy="475488"/>
          </a:xfrm>
          <a:prstGeom prst="roundRect">
            <a:avLst/>
          </a:prstGeom>
          <a:solidFill>
            <a:srgbClr val="FFFFFF"/>
          </a:solidFill>
          <a:ln w="6350">
            <a:solidFill>
              <a:srgbClr val="E2E8F0"/>
            </a:solidFill>
            <a:prstDash val="solid"/>
          </a:ln>
        </p:spPr>
      </p:sp>
      <p:sp>
        <p:nvSpPr>
          <p:cNvPr id="25" name="Text 22"/>
          <p:cNvSpPr/>
          <p:nvPr/>
        </p:nvSpPr>
        <p:spPr>
          <a:xfrm>
            <a:off x="7132320" y="3785616"/>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ערכים מעל הטווח (&gt;180 mg/dL)</a:t>
            </a:r>
            <a:endParaRPr lang="en-US" sz="1050" dirty="0"/>
          </a:p>
        </p:txBody>
      </p:sp>
      <p:sp>
        <p:nvSpPr>
          <p:cNvPr id="26" name="Text 23"/>
          <p:cNvSpPr/>
          <p:nvPr/>
        </p:nvSpPr>
        <p:spPr>
          <a:xfrm>
            <a:off x="4114800" y="3785616"/>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70% (מתוכם 27% מעל 250!)</a:t>
            </a:r>
            <a:endParaRPr lang="en-US" sz="1050" dirty="0"/>
          </a:p>
        </p:txBody>
      </p:sp>
      <p:sp>
        <p:nvSpPr>
          <p:cNvPr id="27" name="Text 24"/>
          <p:cNvSpPr/>
          <p:nvPr/>
        </p:nvSpPr>
        <p:spPr>
          <a:xfrm>
            <a:off x="1097280" y="3785616"/>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8% בלבד (0% מעל 250!)</a:t>
            </a:r>
            <a:endParaRPr lang="en-US" sz="1050" dirty="0"/>
          </a:p>
        </p:txBody>
      </p:sp>
      <p:sp>
        <p:nvSpPr>
          <p:cNvPr id="28" name="Shape 25"/>
          <p:cNvSpPr/>
          <p:nvPr/>
        </p:nvSpPr>
        <p:spPr>
          <a:xfrm>
            <a:off x="914400" y="4224528"/>
            <a:ext cx="10332720" cy="475488"/>
          </a:xfrm>
          <a:prstGeom prst="roundRect">
            <a:avLst/>
          </a:prstGeom>
          <a:solidFill>
            <a:srgbClr val="F8FAFC"/>
          </a:solidFill>
          <a:ln w="6350">
            <a:solidFill>
              <a:srgbClr val="E2E8F0"/>
            </a:solidFill>
            <a:prstDash val="solid"/>
          </a:ln>
        </p:spPr>
      </p:sp>
      <p:sp>
        <p:nvSpPr>
          <p:cNvPr id="29" name="Text 26"/>
          <p:cNvSpPr/>
          <p:nvPr/>
        </p:nvSpPr>
        <p:spPr>
          <a:xfrm>
            <a:off x="7132320" y="4315968"/>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שונות גלוקוז (%CV)</a:t>
            </a:r>
            <a:endParaRPr lang="en-US" sz="1050" dirty="0"/>
          </a:p>
        </p:txBody>
      </p:sp>
      <p:sp>
        <p:nvSpPr>
          <p:cNvPr id="30" name="Text 27"/>
          <p:cNvSpPr/>
          <p:nvPr/>
        </p:nvSpPr>
        <p:spPr>
          <a:xfrm>
            <a:off x="4114800" y="4315968"/>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32.1%</a:t>
            </a:r>
            <a:endParaRPr lang="en-US" sz="1050" dirty="0"/>
          </a:p>
        </p:txBody>
      </p:sp>
      <p:sp>
        <p:nvSpPr>
          <p:cNvPr id="31" name="Text 28"/>
          <p:cNvSpPr/>
          <p:nvPr/>
        </p:nvSpPr>
        <p:spPr>
          <a:xfrm>
            <a:off x="1097280" y="4315968"/>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37.3%</a:t>
            </a:r>
            <a:endParaRPr lang="en-US" sz="1050" dirty="0"/>
          </a:p>
        </p:txBody>
      </p:sp>
      <p:sp>
        <p:nvSpPr>
          <p:cNvPr id="32" name="Shape 29"/>
          <p:cNvSpPr/>
          <p:nvPr/>
        </p:nvSpPr>
        <p:spPr>
          <a:xfrm>
            <a:off x="914400" y="4754880"/>
            <a:ext cx="10332720" cy="475488"/>
          </a:xfrm>
          <a:prstGeom prst="roundRect">
            <a:avLst/>
          </a:prstGeom>
          <a:solidFill>
            <a:srgbClr val="FFFFFF"/>
          </a:solidFill>
          <a:ln w="6350">
            <a:solidFill>
              <a:srgbClr val="E2E8F0"/>
            </a:solidFill>
            <a:prstDash val="solid"/>
          </a:ln>
        </p:spPr>
      </p:sp>
      <p:sp>
        <p:nvSpPr>
          <p:cNvPr id="33" name="Text 30"/>
          <p:cNvSpPr/>
          <p:nvPr/>
        </p:nvSpPr>
        <p:spPr>
          <a:xfrm>
            <a:off x="7132320" y="4846320"/>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משקל המטופל ו-BMI</a:t>
            </a:r>
            <a:endParaRPr lang="en-US" sz="1050" dirty="0"/>
          </a:p>
        </p:txBody>
      </p:sp>
      <p:sp>
        <p:nvSpPr>
          <p:cNvPr id="34" name="Text 31"/>
          <p:cNvSpPr/>
          <p:nvPr/>
        </p:nvSpPr>
        <p:spPr>
          <a:xfrm>
            <a:off x="4114800" y="4846320"/>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96 ק"ג (BMI 36.1)</a:t>
            </a:r>
            <a:endParaRPr lang="en-US" sz="1050" dirty="0"/>
          </a:p>
        </p:txBody>
      </p:sp>
      <p:sp>
        <p:nvSpPr>
          <p:cNvPr id="35" name="Text 32"/>
          <p:cNvSpPr/>
          <p:nvPr/>
        </p:nvSpPr>
        <p:spPr>
          <a:xfrm>
            <a:off x="1097280" y="4846320"/>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85 ק"ג (BMI 32.0)</a:t>
            </a:r>
            <a:endParaRPr lang="en-US" sz="1050" dirty="0"/>
          </a:p>
        </p:txBody>
      </p:sp>
      <p:sp>
        <p:nvSpPr>
          <p:cNvPr id="36" name="Shape 33"/>
          <p:cNvSpPr/>
          <p:nvPr/>
        </p:nvSpPr>
        <p:spPr>
          <a:xfrm>
            <a:off x="914400" y="5285232"/>
            <a:ext cx="10332720" cy="475488"/>
          </a:xfrm>
          <a:prstGeom prst="roundRect">
            <a:avLst/>
          </a:prstGeom>
          <a:solidFill>
            <a:srgbClr val="F8FAFC"/>
          </a:solidFill>
          <a:ln w="6350">
            <a:solidFill>
              <a:srgbClr val="E2E8F0"/>
            </a:solidFill>
            <a:prstDash val="solid"/>
          </a:ln>
        </p:spPr>
      </p:sp>
      <p:sp>
        <p:nvSpPr>
          <p:cNvPr id="37" name="Text 34"/>
          <p:cNvSpPr/>
          <p:nvPr/>
        </p:nvSpPr>
        <p:spPr>
          <a:xfrm>
            <a:off x="7132320" y="5376672"/>
            <a:ext cx="3931920" cy="292608"/>
          </a:xfrm>
          <a:prstGeom prst="rect">
            <a:avLst/>
          </a:prstGeom>
          <a:noFill/>
          <a:ln/>
        </p:spPr>
        <p:txBody>
          <a:bodyPr wrap="square" rtlCol="0" anchor="ctr"/>
          <a:lstStyle/>
          <a:p>
            <a:pPr algn="r" indent="0" marL="0">
              <a:buNone/>
            </a:pPr>
            <a:r>
              <a:rPr lang="en-US" sz="1050" b="1" dirty="0">
                <a:solidFill>
                  <a:srgbClr val="1E293B"/>
                </a:solidFill>
                <a:latin typeface="Arial" pitchFamily="34" charset="0"/>
                <a:ea typeface="Arial" pitchFamily="34" charset="-122"/>
                <a:cs typeface="Arial" pitchFamily="34" charset="-120"/>
              </a:rPr>
              <a:t>מינון אינסולין בולוס (נובורפיד)</a:t>
            </a:r>
            <a:endParaRPr lang="en-US" sz="1050" dirty="0"/>
          </a:p>
        </p:txBody>
      </p:sp>
      <p:sp>
        <p:nvSpPr>
          <p:cNvPr id="38" name="Text 35"/>
          <p:cNvSpPr/>
          <p:nvPr/>
        </p:nvSpPr>
        <p:spPr>
          <a:xfrm>
            <a:off x="4114800" y="5376672"/>
            <a:ext cx="2926080" cy="292608"/>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~120u ליום (35-40u לארוחה)</a:t>
            </a:r>
            <a:endParaRPr lang="en-US" sz="1050" dirty="0"/>
          </a:p>
        </p:txBody>
      </p:sp>
      <p:sp>
        <p:nvSpPr>
          <p:cNvPr id="39" name="Text 36"/>
          <p:cNvSpPr/>
          <p:nvPr/>
        </p:nvSpPr>
        <p:spPr>
          <a:xfrm>
            <a:off x="1097280" y="5376672"/>
            <a:ext cx="2926080" cy="292608"/>
          </a:xfrm>
          <a:prstGeom prst="rect">
            <a:avLst/>
          </a:prstGeom>
          <a:noFill/>
          <a:ln/>
        </p:spPr>
        <p:txBody>
          <a:bodyPr wrap="square" rtlCol="0" anchor="ctr"/>
          <a:lstStyle/>
          <a:p>
            <a:pPr algn="ctr" indent="0" marL="0">
              <a:buNone/>
            </a:pPr>
            <a:r>
              <a:rPr lang="en-US" sz="1050" b="1" dirty="0">
                <a:solidFill>
                  <a:srgbClr val="059669"/>
                </a:solidFill>
                <a:latin typeface="Arial" pitchFamily="34" charset="0"/>
                <a:ea typeface="Arial" pitchFamily="34" charset="-122"/>
                <a:cs typeface="Arial" pitchFamily="34" charset="-120"/>
              </a:rPr>
              <a:t>~25-35u ליום (8-12u לארוחה)</a:t>
            </a:r>
            <a:endParaRPr lang="en-US" sz="1050" dirty="0"/>
          </a:p>
        </p:txBody>
      </p:sp>
      <p:sp>
        <p:nvSpPr>
          <p:cNvPr id="40" name="Shape 37"/>
          <p:cNvSpPr/>
          <p:nvPr/>
        </p:nvSpPr>
        <p:spPr>
          <a:xfrm>
            <a:off x="0" y="6473952"/>
            <a:ext cx="9144000" cy="384048"/>
          </a:xfrm>
          <a:prstGeom prst="rect">
            <a:avLst/>
          </a:prstGeom>
          <a:solidFill>
            <a:srgbClr val="FFFFFF"/>
          </a:solidFill>
          <a:ln w="12700">
            <a:solidFill>
              <a:srgbClr val="E2E8F0"/>
            </a:solidFill>
            <a:prstDash val="solid"/>
          </a:ln>
        </p:spPr>
      </p:sp>
      <p:sp>
        <p:nvSpPr>
          <p:cNvPr id="41" name="Text 38"/>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42" name="Text 39"/>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24 / 27</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5 • סיכום מקרה</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5: סיכום קליני של המקרה</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BAE6FD"/>
            </a:solidFill>
            <a:prstDash val="solid"/>
          </a:ln>
        </p:spPr>
      </p:sp>
      <p:sp>
        <p:nvSpPr>
          <p:cNvPr id="8" name="Shape 5"/>
          <p:cNvSpPr/>
          <p:nvPr/>
        </p:nvSpPr>
        <p:spPr>
          <a:xfrm>
            <a:off x="1097280" y="1508760"/>
            <a:ext cx="9966960" cy="1920240"/>
          </a:xfrm>
          <a:prstGeom prst="roundRect">
            <a:avLst/>
          </a:prstGeom>
          <a:solidFill>
            <a:srgbClr val="F0F9FF"/>
          </a:solidFill>
          <a:ln w="19050">
            <a:solidFill>
              <a:srgbClr val="BAE6FD"/>
            </a:solidFill>
            <a:prstDash val="solid"/>
          </a:ln>
        </p:spPr>
      </p:sp>
      <p:sp>
        <p:nvSpPr>
          <p:cNvPr id="9" name="Text 6"/>
          <p:cNvSpPr/>
          <p:nvPr/>
        </p:nvSpPr>
        <p:spPr>
          <a:xfrm>
            <a:off x="1280160" y="1645920"/>
            <a:ext cx="9601200" cy="320040"/>
          </a:xfrm>
          <a:prstGeom prst="rect">
            <a:avLst/>
          </a:prstGeom>
          <a:noFill/>
          <a:ln/>
        </p:spPr>
        <p:txBody>
          <a:bodyPr wrap="square" rtlCol="0" anchor="ctr"/>
          <a:lstStyle/>
          <a:p>
            <a:pPr algn="r" indent="0" marL="0">
              <a:buNone/>
            </a:pPr>
            <a:r>
              <a:rPr lang="en-US" sz="1400" b="1" dirty="0">
                <a:solidFill>
                  <a:srgbClr val="0284C7"/>
                </a:solidFill>
                <a:latin typeface="Arial" pitchFamily="34" charset="0"/>
                <a:ea typeface="Arial" pitchFamily="34" charset="-122"/>
                <a:cs typeface="Arial" pitchFamily="34" charset="-120"/>
              </a:rPr>
              <a:t>סיכום המקרה המרפאי:</a:t>
            </a:r>
            <a:endParaRPr lang="en-US" sz="1400" dirty="0"/>
          </a:p>
        </p:txBody>
      </p:sp>
      <p:sp>
        <p:nvSpPr>
          <p:cNvPr id="10" name="Text 7"/>
          <p:cNvSpPr/>
          <p:nvPr/>
        </p:nvSpPr>
        <p:spPr>
          <a:xfrm>
            <a:off x="1280160" y="2011680"/>
            <a:ext cx="9601200" cy="1280160"/>
          </a:xfrm>
          <a:prstGeom prst="rect">
            <a:avLst/>
          </a:prstGeom>
          <a:noFill/>
          <a:ln/>
        </p:spPr>
        <p:txBody>
          <a:bodyPr wrap="square" rtlCol="0" anchor="ctr"/>
          <a:lstStyle/>
          <a:p>
            <a:pPr algn="r" indent="0" marL="0">
              <a:buNone/>
            </a:pPr>
            <a:r>
              <a:rPr lang="en-US" sz="1200" b="1" dirty="0">
                <a:solidFill>
                  <a:srgbClr val="1E293B"/>
                </a:solidFill>
                <a:latin typeface="Arial" pitchFamily="34" charset="0"/>
                <a:ea typeface="Arial" pitchFamily="34" charset="-122"/>
                <a:cs typeface="Arial" pitchFamily="34" charset="-120"/>
              </a:rPr>
              <a:t>המטופל סבל מהשמנה וריבוי של סיבוכי השמנה וסוכרת, ביניהם כבד שומני, דום נשימה בשינה, ומחלות טרשתיות כמו CVA ו-IHD. בעקבות התחלת הטיפול בהשמנה באמצעות וויגובי (Wegovy), המטופל ירד במשקל, מדווח על שינה טובה יותר, הסוכרת התאזנה משמעותית תוך הורדה במינוני האינסולין, נרשם שיפור בפצע שהתפתח בכף הרגל, והסיכון למחלות טרשתיות הופחת באופן משמעותי.</a:t>
            </a:r>
            <a:endParaRPr lang="en-US" sz="1200" dirty="0"/>
          </a:p>
        </p:txBody>
      </p:sp>
      <p:sp>
        <p:nvSpPr>
          <p:cNvPr id="11" name="Shape 8"/>
          <p:cNvSpPr/>
          <p:nvPr/>
        </p:nvSpPr>
        <p:spPr>
          <a:xfrm>
            <a:off x="1097280" y="3657600"/>
            <a:ext cx="2377440" cy="2240280"/>
          </a:xfrm>
          <a:prstGeom prst="roundRect">
            <a:avLst/>
          </a:prstGeom>
          <a:solidFill>
            <a:srgbClr val="DCFCE7"/>
          </a:solidFill>
          <a:ln w="25400">
            <a:solidFill>
              <a:srgbClr val="FFFFFF"/>
            </a:solidFill>
            <a:prstDash val="solid"/>
          </a:ln>
        </p:spPr>
      </p:sp>
      <p:sp>
        <p:nvSpPr>
          <p:cNvPr id="12" name="Text 9"/>
          <p:cNvSpPr/>
          <p:nvPr/>
        </p:nvSpPr>
        <p:spPr>
          <a:xfrm>
            <a:off x="1188720" y="3794760"/>
            <a:ext cx="2194560" cy="320040"/>
          </a:xfrm>
          <a:prstGeom prst="rect">
            <a:avLst/>
          </a:prstGeom>
          <a:noFill/>
          <a:ln/>
        </p:spPr>
        <p:txBody>
          <a:bodyPr wrap="square" rtlCol="0" anchor="ctr"/>
          <a:lstStyle/>
          <a:p>
            <a:pPr algn="ctr" indent="0" marL="0">
              <a:buNone/>
            </a:pPr>
            <a:r>
              <a:rPr lang="en-US" sz="1000" b="1" dirty="0">
                <a:solidFill>
                  <a:srgbClr val="10B981"/>
                </a:solidFill>
                <a:latin typeface="Arial" pitchFamily="34" charset="0"/>
                <a:ea typeface="Arial" pitchFamily="34" charset="-122"/>
                <a:cs typeface="Arial" pitchFamily="34" charset="-120"/>
              </a:rPr>
              <a:t>זמן בטווח היעד (TIR)</a:t>
            </a:r>
            <a:endParaRPr lang="en-US" sz="1000" dirty="0"/>
          </a:p>
        </p:txBody>
      </p:sp>
      <p:sp>
        <p:nvSpPr>
          <p:cNvPr id="13" name="Text 10"/>
          <p:cNvSpPr/>
          <p:nvPr/>
        </p:nvSpPr>
        <p:spPr>
          <a:xfrm>
            <a:off x="1188720" y="4160520"/>
            <a:ext cx="2194560" cy="640080"/>
          </a:xfrm>
          <a:prstGeom prst="rect">
            <a:avLst/>
          </a:prstGeom>
          <a:noFill/>
          <a:ln/>
        </p:spPr>
        <p:txBody>
          <a:bodyPr wrap="square" rtlCol="0" anchor="ctr"/>
          <a:lstStyle/>
          <a:p>
            <a:pPr algn="ctr" indent="0" marL="0">
              <a:buNone/>
            </a:pPr>
            <a:r>
              <a:rPr lang="en-US" sz="2400" b="1" dirty="0">
                <a:solidFill>
                  <a:srgbClr val="10B981"/>
                </a:solidFill>
                <a:latin typeface="Arial" pitchFamily="34" charset="0"/>
                <a:ea typeface="Arial" pitchFamily="34" charset="-122"/>
                <a:cs typeface="Arial" pitchFamily="34" charset="-120"/>
              </a:rPr>
              <a:t>79%</a:t>
            </a:r>
            <a:endParaRPr lang="en-US" sz="2400" dirty="0"/>
          </a:p>
        </p:txBody>
      </p:sp>
      <p:sp>
        <p:nvSpPr>
          <p:cNvPr id="14" name="Text 11"/>
          <p:cNvSpPr/>
          <p:nvPr/>
        </p:nvSpPr>
        <p:spPr>
          <a:xfrm>
            <a:off x="1188720" y="4892040"/>
            <a:ext cx="2194560" cy="457200"/>
          </a:xfrm>
          <a:prstGeom prst="rect">
            <a:avLst/>
          </a:prstGeom>
          <a:noFill/>
          <a:ln/>
        </p:spPr>
        <p:txBody>
          <a:bodyPr wrap="square"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זינוק מ-30% ל-79%!</a:t>
            </a:r>
            <a:endParaRPr lang="en-US" sz="950" dirty="0"/>
          </a:p>
        </p:txBody>
      </p:sp>
      <p:sp>
        <p:nvSpPr>
          <p:cNvPr id="15" name="Shape 12"/>
          <p:cNvSpPr/>
          <p:nvPr/>
        </p:nvSpPr>
        <p:spPr>
          <a:xfrm>
            <a:off x="3611880" y="3657600"/>
            <a:ext cx="2377440" cy="2240280"/>
          </a:xfrm>
          <a:prstGeom prst="roundRect">
            <a:avLst/>
          </a:prstGeom>
          <a:solidFill>
            <a:srgbClr val="E0F2FE"/>
          </a:solidFill>
          <a:ln w="25400">
            <a:solidFill>
              <a:srgbClr val="FFFFFF"/>
            </a:solidFill>
            <a:prstDash val="solid"/>
          </a:ln>
        </p:spPr>
      </p:sp>
      <p:sp>
        <p:nvSpPr>
          <p:cNvPr id="16" name="Text 13"/>
          <p:cNvSpPr/>
          <p:nvPr/>
        </p:nvSpPr>
        <p:spPr>
          <a:xfrm>
            <a:off x="3703320" y="3794760"/>
            <a:ext cx="2194560" cy="320040"/>
          </a:xfrm>
          <a:prstGeom prst="rect">
            <a:avLst/>
          </a:prstGeom>
          <a:noFill/>
          <a:ln/>
        </p:spPr>
        <p:txBody>
          <a:bodyPr wrap="square" rtlCol="0" anchor="ctr"/>
          <a:lstStyle/>
          <a:p>
            <a:pPr algn="ctr" indent="0" marL="0">
              <a:buNone/>
            </a:pPr>
            <a:r>
              <a:rPr lang="en-US" sz="1000" b="1" dirty="0">
                <a:solidFill>
                  <a:srgbClr val="0284C7"/>
                </a:solidFill>
                <a:latin typeface="Arial" pitchFamily="34" charset="0"/>
                <a:ea typeface="Arial" pitchFamily="34" charset="-122"/>
                <a:cs typeface="Arial" pitchFamily="34" charset="-120"/>
              </a:rPr>
              <a:t>אינדיקטור גליקמי (GMI)</a:t>
            </a:r>
            <a:endParaRPr lang="en-US" sz="1000" dirty="0"/>
          </a:p>
        </p:txBody>
      </p:sp>
      <p:sp>
        <p:nvSpPr>
          <p:cNvPr id="17" name="Text 14"/>
          <p:cNvSpPr/>
          <p:nvPr/>
        </p:nvSpPr>
        <p:spPr>
          <a:xfrm>
            <a:off x="3703320" y="4160520"/>
            <a:ext cx="2194560" cy="640080"/>
          </a:xfrm>
          <a:prstGeom prst="rect">
            <a:avLst/>
          </a:prstGeom>
          <a:noFill/>
          <a:ln/>
        </p:spPr>
        <p:txBody>
          <a:bodyPr wrap="square" rtlCol="0" anchor="ctr"/>
          <a:lstStyle/>
          <a:p>
            <a:pPr algn="ctr" indent="0" marL="0">
              <a:buNone/>
            </a:pPr>
            <a:r>
              <a:rPr lang="en-US" sz="2400" b="1" dirty="0">
                <a:solidFill>
                  <a:srgbClr val="0284C7"/>
                </a:solidFill>
                <a:latin typeface="Arial" pitchFamily="34" charset="0"/>
                <a:ea typeface="Arial" pitchFamily="34" charset="-122"/>
                <a:cs typeface="Arial" pitchFamily="34" charset="-120"/>
              </a:rPr>
              <a:t>6.1%</a:t>
            </a:r>
            <a:endParaRPr lang="en-US" sz="2400" dirty="0"/>
          </a:p>
        </p:txBody>
      </p:sp>
      <p:sp>
        <p:nvSpPr>
          <p:cNvPr id="18" name="Text 15"/>
          <p:cNvSpPr/>
          <p:nvPr/>
        </p:nvSpPr>
        <p:spPr>
          <a:xfrm>
            <a:off x="3703320" y="4892040"/>
            <a:ext cx="2194560" cy="457200"/>
          </a:xfrm>
          <a:prstGeom prst="rect">
            <a:avLst/>
          </a:prstGeom>
          <a:noFill/>
          <a:ln/>
        </p:spPr>
        <p:txBody>
          <a:bodyPr wrap="square"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סוכר ממוצע 116 mg/dL</a:t>
            </a:r>
            <a:endParaRPr lang="en-US" sz="950" dirty="0"/>
          </a:p>
        </p:txBody>
      </p:sp>
      <p:sp>
        <p:nvSpPr>
          <p:cNvPr id="19" name="Shape 16"/>
          <p:cNvSpPr/>
          <p:nvPr/>
        </p:nvSpPr>
        <p:spPr>
          <a:xfrm>
            <a:off x="6126480" y="3657600"/>
            <a:ext cx="2377440" cy="2240280"/>
          </a:xfrm>
          <a:prstGeom prst="roundRect">
            <a:avLst/>
          </a:prstGeom>
          <a:solidFill>
            <a:srgbClr val="CCFBF1"/>
          </a:solidFill>
          <a:ln w="25400">
            <a:solidFill>
              <a:srgbClr val="FFFFFF"/>
            </a:solidFill>
            <a:prstDash val="solid"/>
          </a:ln>
        </p:spPr>
      </p:sp>
      <p:sp>
        <p:nvSpPr>
          <p:cNvPr id="20" name="Text 17"/>
          <p:cNvSpPr/>
          <p:nvPr/>
        </p:nvSpPr>
        <p:spPr>
          <a:xfrm>
            <a:off x="6217920" y="3794760"/>
            <a:ext cx="2194560" cy="320040"/>
          </a:xfrm>
          <a:prstGeom prst="rect">
            <a:avLst/>
          </a:prstGeom>
          <a:noFill/>
          <a:ln/>
        </p:spPr>
        <p:txBody>
          <a:bodyPr wrap="square" rtlCol="0" anchor="ctr"/>
          <a:lstStyle/>
          <a:p>
            <a:pPr algn="ctr" indent="0" marL="0">
              <a:buNone/>
            </a:pPr>
            <a:r>
              <a:rPr lang="en-US" sz="1000" b="1" dirty="0">
                <a:solidFill>
                  <a:srgbClr val="0D9488"/>
                </a:solidFill>
                <a:latin typeface="Arial" pitchFamily="34" charset="0"/>
                <a:ea typeface="Arial" pitchFamily="34" charset="-122"/>
                <a:cs typeface="Arial" pitchFamily="34" charset="-120"/>
              </a:rPr>
              <a:t>ירידה במשקל המטופל</a:t>
            </a:r>
            <a:endParaRPr lang="en-US" sz="1000" dirty="0"/>
          </a:p>
        </p:txBody>
      </p:sp>
      <p:sp>
        <p:nvSpPr>
          <p:cNvPr id="21" name="Text 18"/>
          <p:cNvSpPr/>
          <p:nvPr/>
        </p:nvSpPr>
        <p:spPr>
          <a:xfrm>
            <a:off x="6217920" y="4160520"/>
            <a:ext cx="2194560" cy="640080"/>
          </a:xfrm>
          <a:prstGeom prst="rect">
            <a:avLst/>
          </a:prstGeom>
          <a:noFill/>
          <a:ln/>
        </p:spPr>
        <p:txBody>
          <a:bodyPr wrap="square" rtlCol="0" anchor="ctr"/>
          <a:lstStyle/>
          <a:p>
            <a:pPr algn="ctr" indent="0" marL="0">
              <a:buNone/>
            </a:pPr>
            <a:r>
              <a:rPr lang="en-US" sz="2400" b="1" dirty="0">
                <a:solidFill>
                  <a:srgbClr val="0D9488"/>
                </a:solidFill>
                <a:latin typeface="Arial" pitchFamily="34" charset="0"/>
                <a:ea typeface="Arial" pitchFamily="34" charset="-122"/>
                <a:cs typeface="Arial" pitchFamily="34" charset="-120"/>
              </a:rPr>
              <a:t>85 ק"ג</a:t>
            </a:r>
            <a:endParaRPr lang="en-US" sz="2400" dirty="0"/>
          </a:p>
        </p:txBody>
      </p:sp>
      <p:sp>
        <p:nvSpPr>
          <p:cNvPr id="22" name="Text 19"/>
          <p:cNvSpPr/>
          <p:nvPr/>
        </p:nvSpPr>
        <p:spPr>
          <a:xfrm>
            <a:off x="6217920" y="4892040"/>
            <a:ext cx="2194560" cy="457200"/>
          </a:xfrm>
          <a:prstGeom prst="rect">
            <a:avLst/>
          </a:prstGeom>
          <a:noFill/>
          <a:ln/>
        </p:spPr>
        <p:txBody>
          <a:bodyPr wrap="square"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הפחתה של 11 ק"ג</a:t>
            </a:r>
            <a:endParaRPr lang="en-US" sz="950" dirty="0"/>
          </a:p>
        </p:txBody>
      </p:sp>
      <p:sp>
        <p:nvSpPr>
          <p:cNvPr id="23" name="Shape 20"/>
          <p:cNvSpPr/>
          <p:nvPr/>
        </p:nvSpPr>
        <p:spPr>
          <a:xfrm>
            <a:off x="8641080" y="3657600"/>
            <a:ext cx="2377440" cy="2240280"/>
          </a:xfrm>
          <a:prstGeom prst="roundRect">
            <a:avLst/>
          </a:prstGeom>
          <a:solidFill>
            <a:srgbClr val="F3E8FF"/>
          </a:solidFill>
          <a:ln w="25400">
            <a:solidFill>
              <a:srgbClr val="FFFFFF"/>
            </a:solidFill>
            <a:prstDash val="solid"/>
          </a:ln>
        </p:spPr>
      </p:sp>
      <p:sp>
        <p:nvSpPr>
          <p:cNvPr id="24" name="Text 21"/>
          <p:cNvSpPr/>
          <p:nvPr/>
        </p:nvSpPr>
        <p:spPr>
          <a:xfrm>
            <a:off x="8732520" y="3794760"/>
            <a:ext cx="2194560" cy="320040"/>
          </a:xfrm>
          <a:prstGeom prst="rect">
            <a:avLst/>
          </a:prstGeom>
          <a:noFill/>
          <a:ln/>
        </p:spPr>
        <p:txBody>
          <a:bodyPr wrap="square" rtlCol="0" anchor="ctr"/>
          <a:lstStyle/>
          <a:p>
            <a:pPr algn="ctr" indent="0" marL="0">
              <a:buNone/>
            </a:pPr>
            <a:r>
              <a:rPr lang="en-US" sz="1000" b="1" dirty="0">
                <a:solidFill>
                  <a:srgbClr val="7E22CE"/>
                </a:solidFill>
                <a:latin typeface="Arial" pitchFamily="34" charset="0"/>
                <a:ea typeface="Arial" pitchFamily="34" charset="-122"/>
                <a:cs typeface="Arial" pitchFamily="34" charset="-120"/>
              </a:rPr>
              <a:t>אינסולין בזאלי מותאם</a:t>
            </a:r>
            <a:endParaRPr lang="en-US" sz="1000" dirty="0"/>
          </a:p>
        </p:txBody>
      </p:sp>
      <p:sp>
        <p:nvSpPr>
          <p:cNvPr id="25" name="Text 22"/>
          <p:cNvSpPr/>
          <p:nvPr/>
        </p:nvSpPr>
        <p:spPr>
          <a:xfrm>
            <a:off x="8732520" y="4160520"/>
            <a:ext cx="2194560" cy="640080"/>
          </a:xfrm>
          <a:prstGeom prst="rect">
            <a:avLst/>
          </a:prstGeom>
          <a:noFill/>
          <a:ln/>
        </p:spPr>
        <p:txBody>
          <a:bodyPr wrap="square" rtlCol="0" anchor="ctr"/>
          <a:lstStyle/>
          <a:p>
            <a:pPr algn="ctr" indent="0" marL="0">
              <a:buNone/>
            </a:pPr>
            <a:r>
              <a:rPr lang="en-US" sz="2400" b="1" dirty="0">
                <a:solidFill>
                  <a:srgbClr val="7E22CE"/>
                </a:solidFill>
                <a:latin typeface="Arial" pitchFamily="34" charset="0"/>
                <a:ea typeface="Arial" pitchFamily="34" charset="-122"/>
                <a:cs typeface="Arial" pitchFamily="34" charset="-120"/>
              </a:rPr>
              <a:t>36u</a:t>
            </a:r>
            <a:endParaRPr lang="en-US" sz="2400" dirty="0"/>
          </a:p>
        </p:txBody>
      </p:sp>
      <p:sp>
        <p:nvSpPr>
          <p:cNvPr id="26" name="Text 23"/>
          <p:cNvSpPr/>
          <p:nvPr/>
        </p:nvSpPr>
        <p:spPr>
          <a:xfrm>
            <a:off x="8732520" y="4892040"/>
            <a:ext cx="2194560" cy="457200"/>
          </a:xfrm>
          <a:prstGeom prst="rect">
            <a:avLst/>
          </a:prstGeom>
          <a:noFill/>
          <a:ln/>
        </p:spPr>
        <p:txBody>
          <a:bodyPr wrap="square"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טרגלודק ליום</a:t>
            </a:r>
            <a:endParaRPr lang="en-US" sz="950" dirty="0"/>
          </a:p>
        </p:txBody>
      </p:sp>
      <p:sp>
        <p:nvSpPr>
          <p:cNvPr id="27" name="Shape 24"/>
          <p:cNvSpPr/>
          <p:nvPr/>
        </p:nvSpPr>
        <p:spPr>
          <a:xfrm>
            <a:off x="0" y="6473952"/>
            <a:ext cx="9144000" cy="384048"/>
          </a:xfrm>
          <a:prstGeom prst="rect">
            <a:avLst/>
          </a:prstGeom>
          <a:solidFill>
            <a:srgbClr val="FFFFFF"/>
          </a:solidFill>
          <a:ln w="12700">
            <a:solidFill>
              <a:srgbClr val="E2E8F0"/>
            </a:solidFill>
            <a:prstDash val="solid"/>
          </a:ln>
        </p:spPr>
      </p:sp>
      <p:sp>
        <p:nvSpPr>
          <p:cNvPr id="28" name="Text 25"/>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29" name="Text 26"/>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25 / 27</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5 • עקרונות לפרקטיקה</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5: ארבעת העקרונות המנחים לפרקטיקה הרפואית</a:t>
            </a:r>
            <a:endParaRPr lang="en-US" sz="2000" dirty="0"/>
          </a:p>
        </p:txBody>
      </p:sp>
      <p:sp>
        <p:nvSpPr>
          <p:cNvPr id="7" name="Shape 4"/>
          <p:cNvSpPr/>
          <p:nvPr/>
        </p:nvSpPr>
        <p:spPr>
          <a:xfrm>
            <a:off x="731520" y="1280160"/>
            <a:ext cx="10698480" cy="4892040"/>
          </a:xfrm>
          <a:prstGeom prst="roundRect">
            <a:avLst/>
          </a:prstGeom>
          <a:solidFill>
            <a:srgbClr val="FFFFFF"/>
          </a:solidFill>
          <a:ln w="15240">
            <a:solidFill>
              <a:srgbClr val="E2E8F0"/>
            </a:solidFill>
            <a:prstDash val="solid"/>
          </a:ln>
        </p:spPr>
      </p:sp>
      <p:sp>
        <p:nvSpPr>
          <p:cNvPr id="8" name="Shape 5"/>
          <p:cNvSpPr/>
          <p:nvPr/>
        </p:nvSpPr>
        <p:spPr>
          <a:xfrm>
            <a:off x="6217920" y="1463040"/>
            <a:ext cx="5166360" cy="2103120"/>
          </a:xfrm>
          <a:prstGeom prst="roundRect">
            <a:avLst/>
          </a:prstGeom>
          <a:solidFill>
            <a:srgbClr val="FFFBEB"/>
          </a:solidFill>
          <a:ln w="15240">
            <a:solidFill>
              <a:srgbClr val="FDE68A"/>
            </a:solidFill>
            <a:prstDash val="solid"/>
          </a:ln>
        </p:spPr>
      </p:sp>
      <p:sp>
        <p:nvSpPr>
          <p:cNvPr id="9" name="Text 6"/>
          <p:cNvSpPr/>
          <p:nvPr/>
        </p:nvSpPr>
        <p:spPr>
          <a:xfrm>
            <a:off x="6400800" y="1600200"/>
            <a:ext cx="4800600" cy="320040"/>
          </a:xfrm>
          <a:prstGeom prst="rect">
            <a:avLst/>
          </a:prstGeom>
          <a:noFill/>
          <a:ln/>
        </p:spPr>
        <p:txBody>
          <a:bodyPr wrap="square" rtlCol="0" anchor="ctr"/>
          <a:lstStyle/>
          <a:p>
            <a:pPr algn="r" indent="0" marL="0">
              <a:buNone/>
            </a:pPr>
            <a:r>
              <a:rPr lang="en-US" sz="1300" b="1" dirty="0">
                <a:solidFill>
                  <a:srgbClr val="D97706"/>
                </a:solidFill>
                <a:latin typeface="Arial" pitchFamily="34" charset="0"/>
                <a:ea typeface="Arial" pitchFamily="34" charset="-122"/>
                <a:cs typeface="Arial" pitchFamily="34" charset="-120"/>
              </a:rPr>
              <a:t>1. מעקב אורח חיים ותזונה</a:t>
            </a:r>
            <a:endParaRPr lang="en-US" sz="1300" dirty="0"/>
          </a:p>
        </p:txBody>
      </p:sp>
      <p:sp>
        <p:nvSpPr>
          <p:cNvPr id="10" name="Text 7"/>
          <p:cNvSpPr/>
          <p:nvPr/>
        </p:nvSpPr>
        <p:spPr>
          <a:xfrm>
            <a:off x="6400800" y="1965960"/>
            <a:ext cx="4800600" cy="146304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המטופל נמצא במעקב רציף של דיאטנית קלינית ומבצע, גם אם בצורה מוגבלת, פעילות גופנית סדירה המותאמת למצבו הבריאותי.</a:t>
            </a:r>
            <a:endParaRPr lang="en-US" sz="1050" dirty="0"/>
          </a:p>
        </p:txBody>
      </p:sp>
      <p:sp>
        <p:nvSpPr>
          <p:cNvPr id="11" name="Shape 8"/>
          <p:cNvSpPr/>
          <p:nvPr/>
        </p:nvSpPr>
        <p:spPr>
          <a:xfrm>
            <a:off x="868680" y="1463040"/>
            <a:ext cx="5166360" cy="2103120"/>
          </a:xfrm>
          <a:prstGeom prst="roundRect">
            <a:avLst/>
          </a:prstGeom>
          <a:solidFill>
            <a:srgbClr val="FAF5FF"/>
          </a:solidFill>
          <a:ln w="15240">
            <a:solidFill>
              <a:srgbClr val="E9D5FF"/>
            </a:solidFill>
            <a:prstDash val="solid"/>
          </a:ln>
        </p:spPr>
      </p:sp>
      <p:sp>
        <p:nvSpPr>
          <p:cNvPr id="12" name="Text 9"/>
          <p:cNvSpPr/>
          <p:nvPr/>
        </p:nvSpPr>
        <p:spPr>
          <a:xfrm>
            <a:off x="1051560" y="1600200"/>
            <a:ext cx="4800600" cy="320040"/>
          </a:xfrm>
          <a:prstGeom prst="rect">
            <a:avLst/>
          </a:prstGeom>
          <a:noFill/>
          <a:ln/>
        </p:spPr>
        <p:txBody>
          <a:bodyPr wrap="square" rtlCol="0" anchor="ctr"/>
          <a:lstStyle/>
          <a:p>
            <a:pPr algn="r" indent="0" marL="0">
              <a:buNone/>
            </a:pPr>
            <a:r>
              <a:rPr lang="en-US" sz="1300" b="1" dirty="0">
                <a:solidFill>
                  <a:srgbClr val="7E22CE"/>
                </a:solidFill>
                <a:latin typeface="Arial" pitchFamily="34" charset="0"/>
                <a:ea typeface="Arial" pitchFamily="34" charset="-122"/>
                <a:cs typeface="Arial" pitchFamily="34" charset="-120"/>
              </a:rPr>
              <a:t>2. הפחתת תנגודת לאינסולין והורדת משקל</a:t>
            </a:r>
            <a:endParaRPr lang="en-US" sz="1300" dirty="0"/>
          </a:p>
        </p:txBody>
      </p:sp>
      <p:sp>
        <p:nvSpPr>
          <p:cNvPr id="13" name="Text 10"/>
          <p:cNvSpPr/>
          <p:nvPr/>
        </p:nvSpPr>
        <p:spPr>
          <a:xfrm>
            <a:off x="1051560" y="1965960"/>
            <a:ext cx="4800600" cy="146304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הטיפול ב-GLP-1 RA (Wegovy 2.4mg) הביא לירידה במשקל מ-96 ק"ג ל-85 ק"ג ולהפחתה דרמטית במינון האינסולין הבולוס (מ-12u ל-8u לארוחה) והאינסולין הבזאלי (ל-36u).</a:t>
            </a:r>
            <a:endParaRPr lang="en-US" sz="1050" dirty="0"/>
          </a:p>
        </p:txBody>
      </p:sp>
      <p:sp>
        <p:nvSpPr>
          <p:cNvPr id="14" name="Shape 11"/>
          <p:cNvSpPr/>
          <p:nvPr/>
        </p:nvSpPr>
        <p:spPr>
          <a:xfrm>
            <a:off x="6217920" y="3703320"/>
            <a:ext cx="5166360" cy="2103120"/>
          </a:xfrm>
          <a:prstGeom prst="roundRect">
            <a:avLst/>
          </a:prstGeom>
          <a:solidFill>
            <a:srgbClr val="EFF6FF"/>
          </a:solidFill>
          <a:ln w="15240">
            <a:solidFill>
              <a:srgbClr val="BAE6FD"/>
            </a:solidFill>
            <a:prstDash val="solid"/>
          </a:ln>
        </p:spPr>
      </p:sp>
      <p:sp>
        <p:nvSpPr>
          <p:cNvPr id="15" name="Text 12"/>
          <p:cNvSpPr/>
          <p:nvPr/>
        </p:nvSpPr>
        <p:spPr>
          <a:xfrm>
            <a:off x="6400800" y="3840480"/>
            <a:ext cx="4800600" cy="320040"/>
          </a:xfrm>
          <a:prstGeom prst="rect">
            <a:avLst/>
          </a:prstGeom>
          <a:noFill/>
          <a:ln/>
        </p:spPr>
        <p:txBody>
          <a:bodyPr wrap="square" rtlCol="0" anchor="ctr"/>
          <a:lstStyle/>
          <a:p>
            <a:pPr algn="r" indent="0" marL="0">
              <a:buNone/>
            </a:pPr>
            <a:r>
              <a:rPr lang="en-US" sz="1300" b="1" dirty="0">
                <a:solidFill>
                  <a:srgbClr val="0284C7"/>
                </a:solidFill>
                <a:latin typeface="Arial" pitchFamily="34" charset="0"/>
                <a:ea typeface="Arial" pitchFamily="34" charset="-122"/>
                <a:cs typeface="Arial" pitchFamily="34" charset="-120"/>
              </a:rPr>
              <a:t>3. הגנה קרדיווסקולרית ומוחית והטבה בסיבוכים</a:t>
            </a:r>
            <a:endParaRPr lang="en-US" sz="1300" dirty="0"/>
          </a:p>
        </p:txBody>
      </p:sp>
      <p:sp>
        <p:nvSpPr>
          <p:cNvPr id="16" name="Text 13"/>
          <p:cNvSpPr/>
          <p:nvPr/>
        </p:nvSpPr>
        <p:spPr>
          <a:xfrm>
            <a:off x="6400800" y="4206240"/>
            <a:ext cx="4800600" cy="146304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שיפור משמעותי באיכות השינה (דום נשימה בשינה), הטבה בהחלמת הפצע בכף הרגל והפחתת הסיכון למחלות טרשתיות במטופל לאחר CVA ו-IHD.</a:t>
            </a:r>
            <a:endParaRPr lang="en-US" sz="1050" dirty="0"/>
          </a:p>
        </p:txBody>
      </p:sp>
      <p:sp>
        <p:nvSpPr>
          <p:cNvPr id="17" name="Shape 14"/>
          <p:cNvSpPr/>
          <p:nvPr/>
        </p:nvSpPr>
        <p:spPr>
          <a:xfrm>
            <a:off x="868680" y="3703320"/>
            <a:ext cx="5166360" cy="2103120"/>
          </a:xfrm>
          <a:prstGeom prst="roundRect">
            <a:avLst/>
          </a:prstGeom>
          <a:solidFill>
            <a:srgbClr val="ECFDF5"/>
          </a:solidFill>
          <a:ln w="15240">
            <a:solidFill>
              <a:srgbClr val="A7F3D0"/>
            </a:solidFill>
            <a:prstDash val="solid"/>
          </a:ln>
        </p:spPr>
      </p:sp>
      <p:sp>
        <p:nvSpPr>
          <p:cNvPr id="18" name="Text 15"/>
          <p:cNvSpPr/>
          <p:nvPr/>
        </p:nvSpPr>
        <p:spPr>
          <a:xfrm>
            <a:off x="1051560" y="3840480"/>
            <a:ext cx="4800600" cy="320040"/>
          </a:xfrm>
          <a:prstGeom prst="rect">
            <a:avLst/>
          </a:prstGeom>
          <a:noFill/>
          <a:ln/>
        </p:spPr>
        <p:txBody>
          <a:bodyPr wrap="square" rtlCol="0" anchor="ctr"/>
          <a:lstStyle/>
          <a:p>
            <a:pPr algn="r" indent="0" marL="0">
              <a:buNone/>
            </a:pPr>
            <a:r>
              <a:rPr lang="en-US" sz="1300" b="1" dirty="0">
                <a:solidFill>
                  <a:srgbClr val="059669"/>
                </a:solidFill>
                <a:latin typeface="Arial" pitchFamily="34" charset="0"/>
                <a:ea typeface="Arial" pitchFamily="34" charset="-122"/>
                <a:cs typeface="Arial" pitchFamily="34" charset="-120"/>
              </a:rPr>
              <a:t>4. איזון גליקמי מוכח ב-CGM</a:t>
            </a:r>
            <a:endParaRPr lang="en-US" sz="1300" dirty="0"/>
          </a:p>
        </p:txBody>
      </p:sp>
      <p:sp>
        <p:nvSpPr>
          <p:cNvPr id="19" name="Text 16"/>
          <p:cNvSpPr/>
          <p:nvPr/>
        </p:nvSpPr>
        <p:spPr>
          <a:xfrm>
            <a:off x="1051560" y="4206240"/>
            <a:ext cx="4800600" cy="1463040"/>
          </a:xfrm>
          <a:prstGeom prst="rect">
            <a:avLst/>
          </a:prstGeom>
          <a:noFill/>
          <a:ln/>
        </p:spPr>
        <p:txBody>
          <a:bodyPr wrap="square" rtlCol="0" anchor="ctr"/>
          <a:lstStyle/>
          <a:p>
            <a:pPr algn="r" indent="0" marL="0">
              <a:buNone/>
            </a:pPr>
            <a:r>
              <a:rPr lang="en-US" sz="1050" dirty="0">
                <a:solidFill>
                  <a:srgbClr val="1E293B"/>
                </a:solidFill>
                <a:latin typeface="Arial" pitchFamily="34" charset="0"/>
                <a:ea typeface="Arial" pitchFamily="34" charset="-122"/>
                <a:cs typeface="Arial" pitchFamily="34" charset="-120"/>
              </a:rPr>
              <a:t>חיישן Libre 2 מדגים זינוק מרהיב מ-30% ל-79% בטווח היעד (TIR) וירידה בסוכר הממוצע מ-220 ל-116 mg/dL עם GMI של 6.1%.</a:t>
            </a:r>
            <a:endParaRPr lang="en-US" sz="1050" dirty="0"/>
          </a:p>
        </p:txBody>
      </p:sp>
      <p:sp>
        <p:nvSpPr>
          <p:cNvPr id="20" name="Shape 17"/>
          <p:cNvSpPr/>
          <p:nvPr/>
        </p:nvSpPr>
        <p:spPr>
          <a:xfrm>
            <a:off x="0" y="6473952"/>
            <a:ext cx="9144000" cy="384048"/>
          </a:xfrm>
          <a:prstGeom prst="rect">
            <a:avLst/>
          </a:prstGeom>
          <a:solidFill>
            <a:srgbClr val="FFFFFF"/>
          </a:solidFill>
          <a:ln w="12700">
            <a:solidFill>
              <a:srgbClr val="E2E8F0"/>
            </a:solidFill>
            <a:prstDash val="solid"/>
          </a:ln>
        </p:spPr>
      </p:sp>
      <p:sp>
        <p:nvSpPr>
          <p:cNvPr id="21" name="Text 18"/>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22" name="Text 19"/>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26 / 27</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FFFFF"/>
          </a:solidFill>
          <a:ln w="12700">
            <a:solidFill>
              <a:srgbClr val="E2E8F0"/>
            </a:solidFill>
            <a:prstDash val="solid"/>
          </a:ln>
        </p:spPr>
      </p:sp>
      <p:sp>
        <p:nvSpPr>
          <p:cNvPr id="3" name="Shape 1"/>
          <p:cNvSpPr/>
          <p:nvPr/>
        </p:nvSpPr>
        <p:spPr>
          <a:xfrm>
            <a:off x="0" y="0"/>
            <a:ext cx="9144000" cy="54864"/>
          </a:xfrm>
          <a:prstGeom prst="rect">
            <a:avLst/>
          </a:prstGeom>
          <a:solidFill>
            <a:srgbClr val="0284C7"/>
          </a:solidFill>
          <a:ln/>
        </p:spPr>
      </p:sp>
      <p:pic>
        <p:nvPicPr>
          <p:cNvPr id="4" name="Image 0" descr="C:\Users\tifer\OneDrive\שולחן העבודה\אנטיגרביטי\GLP1CVA\public\tiferet_eliav_logo.jpg">    </p:cNvPr>
          <p:cNvPicPr>
            <a:picLocks noChangeAspect="1"/>
          </p:cNvPicPr>
          <p:nvPr/>
        </p:nvPicPr>
        <p:blipFill>
          <a:blip r:embed="rId1"/>
          <a:stretch>
            <a:fillRect/>
          </a:stretch>
        </p:blipFill>
        <p:spPr>
          <a:xfrm>
            <a:off x="457200" y="146304"/>
            <a:ext cx="1463040" cy="749808"/>
          </a:xfrm>
          <a:prstGeom prst="rect">
            <a:avLst/>
          </a:prstGeom>
        </p:spPr>
      </p:pic>
      <p:sp>
        <p:nvSpPr>
          <p:cNvPr id="5" name="Text 2"/>
          <p:cNvSpPr/>
          <p:nvPr/>
        </p:nvSpPr>
        <p:spPr>
          <a:xfrm>
            <a:off x="2103120" y="128016"/>
            <a:ext cx="9601200" cy="256032"/>
          </a:xfrm>
          <a:prstGeom prst="rect">
            <a:avLst/>
          </a:prstGeom>
          <a:noFill/>
          <a:ln/>
        </p:spPr>
        <p:txBody>
          <a:bodyPr wrap="square" rtlCol="0" anchor="ctr"/>
          <a:lstStyle/>
          <a:p>
            <a:pPr algn="r" indent="0" marL="0">
              <a:buNone/>
            </a:pPr>
            <a:r>
              <a:rPr lang="en-US" sz="1050" b="1" dirty="0">
                <a:solidFill>
                  <a:srgbClr val="0284C7"/>
                </a:solidFill>
                <a:latin typeface="Arial" pitchFamily="34" charset="0"/>
                <a:ea typeface="Arial" pitchFamily="34" charset="-122"/>
                <a:cs typeface="Arial" pitchFamily="34" charset="-120"/>
              </a:rPr>
              <a:t>שלב 5 • סיכום ומעקב</a:t>
            </a:r>
            <a:endParaRPr lang="en-US" sz="1050" dirty="0"/>
          </a:p>
        </p:txBody>
      </p:sp>
      <p:sp>
        <p:nvSpPr>
          <p:cNvPr id="6" name="Text 3"/>
          <p:cNvSpPr/>
          <p:nvPr/>
        </p:nvSpPr>
        <p:spPr>
          <a:xfrm>
            <a:off x="2103120" y="384048"/>
            <a:ext cx="9601200" cy="594360"/>
          </a:xfrm>
          <a:prstGeom prst="rect">
            <a:avLst/>
          </a:prstGeom>
          <a:noFill/>
          <a:ln/>
        </p:spPr>
        <p:txBody>
          <a:bodyPr wrap="square" rtlCol="0" anchor="ctr"/>
          <a:lstStyle/>
          <a:p>
            <a:pPr algn="r" indent="0" marL="0">
              <a:buNone/>
            </a:pPr>
            <a:r>
              <a:rPr lang="en-US" sz="2000" b="1" dirty="0">
                <a:solidFill>
                  <a:srgbClr val="0F172A"/>
                </a:solidFill>
                <a:latin typeface="Arial" pitchFamily="34" charset="0"/>
                <a:ea typeface="Arial" pitchFamily="34" charset="-122"/>
                <a:cs typeface="Arial" pitchFamily="34" charset="-120"/>
              </a:rPr>
              <a:t>שלב 5: תוכנית המשך מעקב וסגירה</a:t>
            </a:r>
            <a:endParaRPr lang="en-US" sz="2000" dirty="0"/>
          </a:p>
        </p:txBody>
      </p:sp>
      <p:sp>
        <p:nvSpPr>
          <p:cNvPr id="7" name="Shape 4"/>
          <p:cNvSpPr/>
          <p:nvPr/>
        </p:nvSpPr>
        <p:spPr>
          <a:xfrm>
            <a:off x="4754880" y="1280160"/>
            <a:ext cx="6675120" cy="4892040"/>
          </a:xfrm>
          <a:prstGeom prst="roundRect">
            <a:avLst/>
          </a:prstGeom>
          <a:solidFill>
            <a:srgbClr val="FFFFFF"/>
          </a:solidFill>
          <a:ln w="15240">
            <a:solidFill>
              <a:srgbClr val="A7F3D0"/>
            </a:solidFill>
            <a:prstDash val="solid"/>
          </a:ln>
        </p:spPr>
      </p:sp>
      <p:sp>
        <p:nvSpPr>
          <p:cNvPr id="8" name="Text 5"/>
          <p:cNvSpPr/>
          <p:nvPr/>
        </p:nvSpPr>
        <p:spPr>
          <a:xfrm>
            <a:off x="4937760" y="1463040"/>
            <a:ext cx="6309360" cy="320040"/>
          </a:xfrm>
          <a:prstGeom prst="rect">
            <a:avLst/>
          </a:prstGeom>
          <a:noFill/>
          <a:ln/>
        </p:spPr>
        <p:txBody>
          <a:bodyPr wrap="square" rtlCol="0" anchor="ctr"/>
          <a:lstStyle/>
          <a:p>
            <a:pPr algn="r" indent="0" marL="0">
              <a:buNone/>
            </a:pPr>
            <a:r>
              <a:rPr lang="en-US" sz="1400" b="1" dirty="0">
                <a:solidFill>
                  <a:srgbClr val="059669"/>
                </a:solidFill>
                <a:latin typeface="Arial" pitchFamily="34" charset="0"/>
                <a:ea typeface="Arial" pitchFamily="34" charset="-122"/>
                <a:cs typeface="Arial" pitchFamily="34" charset="-120"/>
              </a:rPr>
              <a:t>הנחיות המשך מעקב קליני עבור יעקב:</a:t>
            </a:r>
            <a:endParaRPr lang="en-US" sz="1400" dirty="0"/>
          </a:p>
        </p:txBody>
      </p:sp>
      <p:sp>
        <p:nvSpPr>
          <p:cNvPr id="9" name="Text 6"/>
          <p:cNvSpPr/>
          <p:nvPr/>
        </p:nvSpPr>
        <p:spPr>
          <a:xfrm>
            <a:off x="4937760" y="1874520"/>
            <a:ext cx="6309360" cy="4114800"/>
          </a:xfrm>
          <a:prstGeom prst="rect">
            <a:avLst/>
          </a:prstGeom>
          <a:noFill/>
          <a:ln/>
        </p:spPr>
        <p:txBody>
          <a:bodyPr wrap="square" rtlCol="0" anchor="ctr"/>
          <a:lstStyle/>
          <a:p>
            <a:pPr algn="r" indent="0" marL="0">
              <a:buNone/>
            </a:pPr>
            <a:r>
              <a:rPr lang="en-US" sz="1000" dirty="0">
                <a:solidFill>
                  <a:srgbClr val="1E293B"/>
                </a:solidFill>
                <a:latin typeface="Arial" pitchFamily="34" charset="0"/>
                <a:ea typeface="Arial" pitchFamily="34" charset="-122"/>
                <a:cs typeface="Arial" pitchFamily="34" charset="-120"/>
              </a:rPr>
              <a:t>•  מינונים תרופתיים מעודכנים:</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 המשך מינון אחזקתי של Wegovy 2.4 mg אחת לשבוע.</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 המשך אינסולין בזאלי Degludec (טרגלודק) 36 יחידות ליום.</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 אינסולין נובורפיד 8 יחידות לפני כל ארוחה לפי מעקב ערכים.</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מעקב מרפאת פצע: המשך ביקורים שבועיים במרפאת פצע להשלמת סגירת הכיב ברגל ימין.</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ניטור רציף ב-Libre 2: המשך סריקה יומיומית, מעקב אחר התראות היפוגליקמיה ליליות ושמירה על TIR &gt; 70%.</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תזונה ופעילות גופנית: מפגש חודשי עם דיאטנית קלינית ושמירה על שגרת הליכות מותאמת.</a:t>
            </a:r>
            <a:endParaRPr lang="en-US" sz="1000" dirty="0"/>
          </a:p>
          <a:p>
            <a:pPr algn="r" indent="0" marL="0">
              <a:buNone/>
            </a:pPr>
            <a:endParaRPr lang="en-US" sz="1000" dirty="0"/>
          </a:p>
          <a:p>
            <a:pPr algn="r" indent="0" marL="0">
              <a:buNone/>
            </a:pPr>
            <a:r>
              <a:rPr lang="en-US" sz="1000" dirty="0">
                <a:solidFill>
                  <a:srgbClr val="1E293B"/>
                </a:solidFill>
                <a:latin typeface="Arial" pitchFamily="34" charset="0"/>
                <a:ea typeface="Arial" pitchFamily="34" charset="-122"/>
                <a:cs typeface="Arial" pitchFamily="34" charset="-120"/>
              </a:rPr>
              <a:t>•  בדיקות מעבדה תקופתיות: בדיקת HbA1C, ליפידים ותפקודי כליה (eGFR, ACR) בעוד 3 חודשים.</a:t>
            </a:r>
            <a:endParaRPr lang="en-US" sz="1000" dirty="0"/>
          </a:p>
        </p:txBody>
      </p:sp>
      <p:sp>
        <p:nvSpPr>
          <p:cNvPr id="10" name="Shape 7"/>
          <p:cNvSpPr/>
          <p:nvPr/>
        </p:nvSpPr>
        <p:spPr>
          <a:xfrm>
            <a:off x="731520" y="1280160"/>
            <a:ext cx="3840480" cy="4892040"/>
          </a:xfrm>
          <a:prstGeom prst="roundRect">
            <a:avLst/>
          </a:prstGeom>
          <a:solidFill>
            <a:srgbClr val="FFFFFF"/>
          </a:solidFill>
          <a:ln w="15240">
            <a:solidFill>
              <a:srgbClr val="BAE6FD"/>
            </a:solidFill>
            <a:prstDash val="solid"/>
          </a:ln>
        </p:spPr>
      </p:sp>
      <p:pic>
        <p:nvPicPr>
          <p:cNvPr id="11" name="Image 1" descr="C:\Users\tifer\OneDrive\שולחן העבודה\אנטיגרביטי\GLP1CVA\public\tiferet_eliav_logo.jpg">    </p:cNvPr>
          <p:cNvPicPr>
            <a:picLocks noChangeAspect="1"/>
          </p:cNvPicPr>
          <p:nvPr/>
        </p:nvPicPr>
        <p:blipFill>
          <a:blip r:embed="rId2"/>
          <a:stretch>
            <a:fillRect/>
          </a:stretch>
        </p:blipFill>
        <p:spPr>
          <a:xfrm>
            <a:off x="1463040" y="1554480"/>
            <a:ext cx="2377440" cy="1188720"/>
          </a:xfrm>
          <a:prstGeom prst="rect">
            <a:avLst/>
          </a:prstGeom>
        </p:spPr>
      </p:pic>
      <p:sp>
        <p:nvSpPr>
          <p:cNvPr id="12" name="Text 8"/>
          <p:cNvSpPr/>
          <p:nvPr/>
        </p:nvSpPr>
        <p:spPr>
          <a:xfrm>
            <a:off x="914400" y="2880360"/>
            <a:ext cx="3474720" cy="320040"/>
          </a:xfrm>
          <a:prstGeom prst="rect">
            <a:avLst/>
          </a:prstGeom>
          <a:noFill/>
          <a:ln/>
        </p:spPr>
        <p:txBody>
          <a:bodyPr wrap="square" rtlCol="0" anchor="ctr"/>
          <a:lstStyle/>
          <a:p>
            <a:pPr algn="ctr" indent="0" marL="0">
              <a:buNone/>
            </a:pPr>
            <a:r>
              <a:rPr lang="en-US" sz="1200" b="1" dirty="0">
                <a:solidFill>
                  <a:srgbClr val="4F46E5"/>
                </a:solidFill>
                <a:latin typeface="Arial" pitchFamily="34" charset="0"/>
                <a:ea typeface="Arial" pitchFamily="34" charset="-122"/>
                <a:cs typeface="Arial" pitchFamily="34" charset="-120"/>
              </a:rPr>
              <a:t>TIFERET ELIAV • Diabetes &amp; AI</a:t>
            </a:r>
            <a:endParaRPr lang="en-US" sz="1200" dirty="0"/>
          </a:p>
        </p:txBody>
      </p:sp>
      <p:sp>
        <p:nvSpPr>
          <p:cNvPr id="13" name="Shape 9"/>
          <p:cNvSpPr/>
          <p:nvPr/>
        </p:nvSpPr>
        <p:spPr>
          <a:xfrm>
            <a:off x="1005840" y="3337560"/>
            <a:ext cx="3291840" cy="2606040"/>
          </a:xfrm>
          <a:prstGeom prst="roundRect">
            <a:avLst/>
          </a:prstGeom>
          <a:solidFill>
            <a:srgbClr val="EFF6FF"/>
          </a:solidFill>
          <a:ln w="12700">
            <a:solidFill>
              <a:srgbClr val="BFDBFE"/>
            </a:solidFill>
            <a:prstDash val="solid"/>
          </a:ln>
        </p:spPr>
      </p:sp>
      <p:sp>
        <p:nvSpPr>
          <p:cNvPr id="14" name="Text 10"/>
          <p:cNvSpPr/>
          <p:nvPr/>
        </p:nvSpPr>
        <p:spPr>
          <a:xfrm>
            <a:off x="1097280" y="3474720"/>
            <a:ext cx="3108960" cy="320040"/>
          </a:xfrm>
          <a:prstGeom prst="rect">
            <a:avLst/>
          </a:prstGeom>
          <a:noFill/>
          <a:ln/>
        </p:spPr>
        <p:txBody>
          <a:bodyPr wrap="square" rtlCol="0" anchor="ctr"/>
          <a:lstStyle/>
          <a:p>
            <a:pPr algn="ctr" indent="0" marL="0">
              <a:buNone/>
            </a:pPr>
            <a:r>
              <a:rPr lang="en-US" sz="1200" b="1" dirty="0">
                <a:solidFill>
                  <a:srgbClr val="0284C7"/>
                </a:solidFill>
                <a:latin typeface="Arial" pitchFamily="34" charset="0"/>
                <a:ea typeface="Arial" pitchFamily="34" charset="-122"/>
                <a:cs typeface="Arial" pitchFamily="34" charset="-120"/>
              </a:rPr>
              <a:t>סיום הלומדה והמצגת בהצלחה!</a:t>
            </a:r>
            <a:endParaRPr lang="en-US" sz="1200" dirty="0"/>
          </a:p>
        </p:txBody>
      </p:sp>
      <p:sp>
        <p:nvSpPr>
          <p:cNvPr id="15" name="Text 11"/>
          <p:cNvSpPr/>
          <p:nvPr/>
        </p:nvSpPr>
        <p:spPr>
          <a:xfrm>
            <a:off x="1097280" y="3886200"/>
            <a:ext cx="3108960" cy="1920240"/>
          </a:xfrm>
          <a:prstGeom prst="rect">
            <a:avLst/>
          </a:prstGeom>
          <a:noFill/>
          <a:ln/>
        </p:spPr>
        <p:txBody>
          <a:bodyPr wrap="square" rtlCol="0" anchor="ctr"/>
          <a:lstStyle/>
          <a:p>
            <a:pPr algn="ctr" indent="0" marL="0">
              <a:buNone/>
            </a:pPr>
            <a:r>
              <a:rPr lang="en-US" sz="950" dirty="0">
                <a:solidFill>
                  <a:srgbClr val="1E293B"/>
                </a:solidFill>
                <a:latin typeface="Arial" pitchFamily="34" charset="0"/>
                <a:ea typeface="Arial" pitchFamily="34" charset="-122"/>
                <a:cs typeface="Arial" pitchFamily="34" charset="-120"/>
              </a:rPr>
              <a:t>המקרה של יעקב ממחיש את המהפך הטיפולי שמאפשר טיפול מבוסס GLP-1 RA (Wegovy 2.4mg) במטופלי סוכרת והשמנה מורכבים – שיפור דרמטי באיזון הסוכרת, ירידה במשקל, הפחתת עומס אינסולין והגנה טרשתית מצילת חיים.</a:t>
            </a:r>
            <a:endParaRPr lang="en-US" sz="950" dirty="0"/>
          </a:p>
        </p:txBody>
      </p:sp>
      <p:sp>
        <p:nvSpPr>
          <p:cNvPr id="16" name="Shape 12"/>
          <p:cNvSpPr/>
          <p:nvPr/>
        </p:nvSpPr>
        <p:spPr>
          <a:xfrm>
            <a:off x="0" y="6473952"/>
            <a:ext cx="9144000" cy="384048"/>
          </a:xfrm>
          <a:prstGeom prst="rect">
            <a:avLst/>
          </a:prstGeom>
          <a:solidFill>
            <a:srgbClr val="FFFFFF"/>
          </a:solidFill>
          <a:ln w="12700">
            <a:solidFill>
              <a:srgbClr val="E2E8F0"/>
            </a:solidFill>
            <a:prstDash val="solid"/>
          </a:ln>
        </p:spPr>
      </p:sp>
      <p:sp>
        <p:nvSpPr>
          <p:cNvPr id="17" name="Text 13"/>
          <p:cNvSpPr/>
          <p:nvPr/>
        </p:nvSpPr>
        <p:spPr>
          <a:xfrm>
            <a:off x="457200" y="6510528"/>
            <a:ext cx="9601200" cy="292608"/>
          </a:xfrm>
          <a:prstGeom prst="rect">
            <a:avLst/>
          </a:prstGeom>
          <a:noFill/>
          <a:ln/>
        </p:spPr>
        <p:txBody>
          <a:bodyPr wrap="square" rtlCol="0" anchor="ctr"/>
          <a:lstStyle/>
          <a:p>
            <a:pPr algn="r" indent="0" marL="0">
              <a:buNone/>
            </a:pPr>
            <a:r>
              <a:rPr lang="en-US" sz="950" dirty="0">
                <a:solidFill>
                  <a:srgbClr val="64748B"/>
                </a:solidFill>
                <a:latin typeface="Arial" pitchFamily="34" charset="0"/>
                <a:ea typeface="Arial" pitchFamily="34" charset="-122"/>
                <a:cs typeface="Arial" pitchFamily="34" charset="-120"/>
              </a:rPr>
              <a:t>TIFERET ELIAV • Diabetes &amp; AI | סימולציית טיפול ב-GLP1 במטופל הסובל מסוכרת והשמנה וסיבוכים נילווים</a:t>
            </a:r>
            <a:endParaRPr lang="en-US" sz="950" dirty="0"/>
          </a:p>
        </p:txBody>
      </p:sp>
      <p:sp>
        <p:nvSpPr>
          <p:cNvPr id="18" name="Text 14"/>
          <p:cNvSpPr/>
          <p:nvPr/>
        </p:nvSpPr>
        <p:spPr>
          <a:xfrm>
            <a:off x="10789920" y="6510528"/>
            <a:ext cx="914400" cy="292608"/>
          </a:xfrm>
          <a:prstGeom prst="rect">
            <a:avLst/>
          </a:prstGeom>
          <a:noFill/>
          <a:ln/>
        </p:spPr>
        <p:txBody>
          <a:bodyPr wrap="square" rtlCol="0" anchor="ctr"/>
          <a:lstStyle/>
          <a:p>
            <a:pPr algn="ctr" indent="0" marL="0">
              <a:buNone/>
            </a:pPr>
            <a:r>
              <a:rPr lang="en-US" sz="950" b="1" dirty="0">
                <a:solidFill>
                  <a:srgbClr val="0284C7"/>
                </a:solidFill>
                <a:latin typeface="Arial" pitchFamily="34" charset="0"/>
                <a:ea typeface="Arial" pitchFamily="34" charset="-122"/>
                <a:cs typeface="Arial" pitchFamily="34" charset="-120"/>
              </a:rPr>
              <a:t>27 / 27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TIFERET ELIAV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סימולציית טיפול ב-GLP1 במטופל הסובל מסוכרת והשמנה וסיבוכים נילווים</dc:title>
  <dc:subject>PptxGenJS Presentation</dc:subject>
  <dc:creator>TIFERET ELIAV • Diabetes &amp; AI</dc:creator>
  <cp:lastModifiedBy>TIFERET ELIAV • Diabetes &amp; AI</cp:lastModifiedBy>
  <cp:revision>1</cp:revision>
  <dcterms:created xsi:type="dcterms:W3CDTF">2026-10-09T13:52:36Z</dcterms:created>
  <dcterms:modified xsi:type="dcterms:W3CDTF">2026-10-09T13:52:36Z</dcterms:modified>
</cp:coreProperties>
</file>