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 id="2147483653" r:id="rId4"/>
  </p:sldMasterIdLst>
  <p:notesMasterIdLst>
    <p:notesMasterId r:id="rId4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147474904"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פתיחה" id="{71B62E10-93A7-F4EC-2672-910A6590DC43}">
          <p14:sldIdLst>
            <p14:sldId id="256"/>
            <p14:sldId id="257"/>
            <p14:sldId id="258"/>
            <p14:sldId id="259"/>
          </p14:sldIdLst>
        </p14:section>
        <p14:section name="שלב 1" id="{387D437D-0978-0020-D599-D5B90B3DAA1F}">
          <p14:sldIdLst>
            <p14:sldId id="260"/>
            <p14:sldId id="261"/>
            <p14:sldId id="262"/>
            <p14:sldId id="263"/>
            <p14:sldId id="264"/>
            <p14:sldId id="265"/>
            <p14:sldId id="266"/>
            <p14:sldId id="267"/>
            <p14:sldId id="268"/>
            <p14:sldId id="269"/>
            <p14:sldId id="270"/>
            <p14:sldId id="271"/>
            <p14:sldId id="272"/>
            <p14:sldId id="273"/>
            <p14:sldId id="274"/>
          </p14:sldIdLst>
        </p14:section>
        <p14:section name="שלב 2" id="{47CA2F06-3E63-6A20-DC37-0C898E3F5DD4}">
          <p14:sldIdLst>
            <p14:sldId id="275"/>
            <p14:sldId id="276"/>
            <p14:sldId id="277"/>
            <p14:sldId id="278"/>
            <p14:sldId id="279"/>
            <p14:sldId id="280"/>
            <p14:sldId id="281"/>
            <p14:sldId id="282"/>
            <p14:sldId id="283"/>
            <p14:sldId id="284"/>
            <p14:sldId id="285"/>
          </p14:sldIdLst>
        </p14:section>
        <p14:section name="שלב 3" id="{D52CF8ED-DBBB-8120-B03B-44FC05D18087}">
          <p14:sldIdLst>
            <p14:sldId id="286"/>
            <p14:sldId id="287"/>
            <p14:sldId id="288"/>
            <p14:sldId id="289"/>
          </p14:sldIdLst>
        </p14:section>
        <p14:section name="שלב 4" id="{02308D38-9F13-592A-66BC-445D4A6E5A72}">
          <p14:sldIdLst>
            <p14:sldId id="290"/>
            <p14:sldId id="291"/>
            <p14:sldId id="292"/>
          </p14:sldIdLst>
        </p14:section>
        <p14:section name="שלב 5" id="{0DEAE05A-40E9-6164-D0A2-FB74E1E062EE}">
          <p14:sldIdLst>
            <p14:sldId id="293"/>
            <p14:sldId id="294"/>
            <p14:sldId id="295"/>
            <p14:sldId id="296"/>
            <p14:sldId id="297"/>
            <p14:sldId id="21474749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51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ML (Inbal Alona Segev Milber)" userId="47ad184e-5c02-40f3-9d7c-2fa3e4d2dfa0" providerId="ADAL" clId="{9A7B36BA-17F4-4EDD-9004-7756E4A1D4F7}"/>
    <pc:docChg chg="custSel modSld">
      <pc:chgData name="ILML (Inbal Alona Segev Milber)" userId="47ad184e-5c02-40f3-9d7c-2fa3e4d2dfa0" providerId="ADAL" clId="{9A7B36BA-17F4-4EDD-9004-7756E4A1D4F7}" dt="2026-10-12T10:05:28.516" v="5" actId="478"/>
      <pc:docMkLst>
        <pc:docMk/>
      </pc:docMkLst>
      <pc:sldChg chg="addSp delSp modSp mod">
        <pc:chgData name="ILML (Inbal Alona Segev Milber)" userId="47ad184e-5c02-40f3-9d7c-2fa3e4d2dfa0" providerId="ADAL" clId="{9A7B36BA-17F4-4EDD-9004-7756E4A1D4F7}" dt="2026-10-12T10:05:28.516" v="5" actId="478"/>
        <pc:sldMkLst>
          <pc:docMk/>
          <pc:sldMk cId="0" sldId="295"/>
        </pc:sldMkLst>
        <pc:spChg chg="mod">
          <ac:chgData name="ILML (Inbal Alona Segev Milber)" userId="47ad184e-5c02-40f3-9d7c-2fa3e4d2dfa0" providerId="ADAL" clId="{9A7B36BA-17F4-4EDD-9004-7756E4A1D4F7}" dt="2026-10-12T10:04:32.914" v="3" actId="6549"/>
          <ac:spMkLst>
            <pc:docMk/>
            <pc:sldMk cId="0" sldId="295"/>
            <ac:spMk id="19" creationId="{00000000-0000-0000-0000-000000000000}"/>
          </ac:spMkLst>
        </pc:spChg>
        <pc:spChg chg="add del">
          <ac:chgData name="ILML (Inbal Alona Segev Milber)" userId="47ad184e-5c02-40f3-9d7c-2fa3e4d2dfa0" providerId="ADAL" clId="{9A7B36BA-17F4-4EDD-9004-7756E4A1D4F7}" dt="2026-10-12T10:05:28.516" v="5" actId="478"/>
          <ac:spMkLst>
            <pc:docMk/>
            <pc:sldMk cId="0" sldId="295"/>
            <ac:spMk id="29" creationId="{DFAFC2CE-A6BC-1A76-A1BD-243EAF2FB4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52192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83ba285b-7ef1-5a4f-9afe-ea04c4b9d63d/scratchpad/assets/icon_color.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2920" y="329184"/>
            <a:ext cx="603504" cy="691286"/>
          </a:xfrm>
          <a:prstGeom prst="rect">
            <a:avLst/>
          </a:prstGeom>
        </p:spPr>
      </p:pic>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 Cov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59D6B45-1D52-C3FE-3F29-05F527D71ADC}"/>
              </a:ext>
            </a:extLst>
          </p:cNvPr>
          <p:cNvSpPr>
            <a:spLocks noGrp="1"/>
          </p:cNvSpPr>
          <p:nvPr>
            <p:ph type="pic" sz="quarter" idx="13" hasCustomPrompt="1"/>
          </p:nvPr>
        </p:nvSpPr>
        <p:spPr>
          <a:xfrm>
            <a:off x="0" y="0"/>
            <a:ext cx="12191999" cy="6858000"/>
          </a:xfrm>
          <a:custGeom>
            <a:avLst/>
            <a:gdLst>
              <a:gd name="csX0" fmla="*/ 11678035 w 12191999"/>
              <a:gd name="csY0" fmla="*/ 723391 h 6858000"/>
              <a:gd name="csX1" fmla="*/ 11689718 w 12191999"/>
              <a:gd name="csY1" fmla="*/ 727378 h 6858000"/>
              <a:gd name="csX2" fmla="*/ 11689718 w 12191999"/>
              <a:gd name="csY2" fmla="*/ 770431 h 6858000"/>
              <a:gd name="csX3" fmla="*/ 11689600 w 12191999"/>
              <a:gd name="csY3" fmla="*/ 770431 h 6858000"/>
              <a:gd name="csX4" fmla="*/ 11678854 w 12191999"/>
              <a:gd name="csY4" fmla="*/ 775355 h 6858000"/>
              <a:gd name="csX5" fmla="*/ 11658644 w 12191999"/>
              <a:gd name="csY5" fmla="*/ 748377 h 6858000"/>
              <a:gd name="csX6" fmla="*/ 11678035 w 12191999"/>
              <a:gd name="csY6" fmla="*/ 723391 h 6858000"/>
              <a:gd name="csX7" fmla="*/ 11575063 w 12191999"/>
              <a:gd name="csY7" fmla="*/ 722651 h 6858000"/>
              <a:gd name="csX8" fmla="*/ 11585819 w 12191999"/>
              <a:gd name="csY8" fmla="*/ 726756 h 6858000"/>
              <a:gd name="csX9" fmla="*/ 11591552 w 12191999"/>
              <a:gd name="csY9" fmla="*/ 749176 h 6858000"/>
              <a:gd name="csX10" fmla="*/ 11585819 w 12191999"/>
              <a:gd name="csY10" fmla="*/ 771477 h 6858000"/>
              <a:gd name="csX11" fmla="*/ 11575063 w 12191999"/>
              <a:gd name="csY11" fmla="*/ 775464 h 6858000"/>
              <a:gd name="csX12" fmla="*/ 11564544 w 12191999"/>
              <a:gd name="csY12" fmla="*/ 771477 h 6858000"/>
              <a:gd name="csX13" fmla="*/ 11558810 w 12191999"/>
              <a:gd name="csY13" fmla="*/ 749176 h 6858000"/>
              <a:gd name="csX14" fmla="*/ 11564544 w 12191999"/>
              <a:gd name="csY14" fmla="*/ 726756 h 6858000"/>
              <a:gd name="csX15" fmla="*/ 11575063 w 12191999"/>
              <a:gd name="csY15" fmla="*/ 722651 h 6858000"/>
              <a:gd name="csX16" fmla="*/ 11425386 w 12191999"/>
              <a:gd name="csY16" fmla="*/ 722651 h 6858000"/>
              <a:gd name="csX17" fmla="*/ 11435955 w 12191999"/>
              <a:gd name="csY17" fmla="*/ 726756 h 6858000"/>
              <a:gd name="csX18" fmla="*/ 11441708 w 12191999"/>
              <a:gd name="csY18" fmla="*/ 749176 h 6858000"/>
              <a:gd name="csX19" fmla="*/ 11435955 w 12191999"/>
              <a:gd name="csY19" fmla="*/ 771477 h 6858000"/>
              <a:gd name="csX20" fmla="*/ 11425386 w 12191999"/>
              <a:gd name="csY20" fmla="*/ 775464 h 6858000"/>
              <a:gd name="csX21" fmla="*/ 11414581 w 12191999"/>
              <a:gd name="csY21" fmla="*/ 771477 h 6858000"/>
              <a:gd name="csX22" fmla="*/ 11408828 w 12191999"/>
              <a:gd name="csY22" fmla="*/ 749176 h 6858000"/>
              <a:gd name="csX23" fmla="*/ 11414581 w 12191999"/>
              <a:gd name="csY23" fmla="*/ 726756 h 6858000"/>
              <a:gd name="csX24" fmla="*/ 11425386 w 12191999"/>
              <a:gd name="csY24" fmla="*/ 722651 h 6858000"/>
              <a:gd name="csX25" fmla="*/ 11313366 w 12191999"/>
              <a:gd name="csY25" fmla="*/ 722651 h 6858000"/>
              <a:gd name="csX26" fmla="*/ 11324053 w 12191999"/>
              <a:gd name="csY26" fmla="*/ 726756 h 6858000"/>
              <a:gd name="csX27" fmla="*/ 11329805 w 12191999"/>
              <a:gd name="csY27" fmla="*/ 749176 h 6858000"/>
              <a:gd name="csX28" fmla="*/ 11324053 w 12191999"/>
              <a:gd name="csY28" fmla="*/ 771477 h 6858000"/>
              <a:gd name="csX29" fmla="*/ 11313366 w 12191999"/>
              <a:gd name="csY29" fmla="*/ 775464 h 6858000"/>
              <a:gd name="csX30" fmla="*/ 11302797 w 12191999"/>
              <a:gd name="csY30" fmla="*/ 771477 h 6858000"/>
              <a:gd name="csX31" fmla="*/ 11297044 w 12191999"/>
              <a:gd name="csY31" fmla="*/ 749176 h 6858000"/>
              <a:gd name="csX32" fmla="*/ 11302797 w 12191999"/>
              <a:gd name="csY32" fmla="*/ 726756 h 6858000"/>
              <a:gd name="csX33" fmla="*/ 11313366 w 12191999"/>
              <a:gd name="csY33" fmla="*/ 722651 h 6858000"/>
              <a:gd name="csX34" fmla="*/ 11716875 w 12191999"/>
              <a:gd name="csY34" fmla="*/ 717214 h 6858000"/>
              <a:gd name="csX35" fmla="*/ 11714783 w 12191999"/>
              <a:gd name="csY35" fmla="*/ 719434 h 6858000"/>
              <a:gd name="csX36" fmla="*/ 11714783 w 12191999"/>
              <a:gd name="csY36" fmla="*/ 778513 h 6858000"/>
              <a:gd name="csX37" fmla="*/ 11716648 w 12191999"/>
              <a:gd name="csY37" fmla="*/ 780734 h 6858000"/>
              <a:gd name="csX38" fmla="*/ 11723279 w 12191999"/>
              <a:gd name="csY38" fmla="*/ 780734 h 6858000"/>
              <a:gd name="csX39" fmla="*/ 11725598 w 12191999"/>
              <a:gd name="csY39" fmla="*/ 778513 h 6858000"/>
              <a:gd name="csX40" fmla="*/ 11725598 w 12191999"/>
              <a:gd name="csY40" fmla="*/ 719434 h 6858000"/>
              <a:gd name="csX41" fmla="*/ 11723269 w 12191999"/>
              <a:gd name="csY41" fmla="*/ 717214 h 6858000"/>
              <a:gd name="csX42" fmla="*/ 11716875 w 12191999"/>
              <a:gd name="csY42" fmla="*/ 717214 h 6858000"/>
              <a:gd name="csX43" fmla="*/ 11824652 w 12191999"/>
              <a:gd name="csY43" fmla="*/ 716908 h 6858000"/>
              <a:gd name="csX44" fmla="*/ 11820892 w 12191999"/>
              <a:gd name="csY44" fmla="*/ 718901 h 6858000"/>
              <a:gd name="csX45" fmla="*/ 11799144 w 12191999"/>
              <a:gd name="csY45" fmla="*/ 746196 h 6858000"/>
              <a:gd name="csX46" fmla="*/ 11798670 w 12191999"/>
              <a:gd name="csY46" fmla="*/ 746896 h 6858000"/>
              <a:gd name="csX47" fmla="*/ 11798788 w 12191999"/>
              <a:gd name="csY47" fmla="*/ 747597 h 6858000"/>
              <a:gd name="csX48" fmla="*/ 11820656 w 12191999"/>
              <a:gd name="csY48" fmla="*/ 778869 h 6858000"/>
              <a:gd name="csX49" fmla="*/ 11824297 w 12191999"/>
              <a:gd name="csY49" fmla="*/ 780743 h 6858000"/>
              <a:gd name="csX50" fmla="*/ 11832645 w 12191999"/>
              <a:gd name="csY50" fmla="*/ 780743 h 6858000"/>
              <a:gd name="csX51" fmla="*/ 11834402 w 12191999"/>
              <a:gd name="csY51" fmla="*/ 779214 h 6858000"/>
              <a:gd name="csX52" fmla="*/ 11833583 w 12191999"/>
              <a:gd name="csY52" fmla="*/ 777694 h 6858000"/>
              <a:gd name="csX53" fmla="*/ 11810304 w 12191999"/>
              <a:gd name="csY53" fmla="*/ 746887 h 6858000"/>
              <a:gd name="csX54" fmla="*/ 11810067 w 12191999"/>
              <a:gd name="csY54" fmla="*/ 746650 h 6858000"/>
              <a:gd name="csX55" fmla="*/ 11832053 w 12191999"/>
              <a:gd name="csY55" fmla="*/ 720766 h 6858000"/>
              <a:gd name="csX56" fmla="*/ 11832645 w 12191999"/>
              <a:gd name="csY56" fmla="*/ 718309 h 6858000"/>
              <a:gd name="csX57" fmla="*/ 11830415 w 12191999"/>
              <a:gd name="csY57" fmla="*/ 716908 h 6858000"/>
              <a:gd name="csX58" fmla="*/ 11824652 w 12191999"/>
              <a:gd name="csY58" fmla="*/ 716908 h 6858000"/>
              <a:gd name="csX59" fmla="*/ 11344617 w 12191999"/>
              <a:gd name="csY59" fmla="*/ 716908 h 6858000"/>
              <a:gd name="csX60" fmla="*/ 11342969 w 12191999"/>
              <a:gd name="csY60" fmla="*/ 718546 h 6858000"/>
              <a:gd name="csX61" fmla="*/ 11343443 w 12191999"/>
              <a:gd name="csY61" fmla="*/ 720302 h 6858000"/>
              <a:gd name="csX62" fmla="*/ 11365626 w 12191999"/>
              <a:gd name="csY62" fmla="*/ 778849 h 6858000"/>
              <a:gd name="csX63" fmla="*/ 11367619 w 12191999"/>
              <a:gd name="csY63" fmla="*/ 780724 h 6858000"/>
              <a:gd name="csX64" fmla="*/ 11372435 w 12191999"/>
              <a:gd name="csY64" fmla="*/ 780724 h 6858000"/>
              <a:gd name="csX65" fmla="*/ 11374665 w 12191999"/>
              <a:gd name="csY65" fmla="*/ 778849 h 6858000"/>
              <a:gd name="csX66" fmla="*/ 11396266 w 12191999"/>
              <a:gd name="csY66" fmla="*/ 720075 h 6858000"/>
              <a:gd name="csX67" fmla="*/ 11396503 w 12191999"/>
              <a:gd name="csY67" fmla="*/ 718201 h 6858000"/>
              <a:gd name="csX68" fmla="*/ 11394973 w 12191999"/>
              <a:gd name="csY68" fmla="*/ 716908 h 6858000"/>
              <a:gd name="csX69" fmla="*/ 11388865 w 12191999"/>
              <a:gd name="csY69" fmla="*/ 716908 h 6858000"/>
              <a:gd name="csX70" fmla="*/ 11387335 w 12191999"/>
              <a:gd name="csY70" fmla="*/ 718664 h 6858000"/>
              <a:gd name="csX71" fmla="*/ 11371369 w 12191999"/>
              <a:gd name="csY71" fmla="*/ 765596 h 6858000"/>
              <a:gd name="csX72" fmla="*/ 11354939 w 12191999"/>
              <a:gd name="csY72" fmla="*/ 718901 h 6858000"/>
              <a:gd name="csX73" fmla="*/ 11352127 w 12191999"/>
              <a:gd name="csY73" fmla="*/ 716908 h 6858000"/>
              <a:gd name="csX74" fmla="*/ 11344617 w 12191999"/>
              <a:gd name="csY74" fmla="*/ 716908 h 6858000"/>
              <a:gd name="csX75" fmla="*/ 11758537 w 12191999"/>
              <a:gd name="csY75" fmla="*/ 715842 h 6858000"/>
              <a:gd name="csX76" fmla="*/ 11737518 w 12191999"/>
              <a:gd name="csY76" fmla="*/ 733328 h 6858000"/>
              <a:gd name="csX77" fmla="*/ 11754077 w 12191999"/>
              <a:gd name="csY77" fmla="*/ 752344 h 6858000"/>
              <a:gd name="csX78" fmla="*/ 11767695 w 12191999"/>
              <a:gd name="csY78" fmla="*/ 764669 h 6858000"/>
              <a:gd name="csX79" fmla="*/ 11755133 w 12191999"/>
              <a:gd name="csY79" fmla="*/ 775464 h 6858000"/>
              <a:gd name="csX80" fmla="*/ 11739749 w 12191999"/>
              <a:gd name="csY80" fmla="*/ 769010 h 6858000"/>
              <a:gd name="csX81" fmla="*/ 11735170 w 12191999"/>
              <a:gd name="csY81" fmla="*/ 773115 h 6858000"/>
              <a:gd name="csX82" fmla="*/ 11754896 w 12191999"/>
              <a:gd name="csY82" fmla="*/ 782510 h 6858000"/>
              <a:gd name="csX83" fmla="*/ 11777444 w 12191999"/>
              <a:gd name="csY83" fmla="*/ 763494 h 6858000"/>
              <a:gd name="csX84" fmla="*/ 11747268 w 12191999"/>
              <a:gd name="csY84" fmla="*/ 732272 h 6858000"/>
              <a:gd name="csX85" fmla="*/ 11757836 w 12191999"/>
              <a:gd name="csY85" fmla="*/ 722878 h 6858000"/>
              <a:gd name="csX86" fmla="*/ 11770517 w 12191999"/>
              <a:gd name="csY86" fmla="*/ 727575 h 6858000"/>
              <a:gd name="csX87" fmla="*/ 11775095 w 12191999"/>
              <a:gd name="csY87" fmla="*/ 723233 h 6858000"/>
              <a:gd name="csX88" fmla="*/ 11758537 w 12191999"/>
              <a:gd name="csY88" fmla="*/ 715842 h 6858000"/>
              <a:gd name="csX89" fmla="*/ 11630530 w 12191999"/>
              <a:gd name="csY89" fmla="*/ 715487 h 6858000"/>
              <a:gd name="csX90" fmla="*/ 11616577 w 12191999"/>
              <a:gd name="csY90" fmla="*/ 717362 h 6858000"/>
              <a:gd name="csX91" fmla="*/ 11610834 w 12191999"/>
              <a:gd name="csY91" fmla="*/ 722385 h 6858000"/>
              <a:gd name="csX92" fmla="*/ 11610834 w 12191999"/>
              <a:gd name="csY92" fmla="*/ 778395 h 6858000"/>
              <a:gd name="csX93" fmla="*/ 11613301 w 12191999"/>
              <a:gd name="csY93" fmla="*/ 780378 h 6858000"/>
              <a:gd name="csX94" fmla="*/ 11619518 w 12191999"/>
              <a:gd name="csY94" fmla="*/ 780378 h 6858000"/>
              <a:gd name="csX95" fmla="*/ 11621748 w 12191999"/>
              <a:gd name="csY95" fmla="*/ 778395 h 6858000"/>
              <a:gd name="csX96" fmla="*/ 11621748 w 12191999"/>
              <a:gd name="csY96" fmla="*/ 727062 h 6858000"/>
              <a:gd name="csX97" fmla="*/ 11627965 w 12191999"/>
              <a:gd name="csY97" fmla="*/ 721566 h 6858000"/>
              <a:gd name="csX98" fmla="*/ 11641217 w 12191999"/>
              <a:gd name="csY98" fmla="*/ 727299 h 6858000"/>
              <a:gd name="csX99" fmla="*/ 11646595 w 12191999"/>
              <a:gd name="csY99" fmla="*/ 721921 h 6858000"/>
              <a:gd name="csX100" fmla="*/ 11630530 w 12191999"/>
              <a:gd name="csY100" fmla="*/ 715487 h 6858000"/>
              <a:gd name="csX101" fmla="*/ 11575073 w 12191999"/>
              <a:gd name="csY101" fmla="*/ 715487 h 6858000"/>
              <a:gd name="csX102" fmla="*/ 11559175 w 12191999"/>
              <a:gd name="csY102" fmla="*/ 720066 h 6858000"/>
              <a:gd name="csX103" fmla="*/ 11547482 w 12191999"/>
              <a:gd name="csY103" fmla="*/ 749176 h 6858000"/>
              <a:gd name="csX104" fmla="*/ 11559175 w 12191999"/>
              <a:gd name="csY104" fmla="*/ 778168 h 6858000"/>
              <a:gd name="csX105" fmla="*/ 11575073 w 12191999"/>
              <a:gd name="csY105" fmla="*/ 782628 h 6858000"/>
              <a:gd name="csX106" fmla="*/ 11590970 w 12191999"/>
              <a:gd name="csY106" fmla="*/ 778168 h 6858000"/>
              <a:gd name="csX107" fmla="*/ 11602782 w 12191999"/>
              <a:gd name="csY107" fmla="*/ 749176 h 6858000"/>
              <a:gd name="csX108" fmla="*/ 11590970 w 12191999"/>
              <a:gd name="csY108" fmla="*/ 720066 h 6858000"/>
              <a:gd name="csX109" fmla="*/ 11575073 w 12191999"/>
              <a:gd name="csY109" fmla="*/ 715487 h 6858000"/>
              <a:gd name="csX110" fmla="*/ 11513260 w 12191999"/>
              <a:gd name="csY110" fmla="*/ 715487 h 6858000"/>
              <a:gd name="csX111" fmla="*/ 11494235 w 12191999"/>
              <a:gd name="csY111" fmla="*/ 718536 h 6858000"/>
              <a:gd name="csX112" fmla="*/ 11488748 w 12191999"/>
              <a:gd name="csY112" fmla="*/ 723579 h 6858000"/>
              <a:gd name="csX113" fmla="*/ 11488748 w 12191999"/>
              <a:gd name="csY113" fmla="*/ 778493 h 6858000"/>
              <a:gd name="csX114" fmla="*/ 11491087 w 12191999"/>
              <a:gd name="csY114" fmla="*/ 780724 h 6858000"/>
              <a:gd name="csX115" fmla="*/ 11497156 w 12191999"/>
              <a:gd name="csY115" fmla="*/ 780724 h 6858000"/>
              <a:gd name="csX116" fmla="*/ 11499721 w 12191999"/>
              <a:gd name="csY116" fmla="*/ 778257 h 6858000"/>
              <a:gd name="csX117" fmla="*/ 11499721 w 12191999"/>
              <a:gd name="csY117" fmla="*/ 727684 h 6858000"/>
              <a:gd name="csX118" fmla="*/ 11512915 w 12191999"/>
              <a:gd name="csY118" fmla="*/ 722168 h 6858000"/>
              <a:gd name="csX119" fmla="*/ 11527154 w 12191999"/>
              <a:gd name="csY119" fmla="*/ 737186 h 6858000"/>
              <a:gd name="csX120" fmla="*/ 11527154 w 12191999"/>
              <a:gd name="csY120" fmla="*/ 778257 h 6858000"/>
              <a:gd name="csX121" fmla="*/ 11529957 w 12191999"/>
              <a:gd name="csY121" fmla="*/ 780724 h 6858000"/>
              <a:gd name="csX122" fmla="*/ 11536726 w 12191999"/>
              <a:gd name="csY122" fmla="*/ 780724 h 6858000"/>
              <a:gd name="csX123" fmla="*/ 11537890 w 12191999"/>
              <a:gd name="csY123" fmla="*/ 778267 h 6858000"/>
              <a:gd name="csX124" fmla="*/ 11537890 w 12191999"/>
              <a:gd name="csY124" fmla="*/ 735785 h 6858000"/>
              <a:gd name="csX125" fmla="*/ 11513260 w 12191999"/>
              <a:gd name="csY125" fmla="*/ 715487 h 6858000"/>
              <a:gd name="csX126" fmla="*/ 11425159 w 12191999"/>
              <a:gd name="csY126" fmla="*/ 715487 h 6858000"/>
              <a:gd name="csX127" fmla="*/ 11409193 w 12191999"/>
              <a:gd name="csY127" fmla="*/ 720066 h 6858000"/>
              <a:gd name="csX128" fmla="*/ 11397450 w 12191999"/>
              <a:gd name="csY128" fmla="*/ 749176 h 6858000"/>
              <a:gd name="csX129" fmla="*/ 11409193 w 12191999"/>
              <a:gd name="csY129" fmla="*/ 778168 h 6858000"/>
              <a:gd name="csX130" fmla="*/ 11425159 w 12191999"/>
              <a:gd name="csY130" fmla="*/ 782628 h 6858000"/>
              <a:gd name="csX131" fmla="*/ 11441126 w 12191999"/>
              <a:gd name="csY131" fmla="*/ 778168 h 6858000"/>
              <a:gd name="csX132" fmla="*/ 11452987 w 12191999"/>
              <a:gd name="csY132" fmla="*/ 749176 h 6858000"/>
              <a:gd name="csX133" fmla="*/ 11441126 w 12191999"/>
              <a:gd name="csY133" fmla="*/ 720066 h 6858000"/>
              <a:gd name="csX134" fmla="*/ 11425159 w 12191999"/>
              <a:gd name="csY134" fmla="*/ 715487 h 6858000"/>
              <a:gd name="csX135" fmla="*/ 11313375 w 12191999"/>
              <a:gd name="csY135" fmla="*/ 715487 h 6858000"/>
              <a:gd name="csX136" fmla="*/ 11297409 w 12191999"/>
              <a:gd name="csY136" fmla="*/ 720066 h 6858000"/>
              <a:gd name="csX137" fmla="*/ 11285548 w 12191999"/>
              <a:gd name="csY137" fmla="*/ 749176 h 6858000"/>
              <a:gd name="csX138" fmla="*/ 11297409 w 12191999"/>
              <a:gd name="csY138" fmla="*/ 778168 h 6858000"/>
              <a:gd name="csX139" fmla="*/ 11313375 w 12191999"/>
              <a:gd name="csY139" fmla="*/ 782628 h 6858000"/>
              <a:gd name="csX140" fmla="*/ 11329342 w 12191999"/>
              <a:gd name="csY140" fmla="*/ 778168 h 6858000"/>
              <a:gd name="csX141" fmla="*/ 11341085 w 12191999"/>
              <a:gd name="csY141" fmla="*/ 749176 h 6858000"/>
              <a:gd name="csX142" fmla="*/ 11329342 w 12191999"/>
              <a:gd name="csY142" fmla="*/ 720066 h 6858000"/>
              <a:gd name="csX143" fmla="*/ 11313375 w 12191999"/>
              <a:gd name="csY143" fmla="*/ 715487 h 6858000"/>
              <a:gd name="csX144" fmla="*/ 11251444 w 12191999"/>
              <a:gd name="csY144" fmla="*/ 715487 h 6858000"/>
              <a:gd name="csX145" fmla="*/ 11232330 w 12191999"/>
              <a:gd name="csY145" fmla="*/ 718536 h 6858000"/>
              <a:gd name="csX146" fmla="*/ 11226814 w 12191999"/>
              <a:gd name="csY146" fmla="*/ 723579 h 6858000"/>
              <a:gd name="csX147" fmla="*/ 11226814 w 12191999"/>
              <a:gd name="csY147" fmla="*/ 778493 h 6858000"/>
              <a:gd name="csX148" fmla="*/ 11229044 w 12191999"/>
              <a:gd name="csY148" fmla="*/ 780724 h 6858000"/>
              <a:gd name="csX149" fmla="*/ 11235143 w 12191999"/>
              <a:gd name="csY149" fmla="*/ 780724 h 6858000"/>
              <a:gd name="csX150" fmla="*/ 11237718 w 12191999"/>
              <a:gd name="csY150" fmla="*/ 778257 h 6858000"/>
              <a:gd name="csX151" fmla="*/ 11237718 w 12191999"/>
              <a:gd name="csY151" fmla="*/ 727684 h 6858000"/>
              <a:gd name="csX152" fmla="*/ 11250971 w 12191999"/>
              <a:gd name="csY152" fmla="*/ 722168 h 6858000"/>
              <a:gd name="csX153" fmla="*/ 11265279 w 12191999"/>
              <a:gd name="csY153" fmla="*/ 737186 h 6858000"/>
              <a:gd name="csX154" fmla="*/ 11265279 w 12191999"/>
              <a:gd name="csY154" fmla="*/ 778257 h 6858000"/>
              <a:gd name="csX155" fmla="*/ 11268092 w 12191999"/>
              <a:gd name="csY155" fmla="*/ 780724 h 6858000"/>
              <a:gd name="csX156" fmla="*/ 11274890 w 12191999"/>
              <a:gd name="csY156" fmla="*/ 780724 h 6858000"/>
              <a:gd name="csX157" fmla="*/ 11276193 w 12191999"/>
              <a:gd name="csY157" fmla="*/ 778267 h 6858000"/>
              <a:gd name="csX158" fmla="*/ 11276193 w 12191999"/>
              <a:gd name="csY158" fmla="*/ 735785 h 6858000"/>
              <a:gd name="csX159" fmla="*/ 11251444 w 12191999"/>
              <a:gd name="csY159" fmla="*/ 715487 h 6858000"/>
              <a:gd name="csX160" fmla="*/ 11691820 w 12191999"/>
              <a:gd name="csY160" fmla="*/ 694162 h 6858000"/>
              <a:gd name="csX161" fmla="*/ 11689600 w 12191999"/>
              <a:gd name="csY161" fmla="*/ 696975 h 6858000"/>
              <a:gd name="csX162" fmla="*/ 11689600 w 12191999"/>
              <a:gd name="csY162" fmla="*/ 719266 h 6858000"/>
              <a:gd name="csX163" fmla="*/ 11676278 w 12191999"/>
              <a:gd name="csY163" fmla="*/ 715862 h 6858000"/>
              <a:gd name="csX164" fmla="*/ 11647533 w 12191999"/>
              <a:gd name="csY164" fmla="*/ 749176 h 6858000"/>
              <a:gd name="csX165" fmla="*/ 11678498 w 12191999"/>
              <a:gd name="csY165" fmla="*/ 782608 h 6858000"/>
              <a:gd name="csX166" fmla="*/ 11700237 w 12191999"/>
              <a:gd name="csY166" fmla="*/ 773944 h 6858000"/>
              <a:gd name="csX167" fmla="*/ 11700237 w 12191999"/>
              <a:gd name="csY167" fmla="*/ 696629 h 6858000"/>
              <a:gd name="csX168" fmla="*/ 11697899 w 12191999"/>
              <a:gd name="csY168" fmla="*/ 694162 h 6858000"/>
              <a:gd name="csX169" fmla="*/ 11691820 w 12191999"/>
              <a:gd name="csY169" fmla="*/ 694162 h 6858000"/>
              <a:gd name="csX170" fmla="*/ 11788328 w 12191999"/>
              <a:gd name="csY170" fmla="*/ 693935 h 6858000"/>
              <a:gd name="csX171" fmla="*/ 11786325 w 12191999"/>
              <a:gd name="csY171" fmla="*/ 695929 h 6858000"/>
              <a:gd name="csX172" fmla="*/ 11786325 w 12191999"/>
              <a:gd name="csY172" fmla="*/ 778740 h 6858000"/>
              <a:gd name="csX173" fmla="*/ 11788328 w 12191999"/>
              <a:gd name="csY173" fmla="*/ 780615 h 6858000"/>
              <a:gd name="csX174" fmla="*/ 11794792 w 12191999"/>
              <a:gd name="csY174" fmla="*/ 780615 h 6858000"/>
              <a:gd name="csX175" fmla="*/ 11797022 w 12191999"/>
              <a:gd name="csY175" fmla="*/ 778859 h 6858000"/>
              <a:gd name="csX176" fmla="*/ 11797022 w 12191999"/>
              <a:gd name="csY176" fmla="*/ 695692 h 6858000"/>
              <a:gd name="csX177" fmla="*/ 11794792 w 12191999"/>
              <a:gd name="csY177" fmla="*/ 693935 h 6858000"/>
              <a:gd name="csX178" fmla="*/ 11788328 w 12191999"/>
              <a:gd name="csY178" fmla="*/ 693935 h 6858000"/>
              <a:gd name="csX179" fmla="*/ 11720486 w 12191999"/>
              <a:gd name="csY179" fmla="*/ 693225 h 6858000"/>
              <a:gd name="csX180" fmla="*/ 11713737 w 12191999"/>
              <a:gd name="csY180" fmla="*/ 699777 h 6858000"/>
              <a:gd name="csX181" fmla="*/ 11720250 w 12191999"/>
              <a:gd name="csY181" fmla="*/ 706211 h 6858000"/>
              <a:gd name="csX182" fmla="*/ 11726881 w 12191999"/>
              <a:gd name="csY182" fmla="*/ 699313 h 6858000"/>
              <a:gd name="csX183" fmla="*/ 11720486 w 12191999"/>
              <a:gd name="csY183" fmla="*/ 693225 h 6858000"/>
              <a:gd name="csX184" fmla="*/ 11850723 w 12191999"/>
              <a:gd name="csY184" fmla="*/ 683919 h 6858000"/>
              <a:gd name="csX185" fmla="*/ 11850963 w 12191999"/>
              <a:gd name="csY185" fmla="*/ 684096 h 6858000"/>
              <a:gd name="csX186" fmla="*/ 11850723 w 12191999"/>
              <a:gd name="csY186" fmla="*/ 684156 h 6858000"/>
              <a:gd name="csX187" fmla="*/ 11850723 w 12191999"/>
              <a:gd name="csY187" fmla="*/ 683919 h 6858000"/>
              <a:gd name="csX188" fmla="*/ 11843579 w 12191999"/>
              <a:gd name="csY188" fmla="*/ 675354 h 6858000"/>
              <a:gd name="csX189" fmla="*/ 11847437 w 12191999"/>
              <a:gd name="csY189" fmla="*/ 675354 h 6858000"/>
              <a:gd name="csX190" fmla="*/ 11852707 w 12191999"/>
              <a:gd name="csY190" fmla="*/ 678522 h 6858000"/>
              <a:gd name="csX191" fmla="*/ 11847792 w 12191999"/>
              <a:gd name="csY191" fmla="*/ 681689 h 6858000"/>
              <a:gd name="csX192" fmla="*/ 11843579 w 12191999"/>
              <a:gd name="csY192" fmla="*/ 681689 h 6858000"/>
              <a:gd name="csX193" fmla="*/ 11840303 w 12191999"/>
              <a:gd name="csY193" fmla="*/ 672413 h 6858000"/>
              <a:gd name="csX194" fmla="*/ 11840303 w 12191999"/>
              <a:gd name="csY194" fmla="*/ 693659 h 6858000"/>
              <a:gd name="csX195" fmla="*/ 11843816 w 12191999"/>
              <a:gd name="csY195" fmla="*/ 693659 h 6858000"/>
              <a:gd name="csX196" fmla="*/ 11843816 w 12191999"/>
              <a:gd name="csY196" fmla="*/ 684620 h 6858000"/>
              <a:gd name="csX197" fmla="*/ 11845809 w 12191999"/>
              <a:gd name="csY197" fmla="*/ 684620 h 6858000"/>
              <a:gd name="csX198" fmla="*/ 11852124 w 12191999"/>
              <a:gd name="csY198" fmla="*/ 690255 h 6858000"/>
              <a:gd name="csX199" fmla="*/ 11853999 w 12191999"/>
              <a:gd name="csY199" fmla="*/ 693541 h 6858000"/>
              <a:gd name="csX200" fmla="*/ 11858094 w 12191999"/>
              <a:gd name="csY200" fmla="*/ 693541 h 6858000"/>
              <a:gd name="csX201" fmla="*/ 11855519 w 12191999"/>
              <a:gd name="csY201" fmla="*/ 689317 h 6858000"/>
              <a:gd name="csX202" fmla="*/ 11852592 w 12191999"/>
              <a:gd name="csY202" fmla="*/ 685297 h 6858000"/>
              <a:gd name="csX203" fmla="*/ 11850963 w 12191999"/>
              <a:gd name="csY203" fmla="*/ 684096 h 6858000"/>
              <a:gd name="csX204" fmla="*/ 11853484 w 12191999"/>
              <a:gd name="csY204" fmla="*/ 683467 h 6858000"/>
              <a:gd name="csX205" fmla="*/ 11856693 w 12191999"/>
              <a:gd name="csY205" fmla="*/ 678166 h 6858000"/>
              <a:gd name="csX206" fmla="*/ 11854700 w 12191999"/>
              <a:gd name="csY206" fmla="*/ 674061 h 6858000"/>
              <a:gd name="csX207" fmla="*/ 11847792 w 12191999"/>
              <a:gd name="csY207" fmla="*/ 672413 h 6858000"/>
              <a:gd name="csX208" fmla="*/ 11840303 w 12191999"/>
              <a:gd name="csY208" fmla="*/ 672413 h 6858000"/>
              <a:gd name="csX209" fmla="*/ 11848612 w 12191999"/>
              <a:gd name="csY209" fmla="*/ 666552 h 6858000"/>
              <a:gd name="csX210" fmla="*/ 11864992 w 12191999"/>
              <a:gd name="csY210" fmla="*/ 682863 h 6858000"/>
              <a:gd name="csX211" fmla="*/ 11848612 w 12191999"/>
              <a:gd name="csY211" fmla="*/ 699412 h 6858000"/>
              <a:gd name="csX212" fmla="*/ 11832349 w 12191999"/>
              <a:gd name="csY212" fmla="*/ 682863 h 6858000"/>
              <a:gd name="csX213" fmla="*/ 11848612 w 12191999"/>
              <a:gd name="csY213" fmla="*/ 666552 h 6858000"/>
              <a:gd name="csX214" fmla="*/ 11848612 w 12191999"/>
              <a:gd name="csY214" fmla="*/ 663147 h 6858000"/>
              <a:gd name="csX215" fmla="*/ 11829073 w 12191999"/>
              <a:gd name="csY215" fmla="*/ 682863 h 6858000"/>
              <a:gd name="csX216" fmla="*/ 11848612 w 12191999"/>
              <a:gd name="csY216" fmla="*/ 702580 h 6858000"/>
              <a:gd name="csX217" fmla="*/ 11868150 w 12191999"/>
              <a:gd name="csY217" fmla="*/ 682863 h 6858000"/>
              <a:gd name="csX218" fmla="*/ 11848612 w 12191999"/>
              <a:gd name="csY218" fmla="*/ 663147 h 6858000"/>
              <a:gd name="csX219" fmla="*/ 11653507 w 12191999"/>
              <a:gd name="csY219" fmla="*/ 535252 h 6858000"/>
              <a:gd name="csX220" fmla="*/ 11655161 w 12191999"/>
              <a:gd name="csY220" fmla="*/ 535999 h 6858000"/>
              <a:gd name="csX221" fmla="*/ 11658328 w 12191999"/>
              <a:gd name="csY221" fmla="*/ 611371 h 6858000"/>
              <a:gd name="csX222" fmla="*/ 11654697 w 12191999"/>
              <a:gd name="csY222" fmla="*/ 610670 h 6858000"/>
              <a:gd name="csX223" fmla="*/ 11648835 w 12191999"/>
              <a:gd name="csY223" fmla="*/ 579724 h 6858000"/>
              <a:gd name="csX224" fmla="*/ 11652467 w 12191999"/>
              <a:gd name="csY224" fmla="*/ 536355 h 6858000"/>
              <a:gd name="csX225" fmla="*/ 11653507 w 12191999"/>
              <a:gd name="csY225" fmla="*/ 535252 h 6858000"/>
              <a:gd name="csX226" fmla="*/ 11517474 w 12191999"/>
              <a:gd name="csY226" fmla="*/ 490400 h 6858000"/>
              <a:gd name="csX227" fmla="*/ 11571777 w 12191999"/>
              <a:gd name="csY227" fmla="*/ 492275 h 6858000"/>
              <a:gd name="csX228" fmla="*/ 11570247 w 12191999"/>
              <a:gd name="csY228" fmla="*/ 522046 h 6858000"/>
              <a:gd name="csX229" fmla="*/ 11525565 w 12191999"/>
              <a:gd name="csY229" fmla="*/ 526151 h 6858000"/>
              <a:gd name="csX230" fmla="*/ 11519585 w 12191999"/>
              <a:gd name="csY230" fmla="*/ 519352 h 6858000"/>
              <a:gd name="csX231" fmla="*/ 11517474 w 12191999"/>
              <a:gd name="csY231" fmla="*/ 490400 h 6858000"/>
              <a:gd name="csX232" fmla="*/ 11612235 w 12191999"/>
              <a:gd name="csY232" fmla="*/ 487469 h 6858000"/>
              <a:gd name="csX233" fmla="*/ 11616222 w 12191999"/>
              <a:gd name="csY233" fmla="*/ 506929 h 6858000"/>
              <a:gd name="csX234" fmla="*/ 11606838 w 12191999"/>
              <a:gd name="csY234" fmla="*/ 513728 h 6858000"/>
              <a:gd name="csX235" fmla="*/ 11599210 w 12191999"/>
              <a:gd name="csY235" fmla="*/ 489226 h 6858000"/>
              <a:gd name="csX236" fmla="*/ 11612235 w 12191999"/>
              <a:gd name="csY236" fmla="*/ 487469 h 6858000"/>
              <a:gd name="csX237" fmla="*/ 11472446 w 12191999"/>
              <a:gd name="csY237" fmla="*/ 480680 h 6858000"/>
              <a:gd name="csX238" fmla="*/ 11489804 w 12191999"/>
              <a:gd name="csY238" fmla="*/ 485367 h 6858000"/>
              <a:gd name="csX239" fmla="*/ 11473857 w 12191999"/>
              <a:gd name="csY239" fmla="*/ 519362 h 6858000"/>
              <a:gd name="csX240" fmla="*/ 11466230 w 12191999"/>
              <a:gd name="csY240" fmla="*/ 513382 h 6858000"/>
              <a:gd name="csX241" fmla="*/ 11472446 w 12191999"/>
              <a:gd name="csY241" fmla="*/ 480680 h 6858000"/>
              <a:gd name="csX242" fmla="*/ 11452359 w 12191999"/>
              <a:gd name="csY242" fmla="*/ 474250 h 6858000"/>
              <a:gd name="csX243" fmla="*/ 11463427 w 12191999"/>
              <a:gd name="csY243" fmla="*/ 477868 h 6858000"/>
              <a:gd name="csX244" fmla="*/ 11455799 w 12191999"/>
              <a:gd name="csY244" fmla="*/ 518069 h 6858000"/>
              <a:gd name="csX245" fmla="*/ 11474913 w 12191999"/>
              <a:gd name="csY245" fmla="*/ 528036 h 6858000"/>
              <a:gd name="csX246" fmla="*/ 11498251 w 12191999"/>
              <a:gd name="csY246" fmla="*/ 487242 h 6858000"/>
              <a:gd name="csX247" fmla="*/ 11509273 w 12191999"/>
              <a:gd name="csY247" fmla="*/ 489235 h 6858000"/>
              <a:gd name="csX248" fmla="*/ 11512678 w 12191999"/>
              <a:gd name="csY248" fmla="*/ 527444 h 6858000"/>
              <a:gd name="csX249" fmla="*/ 11524638 w 12191999"/>
              <a:gd name="csY249" fmla="*/ 534944 h 6858000"/>
              <a:gd name="csX250" fmla="*/ 11577175 w 12191999"/>
              <a:gd name="csY250" fmla="*/ 528381 h 6858000"/>
              <a:gd name="csX251" fmla="*/ 11580105 w 12191999"/>
              <a:gd name="csY251" fmla="*/ 491574 h 6858000"/>
              <a:gd name="csX252" fmla="*/ 11590190 w 12191999"/>
              <a:gd name="csY252" fmla="*/ 490400 h 6858000"/>
              <a:gd name="csX253" fmla="*/ 11598637 w 12191999"/>
              <a:gd name="csY253" fmla="*/ 514547 h 6858000"/>
              <a:gd name="csX254" fmla="*/ 11616350 w 12191999"/>
              <a:gd name="csY254" fmla="*/ 517596 h 6858000"/>
              <a:gd name="csX255" fmla="*/ 11619982 w 12191999"/>
              <a:gd name="csY255" fmla="*/ 486532 h 6858000"/>
              <a:gd name="csX256" fmla="*/ 11640971 w 12191999"/>
              <a:gd name="csY256" fmla="*/ 519007 h 6858000"/>
              <a:gd name="csX257" fmla="*/ 11629248 w 12191999"/>
              <a:gd name="csY257" fmla="*/ 567419 h 6858000"/>
              <a:gd name="csX258" fmla="*/ 11560172 w 12191999"/>
              <a:gd name="csY258" fmla="*/ 552064 h 6858000"/>
              <a:gd name="csX259" fmla="*/ 11488985 w 12191999"/>
              <a:gd name="csY259" fmla="*/ 590510 h 6858000"/>
              <a:gd name="csX260" fmla="*/ 11485936 w 12191999"/>
              <a:gd name="csY260" fmla="*/ 591329 h 6858000"/>
              <a:gd name="csX261" fmla="*/ 11451339 w 12191999"/>
              <a:gd name="csY261" fmla="*/ 566482 h 6858000"/>
              <a:gd name="csX262" fmla="*/ 11424251 w 12191999"/>
              <a:gd name="csY262" fmla="*/ 533779 h 6858000"/>
              <a:gd name="csX263" fmla="*/ 11448063 w 12191999"/>
              <a:gd name="csY263" fmla="*/ 477049 h 6858000"/>
              <a:gd name="csX264" fmla="*/ 11452359 w 12191999"/>
              <a:gd name="csY264" fmla="*/ 474250 h 6858000"/>
              <a:gd name="csX265" fmla="*/ 11396326 w 12191999"/>
              <a:gd name="csY265" fmla="*/ 460950 h 6858000"/>
              <a:gd name="csX266" fmla="*/ 11385431 w 12191999"/>
              <a:gd name="csY266" fmla="*/ 468700 h 6858000"/>
              <a:gd name="csX267" fmla="*/ 11399591 w 12191999"/>
              <a:gd name="csY267" fmla="*/ 461813 h 6858000"/>
              <a:gd name="csX268" fmla="*/ 11396326 w 12191999"/>
              <a:gd name="csY268" fmla="*/ 460950 h 6858000"/>
              <a:gd name="csX269" fmla="*/ 11392926 w 12191999"/>
              <a:gd name="csY269" fmla="*/ 446221 h 6858000"/>
              <a:gd name="csX270" fmla="*/ 11415804 w 12191999"/>
              <a:gd name="csY270" fmla="*/ 456060 h 6858000"/>
              <a:gd name="csX271" fmla="*/ 11435738 w 12191999"/>
              <a:gd name="csY271" fmla="*/ 477157 h 6858000"/>
              <a:gd name="csX272" fmla="*/ 11413101 w 12191999"/>
              <a:gd name="csY272" fmla="*/ 526625 h 6858000"/>
              <a:gd name="csX273" fmla="*/ 11395861 w 12191999"/>
              <a:gd name="csY273" fmla="*/ 499311 h 6858000"/>
              <a:gd name="csX274" fmla="*/ 11371231 w 12191999"/>
              <a:gd name="csY274" fmla="*/ 492275 h 6858000"/>
              <a:gd name="csX275" fmla="*/ 11368882 w 12191999"/>
              <a:gd name="csY275" fmla="*/ 481144 h 6858000"/>
              <a:gd name="csX276" fmla="*/ 11375681 w 12191999"/>
              <a:gd name="csY276" fmla="*/ 471996 h 6858000"/>
              <a:gd name="csX277" fmla="*/ 11378148 w 12191999"/>
              <a:gd name="csY277" fmla="*/ 461684 h 6858000"/>
              <a:gd name="csX278" fmla="*/ 11388825 w 12191999"/>
              <a:gd name="csY278" fmla="*/ 448442 h 6858000"/>
              <a:gd name="csX279" fmla="*/ 11392926 w 12191999"/>
              <a:gd name="csY279" fmla="*/ 446221 h 6858000"/>
              <a:gd name="csX280" fmla="*/ 11365096 w 12191999"/>
              <a:gd name="csY280" fmla="*/ 390642 h 6858000"/>
              <a:gd name="csX281" fmla="*/ 11363366 w 12191999"/>
              <a:gd name="csY281" fmla="*/ 397119 h 6858000"/>
              <a:gd name="csX282" fmla="*/ 11376037 w 12191999"/>
              <a:gd name="csY282" fmla="*/ 435100 h 6858000"/>
              <a:gd name="csX283" fmla="*/ 11378967 w 12191999"/>
              <a:gd name="csY283" fmla="*/ 444475 h 6858000"/>
              <a:gd name="csX284" fmla="*/ 11369119 w 12191999"/>
              <a:gd name="csY284" fmla="*/ 458536 h 6858000"/>
              <a:gd name="csX285" fmla="*/ 11368063 w 12191999"/>
              <a:gd name="csY285" fmla="*/ 465572 h 6858000"/>
              <a:gd name="csX286" fmla="*/ 11357278 w 12191999"/>
              <a:gd name="csY286" fmla="*/ 480108 h 6858000"/>
              <a:gd name="csX287" fmla="*/ 11358916 w 12191999"/>
              <a:gd name="csY287" fmla="*/ 491949 h 6858000"/>
              <a:gd name="csX288" fmla="*/ 11368537 w 12191999"/>
              <a:gd name="csY288" fmla="*/ 501916 h 6858000"/>
              <a:gd name="csX289" fmla="*/ 11381434 w 12191999"/>
              <a:gd name="csY289" fmla="*/ 503327 h 6858000"/>
              <a:gd name="csX290" fmla="*/ 11396680 w 12191999"/>
              <a:gd name="csY290" fmla="*/ 515287 h 6858000"/>
              <a:gd name="csX291" fmla="*/ 11423886 w 12191999"/>
              <a:gd name="csY291" fmla="*/ 562169 h 6858000"/>
              <a:gd name="csX292" fmla="*/ 11429748 w 12191999"/>
              <a:gd name="csY292" fmla="*/ 585961 h 6858000"/>
              <a:gd name="csX293" fmla="*/ 11398555 w 12191999"/>
              <a:gd name="csY293" fmla="*/ 679735 h 6858000"/>
              <a:gd name="csX294" fmla="*/ 11400193 w 12191999"/>
              <a:gd name="csY294" fmla="*/ 689228 h 6858000"/>
              <a:gd name="csX295" fmla="*/ 11424123 w 12191999"/>
              <a:gd name="csY295" fmla="*/ 689228 h 6858000"/>
              <a:gd name="csX296" fmla="*/ 11429284 w 12191999"/>
              <a:gd name="csY296" fmla="*/ 682429 h 6858000"/>
              <a:gd name="csX297" fmla="*/ 11461187 w 12191999"/>
              <a:gd name="csY297" fmla="*/ 587717 h 6858000"/>
              <a:gd name="csX298" fmla="*/ 11493554 w 12191999"/>
              <a:gd name="csY298" fmla="*/ 680554 h 6858000"/>
              <a:gd name="csX299" fmla="*/ 11496958 w 12191999"/>
              <a:gd name="csY299" fmla="*/ 689465 h 6858000"/>
              <a:gd name="csX300" fmla="*/ 11517484 w 12191999"/>
              <a:gd name="csY300" fmla="*/ 689465 h 6858000"/>
              <a:gd name="csX301" fmla="*/ 11524164 w 12191999"/>
              <a:gd name="csY301" fmla="*/ 683485 h 6858000"/>
              <a:gd name="csX302" fmla="*/ 11502238 w 12191999"/>
              <a:gd name="csY302" fmla="*/ 597684 h 6858000"/>
              <a:gd name="csX303" fmla="*/ 11558297 w 12191999"/>
              <a:gd name="csY303" fmla="*/ 575767 h 6858000"/>
              <a:gd name="csX304" fmla="*/ 11589490 w 12191999"/>
              <a:gd name="csY304" fmla="*/ 600269 h 6858000"/>
              <a:gd name="csX305" fmla="*/ 11537298 w 12191999"/>
              <a:gd name="csY305" fmla="*/ 680564 h 6858000"/>
              <a:gd name="csX306" fmla="*/ 11539410 w 12191999"/>
              <a:gd name="csY306" fmla="*/ 689238 h 6858000"/>
              <a:gd name="csX307" fmla="*/ 11561110 w 12191999"/>
              <a:gd name="csY307" fmla="*/ 689238 h 6858000"/>
              <a:gd name="csX308" fmla="*/ 11569083 w 12191999"/>
              <a:gd name="csY308" fmla="*/ 684196 h 6858000"/>
              <a:gd name="csX309" fmla="*/ 11616232 w 12191999"/>
              <a:gd name="csY309" fmla="*/ 608361 h 6858000"/>
              <a:gd name="csX310" fmla="*/ 11625261 w 12191999"/>
              <a:gd name="csY310" fmla="*/ 580820 h 6858000"/>
              <a:gd name="csX311" fmla="*/ 11616696 w 12191999"/>
              <a:gd name="csY311" fmla="*/ 680683 h 6858000"/>
              <a:gd name="csX312" fmla="*/ 11618807 w 12191999"/>
              <a:gd name="csY312" fmla="*/ 689120 h 6858000"/>
              <a:gd name="csX313" fmla="*/ 11638395 w 12191999"/>
              <a:gd name="csY313" fmla="*/ 689120 h 6858000"/>
              <a:gd name="csX314" fmla="*/ 11644494 w 12191999"/>
              <a:gd name="csY314" fmla="*/ 681620 h 6858000"/>
              <a:gd name="csX315" fmla="*/ 11649181 w 12191999"/>
              <a:gd name="csY315" fmla="*/ 665091 h 6858000"/>
              <a:gd name="csX316" fmla="*/ 11666894 w 12191999"/>
              <a:gd name="csY316" fmla="*/ 660523 h 6858000"/>
              <a:gd name="csX317" fmla="*/ 11671472 w 12191999"/>
              <a:gd name="csY317" fmla="*/ 653724 h 6858000"/>
              <a:gd name="csX318" fmla="*/ 11667476 w 12191999"/>
              <a:gd name="csY318" fmla="*/ 507639 h 6858000"/>
              <a:gd name="csX319" fmla="*/ 11620564 w 12191999"/>
              <a:gd name="csY319" fmla="*/ 477167 h 6858000"/>
              <a:gd name="csX320" fmla="*/ 11550314 w 12191999"/>
              <a:gd name="csY320" fmla="*/ 482555 h 6858000"/>
              <a:gd name="csX321" fmla="*/ 11436438 w 12191999"/>
              <a:gd name="csY321" fmla="*/ 456415 h 6858000"/>
              <a:gd name="csX322" fmla="*/ 11436083 w 12191999"/>
              <a:gd name="csY322" fmla="*/ 451254 h 6858000"/>
              <a:gd name="csX323" fmla="*/ 11465637 w 12191999"/>
              <a:gd name="csY323" fmla="*/ 427581 h 6858000"/>
              <a:gd name="csX324" fmla="*/ 11463289 w 12191999"/>
              <a:gd name="csY324" fmla="*/ 421255 h 6858000"/>
              <a:gd name="csX325" fmla="*/ 11403479 w 12191999"/>
              <a:gd name="csY325" fmla="*/ 432041 h 6858000"/>
              <a:gd name="csX326" fmla="*/ 11368409 w 12191999"/>
              <a:gd name="csY326" fmla="*/ 394888 h 6858000"/>
              <a:gd name="csX327" fmla="*/ 11365096 w 12191999"/>
              <a:gd name="csY327" fmla="*/ 390642 h 6858000"/>
              <a:gd name="csX328" fmla="*/ 11426797 w 12191999"/>
              <a:gd name="csY328" fmla="*/ 336786 h 6858000"/>
              <a:gd name="csX329" fmla="*/ 11458690 w 12191999"/>
              <a:gd name="csY329" fmla="*/ 368758 h 6858000"/>
              <a:gd name="csX330" fmla="*/ 11426797 w 12191999"/>
              <a:gd name="csY330" fmla="*/ 400730 h 6858000"/>
              <a:gd name="csX331" fmla="*/ 11394667 w 12191999"/>
              <a:gd name="csY331" fmla="*/ 368758 h 6858000"/>
              <a:gd name="csX332" fmla="*/ 11426797 w 12191999"/>
              <a:gd name="csY332" fmla="*/ 336786 h 6858000"/>
              <a:gd name="csX333" fmla="*/ 11425396 w 12191999"/>
              <a:gd name="csY333" fmla="*/ 325428 h 6858000"/>
              <a:gd name="csX334" fmla="*/ 11377201 w 12191999"/>
              <a:gd name="csY334" fmla="*/ 373801 h 6858000"/>
              <a:gd name="csX335" fmla="*/ 11425396 w 12191999"/>
              <a:gd name="csY335" fmla="*/ 422173 h 6858000"/>
              <a:gd name="csX336" fmla="*/ 11473591 w 12191999"/>
              <a:gd name="csY336" fmla="*/ 373801 h 6858000"/>
              <a:gd name="csX337" fmla="*/ 11425396 w 12191999"/>
              <a:gd name="csY337" fmla="*/ 325428 h 6858000"/>
              <a:gd name="csX338" fmla="*/ 0 w 12191999"/>
              <a:gd name="csY338" fmla="*/ 0 h 6858000"/>
              <a:gd name="csX339" fmla="*/ 12191999 w 12191999"/>
              <a:gd name="csY339" fmla="*/ 0 h 6858000"/>
              <a:gd name="csX340" fmla="*/ 12191999 w 12191999"/>
              <a:gd name="csY340" fmla="*/ 6858000 h 6858000"/>
              <a:gd name="csX341" fmla="*/ 0 w 12191999"/>
              <a:gd name="csY34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12191999" h="6858000">
                <a:moveTo>
                  <a:pt x="11678035" y="723391"/>
                </a:moveTo>
                <a:cubicBezTo>
                  <a:pt x="11684340" y="723391"/>
                  <a:pt x="11687261" y="725384"/>
                  <a:pt x="11689718" y="727378"/>
                </a:cubicBezTo>
                <a:cubicBezTo>
                  <a:pt x="11689718" y="770431"/>
                  <a:pt x="11689718" y="770431"/>
                  <a:pt x="11689718" y="770431"/>
                </a:cubicBezTo>
                <a:lnTo>
                  <a:pt x="11689600" y="770431"/>
                </a:lnTo>
                <a:cubicBezTo>
                  <a:pt x="11689600" y="773599"/>
                  <a:pt x="11684340" y="775355"/>
                  <a:pt x="11678854" y="775355"/>
                </a:cubicBezTo>
                <a:cubicBezTo>
                  <a:pt x="11667052" y="775355"/>
                  <a:pt x="11658644" y="765379"/>
                  <a:pt x="11658644" y="748377"/>
                </a:cubicBezTo>
                <a:cubicBezTo>
                  <a:pt x="11658644" y="733358"/>
                  <a:pt x="11666825" y="723391"/>
                  <a:pt x="11678035" y="723391"/>
                </a:cubicBezTo>
                <a:close/>
                <a:moveTo>
                  <a:pt x="11575063" y="722651"/>
                </a:moveTo>
                <a:cubicBezTo>
                  <a:pt x="11579385" y="722651"/>
                  <a:pt x="11582543" y="723589"/>
                  <a:pt x="11585819" y="726756"/>
                </a:cubicBezTo>
                <a:cubicBezTo>
                  <a:pt x="11589332" y="730042"/>
                  <a:pt x="11591552" y="737325"/>
                  <a:pt x="11591552" y="749176"/>
                </a:cubicBezTo>
                <a:cubicBezTo>
                  <a:pt x="11591552" y="760682"/>
                  <a:pt x="11589332" y="768192"/>
                  <a:pt x="11585819" y="771477"/>
                </a:cubicBezTo>
                <a:cubicBezTo>
                  <a:pt x="11582543" y="774645"/>
                  <a:pt x="11579385" y="775464"/>
                  <a:pt x="11575063" y="775464"/>
                </a:cubicBezTo>
                <a:cubicBezTo>
                  <a:pt x="11570741" y="775464"/>
                  <a:pt x="11567810" y="774645"/>
                  <a:pt x="11564544" y="771477"/>
                </a:cubicBezTo>
                <a:cubicBezTo>
                  <a:pt x="11561149" y="768192"/>
                  <a:pt x="11558810" y="760909"/>
                  <a:pt x="11558810" y="749176"/>
                </a:cubicBezTo>
                <a:cubicBezTo>
                  <a:pt x="11558810" y="737552"/>
                  <a:pt x="11561149" y="730042"/>
                  <a:pt x="11564544" y="726756"/>
                </a:cubicBezTo>
                <a:cubicBezTo>
                  <a:pt x="11567820" y="723589"/>
                  <a:pt x="11570977" y="722651"/>
                  <a:pt x="11575063" y="722651"/>
                </a:cubicBezTo>
                <a:close/>
                <a:moveTo>
                  <a:pt x="11425386" y="722651"/>
                </a:moveTo>
                <a:cubicBezTo>
                  <a:pt x="11429738" y="722651"/>
                  <a:pt x="11432669" y="723589"/>
                  <a:pt x="11435955" y="726756"/>
                </a:cubicBezTo>
                <a:cubicBezTo>
                  <a:pt x="11439478" y="730042"/>
                  <a:pt x="11441708" y="737325"/>
                  <a:pt x="11441708" y="749176"/>
                </a:cubicBezTo>
                <a:cubicBezTo>
                  <a:pt x="11441708" y="760682"/>
                  <a:pt x="11439478" y="768192"/>
                  <a:pt x="11435955" y="771477"/>
                </a:cubicBezTo>
                <a:cubicBezTo>
                  <a:pt x="11432669" y="774645"/>
                  <a:pt x="11429501" y="775464"/>
                  <a:pt x="11425386" y="775464"/>
                </a:cubicBezTo>
                <a:cubicBezTo>
                  <a:pt x="11421044" y="775464"/>
                  <a:pt x="11418104" y="774645"/>
                  <a:pt x="11414581" y="771477"/>
                </a:cubicBezTo>
                <a:cubicBezTo>
                  <a:pt x="11411176" y="768192"/>
                  <a:pt x="11408828" y="760909"/>
                  <a:pt x="11408828" y="749176"/>
                </a:cubicBezTo>
                <a:cubicBezTo>
                  <a:pt x="11408828" y="737552"/>
                  <a:pt x="11411176" y="730042"/>
                  <a:pt x="11414581" y="726756"/>
                </a:cubicBezTo>
                <a:cubicBezTo>
                  <a:pt x="11417867" y="723589"/>
                  <a:pt x="11421034" y="722651"/>
                  <a:pt x="11425386" y="722651"/>
                </a:cubicBezTo>
                <a:close/>
                <a:moveTo>
                  <a:pt x="11313366" y="722651"/>
                </a:moveTo>
                <a:cubicBezTo>
                  <a:pt x="11317707" y="722651"/>
                  <a:pt x="11320648" y="723589"/>
                  <a:pt x="11324053" y="726756"/>
                </a:cubicBezTo>
                <a:cubicBezTo>
                  <a:pt x="11327467" y="730042"/>
                  <a:pt x="11329805" y="737325"/>
                  <a:pt x="11329805" y="749176"/>
                </a:cubicBezTo>
                <a:cubicBezTo>
                  <a:pt x="11329805" y="760682"/>
                  <a:pt x="11327575" y="768192"/>
                  <a:pt x="11324053" y="771477"/>
                </a:cubicBezTo>
                <a:cubicBezTo>
                  <a:pt x="11320766" y="774645"/>
                  <a:pt x="11317707" y="775464"/>
                  <a:pt x="11313366" y="775464"/>
                </a:cubicBezTo>
                <a:cubicBezTo>
                  <a:pt x="11309024" y="775464"/>
                  <a:pt x="11306083" y="774645"/>
                  <a:pt x="11302797" y="771477"/>
                </a:cubicBezTo>
                <a:cubicBezTo>
                  <a:pt x="11299274" y="768192"/>
                  <a:pt x="11297044" y="760909"/>
                  <a:pt x="11297044" y="749176"/>
                </a:cubicBezTo>
                <a:cubicBezTo>
                  <a:pt x="11297044" y="737552"/>
                  <a:pt x="11299274" y="730042"/>
                  <a:pt x="11302797" y="726756"/>
                </a:cubicBezTo>
                <a:cubicBezTo>
                  <a:pt x="11306083" y="723589"/>
                  <a:pt x="11309142" y="722651"/>
                  <a:pt x="11313366" y="722651"/>
                </a:cubicBezTo>
                <a:close/>
                <a:moveTo>
                  <a:pt x="11716875" y="717214"/>
                </a:moveTo>
                <a:cubicBezTo>
                  <a:pt x="11714783" y="717214"/>
                  <a:pt x="11714783" y="717914"/>
                  <a:pt x="11714783" y="719434"/>
                </a:cubicBezTo>
                <a:cubicBezTo>
                  <a:pt x="11714783" y="778513"/>
                  <a:pt x="11714783" y="778513"/>
                  <a:pt x="11714783" y="778513"/>
                </a:cubicBezTo>
                <a:cubicBezTo>
                  <a:pt x="11714783" y="780270"/>
                  <a:pt x="11714783" y="780734"/>
                  <a:pt x="11716648" y="780734"/>
                </a:cubicBezTo>
                <a:cubicBezTo>
                  <a:pt x="11723279" y="780734"/>
                  <a:pt x="11723279" y="780734"/>
                  <a:pt x="11723279" y="780734"/>
                </a:cubicBezTo>
                <a:cubicBezTo>
                  <a:pt x="11725134" y="780615"/>
                  <a:pt x="11725598" y="780615"/>
                  <a:pt x="11725598" y="778513"/>
                </a:cubicBezTo>
                <a:cubicBezTo>
                  <a:pt x="11725598" y="719434"/>
                  <a:pt x="11725598" y="719434"/>
                  <a:pt x="11725598" y="719434"/>
                </a:cubicBezTo>
                <a:cubicBezTo>
                  <a:pt x="11725598" y="717559"/>
                  <a:pt x="11725134" y="717214"/>
                  <a:pt x="11723269" y="717214"/>
                </a:cubicBezTo>
                <a:cubicBezTo>
                  <a:pt x="11716875" y="717214"/>
                  <a:pt x="11716875" y="717214"/>
                  <a:pt x="11716875" y="717214"/>
                </a:cubicBezTo>
                <a:close/>
                <a:moveTo>
                  <a:pt x="11824652" y="716908"/>
                </a:moveTo>
                <a:cubicBezTo>
                  <a:pt x="11822422" y="716908"/>
                  <a:pt x="11821593" y="716789"/>
                  <a:pt x="11820892" y="718901"/>
                </a:cubicBezTo>
                <a:cubicBezTo>
                  <a:pt x="11817370" y="729440"/>
                  <a:pt x="11808311" y="740808"/>
                  <a:pt x="11799144" y="746196"/>
                </a:cubicBezTo>
                <a:cubicBezTo>
                  <a:pt x="11798788" y="746551"/>
                  <a:pt x="11798670" y="746896"/>
                  <a:pt x="11798670" y="746896"/>
                </a:cubicBezTo>
                <a:cubicBezTo>
                  <a:pt x="11798670" y="747015"/>
                  <a:pt x="11798788" y="747360"/>
                  <a:pt x="11798788" y="747597"/>
                </a:cubicBezTo>
                <a:cubicBezTo>
                  <a:pt x="11820656" y="778869"/>
                  <a:pt x="11820656" y="778869"/>
                  <a:pt x="11820656" y="778869"/>
                </a:cubicBezTo>
                <a:cubicBezTo>
                  <a:pt x="11821948" y="780743"/>
                  <a:pt x="11822422" y="780743"/>
                  <a:pt x="11824297" y="780743"/>
                </a:cubicBezTo>
                <a:cubicBezTo>
                  <a:pt x="11832645" y="780743"/>
                  <a:pt x="11832645" y="780743"/>
                  <a:pt x="11832645" y="780743"/>
                </a:cubicBezTo>
                <a:cubicBezTo>
                  <a:pt x="11833227" y="780615"/>
                  <a:pt x="11834402" y="780615"/>
                  <a:pt x="11834402" y="779214"/>
                </a:cubicBezTo>
                <a:cubicBezTo>
                  <a:pt x="11834402" y="778750"/>
                  <a:pt x="11834046" y="778158"/>
                  <a:pt x="11833583" y="777694"/>
                </a:cubicBezTo>
                <a:cubicBezTo>
                  <a:pt x="11810304" y="746887"/>
                  <a:pt x="11810304" y="746887"/>
                  <a:pt x="11810304" y="746887"/>
                </a:cubicBezTo>
                <a:cubicBezTo>
                  <a:pt x="11810067" y="746650"/>
                  <a:pt x="11810067" y="746650"/>
                  <a:pt x="11810067" y="746650"/>
                </a:cubicBezTo>
                <a:cubicBezTo>
                  <a:pt x="11818297" y="740561"/>
                  <a:pt x="11826764" y="731068"/>
                  <a:pt x="11832053" y="720766"/>
                </a:cubicBezTo>
                <a:cubicBezTo>
                  <a:pt x="11832527" y="719592"/>
                  <a:pt x="11832645" y="719010"/>
                  <a:pt x="11832645" y="718309"/>
                </a:cubicBezTo>
                <a:cubicBezTo>
                  <a:pt x="11832645" y="717253"/>
                  <a:pt x="11832053" y="716908"/>
                  <a:pt x="11830415" y="716908"/>
                </a:cubicBezTo>
                <a:cubicBezTo>
                  <a:pt x="11824652" y="716908"/>
                  <a:pt x="11824652" y="716908"/>
                  <a:pt x="11824652" y="716908"/>
                </a:cubicBezTo>
                <a:close/>
                <a:moveTo>
                  <a:pt x="11344617" y="716908"/>
                </a:moveTo>
                <a:cubicBezTo>
                  <a:pt x="11344144" y="716908"/>
                  <a:pt x="11342969" y="716908"/>
                  <a:pt x="11342969" y="718546"/>
                </a:cubicBezTo>
                <a:cubicBezTo>
                  <a:pt x="11342969" y="719020"/>
                  <a:pt x="11343088" y="719602"/>
                  <a:pt x="11343443" y="720302"/>
                </a:cubicBezTo>
                <a:cubicBezTo>
                  <a:pt x="11365626" y="778849"/>
                  <a:pt x="11365626" y="778849"/>
                  <a:pt x="11365626" y="778849"/>
                </a:cubicBezTo>
                <a:cubicBezTo>
                  <a:pt x="11366327" y="780260"/>
                  <a:pt x="11366563" y="780724"/>
                  <a:pt x="11367619" y="780724"/>
                </a:cubicBezTo>
                <a:cubicBezTo>
                  <a:pt x="11372435" y="780724"/>
                  <a:pt x="11372435" y="780724"/>
                  <a:pt x="11372435" y="780724"/>
                </a:cubicBezTo>
                <a:cubicBezTo>
                  <a:pt x="11373846" y="780724"/>
                  <a:pt x="11374191" y="780487"/>
                  <a:pt x="11374665" y="778849"/>
                </a:cubicBezTo>
                <a:cubicBezTo>
                  <a:pt x="11396266" y="720075"/>
                  <a:pt x="11396266" y="720075"/>
                  <a:pt x="11396266" y="720075"/>
                </a:cubicBezTo>
                <a:cubicBezTo>
                  <a:pt x="11396503" y="718664"/>
                  <a:pt x="11396503" y="718546"/>
                  <a:pt x="11396503" y="718201"/>
                </a:cubicBezTo>
                <a:cubicBezTo>
                  <a:pt x="11396503" y="716908"/>
                  <a:pt x="11395565" y="716908"/>
                  <a:pt x="11394973" y="716908"/>
                </a:cubicBezTo>
                <a:cubicBezTo>
                  <a:pt x="11388865" y="716908"/>
                  <a:pt x="11388865" y="716908"/>
                  <a:pt x="11388865" y="716908"/>
                </a:cubicBezTo>
                <a:cubicBezTo>
                  <a:pt x="11388046" y="717145"/>
                  <a:pt x="11387927" y="717490"/>
                  <a:pt x="11387335" y="718664"/>
                </a:cubicBezTo>
                <a:cubicBezTo>
                  <a:pt x="11371369" y="765596"/>
                  <a:pt x="11371369" y="765596"/>
                  <a:pt x="11371369" y="765596"/>
                </a:cubicBezTo>
                <a:cubicBezTo>
                  <a:pt x="11354939" y="718901"/>
                  <a:pt x="11354939" y="718901"/>
                  <a:pt x="11354939" y="718901"/>
                </a:cubicBezTo>
                <a:cubicBezTo>
                  <a:pt x="11354238" y="717145"/>
                  <a:pt x="11354002" y="716908"/>
                  <a:pt x="11352127" y="716908"/>
                </a:cubicBezTo>
                <a:cubicBezTo>
                  <a:pt x="11344617" y="716908"/>
                  <a:pt x="11344617" y="716908"/>
                  <a:pt x="11344617" y="716908"/>
                </a:cubicBezTo>
                <a:close/>
                <a:moveTo>
                  <a:pt x="11758537" y="715842"/>
                </a:moveTo>
                <a:cubicBezTo>
                  <a:pt x="11747495" y="715842"/>
                  <a:pt x="11737518" y="721950"/>
                  <a:pt x="11737518" y="733328"/>
                </a:cubicBezTo>
                <a:cubicBezTo>
                  <a:pt x="11737518" y="744005"/>
                  <a:pt x="11745038" y="748465"/>
                  <a:pt x="11754077" y="752344"/>
                </a:cubicBezTo>
                <a:cubicBezTo>
                  <a:pt x="11761122" y="755274"/>
                  <a:pt x="11767695" y="758097"/>
                  <a:pt x="11767695" y="764669"/>
                </a:cubicBezTo>
                <a:cubicBezTo>
                  <a:pt x="11767695" y="769711"/>
                  <a:pt x="11763698" y="775464"/>
                  <a:pt x="11755133" y="775464"/>
                </a:cubicBezTo>
                <a:cubicBezTo>
                  <a:pt x="11746439" y="775464"/>
                  <a:pt x="11743982" y="769010"/>
                  <a:pt x="11739749" y="769010"/>
                </a:cubicBezTo>
                <a:cubicBezTo>
                  <a:pt x="11737755" y="769010"/>
                  <a:pt x="11735170" y="769948"/>
                  <a:pt x="11735170" y="773115"/>
                </a:cubicBezTo>
                <a:cubicBezTo>
                  <a:pt x="11735170" y="778158"/>
                  <a:pt x="11745038" y="782510"/>
                  <a:pt x="11754896" y="782510"/>
                </a:cubicBezTo>
                <a:cubicBezTo>
                  <a:pt x="11766047" y="782628"/>
                  <a:pt x="11777444" y="776757"/>
                  <a:pt x="11777444" y="763494"/>
                </a:cubicBezTo>
                <a:cubicBezTo>
                  <a:pt x="11777444" y="742722"/>
                  <a:pt x="11747268" y="746008"/>
                  <a:pt x="11747268" y="732272"/>
                </a:cubicBezTo>
                <a:cubicBezTo>
                  <a:pt x="11747268" y="727575"/>
                  <a:pt x="11750909" y="722878"/>
                  <a:pt x="11757836" y="722878"/>
                </a:cubicBezTo>
                <a:cubicBezTo>
                  <a:pt x="11765001" y="722878"/>
                  <a:pt x="11766875" y="727575"/>
                  <a:pt x="11770517" y="727575"/>
                </a:cubicBezTo>
                <a:cubicBezTo>
                  <a:pt x="11772392" y="727575"/>
                  <a:pt x="11775095" y="726519"/>
                  <a:pt x="11775095" y="723233"/>
                </a:cubicBezTo>
                <a:cubicBezTo>
                  <a:pt x="11775095" y="718536"/>
                  <a:pt x="11767112" y="715842"/>
                  <a:pt x="11758537" y="715842"/>
                </a:cubicBezTo>
                <a:close/>
                <a:moveTo>
                  <a:pt x="11630530" y="715487"/>
                </a:moveTo>
                <a:cubicBezTo>
                  <a:pt x="11623968" y="715487"/>
                  <a:pt x="11619863" y="716543"/>
                  <a:pt x="11616577" y="717362"/>
                </a:cubicBezTo>
                <a:cubicBezTo>
                  <a:pt x="11612354" y="718418"/>
                  <a:pt x="11610834" y="720401"/>
                  <a:pt x="11610834" y="722385"/>
                </a:cubicBezTo>
                <a:cubicBezTo>
                  <a:pt x="11610834" y="778395"/>
                  <a:pt x="11610834" y="778395"/>
                  <a:pt x="11610834" y="778395"/>
                </a:cubicBezTo>
                <a:cubicBezTo>
                  <a:pt x="11610834" y="780270"/>
                  <a:pt x="11611535" y="780378"/>
                  <a:pt x="11613301" y="780378"/>
                </a:cubicBezTo>
                <a:cubicBezTo>
                  <a:pt x="11619518" y="780378"/>
                  <a:pt x="11619518" y="780378"/>
                  <a:pt x="11619518" y="780378"/>
                </a:cubicBezTo>
                <a:cubicBezTo>
                  <a:pt x="11621037" y="780378"/>
                  <a:pt x="11621748" y="780260"/>
                  <a:pt x="11621748" y="778395"/>
                </a:cubicBezTo>
                <a:cubicBezTo>
                  <a:pt x="11621748" y="727062"/>
                  <a:pt x="11621748" y="727062"/>
                  <a:pt x="11621748" y="727062"/>
                </a:cubicBezTo>
                <a:cubicBezTo>
                  <a:pt x="11621748" y="723786"/>
                  <a:pt x="11624323" y="721566"/>
                  <a:pt x="11627965" y="721566"/>
                </a:cubicBezTo>
                <a:cubicBezTo>
                  <a:pt x="11635820" y="721566"/>
                  <a:pt x="11636994" y="727299"/>
                  <a:pt x="11641217" y="727299"/>
                </a:cubicBezTo>
                <a:cubicBezTo>
                  <a:pt x="11644247" y="727417"/>
                  <a:pt x="11646595" y="725542"/>
                  <a:pt x="11646595" y="721921"/>
                </a:cubicBezTo>
                <a:cubicBezTo>
                  <a:pt x="11646595" y="717362"/>
                  <a:pt x="11639096" y="715487"/>
                  <a:pt x="11630530" y="715487"/>
                </a:cubicBezTo>
                <a:close/>
                <a:moveTo>
                  <a:pt x="11575073" y="715487"/>
                </a:moveTo>
                <a:cubicBezTo>
                  <a:pt x="11569576" y="715487"/>
                  <a:pt x="11563734" y="717135"/>
                  <a:pt x="11559175" y="720066"/>
                </a:cubicBezTo>
                <a:cubicBezTo>
                  <a:pt x="11552159" y="725000"/>
                  <a:pt x="11547482" y="734384"/>
                  <a:pt x="11547482" y="749176"/>
                </a:cubicBezTo>
                <a:cubicBezTo>
                  <a:pt x="11547482" y="763849"/>
                  <a:pt x="11552159" y="773244"/>
                  <a:pt x="11559175" y="778168"/>
                </a:cubicBezTo>
                <a:cubicBezTo>
                  <a:pt x="11563498" y="781217"/>
                  <a:pt x="11569468" y="782628"/>
                  <a:pt x="11575073" y="782628"/>
                </a:cubicBezTo>
                <a:cubicBezTo>
                  <a:pt x="11580806" y="782628"/>
                  <a:pt x="11586648" y="781099"/>
                  <a:pt x="11590970" y="778168"/>
                </a:cubicBezTo>
                <a:cubicBezTo>
                  <a:pt x="11598104" y="773234"/>
                  <a:pt x="11602782" y="763849"/>
                  <a:pt x="11602782" y="749176"/>
                </a:cubicBezTo>
                <a:cubicBezTo>
                  <a:pt x="11602782" y="734384"/>
                  <a:pt x="11598104" y="725000"/>
                  <a:pt x="11590970" y="720066"/>
                </a:cubicBezTo>
                <a:cubicBezTo>
                  <a:pt x="11586529" y="716898"/>
                  <a:pt x="11580678" y="715487"/>
                  <a:pt x="11575073" y="715487"/>
                </a:cubicBezTo>
                <a:close/>
                <a:moveTo>
                  <a:pt x="11513260" y="715487"/>
                </a:moveTo>
                <a:cubicBezTo>
                  <a:pt x="11503925" y="715487"/>
                  <a:pt x="11497619" y="717480"/>
                  <a:pt x="11494235" y="718536"/>
                </a:cubicBezTo>
                <a:cubicBezTo>
                  <a:pt x="11490031" y="719947"/>
                  <a:pt x="11488748" y="721467"/>
                  <a:pt x="11488748" y="723579"/>
                </a:cubicBezTo>
                <a:cubicBezTo>
                  <a:pt x="11488748" y="778493"/>
                  <a:pt x="11488748" y="778493"/>
                  <a:pt x="11488748" y="778493"/>
                </a:cubicBezTo>
                <a:cubicBezTo>
                  <a:pt x="11488748" y="780487"/>
                  <a:pt x="11489212" y="780724"/>
                  <a:pt x="11491087" y="780724"/>
                </a:cubicBezTo>
                <a:cubicBezTo>
                  <a:pt x="11497156" y="780724"/>
                  <a:pt x="11497156" y="780724"/>
                  <a:pt x="11497156" y="780724"/>
                </a:cubicBezTo>
                <a:cubicBezTo>
                  <a:pt x="11498902" y="780724"/>
                  <a:pt x="11499721" y="780487"/>
                  <a:pt x="11499721" y="778257"/>
                </a:cubicBezTo>
                <a:cubicBezTo>
                  <a:pt x="11499721" y="727684"/>
                  <a:pt x="11499721" y="727684"/>
                  <a:pt x="11499721" y="727684"/>
                </a:cubicBezTo>
                <a:cubicBezTo>
                  <a:pt x="11499721" y="724980"/>
                  <a:pt x="11504389" y="722168"/>
                  <a:pt x="11512915" y="722168"/>
                </a:cubicBezTo>
                <a:cubicBezTo>
                  <a:pt x="11527154" y="722168"/>
                  <a:pt x="11527154" y="731433"/>
                  <a:pt x="11527154" y="737186"/>
                </a:cubicBezTo>
                <a:cubicBezTo>
                  <a:pt x="11527154" y="778257"/>
                  <a:pt x="11527154" y="778257"/>
                  <a:pt x="11527154" y="778257"/>
                </a:cubicBezTo>
                <a:cubicBezTo>
                  <a:pt x="11527154" y="780487"/>
                  <a:pt x="11527855" y="780724"/>
                  <a:pt x="11529957" y="780724"/>
                </a:cubicBezTo>
                <a:cubicBezTo>
                  <a:pt x="11536726" y="780724"/>
                  <a:pt x="11536726" y="780724"/>
                  <a:pt x="11536726" y="780724"/>
                </a:cubicBezTo>
                <a:cubicBezTo>
                  <a:pt x="11537890" y="780497"/>
                  <a:pt x="11537890" y="779322"/>
                  <a:pt x="11537890" y="778267"/>
                </a:cubicBezTo>
                <a:cubicBezTo>
                  <a:pt x="11537890" y="735785"/>
                  <a:pt x="11537890" y="735785"/>
                  <a:pt x="11537890" y="735785"/>
                </a:cubicBezTo>
                <a:cubicBezTo>
                  <a:pt x="11537890" y="728394"/>
                  <a:pt x="11537654" y="715487"/>
                  <a:pt x="11513260" y="715487"/>
                </a:cubicBezTo>
                <a:close/>
                <a:moveTo>
                  <a:pt x="11425159" y="715487"/>
                </a:moveTo>
                <a:cubicBezTo>
                  <a:pt x="11419525" y="715487"/>
                  <a:pt x="11413772" y="717135"/>
                  <a:pt x="11409193" y="720066"/>
                </a:cubicBezTo>
                <a:cubicBezTo>
                  <a:pt x="11402147" y="725000"/>
                  <a:pt x="11397450" y="734384"/>
                  <a:pt x="11397450" y="749176"/>
                </a:cubicBezTo>
                <a:cubicBezTo>
                  <a:pt x="11397450" y="763849"/>
                  <a:pt x="11402147" y="773244"/>
                  <a:pt x="11409193" y="778168"/>
                </a:cubicBezTo>
                <a:cubicBezTo>
                  <a:pt x="11413535" y="781217"/>
                  <a:pt x="11419525" y="782628"/>
                  <a:pt x="11425159" y="782628"/>
                </a:cubicBezTo>
                <a:cubicBezTo>
                  <a:pt x="11430912" y="782628"/>
                  <a:pt x="11436665" y="781099"/>
                  <a:pt x="11441126" y="778168"/>
                </a:cubicBezTo>
                <a:cubicBezTo>
                  <a:pt x="11448290" y="773234"/>
                  <a:pt x="11452987" y="763849"/>
                  <a:pt x="11452987" y="749176"/>
                </a:cubicBezTo>
                <a:cubicBezTo>
                  <a:pt x="11452987" y="734384"/>
                  <a:pt x="11448290" y="725000"/>
                  <a:pt x="11441126" y="720066"/>
                </a:cubicBezTo>
                <a:cubicBezTo>
                  <a:pt x="11436902" y="716898"/>
                  <a:pt x="11430912" y="715487"/>
                  <a:pt x="11425159" y="715487"/>
                </a:cubicBezTo>
                <a:close/>
                <a:moveTo>
                  <a:pt x="11313375" y="715487"/>
                </a:moveTo>
                <a:cubicBezTo>
                  <a:pt x="11307741" y="715487"/>
                  <a:pt x="11301869" y="717135"/>
                  <a:pt x="11297409" y="720066"/>
                </a:cubicBezTo>
                <a:cubicBezTo>
                  <a:pt x="11290245" y="725000"/>
                  <a:pt x="11285548" y="734384"/>
                  <a:pt x="11285548" y="749176"/>
                </a:cubicBezTo>
                <a:cubicBezTo>
                  <a:pt x="11285548" y="763849"/>
                  <a:pt x="11290245" y="773244"/>
                  <a:pt x="11297409" y="778168"/>
                </a:cubicBezTo>
                <a:cubicBezTo>
                  <a:pt x="11301751" y="781217"/>
                  <a:pt x="11307622" y="782628"/>
                  <a:pt x="11313375" y="782628"/>
                </a:cubicBezTo>
                <a:cubicBezTo>
                  <a:pt x="11319128" y="782628"/>
                  <a:pt x="11324763" y="781099"/>
                  <a:pt x="11329342" y="778168"/>
                </a:cubicBezTo>
                <a:cubicBezTo>
                  <a:pt x="11336387" y="773234"/>
                  <a:pt x="11341085" y="763849"/>
                  <a:pt x="11341085" y="749176"/>
                </a:cubicBezTo>
                <a:cubicBezTo>
                  <a:pt x="11341085" y="734384"/>
                  <a:pt x="11336387" y="725000"/>
                  <a:pt x="11329342" y="720066"/>
                </a:cubicBezTo>
                <a:cubicBezTo>
                  <a:pt x="11324763" y="716898"/>
                  <a:pt x="11319128" y="715487"/>
                  <a:pt x="11313375" y="715487"/>
                </a:cubicBezTo>
                <a:close/>
                <a:moveTo>
                  <a:pt x="11251444" y="715487"/>
                </a:moveTo>
                <a:cubicBezTo>
                  <a:pt x="11242060" y="715487"/>
                  <a:pt x="11235843" y="717480"/>
                  <a:pt x="11232330" y="718536"/>
                </a:cubicBezTo>
                <a:cubicBezTo>
                  <a:pt x="11228225" y="719947"/>
                  <a:pt x="11226814" y="721467"/>
                  <a:pt x="11226814" y="723579"/>
                </a:cubicBezTo>
                <a:cubicBezTo>
                  <a:pt x="11226814" y="778493"/>
                  <a:pt x="11226814" y="778493"/>
                  <a:pt x="11226814" y="778493"/>
                </a:cubicBezTo>
                <a:cubicBezTo>
                  <a:pt x="11226814" y="780487"/>
                  <a:pt x="11227288" y="780724"/>
                  <a:pt x="11229044" y="780724"/>
                </a:cubicBezTo>
                <a:cubicBezTo>
                  <a:pt x="11235143" y="780724"/>
                  <a:pt x="11235143" y="780724"/>
                  <a:pt x="11235143" y="780724"/>
                </a:cubicBezTo>
                <a:cubicBezTo>
                  <a:pt x="11236899" y="780724"/>
                  <a:pt x="11237718" y="780487"/>
                  <a:pt x="11237718" y="778257"/>
                </a:cubicBezTo>
                <a:cubicBezTo>
                  <a:pt x="11237718" y="727684"/>
                  <a:pt x="11237718" y="727684"/>
                  <a:pt x="11237718" y="727684"/>
                </a:cubicBezTo>
                <a:cubicBezTo>
                  <a:pt x="11237718" y="724980"/>
                  <a:pt x="11242405" y="722168"/>
                  <a:pt x="11250971" y="722168"/>
                </a:cubicBezTo>
                <a:cubicBezTo>
                  <a:pt x="11265279" y="722168"/>
                  <a:pt x="11265279" y="731433"/>
                  <a:pt x="11265279" y="737186"/>
                </a:cubicBezTo>
                <a:cubicBezTo>
                  <a:pt x="11265279" y="778257"/>
                  <a:pt x="11265279" y="778257"/>
                  <a:pt x="11265279" y="778257"/>
                </a:cubicBezTo>
                <a:cubicBezTo>
                  <a:pt x="11265279" y="780487"/>
                  <a:pt x="11265980" y="780724"/>
                  <a:pt x="11268092" y="780724"/>
                </a:cubicBezTo>
                <a:cubicBezTo>
                  <a:pt x="11274890" y="780724"/>
                  <a:pt x="11274890" y="780724"/>
                  <a:pt x="11274890" y="780724"/>
                </a:cubicBezTo>
                <a:cubicBezTo>
                  <a:pt x="11276075" y="780497"/>
                  <a:pt x="11276193" y="779322"/>
                  <a:pt x="11276193" y="778267"/>
                </a:cubicBezTo>
                <a:cubicBezTo>
                  <a:pt x="11276193" y="735785"/>
                  <a:pt x="11276193" y="735785"/>
                  <a:pt x="11276193" y="735785"/>
                </a:cubicBezTo>
                <a:cubicBezTo>
                  <a:pt x="11276193" y="728394"/>
                  <a:pt x="11276075" y="715487"/>
                  <a:pt x="11251444" y="715487"/>
                </a:cubicBezTo>
                <a:close/>
                <a:moveTo>
                  <a:pt x="11691820" y="694162"/>
                </a:moveTo>
                <a:cubicBezTo>
                  <a:pt x="11689718" y="694162"/>
                  <a:pt x="11689600" y="694863"/>
                  <a:pt x="11689600" y="696975"/>
                </a:cubicBezTo>
                <a:cubicBezTo>
                  <a:pt x="11689600" y="719266"/>
                  <a:pt x="11689600" y="719266"/>
                  <a:pt x="11689600" y="719266"/>
                </a:cubicBezTo>
                <a:cubicBezTo>
                  <a:pt x="11685741" y="717273"/>
                  <a:pt x="11682001" y="715862"/>
                  <a:pt x="11676278" y="715862"/>
                </a:cubicBezTo>
                <a:cubicBezTo>
                  <a:pt x="11657233" y="715862"/>
                  <a:pt x="11647533" y="734048"/>
                  <a:pt x="11647533" y="749176"/>
                </a:cubicBezTo>
                <a:cubicBezTo>
                  <a:pt x="11647533" y="771704"/>
                  <a:pt x="11659799" y="782608"/>
                  <a:pt x="11678498" y="782608"/>
                </a:cubicBezTo>
                <a:cubicBezTo>
                  <a:pt x="11687498" y="782628"/>
                  <a:pt x="11700237" y="778168"/>
                  <a:pt x="11700237" y="773944"/>
                </a:cubicBezTo>
                <a:cubicBezTo>
                  <a:pt x="11700237" y="696629"/>
                  <a:pt x="11700237" y="696629"/>
                  <a:pt x="11700237" y="696629"/>
                </a:cubicBezTo>
                <a:cubicBezTo>
                  <a:pt x="11700237" y="694281"/>
                  <a:pt x="11699537" y="694162"/>
                  <a:pt x="11697899" y="694162"/>
                </a:cubicBezTo>
                <a:cubicBezTo>
                  <a:pt x="11691820" y="694162"/>
                  <a:pt x="11691820" y="694162"/>
                  <a:pt x="11691820" y="694162"/>
                </a:cubicBezTo>
                <a:close/>
                <a:moveTo>
                  <a:pt x="11788328" y="693935"/>
                </a:moveTo>
                <a:cubicBezTo>
                  <a:pt x="11787036" y="693935"/>
                  <a:pt x="11786325" y="694172"/>
                  <a:pt x="11786325" y="695929"/>
                </a:cubicBezTo>
                <a:cubicBezTo>
                  <a:pt x="11786325" y="778740"/>
                  <a:pt x="11786325" y="778740"/>
                  <a:pt x="11786325" y="778740"/>
                </a:cubicBezTo>
                <a:cubicBezTo>
                  <a:pt x="11786325" y="780378"/>
                  <a:pt x="11786680" y="780615"/>
                  <a:pt x="11788328" y="780615"/>
                </a:cubicBezTo>
                <a:cubicBezTo>
                  <a:pt x="11794792" y="780615"/>
                  <a:pt x="11794792" y="780615"/>
                  <a:pt x="11794792" y="780615"/>
                </a:cubicBezTo>
                <a:cubicBezTo>
                  <a:pt x="11796311" y="780615"/>
                  <a:pt x="11797022" y="780615"/>
                  <a:pt x="11797022" y="778859"/>
                </a:cubicBezTo>
                <a:cubicBezTo>
                  <a:pt x="11797022" y="695692"/>
                  <a:pt x="11797022" y="695692"/>
                  <a:pt x="11797022" y="695692"/>
                </a:cubicBezTo>
                <a:cubicBezTo>
                  <a:pt x="11797022" y="693935"/>
                  <a:pt x="11796203" y="693935"/>
                  <a:pt x="11794792" y="693935"/>
                </a:cubicBezTo>
                <a:cubicBezTo>
                  <a:pt x="11788328" y="693935"/>
                  <a:pt x="11788328" y="693935"/>
                  <a:pt x="11788328" y="693935"/>
                </a:cubicBezTo>
                <a:close/>
                <a:moveTo>
                  <a:pt x="11720486" y="693225"/>
                </a:moveTo>
                <a:cubicBezTo>
                  <a:pt x="11716529" y="693225"/>
                  <a:pt x="11713737" y="696037"/>
                  <a:pt x="11713737" y="699777"/>
                </a:cubicBezTo>
                <a:cubicBezTo>
                  <a:pt x="11713737" y="703290"/>
                  <a:pt x="11716184" y="706211"/>
                  <a:pt x="11720250" y="706211"/>
                </a:cubicBezTo>
                <a:cubicBezTo>
                  <a:pt x="11724434" y="706093"/>
                  <a:pt x="11726999" y="702817"/>
                  <a:pt x="11726881" y="699313"/>
                </a:cubicBezTo>
                <a:cubicBezTo>
                  <a:pt x="11726644" y="695682"/>
                  <a:pt x="11723743" y="693225"/>
                  <a:pt x="11720486" y="693225"/>
                </a:cubicBezTo>
                <a:close/>
                <a:moveTo>
                  <a:pt x="11850723" y="683919"/>
                </a:moveTo>
                <a:lnTo>
                  <a:pt x="11850963" y="684096"/>
                </a:lnTo>
                <a:lnTo>
                  <a:pt x="11850723" y="684156"/>
                </a:lnTo>
                <a:cubicBezTo>
                  <a:pt x="11850723" y="684156"/>
                  <a:pt x="11850723" y="684156"/>
                  <a:pt x="11850723" y="683919"/>
                </a:cubicBezTo>
                <a:close/>
                <a:moveTo>
                  <a:pt x="11843579" y="675354"/>
                </a:moveTo>
                <a:cubicBezTo>
                  <a:pt x="11847437" y="675354"/>
                  <a:pt x="11847437" y="675354"/>
                  <a:pt x="11847437" y="675354"/>
                </a:cubicBezTo>
                <a:cubicBezTo>
                  <a:pt x="11849430" y="675354"/>
                  <a:pt x="11852707" y="675354"/>
                  <a:pt x="11852707" y="678522"/>
                </a:cubicBezTo>
                <a:cubicBezTo>
                  <a:pt x="11852707" y="681689"/>
                  <a:pt x="11849312" y="681689"/>
                  <a:pt x="11847792" y="681689"/>
                </a:cubicBezTo>
                <a:cubicBezTo>
                  <a:pt x="11843579" y="681689"/>
                  <a:pt x="11843579" y="681689"/>
                  <a:pt x="11843579" y="681689"/>
                </a:cubicBezTo>
                <a:close/>
                <a:moveTo>
                  <a:pt x="11840303" y="672413"/>
                </a:moveTo>
                <a:lnTo>
                  <a:pt x="11840303" y="693659"/>
                </a:lnTo>
                <a:cubicBezTo>
                  <a:pt x="11843816" y="693659"/>
                  <a:pt x="11843816" y="693659"/>
                  <a:pt x="11843816" y="693659"/>
                </a:cubicBezTo>
                <a:cubicBezTo>
                  <a:pt x="11843816" y="684620"/>
                  <a:pt x="11843816" y="684620"/>
                  <a:pt x="11843816" y="684620"/>
                </a:cubicBezTo>
                <a:cubicBezTo>
                  <a:pt x="11845809" y="684620"/>
                  <a:pt x="11845809" y="684620"/>
                  <a:pt x="11845809" y="684620"/>
                </a:cubicBezTo>
                <a:cubicBezTo>
                  <a:pt x="11848621" y="684620"/>
                  <a:pt x="11849667" y="685676"/>
                  <a:pt x="11852124" y="690255"/>
                </a:cubicBezTo>
                <a:cubicBezTo>
                  <a:pt x="11853999" y="693541"/>
                  <a:pt x="11853999" y="693541"/>
                  <a:pt x="11853999" y="693541"/>
                </a:cubicBezTo>
                <a:cubicBezTo>
                  <a:pt x="11858094" y="693541"/>
                  <a:pt x="11858094" y="693541"/>
                  <a:pt x="11858094" y="693541"/>
                </a:cubicBezTo>
                <a:cubicBezTo>
                  <a:pt x="11855519" y="689317"/>
                  <a:pt x="11855519" y="689317"/>
                  <a:pt x="11855519" y="689317"/>
                </a:cubicBezTo>
                <a:cubicBezTo>
                  <a:pt x="11854231" y="687265"/>
                  <a:pt x="11853323" y="686061"/>
                  <a:pt x="11852592" y="685297"/>
                </a:cubicBezTo>
                <a:lnTo>
                  <a:pt x="11850963" y="684096"/>
                </a:lnTo>
                <a:lnTo>
                  <a:pt x="11853484" y="683467"/>
                </a:lnTo>
                <a:cubicBezTo>
                  <a:pt x="11855772" y="682328"/>
                  <a:pt x="11856693" y="680017"/>
                  <a:pt x="11856693" y="678166"/>
                </a:cubicBezTo>
                <a:cubicBezTo>
                  <a:pt x="11856693" y="676410"/>
                  <a:pt x="11855874" y="674880"/>
                  <a:pt x="11854700" y="674061"/>
                </a:cubicBezTo>
                <a:cubicBezTo>
                  <a:pt x="11852944" y="672413"/>
                  <a:pt x="11850141" y="672413"/>
                  <a:pt x="11847792" y="672413"/>
                </a:cubicBezTo>
                <a:cubicBezTo>
                  <a:pt x="11840303" y="672413"/>
                  <a:pt x="11840303" y="672413"/>
                  <a:pt x="11840303" y="672413"/>
                </a:cubicBezTo>
                <a:close/>
                <a:moveTo>
                  <a:pt x="11848612" y="666552"/>
                </a:moveTo>
                <a:cubicBezTo>
                  <a:pt x="11857621" y="666552"/>
                  <a:pt x="11864992" y="673824"/>
                  <a:pt x="11864992" y="682863"/>
                </a:cubicBezTo>
                <a:cubicBezTo>
                  <a:pt x="11864992" y="691902"/>
                  <a:pt x="11857739" y="699412"/>
                  <a:pt x="11848612" y="699412"/>
                </a:cubicBezTo>
                <a:cubicBezTo>
                  <a:pt x="11839602" y="699412"/>
                  <a:pt x="11832349" y="691902"/>
                  <a:pt x="11832349" y="682863"/>
                </a:cubicBezTo>
                <a:cubicBezTo>
                  <a:pt x="11832231" y="673824"/>
                  <a:pt x="11839484" y="666552"/>
                  <a:pt x="11848612" y="666552"/>
                </a:cubicBezTo>
                <a:close/>
                <a:moveTo>
                  <a:pt x="11848612" y="663147"/>
                </a:moveTo>
                <a:cubicBezTo>
                  <a:pt x="11837846" y="663147"/>
                  <a:pt x="11829073" y="671950"/>
                  <a:pt x="11829073" y="682863"/>
                </a:cubicBezTo>
                <a:cubicBezTo>
                  <a:pt x="11829073" y="693896"/>
                  <a:pt x="11837846" y="702580"/>
                  <a:pt x="11848612" y="702580"/>
                </a:cubicBezTo>
                <a:cubicBezTo>
                  <a:pt x="11859496" y="702580"/>
                  <a:pt x="11868150" y="693659"/>
                  <a:pt x="11868150" y="682863"/>
                </a:cubicBezTo>
                <a:cubicBezTo>
                  <a:pt x="11868150" y="672068"/>
                  <a:pt x="11859377" y="663147"/>
                  <a:pt x="11848612" y="663147"/>
                </a:cubicBezTo>
                <a:close/>
                <a:moveTo>
                  <a:pt x="11653507" y="535252"/>
                </a:moveTo>
                <a:cubicBezTo>
                  <a:pt x="11654048" y="535208"/>
                  <a:pt x="11654692" y="535472"/>
                  <a:pt x="11655161" y="535999"/>
                </a:cubicBezTo>
                <a:cubicBezTo>
                  <a:pt x="11662315" y="543499"/>
                  <a:pt x="11659858" y="600121"/>
                  <a:pt x="11658328" y="611371"/>
                </a:cubicBezTo>
                <a:cubicBezTo>
                  <a:pt x="11657973" y="614183"/>
                  <a:pt x="11655398" y="616413"/>
                  <a:pt x="11654697" y="610670"/>
                </a:cubicBezTo>
                <a:cubicBezTo>
                  <a:pt x="11653878" y="603407"/>
                  <a:pt x="11650010" y="586642"/>
                  <a:pt x="11648835" y="579724"/>
                </a:cubicBezTo>
                <a:cubicBezTo>
                  <a:pt x="11647543" y="573162"/>
                  <a:pt x="11651184" y="553120"/>
                  <a:pt x="11652467" y="536355"/>
                </a:cubicBezTo>
                <a:cubicBezTo>
                  <a:pt x="11652526" y="535649"/>
                  <a:pt x="11652965" y="535296"/>
                  <a:pt x="11653507" y="535252"/>
                </a:cubicBezTo>
                <a:close/>
                <a:moveTo>
                  <a:pt x="11517474" y="490400"/>
                </a:moveTo>
                <a:cubicBezTo>
                  <a:pt x="11535542" y="492867"/>
                  <a:pt x="11553837" y="493331"/>
                  <a:pt x="11571777" y="492275"/>
                </a:cubicBezTo>
                <a:cubicBezTo>
                  <a:pt x="11574708" y="503406"/>
                  <a:pt x="11574352" y="517941"/>
                  <a:pt x="11570247" y="522046"/>
                </a:cubicBezTo>
                <a:cubicBezTo>
                  <a:pt x="11563675" y="528727"/>
                  <a:pt x="11534012" y="527434"/>
                  <a:pt x="11525565" y="526151"/>
                </a:cubicBezTo>
                <a:cubicBezTo>
                  <a:pt x="11523217" y="525796"/>
                  <a:pt x="11520878" y="525451"/>
                  <a:pt x="11519585" y="519352"/>
                </a:cubicBezTo>
                <a:cubicBezTo>
                  <a:pt x="11518174" y="512198"/>
                  <a:pt x="11518056" y="499074"/>
                  <a:pt x="11517474" y="490400"/>
                </a:cubicBezTo>
                <a:close/>
                <a:moveTo>
                  <a:pt x="11612235" y="487469"/>
                </a:moveTo>
                <a:cubicBezTo>
                  <a:pt x="11617278" y="496844"/>
                  <a:pt x="11617633" y="502241"/>
                  <a:pt x="11616222" y="506929"/>
                </a:cubicBezTo>
                <a:cubicBezTo>
                  <a:pt x="11614811" y="511616"/>
                  <a:pt x="11608249" y="514310"/>
                  <a:pt x="11606838" y="513728"/>
                </a:cubicBezTo>
                <a:cubicBezTo>
                  <a:pt x="11606601" y="503643"/>
                  <a:pt x="11603907" y="496025"/>
                  <a:pt x="11599210" y="489226"/>
                </a:cubicBezTo>
                <a:cubicBezTo>
                  <a:pt x="11603325" y="488525"/>
                  <a:pt x="11607666" y="487943"/>
                  <a:pt x="11612235" y="487469"/>
                </a:cubicBezTo>
                <a:close/>
                <a:moveTo>
                  <a:pt x="11472446" y="480680"/>
                </a:moveTo>
                <a:cubicBezTo>
                  <a:pt x="11478189" y="482436"/>
                  <a:pt x="11484061" y="483966"/>
                  <a:pt x="11489804" y="485367"/>
                </a:cubicBezTo>
                <a:cubicBezTo>
                  <a:pt x="11485817" y="510570"/>
                  <a:pt x="11477963" y="517714"/>
                  <a:pt x="11473857" y="519362"/>
                </a:cubicBezTo>
                <a:cubicBezTo>
                  <a:pt x="11470680" y="520645"/>
                  <a:pt x="11463763" y="521346"/>
                  <a:pt x="11466230" y="513382"/>
                </a:cubicBezTo>
                <a:cubicBezTo>
                  <a:pt x="11468696" y="505409"/>
                  <a:pt x="11471035" y="491811"/>
                  <a:pt x="11472446" y="480680"/>
                </a:cubicBezTo>
                <a:close/>
                <a:moveTo>
                  <a:pt x="11452359" y="474250"/>
                </a:moveTo>
                <a:cubicBezTo>
                  <a:pt x="11454339" y="474382"/>
                  <a:pt x="11457447" y="475583"/>
                  <a:pt x="11463427" y="477868"/>
                </a:cubicBezTo>
                <a:cubicBezTo>
                  <a:pt x="11462608" y="497209"/>
                  <a:pt x="11457684" y="508231"/>
                  <a:pt x="11455799" y="518069"/>
                </a:cubicBezTo>
                <a:cubicBezTo>
                  <a:pt x="11453687" y="528154"/>
                  <a:pt x="11464947" y="530493"/>
                  <a:pt x="11474913" y="528036"/>
                </a:cubicBezTo>
                <a:cubicBezTo>
                  <a:pt x="11484761" y="525579"/>
                  <a:pt x="11494146" y="515257"/>
                  <a:pt x="11498251" y="487242"/>
                </a:cubicBezTo>
                <a:cubicBezTo>
                  <a:pt x="11502119" y="488180"/>
                  <a:pt x="11505287" y="488653"/>
                  <a:pt x="11509273" y="489235"/>
                </a:cubicBezTo>
                <a:cubicBezTo>
                  <a:pt x="11509747" y="518306"/>
                  <a:pt x="11511503" y="524868"/>
                  <a:pt x="11512678" y="527444"/>
                </a:cubicBezTo>
                <a:cubicBezTo>
                  <a:pt x="11514908" y="532832"/>
                  <a:pt x="11520306" y="534598"/>
                  <a:pt x="11524638" y="534944"/>
                </a:cubicBezTo>
                <a:cubicBezTo>
                  <a:pt x="11547393" y="536700"/>
                  <a:pt x="11569438" y="535999"/>
                  <a:pt x="11577175" y="528381"/>
                </a:cubicBezTo>
                <a:cubicBezTo>
                  <a:pt x="11585029" y="520645"/>
                  <a:pt x="11582336" y="501778"/>
                  <a:pt x="11580105" y="491574"/>
                </a:cubicBezTo>
                <a:cubicBezTo>
                  <a:pt x="11583737" y="491219"/>
                  <a:pt x="11586677" y="490874"/>
                  <a:pt x="11590190" y="490400"/>
                </a:cubicBezTo>
                <a:cubicBezTo>
                  <a:pt x="11597700" y="499074"/>
                  <a:pt x="11598637" y="508567"/>
                  <a:pt x="11598637" y="514547"/>
                </a:cubicBezTo>
                <a:cubicBezTo>
                  <a:pt x="11598637" y="521227"/>
                  <a:pt x="11606028" y="524740"/>
                  <a:pt x="11616350" y="517596"/>
                </a:cubicBezTo>
                <a:cubicBezTo>
                  <a:pt x="11626554" y="510442"/>
                  <a:pt x="11625616" y="497899"/>
                  <a:pt x="11619982" y="486532"/>
                </a:cubicBezTo>
                <a:cubicBezTo>
                  <a:pt x="11643438" y="484657"/>
                  <a:pt x="11642263" y="500011"/>
                  <a:pt x="11640971" y="519007"/>
                </a:cubicBezTo>
                <a:cubicBezTo>
                  <a:pt x="11639796" y="537766"/>
                  <a:pt x="11635573" y="564370"/>
                  <a:pt x="11629248" y="567419"/>
                </a:cubicBezTo>
                <a:cubicBezTo>
                  <a:pt x="11622794" y="570113"/>
                  <a:pt x="11612709" y="552883"/>
                  <a:pt x="11560172" y="552064"/>
                </a:cubicBezTo>
                <a:cubicBezTo>
                  <a:pt x="11522881" y="551364"/>
                  <a:pt x="11494264" y="556406"/>
                  <a:pt x="11488985" y="590510"/>
                </a:cubicBezTo>
                <a:cubicBezTo>
                  <a:pt x="11488630" y="592967"/>
                  <a:pt x="11487228" y="592622"/>
                  <a:pt x="11485936" y="591329"/>
                </a:cubicBezTo>
                <a:cubicBezTo>
                  <a:pt x="11475732" y="580198"/>
                  <a:pt x="11466348" y="575155"/>
                  <a:pt x="11451339" y="566482"/>
                </a:cubicBezTo>
                <a:cubicBezTo>
                  <a:pt x="11436211" y="557571"/>
                  <a:pt x="11426126" y="545621"/>
                  <a:pt x="11424251" y="533779"/>
                </a:cubicBezTo>
                <a:cubicBezTo>
                  <a:pt x="11422376" y="521938"/>
                  <a:pt x="11426718" y="506119"/>
                  <a:pt x="11448063" y="477049"/>
                </a:cubicBezTo>
                <a:cubicBezTo>
                  <a:pt x="11449528" y="475055"/>
                  <a:pt x="11450379" y="474118"/>
                  <a:pt x="11452359" y="474250"/>
                </a:cubicBezTo>
                <a:close/>
                <a:moveTo>
                  <a:pt x="11396326" y="460950"/>
                </a:moveTo>
                <a:cubicBezTo>
                  <a:pt x="11391048" y="460905"/>
                  <a:pt x="11381657" y="463357"/>
                  <a:pt x="11385431" y="468700"/>
                </a:cubicBezTo>
                <a:cubicBezTo>
                  <a:pt x="11390464" y="476052"/>
                  <a:pt x="11400411" y="463914"/>
                  <a:pt x="11399591" y="461813"/>
                </a:cubicBezTo>
                <a:cubicBezTo>
                  <a:pt x="11399387" y="461258"/>
                  <a:pt x="11398085" y="460965"/>
                  <a:pt x="11396326" y="460950"/>
                </a:cubicBezTo>
                <a:close/>
                <a:moveTo>
                  <a:pt x="11392926" y="446221"/>
                </a:moveTo>
                <a:cubicBezTo>
                  <a:pt x="11397285" y="445315"/>
                  <a:pt x="11403045" y="448414"/>
                  <a:pt x="11415804" y="456060"/>
                </a:cubicBezTo>
                <a:cubicBezTo>
                  <a:pt x="11436448" y="468602"/>
                  <a:pt x="11442783" y="466026"/>
                  <a:pt x="11435738" y="477157"/>
                </a:cubicBezTo>
                <a:cubicBezTo>
                  <a:pt x="11431396" y="484311"/>
                  <a:pt x="11416732" y="503297"/>
                  <a:pt x="11413101" y="526625"/>
                </a:cubicBezTo>
                <a:cubicBezTo>
                  <a:pt x="11408177" y="520063"/>
                  <a:pt x="11401486" y="503771"/>
                  <a:pt x="11395861" y="499311"/>
                </a:cubicBezTo>
                <a:cubicBezTo>
                  <a:pt x="11384839" y="490637"/>
                  <a:pt x="11375336" y="497317"/>
                  <a:pt x="11371231" y="492275"/>
                </a:cubicBezTo>
                <a:cubicBezTo>
                  <a:pt x="11366652" y="486768"/>
                  <a:pt x="11364777" y="486413"/>
                  <a:pt x="11368882" y="481144"/>
                </a:cubicBezTo>
                <a:cubicBezTo>
                  <a:pt x="11368882" y="481144"/>
                  <a:pt x="11373807" y="474700"/>
                  <a:pt x="11375681" y="471996"/>
                </a:cubicBezTo>
                <a:cubicBezTo>
                  <a:pt x="11377793" y="469184"/>
                  <a:pt x="11377211" y="463905"/>
                  <a:pt x="11378148" y="461684"/>
                </a:cubicBezTo>
                <a:cubicBezTo>
                  <a:pt x="11378967" y="459454"/>
                  <a:pt x="11384010" y="452774"/>
                  <a:pt x="11388825" y="448442"/>
                </a:cubicBezTo>
                <a:cubicBezTo>
                  <a:pt x="11390175" y="447270"/>
                  <a:pt x="11391473" y="446523"/>
                  <a:pt x="11392926" y="446221"/>
                </a:cubicBezTo>
                <a:close/>
                <a:moveTo>
                  <a:pt x="11365096" y="390642"/>
                </a:moveTo>
                <a:cubicBezTo>
                  <a:pt x="11364099" y="390848"/>
                  <a:pt x="11363366" y="392841"/>
                  <a:pt x="11363366" y="397119"/>
                </a:cubicBezTo>
                <a:cubicBezTo>
                  <a:pt x="11363366" y="418571"/>
                  <a:pt x="11372751" y="431459"/>
                  <a:pt x="11376037" y="435100"/>
                </a:cubicBezTo>
                <a:cubicBezTo>
                  <a:pt x="11379204" y="438732"/>
                  <a:pt x="11380724" y="442363"/>
                  <a:pt x="11378967" y="444475"/>
                </a:cubicBezTo>
                <a:cubicBezTo>
                  <a:pt x="11374280" y="449981"/>
                  <a:pt x="11369238" y="456079"/>
                  <a:pt x="11369119" y="458536"/>
                </a:cubicBezTo>
                <a:cubicBezTo>
                  <a:pt x="11368882" y="461230"/>
                  <a:pt x="11369119" y="462523"/>
                  <a:pt x="11368063" y="465572"/>
                </a:cubicBezTo>
                <a:cubicBezTo>
                  <a:pt x="11367008" y="468503"/>
                  <a:pt x="11363258" y="472835"/>
                  <a:pt x="11357278" y="480108"/>
                </a:cubicBezTo>
                <a:cubicBezTo>
                  <a:pt x="11353992" y="484331"/>
                  <a:pt x="11356104" y="488900"/>
                  <a:pt x="11358916" y="491949"/>
                </a:cubicBezTo>
                <a:cubicBezTo>
                  <a:pt x="11362202" y="495699"/>
                  <a:pt x="11364432" y="500041"/>
                  <a:pt x="11368537" y="501916"/>
                </a:cubicBezTo>
                <a:cubicBezTo>
                  <a:pt x="11372761" y="503791"/>
                  <a:pt x="11376510" y="502498"/>
                  <a:pt x="11381434" y="503327"/>
                </a:cubicBezTo>
                <a:cubicBezTo>
                  <a:pt x="11386122" y="504146"/>
                  <a:pt x="11391993" y="506958"/>
                  <a:pt x="11396680" y="515287"/>
                </a:cubicBezTo>
                <a:cubicBezTo>
                  <a:pt x="11403479" y="527474"/>
                  <a:pt x="11410752" y="546469"/>
                  <a:pt x="11423886" y="562169"/>
                </a:cubicBezTo>
                <a:cubicBezTo>
                  <a:pt x="11429748" y="569087"/>
                  <a:pt x="11429748" y="581866"/>
                  <a:pt x="11429748" y="585961"/>
                </a:cubicBezTo>
                <a:cubicBezTo>
                  <a:pt x="11430103" y="622768"/>
                  <a:pt x="11410870" y="657582"/>
                  <a:pt x="11398555" y="679735"/>
                </a:cubicBezTo>
                <a:cubicBezTo>
                  <a:pt x="11395625" y="684896"/>
                  <a:pt x="11396325" y="689228"/>
                  <a:pt x="11400193" y="689228"/>
                </a:cubicBezTo>
                <a:cubicBezTo>
                  <a:pt x="11404654" y="689228"/>
                  <a:pt x="11421301" y="689228"/>
                  <a:pt x="11424123" y="689228"/>
                </a:cubicBezTo>
                <a:cubicBezTo>
                  <a:pt x="11427172" y="689228"/>
                  <a:pt x="11429047" y="685942"/>
                  <a:pt x="11429284" y="682429"/>
                </a:cubicBezTo>
                <a:cubicBezTo>
                  <a:pt x="11431396" y="652303"/>
                  <a:pt x="11448398" y="597092"/>
                  <a:pt x="11461187" y="587717"/>
                </a:cubicBezTo>
                <a:cubicBezTo>
                  <a:pt x="11482650" y="601197"/>
                  <a:pt x="11503994" y="630031"/>
                  <a:pt x="11493554" y="680554"/>
                </a:cubicBezTo>
                <a:cubicBezTo>
                  <a:pt x="11493080" y="683367"/>
                  <a:pt x="11490505" y="689465"/>
                  <a:pt x="11496958" y="689465"/>
                </a:cubicBezTo>
                <a:cubicBezTo>
                  <a:pt x="11496958" y="689465"/>
                  <a:pt x="11515135" y="689465"/>
                  <a:pt x="11517484" y="689465"/>
                </a:cubicBezTo>
                <a:cubicBezTo>
                  <a:pt x="11520177" y="689465"/>
                  <a:pt x="11524519" y="688409"/>
                  <a:pt x="11524164" y="683485"/>
                </a:cubicBezTo>
                <a:cubicBezTo>
                  <a:pt x="11523108" y="663789"/>
                  <a:pt x="11506570" y="622186"/>
                  <a:pt x="11502238" y="597684"/>
                </a:cubicBezTo>
                <a:cubicBezTo>
                  <a:pt x="11499544" y="582211"/>
                  <a:pt x="11511859" y="554551"/>
                  <a:pt x="11558297" y="575767"/>
                </a:cubicBezTo>
                <a:cubicBezTo>
                  <a:pt x="11576128" y="559712"/>
                  <a:pt x="11599585" y="569442"/>
                  <a:pt x="11589490" y="600269"/>
                </a:cubicBezTo>
                <a:cubicBezTo>
                  <a:pt x="11579642" y="630978"/>
                  <a:pt x="11571076" y="644458"/>
                  <a:pt x="11537298" y="680564"/>
                </a:cubicBezTo>
                <a:cubicBezTo>
                  <a:pt x="11533548" y="684788"/>
                  <a:pt x="11533193" y="689238"/>
                  <a:pt x="11539410" y="689238"/>
                </a:cubicBezTo>
                <a:cubicBezTo>
                  <a:pt x="11542459" y="689238"/>
                  <a:pt x="11557942" y="689238"/>
                  <a:pt x="11561110" y="689238"/>
                </a:cubicBezTo>
                <a:cubicBezTo>
                  <a:pt x="11565797" y="689238"/>
                  <a:pt x="11567682" y="687827"/>
                  <a:pt x="11569083" y="684196"/>
                </a:cubicBezTo>
                <a:cubicBezTo>
                  <a:pt x="11570376" y="680327"/>
                  <a:pt x="11585858" y="631333"/>
                  <a:pt x="11616232" y="608361"/>
                </a:cubicBezTo>
                <a:cubicBezTo>
                  <a:pt x="11618580" y="606604"/>
                  <a:pt x="11620574" y="598750"/>
                  <a:pt x="11625261" y="580820"/>
                </a:cubicBezTo>
                <a:cubicBezTo>
                  <a:pt x="11639925" y="600161"/>
                  <a:pt x="11641918" y="635320"/>
                  <a:pt x="11616696" y="680683"/>
                </a:cubicBezTo>
                <a:cubicBezTo>
                  <a:pt x="11614120" y="685489"/>
                  <a:pt x="11615640" y="689120"/>
                  <a:pt x="11618807" y="689120"/>
                </a:cubicBezTo>
                <a:cubicBezTo>
                  <a:pt x="11620564" y="689120"/>
                  <a:pt x="11634290" y="689120"/>
                  <a:pt x="11638395" y="689120"/>
                </a:cubicBezTo>
                <a:cubicBezTo>
                  <a:pt x="11642027" y="689120"/>
                  <a:pt x="11643082" y="687127"/>
                  <a:pt x="11644494" y="681620"/>
                </a:cubicBezTo>
                <a:cubicBezTo>
                  <a:pt x="11646250" y="674821"/>
                  <a:pt x="11646842" y="671535"/>
                  <a:pt x="11649181" y="665091"/>
                </a:cubicBezTo>
                <a:cubicBezTo>
                  <a:pt x="11650592" y="661105"/>
                  <a:pt x="11651174" y="660404"/>
                  <a:pt x="11666894" y="660523"/>
                </a:cubicBezTo>
                <a:cubicBezTo>
                  <a:pt x="11671818" y="660523"/>
                  <a:pt x="11671472" y="657947"/>
                  <a:pt x="11671472" y="653724"/>
                </a:cubicBezTo>
                <a:cubicBezTo>
                  <a:pt x="11671699" y="592967"/>
                  <a:pt x="11672055" y="529437"/>
                  <a:pt x="11667476" y="507639"/>
                </a:cubicBezTo>
                <a:cubicBezTo>
                  <a:pt x="11661141" y="477049"/>
                  <a:pt x="11634517" y="476111"/>
                  <a:pt x="11620564" y="477167"/>
                </a:cubicBezTo>
                <a:cubicBezTo>
                  <a:pt x="11606018" y="478223"/>
                  <a:pt x="11578576" y="482555"/>
                  <a:pt x="11550314" y="482555"/>
                </a:cubicBezTo>
                <a:cubicBezTo>
                  <a:pt x="11512194" y="482555"/>
                  <a:pt x="11469269" y="471769"/>
                  <a:pt x="11436438" y="456415"/>
                </a:cubicBezTo>
                <a:cubicBezTo>
                  <a:pt x="11430695" y="453839"/>
                  <a:pt x="11433626" y="452665"/>
                  <a:pt x="11436083" y="451254"/>
                </a:cubicBezTo>
                <a:cubicBezTo>
                  <a:pt x="11448398" y="444455"/>
                  <a:pt x="11459065" y="438357"/>
                  <a:pt x="11465637" y="427581"/>
                </a:cubicBezTo>
                <a:cubicBezTo>
                  <a:pt x="11470680" y="419381"/>
                  <a:pt x="11468805" y="416795"/>
                  <a:pt x="11463289" y="421255"/>
                </a:cubicBezTo>
                <a:cubicBezTo>
                  <a:pt x="11448398" y="433679"/>
                  <a:pt x="11427162" y="440597"/>
                  <a:pt x="11403479" y="432041"/>
                </a:cubicBezTo>
                <a:cubicBezTo>
                  <a:pt x="11379668" y="423604"/>
                  <a:pt x="11370521" y="400632"/>
                  <a:pt x="11368409" y="394888"/>
                </a:cubicBezTo>
                <a:cubicBezTo>
                  <a:pt x="11367353" y="392017"/>
                  <a:pt x="11366092" y="390435"/>
                  <a:pt x="11365096" y="390642"/>
                </a:cubicBezTo>
                <a:close/>
                <a:moveTo>
                  <a:pt x="11426797" y="336786"/>
                </a:moveTo>
                <a:cubicBezTo>
                  <a:pt x="11444500" y="336786"/>
                  <a:pt x="11458690" y="351193"/>
                  <a:pt x="11458690" y="368758"/>
                </a:cubicBezTo>
                <a:cubicBezTo>
                  <a:pt x="11458690" y="386441"/>
                  <a:pt x="11444500" y="400730"/>
                  <a:pt x="11426797" y="400730"/>
                </a:cubicBezTo>
                <a:cubicBezTo>
                  <a:pt x="11409094" y="400730"/>
                  <a:pt x="11394667" y="386441"/>
                  <a:pt x="11394667" y="368758"/>
                </a:cubicBezTo>
                <a:cubicBezTo>
                  <a:pt x="11394667" y="350966"/>
                  <a:pt x="11409094" y="336786"/>
                  <a:pt x="11426797" y="336786"/>
                </a:cubicBezTo>
                <a:close/>
                <a:moveTo>
                  <a:pt x="11425396" y="325428"/>
                </a:moveTo>
                <a:cubicBezTo>
                  <a:pt x="11398664" y="325428"/>
                  <a:pt x="11377201" y="347216"/>
                  <a:pt x="11377201" y="373801"/>
                </a:cubicBezTo>
                <a:cubicBezTo>
                  <a:pt x="11377201" y="400622"/>
                  <a:pt x="11398891" y="422173"/>
                  <a:pt x="11425396" y="422173"/>
                </a:cubicBezTo>
                <a:cubicBezTo>
                  <a:pt x="11452128" y="422173"/>
                  <a:pt x="11473591" y="400385"/>
                  <a:pt x="11473591" y="373801"/>
                </a:cubicBezTo>
                <a:cubicBezTo>
                  <a:pt x="11473591" y="346980"/>
                  <a:pt x="11452128" y="325428"/>
                  <a:pt x="11425396" y="325428"/>
                </a:cubicBezTo>
                <a:close/>
                <a:moveTo>
                  <a:pt x="0" y="0"/>
                </a:moveTo>
                <a:lnTo>
                  <a:pt x="12191999" y="0"/>
                </a:lnTo>
                <a:lnTo>
                  <a:pt x="12191999" y="6858000"/>
                </a:lnTo>
                <a:lnTo>
                  <a:pt x="0" y="6858000"/>
                </a:lnTo>
                <a:close/>
              </a:path>
            </a:pathLst>
          </a:cu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2078599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 Cov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7999" y="648000"/>
            <a:ext cx="6406851" cy="3104850"/>
          </a:xfrm>
        </p:spPr>
        <p:txBody>
          <a:bodyPr bIns="144000" anchor="b"/>
          <a:lstStyle>
            <a:lvl1pPr algn="l">
              <a:lnSpc>
                <a:spcPct val="100000"/>
              </a:lnSpc>
              <a:defRPr sz="4400">
                <a:solidFill>
                  <a:schemeClr val="bg1"/>
                </a:solidFill>
              </a:defRPr>
            </a:lvl1pPr>
          </a:lstStyle>
          <a:p>
            <a:r>
              <a:rPr lang="en-GB"/>
              <a:t>Click to add 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822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3913"/>
            <a:ext cx="1920001" cy="154800"/>
          </a:xfrm>
        </p:spPr>
        <p:txBody>
          <a:bodyPr/>
          <a:lstStyle>
            <a:lvl1pPr>
              <a:defRPr sz="1000" b="1">
                <a:solidFill>
                  <a:schemeClr val="bg1"/>
                </a:solidFill>
              </a:defRPr>
            </a:lvl1pPr>
          </a:lstStyle>
          <a:p>
            <a:endParaRPr lang="en-GB"/>
          </a:p>
        </p:txBody>
      </p:sp>
      <p:sp>
        <p:nvSpPr>
          <p:cNvPr id="15" name="Text Placeholder 4">
            <a:extLst>
              <a:ext uri="{FF2B5EF4-FFF2-40B4-BE49-F238E27FC236}">
                <a16:creationId xmlns:a16="http://schemas.microsoft.com/office/drawing/2014/main" id="{66C80C8D-1C72-4DEF-843D-58E916672172}"/>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6" name="Footer Placeholder 7">
            <a:extLst>
              <a:ext uri="{FF2B5EF4-FFF2-40B4-BE49-F238E27FC236}">
                <a16:creationId xmlns:a16="http://schemas.microsoft.com/office/drawing/2014/main" id="{2BE0DF0F-9C1F-48B6-81C9-DE493CAF27FF}"/>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7" name="Slide Number Placeholder 8">
            <a:extLst>
              <a:ext uri="{FF2B5EF4-FFF2-40B4-BE49-F238E27FC236}">
                <a16:creationId xmlns:a16="http://schemas.microsoft.com/office/drawing/2014/main" id="{4EC3851D-A362-49B0-86B2-00F14E8191E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4" name="Graphic 3">
            <a:extLst>
              <a:ext uri="{FF2B5EF4-FFF2-40B4-BE49-F238E27FC236}">
                <a16:creationId xmlns:a16="http://schemas.microsoft.com/office/drawing/2014/main" id="{1922A9F4-1E2A-B176-72FC-DD732AFEFEE6}"/>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3" name="Logo Apis Bull">
            <a:extLst>
              <a:ext uri="{FF2B5EF4-FFF2-40B4-BE49-F238E27FC236}">
                <a16:creationId xmlns:a16="http://schemas.microsoft.com/office/drawing/2014/main" id="{60A9B96F-F743-9035-5A1E-7EA449333F7C}"/>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bg1"/>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06516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 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7999" y="648000"/>
            <a:ext cx="6406851" cy="3105000"/>
          </a:xfrm>
        </p:spPr>
        <p:txBody>
          <a:bodyPr bIns="144000" anchor="b"/>
          <a:lstStyle>
            <a:lvl1pPr algn="l">
              <a:lnSpc>
                <a:spcPct val="100000"/>
              </a:lnSpc>
              <a:defRPr sz="4400">
                <a:solidFill>
                  <a:schemeClr val="tx2"/>
                </a:solidFill>
              </a:defRPr>
            </a:lvl1pPr>
          </a:lstStyle>
          <a:p>
            <a:r>
              <a:rPr lang="en-GB"/>
              <a:t>Click to add 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507"/>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7999" y="6055882"/>
            <a:ext cx="1920001" cy="154800"/>
          </a:xfrm>
        </p:spPr>
        <p:txBody>
          <a:bodyPr/>
          <a:lstStyle>
            <a:lvl1pPr>
              <a:defRPr sz="1000" b="1">
                <a:solidFill>
                  <a:schemeClr val="tx2"/>
                </a:solidFill>
              </a:defRPr>
            </a:lvl1pPr>
          </a:lstStyle>
          <a:p>
            <a:endParaRPr lang="en-GB"/>
          </a:p>
        </p:txBody>
      </p:sp>
      <p:sp>
        <p:nvSpPr>
          <p:cNvPr id="15" name="Text Placeholder 4">
            <a:extLst>
              <a:ext uri="{FF2B5EF4-FFF2-40B4-BE49-F238E27FC236}">
                <a16:creationId xmlns:a16="http://schemas.microsoft.com/office/drawing/2014/main" id="{7C86D47D-AFD8-4DC6-BD55-10180E93A99F}"/>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7" name="Footer Placeholder 7">
            <a:extLst>
              <a:ext uri="{FF2B5EF4-FFF2-40B4-BE49-F238E27FC236}">
                <a16:creationId xmlns:a16="http://schemas.microsoft.com/office/drawing/2014/main" id="{FADB92D4-4128-4A3B-A654-38C0F1360BEB}"/>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8" name="Slide Number Placeholder 8">
            <a:extLst>
              <a:ext uri="{FF2B5EF4-FFF2-40B4-BE49-F238E27FC236}">
                <a16:creationId xmlns:a16="http://schemas.microsoft.com/office/drawing/2014/main" id="{8E1CB220-B3D7-46B6-BFDD-6B22270FC0F8}"/>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5" name="Graphic 4">
            <a:extLst>
              <a:ext uri="{FF2B5EF4-FFF2-40B4-BE49-F238E27FC236}">
                <a16:creationId xmlns:a16="http://schemas.microsoft.com/office/drawing/2014/main" id="{2CB6C964-93D2-F44D-3EEF-78C07E2286F6}"/>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3" name="Logo Apis Bull">
            <a:extLst>
              <a:ext uri="{FF2B5EF4-FFF2-40B4-BE49-F238E27FC236}">
                <a16:creationId xmlns:a16="http://schemas.microsoft.com/office/drawing/2014/main" id="{65F0DED9-6D19-EC66-A965-9FF5F213C6FD}"/>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9977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 Cov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9E25697-443E-CE41-B1FC-08A4F8CD4326}"/>
              </a:ext>
            </a:extLst>
          </p:cNvPr>
          <p:cNvSpPr>
            <a:spLocks noGrp="1"/>
          </p:cNvSpPr>
          <p:nvPr>
            <p:ph type="pic" sz="quarter" idx="13" hasCustomPrompt="1"/>
          </p:nvPr>
        </p:nvSpPr>
        <p:spPr>
          <a:xfrm>
            <a:off x="323849" y="323850"/>
            <a:ext cx="11544301" cy="6208713"/>
          </a:xfrm>
          <a:custGeom>
            <a:avLst/>
            <a:gdLst>
              <a:gd name="csX0" fmla="*/ 11030036 w 11544301"/>
              <a:gd name="csY0" fmla="*/ 722113 h 6208713"/>
              <a:gd name="csX1" fmla="*/ 11041719 w 11544301"/>
              <a:gd name="csY1" fmla="*/ 726100 h 6208713"/>
              <a:gd name="csX2" fmla="*/ 11041719 w 11544301"/>
              <a:gd name="csY2" fmla="*/ 769153 h 6208713"/>
              <a:gd name="csX3" fmla="*/ 11041601 w 11544301"/>
              <a:gd name="csY3" fmla="*/ 769153 h 6208713"/>
              <a:gd name="csX4" fmla="*/ 11030855 w 11544301"/>
              <a:gd name="csY4" fmla="*/ 774078 h 6208713"/>
              <a:gd name="csX5" fmla="*/ 11010645 w 11544301"/>
              <a:gd name="csY5" fmla="*/ 747099 h 6208713"/>
              <a:gd name="csX6" fmla="*/ 11030036 w 11544301"/>
              <a:gd name="csY6" fmla="*/ 722113 h 6208713"/>
              <a:gd name="csX7" fmla="*/ 10927064 w 11544301"/>
              <a:gd name="csY7" fmla="*/ 721373 h 6208713"/>
              <a:gd name="csX8" fmla="*/ 10937820 w 11544301"/>
              <a:gd name="csY8" fmla="*/ 725478 h 6208713"/>
              <a:gd name="csX9" fmla="*/ 10943553 w 11544301"/>
              <a:gd name="csY9" fmla="*/ 747898 h 6208713"/>
              <a:gd name="csX10" fmla="*/ 10937820 w 11544301"/>
              <a:gd name="csY10" fmla="*/ 770199 h 6208713"/>
              <a:gd name="csX11" fmla="*/ 10927064 w 11544301"/>
              <a:gd name="csY11" fmla="*/ 774186 h 6208713"/>
              <a:gd name="csX12" fmla="*/ 10916545 w 11544301"/>
              <a:gd name="csY12" fmla="*/ 770199 h 6208713"/>
              <a:gd name="csX13" fmla="*/ 10910811 w 11544301"/>
              <a:gd name="csY13" fmla="*/ 747898 h 6208713"/>
              <a:gd name="csX14" fmla="*/ 10916545 w 11544301"/>
              <a:gd name="csY14" fmla="*/ 725478 h 6208713"/>
              <a:gd name="csX15" fmla="*/ 10927064 w 11544301"/>
              <a:gd name="csY15" fmla="*/ 721373 h 6208713"/>
              <a:gd name="csX16" fmla="*/ 10777387 w 11544301"/>
              <a:gd name="csY16" fmla="*/ 721373 h 6208713"/>
              <a:gd name="csX17" fmla="*/ 10787956 w 11544301"/>
              <a:gd name="csY17" fmla="*/ 725478 h 6208713"/>
              <a:gd name="csX18" fmla="*/ 10793709 w 11544301"/>
              <a:gd name="csY18" fmla="*/ 747898 h 6208713"/>
              <a:gd name="csX19" fmla="*/ 10787956 w 11544301"/>
              <a:gd name="csY19" fmla="*/ 770199 h 6208713"/>
              <a:gd name="csX20" fmla="*/ 10777387 w 11544301"/>
              <a:gd name="csY20" fmla="*/ 774186 h 6208713"/>
              <a:gd name="csX21" fmla="*/ 10766582 w 11544301"/>
              <a:gd name="csY21" fmla="*/ 770199 h 6208713"/>
              <a:gd name="csX22" fmla="*/ 10760829 w 11544301"/>
              <a:gd name="csY22" fmla="*/ 747898 h 6208713"/>
              <a:gd name="csX23" fmla="*/ 10766582 w 11544301"/>
              <a:gd name="csY23" fmla="*/ 725478 h 6208713"/>
              <a:gd name="csX24" fmla="*/ 10777387 w 11544301"/>
              <a:gd name="csY24" fmla="*/ 721373 h 6208713"/>
              <a:gd name="csX25" fmla="*/ 10665367 w 11544301"/>
              <a:gd name="csY25" fmla="*/ 721373 h 6208713"/>
              <a:gd name="csX26" fmla="*/ 10676054 w 11544301"/>
              <a:gd name="csY26" fmla="*/ 725478 h 6208713"/>
              <a:gd name="csX27" fmla="*/ 10681806 w 11544301"/>
              <a:gd name="csY27" fmla="*/ 747898 h 6208713"/>
              <a:gd name="csX28" fmla="*/ 10676054 w 11544301"/>
              <a:gd name="csY28" fmla="*/ 770199 h 6208713"/>
              <a:gd name="csX29" fmla="*/ 10665367 w 11544301"/>
              <a:gd name="csY29" fmla="*/ 774186 h 6208713"/>
              <a:gd name="csX30" fmla="*/ 10654798 w 11544301"/>
              <a:gd name="csY30" fmla="*/ 770199 h 6208713"/>
              <a:gd name="csX31" fmla="*/ 10649045 w 11544301"/>
              <a:gd name="csY31" fmla="*/ 747898 h 6208713"/>
              <a:gd name="csX32" fmla="*/ 10654798 w 11544301"/>
              <a:gd name="csY32" fmla="*/ 725478 h 6208713"/>
              <a:gd name="csX33" fmla="*/ 10665367 w 11544301"/>
              <a:gd name="csY33" fmla="*/ 721373 h 6208713"/>
              <a:gd name="csX34" fmla="*/ 11068876 w 11544301"/>
              <a:gd name="csY34" fmla="*/ 715936 h 6208713"/>
              <a:gd name="csX35" fmla="*/ 11066784 w 11544301"/>
              <a:gd name="csY35" fmla="*/ 718156 h 6208713"/>
              <a:gd name="csX36" fmla="*/ 11066784 w 11544301"/>
              <a:gd name="csY36" fmla="*/ 777235 h 6208713"/>
              <a:gd name="csX37" fmla="*/ 11068649 w 11544301"/>
              <a:gd name="csY37" fmla="*/ 779456 h 6208713"/>
              <a:gd name="csX38" fmla="*/ 11075280 w 11544301"/>
              <a:gd name="csY38" fmla="*/ 779456 h 6208713"/>
              <a:gd name="csX39" fmla="*/ 11077599 w 11544301"/>
              <a:gd name="csY39" fmla="*/ 777235 h 6208713"/>
              <a:gd name="csX40" fmla="*/ 11077599 w 11544301"/>
              <a:gd name="csY40" fmla="*/ 718156 h 6208713"/>
              <a:gd name="csX41" fmla="*/ 11075270 w 11544301"/>
              <a:gd name="csY41" fmla="*/ 715936 h 6208713"/>
              <a:gd name="csX42" fmla="*/ 11068876 w 11544301"/>
              <a:gd name="csY42" fmla="*/ 715936 h 6208713"/>
              <a:gd name="csX43" fmla="*/ 11176653 w 11544301"/>
              <a:gd name="csY43" fmla="*/ 715630 h 6208713"/>
              <a:gd name="csX44" fmla="*/ 11172893 w 11544301"/>
              <a:gd name="csY44" fmla="*/ 717623 h 6208713"/>
              <a:gd name="csX45" fmla="*/ 11151145 w 11544301"/>
              <a:gd name="csY45" fmla="*/ 744918 h 6208713"/>
              <a:gd name="csX46" fmla="*/ 11150671 w 11544301"/>
              <a:gd name="csY46" fmla="*/ 745619 h 6208713"/>
              <a:gd name="csX47" fmla="*/ 11150789 w 11544301"/>
              <a:gd name="csY47" fmla="*/ 746319 h 6208713"/>
              <a:gd name="csX48" fmla="*/ 11172657 w 11544301"/>
              <a:gd name="csY48" fmla="*/ 777591 h 6208713"/>
              <a:gd name="csX49" fmla="*/ 11176298 w 11544301"/>
              <a:gd name="csY49" fmla="*/ 779465 h 6208713"/>
              <a:gd name="csX50" fmla="*/ 11184646 w 11544301"/>
              <a:gd name="csY50" fmla="*/ 779465 h 6208713"/>
              <a:gd name="csX51" fmla="*/ 11186403 w 11544301"/>
              <a:gd name="csY51" fmla="*/ 777936 h 6208713"/>
              <a:gd name="csX52" fmla="*/ 11185584 w 11544301"/>
              <a:gd name="csY52" fmla="*/ 776416 h 6208713"/>
              <a:gd name="csX53" fmla="*/ 11162305 w 11544301"/>
              <a:gd name="csY53" fmla="*/ 745609 h 6208713"/>
              <a:gd name="csX54" fmla="*/ 11162068 w 11544301"/>
              <a:gd name="csY54" fmla="*/ 745372 h 6208713"/>
              <a:gd name="csX55" fmla="*/ 11184054 w 11544301"/>
              <a:gd name="csY55" fmla="*/ 719488 h 6208713"/>
              <a:gd name="csX56" fmla="*/ 11184646 w 11544301"/>
              <a:gd name="csY56" fmla="*/ 717031 h 6208713"/>
              <a:gd name="csX57" fmla="*/ 11182416 w 11544301"/>
              <a:gd name="csY57" fmla="*/ 715630 h 6208713"/>
              <a:gd name="csX58" fmla="*/ 11176653 w 11544301"/>
              <a:gd name="csY58" fmla="*/ 715630 h 6208713"/>
              <a:gd name="csX59" fmla="*/ 10696618 w 11544301"/>
              <a:gd name="csY59" fmla="*/ 715630 h 6208713"/>
              <a:gd name="csX60" fmla="*/ 10694970 w 11544301"/>
              <a:gd name="csY60" fmla="*/ 717268 h 6208713"/>
              <a:gd name="csX61" fmla="*/ 10695444 w 11544301"/>
              <a:gd name="csY61" fmla="*/ 719024 h 6208713"/>
              <a:gd name="csX62" fmla="*/ 10717627 w 11544301"/>
              <a:gd name="csY62" fmla="*/ 777571 h 6208713"/>
              <a:gd name="csX63" fmla="*/ 10719620 w 11544301"/>
              <a:gd name="csY63" fmla="*/ 779446 h 6208713"/>
              <a:gd name="csX64" fmla="*/ 10724436 w 11544301"/>
              <a:gd name="csY64" fmla="*/ 779446 h 6208713"/>
              <a:gd name="csX65" fmla="*/ 10726666 w 11544301"/>
              <a:gd name="csY65" fmla="*/ 777571 h 6208713"/>
              <a:gd name="csX66" fmla="*/ 10748267 w 11544301"/>
              <a:gd name="csY66" fmla="*/ 718797 h 6208713"/>
              <a:gd name="csX67" fmla="*/ 10748504 w 11544301"/>
              <a:gd name="csY67" fmla="*/ 716923 h 6208713"/>
              <a:gd name="csX68" fmla="*/ 10746974 w 11544301"/>
              <a:gd name="csY68" fmla="*/ 715630 h 6208713"/>
              <a:gd name="csX69" fmla="*/ 10740866 w 11544301"/>
              <a:gd name="csY69" fmla="*/ 715630 h 6208713"/>
              <a:gd name="csX70" fmla="*/ 10739336 w 11544301"/>
              <a:gd name="csY70" fmla="*/ 717386 h 6208713"/>
              <a:gd name="csX71" fmla="*/ 10723370 w 11544301"/>
              <a:gd name="csY71" fmla="*/ 764318 h 6208713"/>
              <a:gd name="csX72" fmla="*/ 10706940 w 11544301"/>
              <a:gd name="csY72" fmla="*/ 717623 h 6208713"/>
              <a:gd name="csX73" fmla="*/ 10704128 w 11544301"/>
              <a:gd name="csY73" fmla="*/ 715630 h 6208713"/>
              <a:gd name="csX74" fmla="*/ 10696618 w 11544301"/>
              <a:gd name="csY74" fmla="*/ 715630 h 6208713"/>
              <a:gd name="csX75" fmla="*/ 11110538 w 11544301"/>
              <a:gd name="csY75" fmla="*/ 714564 h 6208713"/>
              <a:gd name="csX76" fmla="*/ 11089519 w 11544301"/>
              <a:gd name="csY76" fmla="*/ 732050 h 6208713"/>
              <a:gd name="csX77" fmla="*/ 11106078 w 11544301"/>
              <a:gd name="csY77" fmla="*/ 751066 h 6208713"/>
              <a:gd name="csX78" fmla="*/ 11119696 w 11544301"/>
              <a:gd name="csY78" fmla="*/ 763391 h 6208713"/>
              <a:gd name="csX79" fmla="*/ 11107134 w 11544301"/>
              <a:gd name="csY79" fmla="*/ 774186 h 6208713"/>
              <a:gd name="csX80" fmla="*/ 11091750 w 11544301"/>
              <a:gd name="csY80" fmla="*/ 767733 h 6208713"/>
              <a:gd name="csX81" fmla="*/ 11087171 w 11544301"/>
              <a:gd name="csY81" fmla="*/ 771837 h 6208713"/>
              <a:gd name="csX82" fmla="*/ 11106897 w 11544301"/>
              <a:gd name="csY82" fmla="*/ 781232 h 6208713"/>
              <a:gd name="csX83" fmla="*/ 11129445 w 11544301"/>
              <a:gd name="csY83" fmla="*/ 762216 h 6208713"/>
              <a:gd name="csX84" fmla="*/ 11099269 w 11544301"/>
              <a:gd name="csY84" fmla="*/ 730994 h 6208713"/>
              <a:gd name="csX85" fmla="*/ 11109837 w 11544301"/>
              <a:gd name="csY85" fmla="*/ 721600 h 6208713"/>
              <a:gd name="csX86" fmla="*/ 11122518 w 11544301"/>
              <a:gd name="csY86" fmla="*/ 726297 h 6208713"/>
              <a:gd name="csX87" fmla="*/ 11127096 w 11544301"/>
              <a:gd name="csY87" fmla="*/ 721955 h 6208713"/>
              <a:gd name="csX88" fmla="*/ 11110538 w 11544301"/>
              <a:gd name="csY88" fmla="*/ 714564 h 6208713"/>
              <a:gd name="csX89" fmla="*/ 10982531 w 11544301"/>
              <a:gd name="csY89" fmla="*/ 714209 h 6208713"/>
              <a:gd name="csX90" fmla="*/ 10968578 w 11544301"/>
              <a:gd name="csY90" fmla="*/ 716084 h 6208713"/>
              <a:gd name="csX91" fmla="*/ 10962835 w 11544301"/>
              <a:gd name="csY91" fmla="*/ 721107 h 6208713"/>
              <a:gd name="csX92" fmla="*/ 10962835 w 11544301"/>
              <a:gd name="csY92" fmla="*/ 777117 h 6208713"/>
              <a:gd name="csX93" fmla="*/ 10965302 w 11544301"/>
              <a:gd name="csY93" fmla="*/ 779100 h 6208713"/>
              <a:gd name="csX94" fmla="*/ 10971519 w 11544301"/>
              <a:gd name="csY94" fmla="*/ 779100 h 6208713"/>
              <a:gd name="csX95" fmla="*/ 10973749 w 11544301"/>
              <a:gd name="csY95" fmla="*/ 777117 h 6208713"/>
              <a:gd name="csX96" fmla="*/ 10973749 w 11544301"/>
              <a:gd name="csY96" fmla="*/ 725784 h 6208713"/>
              <a:gd name="csX97" fmla="*/ 10979966 w 11544301"/>
              <a:gd name="csY97" fmla="*/ 720288 h 6208713"/>
              <a:gd name="csX98" fmla="*/ 10993218 w 11544301"/>
              <a:gd name="csY98" fmla="*/ 726021 h 6208713"/>
              <a:gd name="csX99" fmla="*/ 10998596 w 11544301"/>
              <a:gd name="csY99" fmla="*/ 720643 h 6208713"/>
              <a:gd name="csX100" fmla="*/ 10982531 w 11544301"/>
              <a:gd name="csY100" fmla="*/ 714209 h 6208713"/>
              <a:gd name="csX101" fmla="*/ 10927074 w 11544301"/>
              <a:gd name="csY101" fmla="*/ 714209 h 6208713"/>
              <a:gd name="csX102" fmla="*/ 10911176 w 11544301"/>
              <a:gd name="csY102" fmla="*/ 718788 h 6208713"/>
              <a:gd name="csX103" fmla="*/ 10899483 w 11544301"/>
              <a:gd name="csY103" fmla="*/ 747898 h 6208713"/>
              <a:gd name="csX104" fmla="*/ 10911176 w 11544301"/>
              <a:gd name="csY104" fmla="*/ 776890 h 6208713"/>
              <a:gd name="csX105" fmla="*/ 10927074 w 11544301"/>
              <a:gd name="csY105" fmla="*/ 781350 h 6208713"/>
              <a:gd name="csX106" fmla="*/ 10942971 w 11544301"/>
              <a:gd name="csY106" fmla="*/ 776890 h 6208713"/>
              <a:gd name="csX107" fmla="*/ 10954783 w 11544301"/>
              <a:gd name="csY107" fmla="*/ 747898 h 6208713"/>
              <a:gd name="csX108" fmla="*/ 10942971 w 11544301"/>
              <a:gd name="csY108" fmla="*/ 718788 h 6208713"/>
              <a:gd name="csX109" fmla="*/ 10927074 w 11544301"/>
              <a:gd name="csY109" fmla="*/ 714209 h 6208713"/>
              <a:gd name="csX110" fmla="*/ 10865261 w 11544301"/>
              <a:gd name="csY110" fmla="*/ 714209 h 6208713"/>
              <a:gd name="csX111" fmla="*/ 10846236 w 11544301"/>
              <a:gd name="csY111" fmla="*/ 717258 h 6208713"/>
              <a:gd name="csX112" fmla="*/ 10840749 w 11544301"/>
              <a:gd name="csY112" fmla="*/ 722301 h 6208713"/>
              <a:gd name="csX113" fmla="*/ 10840749 w 11544301"/>
              <a:gd name="csY113" fmla="*/ 777216 h 6208713"/>
              <a:gd name="csX114" fmla="*/ 10843088 w 11544301"/>
              <a:gd name="csY114" fmla="*/ 779446 h 6208713"/>
              <a:gd name="csX115" fmla="*/ 10849157 w 11544301"/>
              <a:gd name="csY115" fmla="*/ 779446 h 6208713"/>
              <a:gd name="csX116" fmla="*/ 10851722 w 11544301"/>
              <a:gd name="csY116" fmla="*/ 776979 h 6208713"/>
              <a:gd name="csX117" fmla="*/ 10851722 w 11544301"/>
              <a:gd name="csY117" fmla="*/ 726406 h 6208713"/>
              <a:gd name="csX118" fmla="*/ 10864916 w 11544301"/>
              <a:gd name="csY118" fmla="*/ 720889 h 6208713"/>
              <a:gd name="csX119" fmla="*/ 10879155 w 11544301"/>
              <a:gd name="csY119" fmla="*/ 735908 h 6208713"/>
              <a:gd name="csX120" fmla="*/ 10879155 w 11544301"/>
              <a:gd name="csY120" fmla="*/ 776979 h 6208713"/>
              <a:gd name="csX121" fmla="*/ 10881958 w 11544301"/>
              <a:gd name="csY121" fmla="*/ 779446 h 6208713"/>
              <a:gd name="csX122" fmla="*/ 10888727 w 11544301"/>
              <a:gd name="csY122" fmla="*/ 779446 h 6208713"/>
              <a:gd name="csX123" fmla="*/ 10889891 w 11544301"/>
              <a:gd name="csY123" fmla="*/ 776989 h 6208713"/>
              <a:gd name="csX124" fmla="*/ 10889891 w 11544301"/>
              <a:gd name="csY124" fmla="*/ 734507 h 6208713"/>
              <a:gd name="csX125" fmla="*/ 10865261 w 11544301"/>
              <a:gd name="csY125" fmla="*/ 714209 h 6208713"/>
              <a:gd name="csX126" fmla="*/ 10777160 w 11544301"/>
              <a:gd name="csY126" fmla="*/ 714209 h 6208713"/>
              <a:gd name="csX127" fmla="*/ 10761194 w 11544301"/>
              <a:gd name="csY127" fmla="*/ 718788 h 6208713"/>
              <a:gd name="csX128" fmla="*/ 10749451 w 11544301"/>
              <a:gd name="csY128" fmla="*/ 747898 h 6208713"/>
              <a:gd name="csX129" fmla="*/ 10761194 w 11544301"/>
              <a:gd name="csY129" fmla="*/ 776890 h 6208713"/>
              <a:gd name="csX130" fmla="*/ 10777160 w 11544301"/>
              <a:gd name="csY130" fmla="*/ 781350 h 6208713"/>
              <a:gd name="csX131" fmla="*/ 10793127 w 11544301"/>
              <a:gd name="csY131" fmla="*/ 776890 h 6208713"/>
              <a:gd name="csX132" fmla="*/ 10804988 w 11544301"/>
              <a:gd name="csY132" fmla="*/ 747898 h 6208713"/>
              <a:gd name="csX133" fmla="*/ 10793127 w 11544301"/>
              <a:gd name="csY133" fmla="*/ 718788 h 6208713"/>
              <a:gd name="csX134" fmla="*/ 10777160 w 11544301"/>
              <a:gd name="csY134" fmla="*/ 714209 h 6208713"/>
              <a:gd name="csX135" fmla="*/ 10665376 w 11544301"/>
              <a:gd name="csY135" fmla="*/ 714209 h 6208713"/>
              <a:gd name="csX136" fmla="*/ 10649410 w 11544301"/>
              <a:gd name="csY136" fmla="*/ 718788 h 6208713"/>
              <a:gd name="csX137" fmla="*/ 10637549 w 11544301"/>
              <a:gd name="csY137" fmla="*/ 747898 h 6208713"/>
              <a:gd name="csX138" fmla="*/ 10649410 w 11544301"/>
              <a:gd name="csY138" fmla="*/ 776890 h 6208713"/>
              <a:gd name="csX139" fmla="*/ 10665376 w 11544301"/>
              <a:gd name="csY139" fmla="*/ 781350 h 6208713"/>
              <a:gd name="csX140" fmla="*/ 10681343 w 11544301"/>
              <a:gd name="csY140" fmla="*/ 776890 h 6208713"/>
              <a:gd name="csX141" fmla="*/ 10693086 w 11544301"/>
              <a:gd name="csY141" fmla="*/ 747898 h 6208713"/>
              <a:gd name="csX142" fmla="*/ 10681343 w 11544301"/>
              <a:gd name="csY142" fmla="*/ 718788 h 6208713"/>
              <a:gd name="csX143" fmla="*/ 10665376 w 11544301"/>
              <a:gd name="csY143" fmla="*/ 714209 h 6208713"/>
              <a:gd name="csX144" fmla="*/ 10603445 w 11544301"/>
              <a:gd name="csY144" fmla="*/ 714209 h 6208713"/>
              <a:gd name="csX145" fmla="*/ 10584331 w 11544301"/>
              <a:gd name="csY145" fmla="*/ 717258 h 6208713"/>
              <a:gd name="csX146" fmla="*/ 10578815 w 11544301"/>
              <a:gd name="csY146" fmla="*/ 722301 h 6208713"/>
              <a:gd name="csX147" fmla="*/ 10578815 w 11544301"/>
              <a:gd name="csY147" fmla="*/ 777216 h 6208713"/>
              <a:gd name="csX148" fmla="*/ 10581045 w 11544301"/>
              <a:gd name="csY148" fmla="*/ 779446 h 6208713"/>
              <a:gd name="csX149" fmla="*/ 10587144 w 11544301"/>
              <a:gd name="csY149" fmla="*/ 779446 h 6208713"/>
              <a:gd name="csX150" fmla="*/ 10589719 w 11544301"/>
              <a:gd name="csY150" fmla="*/ 776979 h 6208713"/>
              <a:gd name="csX151" fmla="*/ 10589719 w 11544301"/>
              <a:gd name="csY151" fmla="*/ 726406 h 6208713"/>
              <a:gd name="csX152" fmla="*/ 10602972 w 11544301"/>
              <a:gd name="csY152" fmla="*/ 720889 h 6208713"/>
              <a:gd name="csX153" fmla="*/ 10617280 w 11544301"/>
              <a:gd name="csY153" fmla="*/ 735908 h 6208713"/>
              <a:gd name="csX154" fmla="*/ 10617280 w 11544301"/>
              <a:gd name="csY154" fmla="*/ 776979 h 6208713"/>
              <a:gd name="csX155" fmla="*/ 10620093 w 11544301"/>
              <a:gd name="csY155" fmla="*/ 779446 h 6208713"/>
              <a:gd name="csX156" fmla="*/ 10626891 w 11544301"/>
              <a:gd name="csY156" fmla="*/ 779446 h 6208713"/>
              <a:gd name="csX157" fmla="*/ 10628194 w 11544301"/>
              <a:gd name="csY157" fmla="*/ 776989 h 6208713"/>
              <a:gd name="csX158" fmla="*/ 10628194 w 11544301"/>
              <a:gd name="csY158" fmla="*/ 734507 h 6208713"/>
              <a:gd name="csX159" fmla="*/ 10603445 w 11544301"/>
              <a:gd name="csY159" fmla="*/ 714209 h 6208713"/>
              <a:gd name="csX160" fmla="*/ 11043821 w 11544301"/>
              <a:gd name="csY160" fmla="*/ 692884 h 6208713"/>
              <a:gd name="csX161" fmla="*/ 11041601 w 11544301"/>
              <a:gd name="csY161" fmla="*/ 695697 h 6208713"/>
              <a:gd name="csX162" fmla="*/ 11041601 w 11544301"/>
              <a:gd name="csY162" fmla="*/ 717988 h 6208713"/>
              <a:gd name="csX163" fmla="*/ 11028279 w 11544301"/>
              <a:gd name="csY163" fmla="*/ 714584 h 6208713"/>
              <a:gd name="csX164" fmla="*/ 10999534 w 11544301"/>
              <a:gd name="csY164" fmla="*/ 747898 h 6208713"/>
              <a:gd name="csX165" fmla="*/ 11030499 w 11544301"/>
              <a:gd name="csY165" fmla="*/ 781330 h 6208713"/>
              <a:gd name="csX166" fmla="*/ 11052238 w 11544301"/>
              <a:gd name="csY166" fmla="*/ 772666 h 6208713"/>
              <a:gd name="csX167" fmla="*/ 11052238 w 11544301"/>
              <a:gd name="csY167" fmla="*/ 695351 h 6208713"/>
              <a:gd name="csX168" fmla="*/ 11049900 w 11544301"/>
              <a:gd name="csY168" fmla="*/ 692884 h 6208713"/>
              <a:gd name="csX169" fmla="*/ 11043821 w 11544301"/>
              <a:gd name="csY169" fmla="*/ 692884 h 6208713"/>
              <a:gd name="csX170" fmla="*/ 11140329 w 11544301"/>
              <a:gd name="csY170" fmla="*/ 692657 h 6208713"/>
              <a:gd name="csX171" fmla="*/ 11138326 w 11544301"/>
              <a:gd name="csY171" fmla="*/ 694651 h 6208713"/>
              <a:gd name="csX172" fmla="*/ 11138326 w 11544301"/>
              <a:gd name="csY172" fmla="*/ 777462 h 6208713"/>
              <a:gd name="csX173" fmla="*/ 11140329 w 11544301"/>
              <a:gd name="csY173" fmla="*/ 779337 h 6208713"/>
              <a:gd name="csX174" fmla="*/ 11146793 w 11544301"/>
              <a:gd name="csY174" fmla="*/ 779337 h 6208713"/>
              <a:gd name="csX175" fmla="*/ 11149023 w 11544301"/>
              <a:gd name="csY175" fmla="*/ 777581 h 6208713"/>
              <a:gd name="csX176" fmla="*/ 11149023 w 11544301"/>
              <a:gd name="csY176" fmla="*/ 694414 h 6208713"/>
              <a:gd name="csX177" fmla="*/ 11146793 w 11544301"/>
              <a:gd name="csY177" fmla="*/ 692657 h 6208713"/>
              <a:gd name="csX178" fmla="*/ 11140329 w 11544301"/>
              <a:gd name="csY178" fmla="*/ 692657 h 6208713"/>
              <a:gd name="csX179" fmla="*/ 11072487 w 11544301"/>
              <a:gd name="csY179" fmla="*/ 691947 h 6208713"/>
              <a:gd name="csX180" fmla="*/ 11065738 w 11544301"/>
              <a:gd name="csY180" fmla="*/ 698499 h 6208713"/>
              <a:gd name="csX181" fmla="*/ 11072251 w 11544301"/>
              <a:gd name="csY181" fmla="*/ 704933 h 6208713"/>
              <a:gd name="csX182" fmla="*/ 11078882 w 11544301"/>
              <a:gd name="csY182" fmla="*/ 698035 h 6208713"/>
              <a:gd name="csX183" fmla="*/ 11072487 w 11544301"/>
              <a:gd name="csY183" fmla="*/ 691947 h 6208713"/>
              <a:gd name="csX184" fmla="*/ 11202724 w 11544301"/>
              <a:gd name="csY184" fmla="*/ 682641 h 6208713"/>
              <a:gd name="csX185" fmla="*/ 11202964 w 11544301"/>
              <a:gd name="csY185" fmla="*/ 682818 h 6208713"/>
              <a:gd name="csX186" fmla="*/ 11202724 w 11544301"/>
              <a:gd name="csY186" fmla="*/ 682878 h 6208713"/>
              <a:gd name="csX187" fmla="*/ 11202724 w 11544301"/>
              <a:gd name="csY187" fmla="*/ 682641 h 6208713"/>
              <a:gd name="csX188" fmla="*/ 11195580 w 11544301"/>
              <a:gd name="csY188" fmla="*/ 674076 h 6208713"/>
              <a:gd name="csX189" fmla="*/ 11199438 w 11544301"/>
              <a:gd name="csY189" fmla="*/ 674076 h 6208713"/>
              <a:gd name="csX190" fmla="*/ 11204708 w 11544301"/>
              <a:gd name="csY190" fmla="*/ 677244 h 6208713"/>
              <a:gd name="csX191" fmla="*/ 11199793 w 11544301"/>
              <a:gd name="csY191" fmla="*/ 680411 h 6208713"/>
              <a:gd name="csX192" fmla="*/ 11195580 w 11544301"/>
              <a:gd name="csY192" fmla="*/ 680411 h 6208713"/>
              <a:gd name="csX193" fmla="*/ 11192304 w 11544301"/>
              <a:gd name="csY193" fmla="*/ 671135 h 6208713"/>
              <a:gd name="csX194" fmla="*/ 11192304 w 11544301"/>
              <a:gd name="csY194" fmla="*/ 692381 h 6208713"/>
              <a:gd name="csX195" fmla="*/ 11195817 w 11544301"/>
              <a:gd name="csY195" fmla="*/ 692381 h 6208713"/>
              <a:gd name="csX196" fmla="*/ 11195817 w 11544301"/>
              <a:gd name="csY196" fmla="*/ 683342 h 6208713"/>
              <a:gd name="csX197" fmla="*/ 11197810 w 11544301"/>
              <a:gd name="csY197" fmla="*/ 683342 h 6208713"/>
              <a:gd name="csX198" fmla="*/ 11204125 w 11544301"/>
              <a:gd name="csY198" fmla="*/ 688977 h 6208713"/>
              <a:gd name="csX199" fmla="*/ 11206000 w 11544301"/>
              <a:gd name="csY199" fmla="*/ 692263 h 6208713"/>
              <a:gd name="csX200" fmla="*/ 11210095 w 11544301"/>
              <a:gd name="csY200" fmla="*/ 692263 h 6208713"/>
              <a:gd name="csX201" fmla="*/ 11207520 w 11544301"/>
              <a:gd name="csY201" fmla="*/ 688039 h 6208713"/>
              <a:gd name="csX202" fmla="*/ 11204593 w 11544301"/>
              <a:gd name="csY202" fmla="*/ 684019 h 6208713"/>
              <a:gd name="csX203" fmla="*/ 11202964 w 11544301"/>
              <a:gd name="csY203" fmla="*/ 682818 h 6208713"/>
              <a:gd name="csX204" fmla="*/ 11205485 w 11544301"/>
              <a:gd name="csY204" fmla="*/ 682189 h 6208713"/>
              <a:gd name="csX205" fmla="*/ 11208694 w 11544301"/>
              <a:gd name="csY205" fmla="*/ 676888 h 6208713"/>
              <a:gd name="csX206" fmla="*/ 11206701 w 11544301"/>
              <a:gd name="csY206" fmla="*/ 672783 h 6208713"/>
              <a:gd name="csX207" fmla="*/ 11199793 w 11544301"/>
              <a:gd name="csY207" fmla="*/ 671135 h 6208713"/>
              <a:gd name="csX208" fmla="*/ 11192304 w 11544301"/>
              <a:gd name="csY208" fmla="*/ 671135 h 6208713"/>
              <a:gd name="csX209" fmla="*/ 11200613 w 11544301"/>
              <a:gd name="csY209" fmla="*/ 665274 h 6208713"/>
              <a:gd name="csX210" fmla="*/ 11216993 w 11544301"/>
              <a:gd name="csY210" fmla="*/ 681585 h 6208713"/>
              <a:gd name="csX211" fmla="*/ 11200613 w 11544301"/>
              <a:gd name="csY211" fmla="*/ 698134 h 6208713"/>
              <a:gd name="csX212" fmla="*/ 11184350 w 11544301"/>
              <a:gd name="csY212" fmla="*/ 681585 h 6208713"/>
              <a:gd name="csX213" fmla="*/ 11200613 w 11544301"/>
              <a:gd name="csY213" fmla="*/ 665274 h 6208713"/>
              <a:gd name="csX214" fmla="*/ 11200613 w 11544301"/>
              <a:gd name="csY214" fmla="*/ 661869 h 6208713"/>
              <a:gd name="csX215" fmla="*/ 11181074 w 11544301"/>
              <a:gd name="csY215" fmla="*/ 681585 h 6208713"/>
              <a:gd name="csX216" fmla="*/ 11200613 w 11544301"/>
              <a:gd name="csY216" fmla="*/ 701302 h 6208713"/>
              <a:gd name="csX217" fmla="*/ 11220151 w 11544301"/>
              <a:gd name="csY217" fmla="*/ 681585 h 6208713"/>
              <a:gd name="csX218" fmla="*/ 11200613 w 11544301"/>
              <a:gd name="csY218" fmla="*/ 661869 h 6208713"/>
              <a:gd name="csX219" fmla="*/ 11005508 w 11544301"/>
              <a:gd name="csY219" fmla="*/ 533974 h 6208713"/>
              <a:gd name="csX220" fmla="*/ 11007162 w 11544301"/>
              <a:gd name="csY220" fmla="*/ 534722 h 6208713"/>
              <a:gd name="csX221" fmla="*/ 11010329 w 11544301"/>
              <a:gd name="csY221" fmla="*/ 610093 h 6208713"/>
              <a:gd name="csX222" fmla="*/ 11006698 w 11544301"/>
              <a:gd name="csY222" fmla="*/ 609392 h 6208713"/>
              <a:gd name="csX223" fmla="*/ 11000836 w 11544301"/>
              <a:gd name="csY223" fmla="*/ 578446 h 6208713"/>
              <a:gd name="csX224" fmla="*/ 11004468 w 11544301"/>
              <a:gd name="csY224" fmla="*/ 535077 h 6208713"/>
              <a:gd name="csX225" fmla="*/ 11005508 w 11544301"/>
              <a:gd name="csY225" fmla="*/ 533974 h 6208713"/>
              <a:gd name="csX226" fmla="*/ 10869475 w 11544301"/>
              <a:gd name="csY226" fmla="*/ 489122 h 6208713"/>
              <a:gd name="csX227" fmla="*/ 10923778 w 11544301"/>
              <a:gd name="csY227" fmla="*/ 490997 h 6208713"/>
              <a:gd name="csX228" fmla="*/ 10922248 w 11544301"/>
              <a:gd name="csY228" fmla="*/ 520768 h 6208713"/>
              <a:gd name="csX229" fmla="*/ 10877566 w 11544301"/>
              <a:gd name="csY229" fmla="*/ 524873 h 6208713"/>
              <a:gd name="csX230" fmla="*/ 10871586 w 11544301"/>
              <a:gd name="csY230" fmla="*/ 518074 h 6208713"/>
              <a:gd name="csX231" fmla="*/ 10869475 w 11544301"/>
              <a:gd name="csY231" fmla="*/ 489122 h 6208713"/>
              <a:gd name="csX232" fmla="*/ 10964236 w 11544301"/>
              <a:gd name="csY232" fmla="*/ 486191 h 6208713"/>
              <a:gd name="csX233" fmla="*/ 10968223 w 11544301"/>
              <a:gd name="csY233" fmla="*/ 505651 h 6208713"/>
              <a:gd name="csX234" fmla="*/ 10958839 w 11544301"/>
              <a:gd name="csY234" fmla="*/ 512450 h 6208713"/>
              <a:gd name="csX235" fmla="*/ 10951211 w 11544301"/>
              <a:gd name="csY235" fmla="*/ 487948 h 6208713"/>
              <a:gd name="csX236" fmla="*/ 10964236 w 11544301"/>
              <a:gd name="csY236" fmla="*/ 486191 h 6208713"/>
              <a:gd name="csX237" fmla="*/ 10824447 w 11544301"/>
              <a:gd name="csY237" fmla="*/ 479402 h 6208713"/>
              <a:gd name="csX238" fmla="*/ 10841805 w 11544301"/>
              <a:gd name="csY238" fmla="*/ 484089 h 6208713"/>
              <a:gd name="csX239" fmla="*/ 10825858 w 11544301"/>
              <a:gd name="csY239" fmla="*/ 518084 h 6208713"/>
              <a:gd name="csX240" fmla="*/ 10818231 w 11544301"/>
              <a:gd name="csY240" fmla="*/ 512104 h 6208713"/>
              <a:gd name="csX241" fmla="*/ 10824447 w 11544301"/>
              <a:gd name="csY241" fmla="*/ 479402 h 6208713"/>
              <a:gd name="csX242" fmla="*/ 10804360 w 11544301"/>
              <a:gd name="csY242" fmla="*/ 472972 h 6208713"/>
              <a:gd name="csX243" fmla="*/ 10815428 w 11544301"/>
              <a:gd name="csY243" fmla="*/ 476590 h 6208713"/>
              <a:gd name="csX244" fmla="*/ 10807800 w 11544301"/>
              <a:gd name="csY244" fmla="*/ 516791 h 6208713"/>
              <a:gd name="csX245" fmla="*/ 10826914 w 11544301"/>
              <a:gd name="csY245" fmla="*/ 526758 h 6208713"/>
              <a:gd name="csX246" fmla="*/ 10850252 w 11544301"/>
              <a:gd name="csY246" fmla="*/ 485964 h 6208713"/>
              <a:gd name="csX247" fmla="*/ 10861274 w 11544301"/>
              <a:gd name="csY247" fmla="*/ 487957 h 6208713"/>
              <a:gd name="csX248" fmla="*/ 10864679 w 11544301"/>
              <a:gd name="csY248" fmla="*/ 526166 h 6208713"/>
              <a:gd name="csX249" fmla="*/ 10876639 w 11544301"/>
              <a:gd name="csY249" fmla="*/ 533666 h 6208713"/>
              <a:gd name="csX250" fmla="*/ 10929176 w 11544301"/>
              <a:gd name="csY250" fmla="*/ 527103 h 6208713"/>
              <a:gd name="csX251" fmla="*/ 10932106 w 11544301"/>
              <a:gd name="csY251" fmla="*/ 490296 h 6208713"/>
              <a:gd name="csX252" fmla="*/ 10942191 w 11544301"/>
              <a:gd name="csY252" fmla="*/ 489122 h 6208713"/>
              <a:gd name="csX253" fmla="*/ 10950638 w 11544301"/>
              <a:gd name="csY253" fmla="*/ 513269 h 6208713"/>
              <a:gd name="csX254" fmla="*/ 10968351 w 11544301"/>
              <a:gd name="csY254" fmla="*/ 516318 h 6208713"/>
              <a:gd name="csX255" fmla="*/ 10971983 w 11544301"/>
              <a:gd name="csY255" fmla="*/ 485254 h 6208713"/>
              <a:gd name="csX256" fmla="*/ 10992972 w 11544301"/>
              <a:gd name="csY256" fmla="*/ 517729 h 6208713"/>
              <a:gd name="csX257" fmla="*/ 10981249 w 11544301"/>
              <a:gd name="csY257" fmla="*/ 566141 h 6208713"/>
              <a:gd name="csX258" fmla="*/ 10912173 w 11544301"/>
              <a:gd name="csY258" fmla="*/ 550786 h 6208713"/>
              <a:gd name="csX259" fmla="*/ 10840986 w 11544301"/>
              <a:gd name="csY259" fmla="*/ 589232 h 6208713"/>
              <a:gd name="csX260" fmla="*/ 10837937 w 11544301"/>
              <a:gd name="csY260" fmla="*/ 590051 h 6208713"/>
              <a:gd name="csX261" fmla="*/ 10803340 w 11544301"/>
              <a:gd name="csY261" fmla="*/ 565203 h 6208713"/>
              <a:gd name="csX262" fmla="*/ 10776252 w 11544301"/>
              <a:gd name="csY262" fmla="*/ 532501 h 6208713"/>
              <a:gd name="csX263" fmla="*/ 10800064 w 11544301"/>
              <a:gd name="csY263" fmla="*/ 475771 h 6208713"/>
              <a:gd name="csX264" fmla="*/ 10804360 w 11544301"/>
              <a:gd name="csY264" fmla="*/ 472972 h 6208713"/>
              <a:gd name="csX265" fmla="*/ 10748327 w 11544301"/>
              <a:gd name="csY265" fmla="*/ 459672 h 6208713"/>
              <a:gd name="csX266" fmla="*/ 10737432 w 11544301"/>
              <a:gd name="csY266" fmla="*/ 467422 h 6208713"/>
              <a:gd name="csX267" fmla="*/ 10751592 w 11544301"/>
              <a:gd name="csY267" fmla="*/ 460535 h 6208713"/>
              <a:gd name="csX268" fmla="*/ 10748327 w 11544301"/>
              <a:gd name="csY268" fmla="*/ 459672 h 6208713"/>
              <a:gd name="csX269" fmla="*/ 10744927 w 11544301"/>
              <a:gd name="csY269" fmla="*/ 444943 h 6208713"/>
              <a:gd name="csX270" fmla="*/ 10767805 w 11544301"/>
              <a:gd name="csY270" fmla="*/ 454782 h 6208713"/>
              <a:gd name="csX271" fmla="*/ 10787739 w 11544301"/>
              <a:gd name="csY271" fmla="*/ 475879 h 6208713"/>
              <a:gd name="csX272" fmla="*/ 10765102 w 11544301"/>
              <a:gd name="csY272" fmla="*/ 525347 h 6208713"/>
              <a:gd name="csX273" fmla="*/ 10747862 w 11544301"/>
              <a:gd name="csY273" fmla="*/ 498033 h 6208713"/>
              <a:gd name="csX274" fmla="*/ 10723232 w 11544301"/>
              <a:gd name="csY274" fmla="*/ 490997 h 6208713"/>
              <a:gd name="csX275" fmla="*/ 10720883 w 11544301"/>
              <a:gd name="csY275" fmla="*/ 479866 h 6208713"/>
              <a:gd name="csX276" fmla="*/ 10727682 w 11544301"/>
              <a:gd name="csY276" fmla="*/ 470718 h 6208713"/>
              <a:gd name="csX277" fmla="*/ 10730149 w 11544301"/>
              <a:gd name="csY277" fmla="*/ 460406 h 6208713"/>
              <a:gd name="csX278" fmla="*/ 10740826 w 11544301"/>
              <a:gd name="csY278" fmla="*/ 447164 h 6208713"/>
              <a:gd name="csX279" fmla="*/ 10744927 w 11544301"/>
              <a:gd name="csY279" fmla="*/ 444943 h 6208713"/>
              <a:gd name="csX280" fmla="*/ 10717097 w 11544301"/>
              <a:gd name="csY280" fmla="*/ 389363 h 6208713"/>
              <a:gd name="csX281" fmla="*/ 10715367 w 11544301"/>
              <a:gd name="csY281" fmla="*/ 395841 h 6208713"/>
              <a:gd name="csX282" fmla="*/ 10728038 w 11544301"/>
              <a:gd name="csY282" fmla="*/ 433822 h 6208713"/>
              <a:gd name="csX283" fmla="*/ 10730968 w 11544301"/>
              <a:gd name="csY283" fmla="*/ 443197 h 6208713"/>
              <a:gd name="csX284" fmla="*/ 10721120 w 11544301"/>
              <a:gd name="csY284" fmla="*/ 457258 h 6208713"/>
              <a:gd name="csX285" fmla="*/ 10720064 w 11544301"/>
              <a:gd name="csY285" fmla="*/ 464294 h 6208713"/>
              <a:gd name="csX286" fmla="*/ 10709279 w 11544301"/>
              <a:gd name="csY286" fmla="*/ 478830 h 6208713"/>
              <a:gd name="csX287" fmla="*/ 10710917 w 11544301"/>
              <a:gd name="csY287" fmla="*/ 490671 h 6208713"/>
              <a:gd name="csX288" fmla="*/ 10720538 w 11544301"/>
              <a:gd name="csY288" fmla="*/ 500638 h 6208713"/>
              <a:gd name="csX289" fmla="*/ 10733435 w 11544301"/>
              <a:gd name="csY289" fmla="*/ 502049 h 6208713"/>
              <a:gd name="csX290" fmla="*/ 10748681 w 11544301"/>
              <a:gd name="csY290" fmla="*/ 514009 h 6208713"/>
              <a:gd name="csX291" fmla="*/ 10775887 w 11544301"/>
              <a:gd name="csY291" fmla="*/ 560891 h 6208713"/>
              <a:gd name="csX292" fmla="*/ 10781749 w 11544301"/>
              <a:gd name="csY292" fmla="*/ 584683 h 6208713"/>
              <a:gd name="csX293" fmla="*/ 10750556 w 11544301"/>
              <a:gd name="csY293" fmla="*/ 678457 h 6208713"/>
              <a:gd name="csX294" fmla="*/ 10752194 w 11544301"/>
              <a:gd name="csY294" fmla="*/ 687950 h 6208713"/>
              <a:gd name="csX295" fmla="*/ 10776124 w 11544301"/>
              <a:gd name="csY295" fmla="*/ 687950 h 6208713"/>
              <a:gd name="csX296" fmla="*/ 10781285 w 11544301"/>
              <a:gd name="csY296" fmla="*/ 681151 h 6208713"/>
              <a:gd name="csX297" fmla="*/ 10813188 w 11544301"/>
              <a:gd name="csY297" fmla="*/ 586439 h 6208713"/>
              <a:gd name="csX298" fmla="*/ 10845555 w 11544301"/>
              <a:gd name="csY298" fmla="*/ 679276 h 6208713"/>
              <a:gd name="csX299" fmla="*/ 10848959 w 11544301"/>
              <a:gd name="csY299" fmla="*/ 688187 h 6208713"/>
              <a:gd name="csX300" fmla="*/ 10869485 w 11544301"/>
              <a:gd name="csY300" fmla="*/ 688187 h 6208713"/>
              <a:gd name="csX301" fmla="*/ 10876165 w 11544301"/>
              <a:gd name="csY301" fmla="*/ 682207 h 6208713"/>
              <a:gd name="csX302" fmla="*/ 10854239 w 11544301"/>
              <a:gd name="csY302" fmla="*/ 596406 h 6208713"/>
              <a:gd name="csX303" fmla="*/ 10910298 w 11544301"/>
              <a:gd name="csY303" fmla="*/ 574489 h 6208713"/>
              <a:gd name="csX304" fmla="*/ 10941491 w 11544301"/>
              <a:gd name="csY304" fmla="*/ 598991 h 6208713"/>
              <a:gd name="csX305" fmla="*/ 10889299 w 11544301"/>
              <a:gd name="csY305" fmla="*/ 679286 h 6208713"/>
              <a:gd name="csX306" fmla="*/ 10891411 w 11544301"/>
              <a:gd name="csY306" fmla="*/ 687960 h 6208713"/>
              <a:gd name="csX307" fmla="*/ 10913111 w 11544301"/>
              <a:gd name="csY307" fmla="*/ 687960 h 6208713"/>
              <a:gd name="csX308" fmla="*/ 10921084 w 11544301"/>
              <a:gd name="csY308" fmla="*/ 682918 h 6208713"/>
              <a:gd name="csX309" fmla="*/ 10968233 w 11544301"/>
              <a:gd name="csY309" fmla="*/ 607083 h 6208713"/>
              <a:gd name="csX310" fmla="*/ 10977262 w 11544301"/>
              <a:gd name="csY310" fmla="*/ 579541 h 6208713"/>
              <a:gd name="csX311" fmla="*/ 10968697 w 11544301"/>
              <a:gd name="csY311" fmla="*/ 679405 h 6208713"/>
              <a:gd name="csX312" fmla="*/ 10970808 w 11544301"/>
              <a:gd name="csY312" fmla="*/ 687842 h 6208713"/>
              <a:gd name="csX313" fmla="*/ 10990396 w 11544301"/>
              <a:gd name="csY313" fmla="*/ 687842 h 6208713"/>
              <a:gd name="csX314" fmla="*/ 10996495 w 11544301"/>
              <a:gd name="csY314" fmla="*/ 680342 h 6208713"/>
              <a:gd name="csX315" fmla="*/ 11001182 w 11544301"/>
              <a:gd name="csY315" fmla="*/ 663813 h 6208713"/>
              <a:gd name="csX316" fmla="*/ 11018895 w 11544301"/>
              <a:gd name="csY316" fmla="*/ 659245 h 6208713"/>
              <a:gd name="csX317" fmla="*/ 11023473 w 11544301"/>
              <a:gd name="csY317" fmla="*/ 652446 h 6208713"/>
              <a:gd name="csX318" fmla="*/ 11019477 w 11544301"/>
              <a:gd name="csY318" fmla="*/ 506361 h 6208713"/>
              <a:gd name="csX319" fmla="*/ 10972565 w 11544301"/>
              <a:gd name="csY319" fmla="*/ 475889 h 6208713"/>
              <a:gd name="csX320" fmla="*/ 10902315 w 11544301"/>
              <a:gd name="csY320" fmla="*/ 481277 h 6208713"/>
              <a:gd name="csX321" fmla="*/ 10788439 w 11544301"/>
              <a:gd name="csY321" fmla="*/ 455137 h 6208713"/>
              <a:gd name="csX322" fmla="*/ 10788084 w 11544301"/>
              <a:gd name="csY322" fmla="*/ 449976 h 6208713"/>
              <a:gd name="csX323" fmla="*/ 10817638 w 11544301"/>
              <a:gd name="csY323" fmla="*/ 426303 h 6208713"/>
              <a:gd name="csX324" fmla="*/ 10815290 w 11544301"/>
              <a:gd name="csY324" fmla="*/ 419977 h 6208713"/>
              <a:gd name="csX325" fmla="*/ 10755480 w 11544301"/>
              <a:gd name="csY325" fmla="*/ 430763 h 6208713"/>
              <a:gd name="csX326" fmla="*/ 10720410 w 11544301"/>
              <a:gd name="csY326" fmla="*/ 393610 h 6208713"/>
              <a:gd name="csX327" fmla="*/ 10717097 w 11544301"/>
              <a:gd name="csY327" fmla="*/ 389363 h 6208713"/>
              <a:gd name="csX328" fmla="*/ 10778798 w 11544301"/>
              <a:gd name="csY328" fmla="*/ 335508 h 6208713"/>
              <a:gd name="csX329" fmla="*/ 10810691 w 11544301"/>
              <a:gd name="csY329" fmla="*/ 367480 h 6208713"/>
              <a:gd name="csX330" fmla="*/ 10778798 w 11544301"/>
              <a:gd name="csY330" fmla="*/ 399452 h 6208713"/>
              <a:gd name="csX331" fmla="*/ 10746668 w 11544301"/>
              <a:gd name="csY331" fmla="*/ 367480 h 6208713"/>
              <a:gd name="csX332" fmla="*/ 10778798 w 11544301"/>
              <a:gd name="csY332" fmla="*/ 335508 h 6208713"/>
              <a:gd name="csX333" fmla="*/ 10777397 w 11544301"/>
              <a:gd name="csY333" fmla="*/ 324150 h 6208713"/>
              <a:gd name="csX334" fmla="*/ 10729202 w 11544301"/>
              <a:gd name="csY334" fmla="*/ 372523 h 6208713"/>
              <a:gd name="csX335" fmla="*/ 10777397 w 11544301"/>
              <a:gd name="csY335" fmla="*/ 420895 h 6208713"/>
              <a:gd name="csX336" fmla="*/ 10825592 w 11544301"/>
              <a:gd name="csY336" fmla="*/ 372523 h 6208713"/>
              <a:gd name="csX337" fmla="*/ 10777397 w 11544301"/>
              <a:gd name="csY337" fmla="*/ 324150 h 6208713"/>
              <a:gd name="csX338" fmla="*/ 0 w 11544301"/>
              <a:gd name="csY338" fmla="*/ 0 h 6208713"/>
              <a:gd name="csX339" fmla="*/ 11544301 w 11544301"/>
              <a:gd name="csY339" fmla="*/ 0 h 6208713"/>
              <a:gd name="csX340" fmla="*/ 11544301 w 11544301"/>
              <a:gd name="csY340" fmla="*/ 6208713 h 6208713"/>
              <a:gd name="csX341" fmla="*/ 0 w 11544301"/>
              <a:gd name="csY341" fmla="*/ 6208713 h 62087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11544301" h="6208713">
                <a:moveTo>
                  <a:pt x="11030036" y="722113"/>
                </a:moveTo>
                <a:cubicBezTo>
                  <a:pt x="11036341" y="722113"/>
                  <a:pt x="11039262" y="724106"/>
                  <a:pt x="11041719" y="726100"/>
                </a:cubicBezTo>
                <a:cubicBezTo>
                  <a:pt x="11041719" y="769153"/>
                  <a:pt x="11041719" y="769153"/>
                  <a:pt x="11041719" y="769153"/>
                </a:cubicBezTo>
                <a:lnTo>
                  <a:pt x="11041601" y="769153"/>
                </a:lnTo>
                <a:cubicBezTo>
                  <a:pt x="11041601" y="772321"/>
                  <a:pt x="11036341" y="774078"/>
                  <a:pt x="11030855" y="774078"/>
                </a:cubicBezTo>
                <a:cubicBezTo>
                  <a:pt x="11019053" y="774078"/>
                  <a:pt x="11010645" y="764101"/>
                  <a:pt x="11010645" y="747099"/>
                </a:cubicBezTo>
                <a:cubicBezTo>
                  <a:pt x="11010645" y="732080"/>
                  <a:pt x="11018826" y="722113"/>
                  <a:pt x="11030036" y="722113"/>
                </a:cubicBezTo>
                <a:close/>
                <a:moveTo>
                  <a:pt x="10927064" y="721373"/>
                </a:moveTo>
                <a:cubicBezTo>
                  <a:pt x="10931386" y="721373"/>
                  <a:pt x="10934544" y="722311"/>
                  <a:pt x="10937820" y="725478"/>
                </a:cubicBezTo>
                <a:cubicBezTo>
                  <a:pt x="10941333" y="728764"/>
                  <a:pt x="10943553" y="736047"/>
                  <a:pt x="10943553" y="747898"/>
                </a:cubicBezTo>
                <a:cubicBezTo>
                  <a:pt x="10943553" y="759404"/>
                  <a:pt x="10941333" y="766913"/>
                  <a:pt x="10937820" y="770199"/>
                </a:cubicBezTo>
                <a:cubicBezTo>
                  <a:pt x="10934544" y="773367"/>
                  <a:pt x="10931386" y="774186"/>
                  <a:pt x="10927064" y="774186"/>
                </a:cubicBezTo>
                <a:cubicBezTo>
                  <a:pt x="10922742" y="774186"/>
                  <a:pt x="10919811" y="773367"/>
                  <a:pt x="10916545" y="770199"/>
                </a:cubicBezTo>
                <a:cubicBezTo>
                  <a:pt x="10913150" y="766913"/>
                  <a:pt x="10910811" y="759631"/>
                  <a:pt x="10910811" y="747898"/>
                </a:cubicBezTo>
                <a:cubicBezTo>
                  <a:pt x="10910811" y="736274"/>
                  <a:pt x="10913150" y="728764"/>
                  <a:pt x="10916545" y="725478"/>
                </a:cubicBezTo>
                <a:cubicBezTo>
                  <a:pt x="10919821" y="722311"/>
                  <a:pt x="10922978" y="721373"/>
                  <a:pt x="10927064" y="721373"/>
                </a:cubicBezTo>
                <a:close/>
                <a:moveTo>
                  <a:pt x="10777387" y="721373"/>
                </a:moveTo>
                <a:cubicBezTo>
                  <a:pt x="10781739" y="721373"/>
                  <a:pt x="10784670" y="722311"/>
                  <a:pt x="10787956" y="725478"/>
                </a:cubicBezTo>
                <a:cubicBezTo>
                  <a:pt x="10791479" y="728764"/>
                  <a:pt x="10793709" y="736047"/>
                  <a:pt x="10793709" y="747898"/>
                </a:cubicBezTo>
                <a:cubicBezTo>
                  <a:pt x="10793709" y="759404"/>
                  <a:pt x="10791479" y="766913"/>
                  <a:pt x="10787956" y="770199"/>
                </a:cubicBezTo>
                <a:cubicBezTo>
                  <a:pt x="10784670" y="773367"/>
                  <a:pt x="10781502" y="774186"/>
                  <a:pt x="10777387" y="774186"/>
                </a:cubicBezTo>
                <a:cubicBezTo>
                  <a:pt x="10773045" y="774186"/>
                  <a:pt x="10770105" y="773367"/>
                  <a:pt x="10766582" y="770199"/>
                </a:cubicBezTo>
                <a:cubicBezTo>
                  <a:pt x="10763177" y="766913"/>
                  <a:pt x="10760829" y="759631"/>
                  <a:pt x="10760829" y="747898"/>
                </a:cubicBezTo>
                <a:cubicBezTo>
                  <a:pt x="10760829" y="736274"/>
                  <a:pt x="10763177" y="728764"/>
                  <a:pt x="10766582" y="725478"/>
                </a:cubicBezTo>
                <a:cubicBezTo>
                  <a:pt x="10769868" y="722311"/>
                  <a:pt x="10773035" y="721373"/>
                  <a:pt x="10777387" y="721373"/>
                </a:cubicBezTo>
                <a:close/>
                <a:moveTo>
                  <a:pt x="10665367" y="721373"/>
                </a:moveTo>
                <a:cubicBezTo>
                  <a:pt x="10669708" y="721373"/>
                  <a:pt x="10672649" y="722311"/>
                  <a:pt x="10676054" y="725478"/>
                </a:cubicBezTo>
                <a:cubicBezTo>
                  <a:pt x="10679468" y="728764"/>
                  <a:pt x="10681806" y="736047"/>
                  <a:pt x="10681806" y="747898"/>
                </a:cubicBezTo>
                <a:cubicBezTo>
                  <a:pt x="10681806" y="759404"/>
                  <a:pt x="10679576" y="766913"/>
                  <a:pt x="10676054" y="770199"/>
                </a:cubicBezTo>
                <a:cubicBezTo>
                  <a:pt x="10672767" y="773367"/>
                  <a:pt x="10669708" y="774186"/>
                  <a:pt x="10665367" y="774186"/>
                </a:cubicBezTo>
                <a:cubicBezTo>
                  <a:pt x="10661025" y="774186"/>
                  <a:pt x="10658084" y="773367"/>
                  <a:pt x="10654798" y="770199"/>
                </a:cubicBezTo>
                <a:cubicBezTo>
                  <a:pt x="10651275" y="766913"/>
                  <a:pt x="10649045" y="759631"/>
                  <a:pt x="10649045" y="747898"/>
                </a:cubicBezTo>
                <a:cubicBezTo>
                  <a:pt x="10649045" y="736274"/>
                  <a:pt x="10651275" y="728764"/>
                  <a:pt x="10654798" y="725478"/>
                </a:cubicBezTo>
                <a:cubicBezTo>
                  <a:pt x="10658084" y="722311"/>
                  <a:pt x="10661143" y="721373"/>
                  <a:pt x="10665367" y="721373"/>
                </a:cubicBezTo>
                <a:close/>
                <a:moveTo>
                  <a:pt x="11068876" y="715936"/>
                </a:moveTo>
                <a:cubicBezTo>
                  <a:pt x="11066784" y="715936"/>
                  <a:pt x="11066784" y="716636"/>
                  <a:pt x="11066784" y="718156"/>
                </a:cubicBezTo>
                <a:cubicBezTo>
                  <a:pt x="11066784" y="777235"/>
                  <a:pt x="11066784" y="777235"/>
                  <a:pt x="11066784" y="777235"/>
                </a:cubicBezTo>
                <a:cubicBezTo>
                  <a:pt x="11066784" y="778992"/>
                  <a:pt x="11066784" y="779456"/>
                  <a:pt x="11068649" y="779456"/>
                </a:cubicBezTo>
                <a:cubicBezTo>
                  <a:pt x="11075280" y="779456"/>
                  <a:pt x="11075280" y="779456"/>
                  <a:pt x="11075280" y="779456"/>
                </a:cubicBezTo>
                <a:cubicBezTo>
                  <a:pt x="11077135" y="779337"/>
                  <a:pt x="11077599" y="779337"/>
                  <a:pt x="11077599" y="777235"/>
                </a:cubicBezTo>
                <a:cubicBezTo>
                  <a:pt x="11077599" y="718156"/>
                  <a:pt x="11077599" y="718156"/>
                  <a:pt x="11077599" y="718156"/>
                </a:cubicBezTo>
                <a:cubicBezTo>
                  <a:pt x="11077599" y="716281"/>
                  <a:pt x="11077135" y="715936"/>
                  <a:pt x="11075270" y="715936"/>
                </a:cubicBezTo>
                <a:cubicBezTo>
                  <a:pt x="11068876" y="715936"/>
                  <a:pt x="11068876" y="715936"/>
                  <a:pt x="11068876" y="715936"/>
                </a:cubicBezTo>
                <a:close/>
                <a:moveTo>
                  <a:pt x="11176653" y="715630"/>
                </a:moveTo>
                <a:cubicBezTo>
                  <a:pt x="11174423" y="715630"/>
                  <a:pt x="11173594" y="715511"/>
                  <a:pt x="11172893" y="717623"/>
                </a:cubicBezTo>
                <a:cubicBezTo>
                  <a:pt x="11169371" y="728162"/>
                  <a:pt x="11160312" y="739530"/>
                  <a:pt x="11151145" y="744918"/>
                </a:cubicBezTo>
                <a:cubicBezTo>
                  <a:pt x="11150789" y="745273"/>
                  <a:pt x="11150671" y="745619"/>
                  <a:pt x="11150671" y="745619"/>
                </a:cubicBezTo>
                <a:cubicBezTo>
                  <a:pt x="11150671" y="745737"/>
                  <a:pt x="11150789" y="746082"/>
                  <a:pt x="11150789" y="746319"/>
                </a:cubicBezTo>
                <a:cubicBezTo>
                  <a:pt x="11172657" y="777591"/>
                  <a:pt x="11172657" y="777591"/>
                  <a:pt x="11172657" y="777591"/>
                </a:cubicBezTo>
                <a:cubicBezTo>
                  <a:pt x="11173949" y="779465"/>
                  <a:pt x="11174423" y="779465"/>
                  <a:pt x="11176298" y="779465"/>
                </a:cubicBezTo>
                <a:cubicBezTo>
                  <a:pt x="11184646" y="779465"/>
                  <a:pt x="11184646" y="779465"/>
                  <a:pt x="11184646" y="779465"/>
                </a:cubicBezTo>
                <a:cubicBezTo>
                  <a:pt x="11185228" y="779337"/>
                  <a:pt x="11186403" y="779337"/>
                  <a:pt x="11186403" y="777936"/>
                </a:cubicBezTo>
                <a:cubicBezTo>
                  <a:pt x="11186403" y="777472"/>
                  <a:pt x="11186047" y="776880"/>
                  <a:pt x="11185584" y="776416"/>
                </a:cubicBezTo>
                <a:cubicBezTo>
                  <a:pt x="11162305" y="745609"/>
                  <a:pt x="11162305" y="745609"/>
                  <a:pt x="11162305" y="745609"/>
                </a:cubicBezTo>
                <a:cubicBezTo>
                  <a:pt x="11162068" y="745372"/>
                  <a:pt x="11162068" y="745372"/>
                  <a:pt x="11162068" y="745372"/>
                </a:cubicBezTo>
                <a:cubicBezTo>
                  <a:pt x="11170298" y="739283"/>
                  <a:pt x="11178765" y="729790"/>
                  <a:pt x="11184054" y="719488"/>
                </a:cubicBezTo>
                <a:cubicBezTo>
                  <a:pt x="11184528" y="718314"/>
                  <a:pt x="11184646" y="717732"/>
                  <a:pt x="11184646" y="717031"/>
                </a:cubicBezTo>
                <a:cubicBezTo>
                  <a:pt x="11184646" y="715975"/>
                  <a:pt x="11184054" y="715630"/>
                  <a:pt x="11182416" y="715630"/>
                </a:cubicBezTo>
                <a:cubicBezTo>
                  <a:pt x="11176653" y="715630"/>
                  <a:pt x="11176653" y="715630"/>
                  <a:pt x="11176653" y="715630"/>
                </a:cubicBezTo>
                <a:close/>
                <a:moveTo>
                  <a:pt x="10696618" y="715630"/>
                </a:moveTo>
                <a:cubicBezTo>
                  <a:pt x="10696145" y="715630"/>
                  <a:pt x="10694970" y="715630"/>
                  <a:pt x="10694970" y="717268"/>
                </a:cubicBezTo>
                <a:cubicBezTo>
                  <a:pt x="10694970" y="717742"/>
                  <a:pt x="10695089" y="718324"/>
                  <a:pt x="10695444" y="719024"/>
                </a:cubicBezTo>
                <a:cubicBezTo>
                  <a:pt x="10717627" y="777571"/>
                  <a:pt x="10717627" y="777571"/>
                  <a:pt x="10717627" y="777571"/>
                </a:cubicBezTo>
                <a:cubicBezTo>
                  <a:pt x="10718328" y="778982"/>
                  <a:pt x="10718564" y="779446"/>
                  <a:pt x="10719620" y="779446"/>
                </a:cubicBezTo>
                <a:cubicBezTo>
                  <a:pt x="10724436" y="779446"/>
                  <a:pt x="10724436" y="779446"/>
                  <a:pt x="10724436" y="779446"/>
                </a:cubicBezTo>
                <a:cubicBezTo>
                  <a:pt x="10725847" y="779446"/>
                  <a:pt x="10726192" y="779209"/>
                  <a:pt x="10726666" y="777571"/>
                </a:cubicBezTo>
                <a:cubicBezTo>
                  <a:pt x="10748267" y="718797"/>
                  <a:pt x="10748267" y="718797"/>
                  <a:pt x="10748267" y="718797"/>
                </a:cubicBezTo>
                <a:cubicBezTo>
                  <a:pt x="10748504" y="717386"/>
                  <a:pt x="10748504" y="717268"/>
                  <a:pt x="10748504" y="716923"/>
                </a:cubicBezTo>
                <a:cubicBezTo>
                  <a:pt x="10748504" y="715630"/>
                  <a:pt x="10747566" y="715630"/>
                  <a:pt x="10746974" y="715630"/>
                </a:cubicBezTo>
                <a:cubicBezTo>
                  <a:pt x="10740866" y="715630"/>
                  <a:pt x="10740866" y="715630"/>
                  <a:pt x="10740866" y="715630"/>
                </a:cubicBezTo>
                <a:cubicBezTo>
                  <a:pt x="10740047" y="715867"/>
                  <a:pt x="10739928" y="716212"/>
                  <a:pt x="10739336" y="717386"/>
                </a:cubicBezTo>
                <a:cubicBezTo>
                  <a:pt x="10723370" y="764318"/>
                  <a:pt x="10723370" y="764318"/>
                  <a:pt x="10723370" y="764318"/>
                </a:cubicBezTo>
                <a:cubicBezTo>
                  <a:pt x="10706940" y="717623"/>
                  <a:pt x="10706940" y="717623"/>
                  <a:pt x="10706940" y="717623"/>
                </a:cubicBezTo>
                <a:cubicBezTo>
                  <a:pt x="10706239" y="715867"/>
                  <a:pt x="10706003" y="715630"/>
                  <a:pt x="10704128" y="715630"/>
                </a:cubicBezTo>
                <a:cubicBezTo>
                  <a:pt x="10696618" y="715630"/>
                  <a:pt x="10696618" y="715630"/>
                  <a:pt x="10696618" y="715630"/>
                </a:cubicBezTo>
                <a:close/>
                <a:moveTo>
                  <a:pt x="11110538" y="714564"/>
                </a:moveTo>
                <a:cubicBezTo>
                  <a:pt x="11099496" y="714564"/>
                  <a:pt x="11089519" y="720672"/>
                  <a:pt x="11089519" y="732050"/>
                </a:cubicBezTo>
                <a:cubicBezTo>
                  <a:pt x="11089519" y="742727"/>
                  <a:pt x="11097039" y="747187"/>
                  <a:pt x="11106078" y="751066"/>
                </a:cubicBezTo>
                <a:cubicBezTo>
                  <a:pt x="11113123" y="753996"/>
                  <a:pt x="11119696" y="756818"/>
                  <a:pt x="11119696" y="763391"/>
                </a:cubicBezTo>
                <a:cubicBezTo>
                  <a:pt x="11119696" y="768433"/>
                  <a:pt x="11115699" y="774186"/>
                  <a:pt x="11107134" y="774186"/>
                </a:cubicBezTo>
                <a:cubicBezTo>
                  <a:pt x="11098440" y="774186"/>
                  <a:pt x="11095983" y="767733"/>
                  <a:pt x="11091750" y="767733"/>
                </a:cubicBezTo>
                <a:cubicBezTo>
                  <a:pt x="11089756" y="767733"/>
                  <a:pt x="11087171" y="768670"/>
                  <a:pt x="11087171" y="771837"/>
                </a:cubicBezTo>
                <a:cubicBezTo>
                  <a:pt x="11087171" y="776880"/>
                  <a:pt x="11097039" y="781232"/>
                  <a:pt x="11106897" y="781232"/>
                </a:cubicBezTo>
                <a:cubicBezTo>
                  <a:pt x="11118048" y="781350"/>
                  <a:pt x="11129445" y="775479"/>
                  <a:pt x="11129445" y="762216"/>
                </a:cubicBezTo>
                <a:cubicBezTo>
                  <a:pt x="11129445" y="741444"/>
                  <a:pt x="11099269" y="744730"/>
                  <a:pt x="11099269" y="730994"/>
                </a:cubicBezTo>
                <a:cubicBezTo>
                  <a:pt x="11099269" y="726297"/>
                  <a:pt x="11102910" y="721600"/>
                  <a:pt x="11109837" y="721600"/>
                </a:cubicBezTo>
                <a:cubicBezTo>
                  <a:pt x="11117002" y="721600"/>
                  <a:pt x="11118876" y="726297"/>
                  <a:pt x="11122518" y="726297"/>
                </a:cubicBezTo>
                <a:cubicBezTo>
                  <a:pt x="11124393" y="726297"/>
                  <a:pt x="11127096" y="725241"/>
                  <a:pt x="11127096" y="721955"/>
                </a:cubicBezTo>
                <a:cubicBezTo>
                  <a:pt x="11127096" y="717258"/>
                  <a:pt x="11119113" y="714564"/>
                  <a:pt x="11110538" y="714564"/>
                </a:cubicBezTo>
                <a:close/>
                <a:moveTo>
                  <a:pt x="10982531" y="714209"/>
                </a:moveTo>
                <a:cubicBezTo>
                  <a:pt x="10975969" y="714209"/>
                  <a:pt x="10971864" y="715265"/>
                  <a:pt x="10968578" y="716084"/>
                </a:cubicBezTo>
                <a:cubicBezTo>
                  <a:pt x="10964355" y="717140"/>
                  <a:pt x="10962835" y="719123"/>
                  <a:pt x="10962835" y="721107"/>
                </a:cubicBezTo>
                <a:cubicBezTo>
                  <a:pt x="10962835" y="777117"/>
                  <a:pt x="10962835" y="777117"/>
                  <a:pt x="10962835" y="777117"/>
                </a:cubicBezTo>
                <a:cubicBezTo>
                  <a:pt x="10962835" y="778992"/>
                  <a:pt x="10963536" y="779100"/>
                  <a:pt x="10965302" y="779100"/>
                </a:cubicBezTo>
                <a:cubicBezTo>
                  <a:pt x="10971519" y="779100"/>
                  <a:pt x="10971519" y="779100"/>
                  <a:pt x="10971519" y="779100"/>
                </a:cubicBezTo>
                <a:cubicBezTo>
                  <a:pt x="10973038" y="779100"/>
                  <a:pt x="10973749" y="778982"/>
                  <a:pt x="10973749" y="777117"/>
                </a:cubicBezTo>
                <a:cubicBezTo>
                  <a:pt x="10973749" y="725784"/>
                  <a:pt x="10973749" y="725784"/>
                  <a:pt x="10973749" y="725784"/>
                </a:cubicBezTo>
                <a:cubicBezTo>
                  <a:pt x="10973749" y="722508"/>
                  <a:pt x="10976324" y="720288"/>
                  <a:pt x="10979966" y="720288"/>
                </a:cubicBezTo>
                <a:cubicBezTo>
                  <a:pt x="10987821" y="720288"/>
                  <a:pt x="10988995" y="726021"/>
                  <a:pt x="10993218" y="726021"/>
                </a:cubicBezTo>
                <a:cubicBezTo>
                  <a:pt x="10996248" y="726139"/>
                  <a:pt x="10998596" y="724264"/>
                  <a:pt x="10998596" y="720643"/>
                </a:cubicBezTo>
                <a:cubicBezTo>
                  <a:pt x="10998596" y="716084"/>
                  <a:pt x="10991097" y="714209"/>
                  <a:pt x="10982531" y="714209"/>
                </a:cubicBezTo>
                <a:close/>
                <a:moveTo>
                  <a:pt x="10927074" y="714209"/>
                </a:moveTo>
                <a:cubicBezTo>
                  <a:pt x="10921577" y="714209"/>
                  <a:pt x="10915735" y="715857"/>
                  <a:pt x="10911176" y="718788"/>
                </a:cubicBezTo>
                <a:cubicBezTo>
                  <a:pt x="10904160" y="723722"/>
                  <a:pt x="10899483" y="733106"/>
                  <a:pt x="10899483" y="747898"/>
                </a:cubicBezTo>
                <a:cubicBezTo>
                  <a:pt x="10899483" y="762572"/>
                  <a:pt x="10904160" y="771966"/>
                  <a:pt x="10911176" y="776890"/>
                </a:cubicBezTo>
                <a:cubicBezTo>
                  <a:pt x="10915499" y="779939"/>
                  <a:pt x="10921469" y="781350"/>
                  <a:pt x="10927074" y="781350"/>
                </a:cubicBezTo>
                <a:cubicBezTo>
                  <a:pt x="10932807" y="781350"/>
                  <a:pt x="10938649" y="779821"/>
                  <a:pt x="10942971" y="776890"/>
                </a:cubicBezTo>
                <a:cubicBezTo>
                  <a:pt x="10950105" y="771956"/>
                  <a:pt x="10954783" y="762572"/>
                  <a:pt x="10954783" y="747898"/>
                </a:cubicBezTo>
                <a:cubicBezTo>
                  <a:pt x="10954783" y="733106"/>
                  <a:pt x="10950105" y="723722"/>
                  <a:pt x="10942971" y="718788"/>
                </a:cubicBezTo>
                <a:cubicBezTo>
                  <a:pt x="10938530" y="715620"/>
                  <a:pt x="10932679" y="714209"/>
                  <a:pt x="10927074" y="714209"/>
                </a:cubicBezTo>
                <a:close/>
                <a:moveTo>
                  <a:pt x="10865261" y="714209"/>
                </a:moveTo>
                <a:cubicBezTo>
                  <a:pt x="10855926" y="714209"/>
                  <a:pt x="10849620" y="716202"/>
                  <a:pt x="10846236" y="717258"/>
                </a:cubicBezTo>
                <a:cubicBezTo>
                  <a:pt x="10842032" y="718669"/>
                  <a:pt x="10840749" y="720189"/>
                  <a:pt x="10840749" y="722301"/>
                </a:cubicBezTo>
                <a:cubicBezTo>
                  <a:pt x="10840749" y="777216"/>
                  <a:pt x="10840749" y="777216"/>
                  <a:pt x="10840749" y="777216"/>
                </a:cubicBezTo>
                <a:cubicBezTo>
                  <a:pt x="10840749" y="779209"/>
                  <a:pt x="10841213" y="779446"/>
                  <a:pt x="10843088" y="779446"/>
                </a:cubicBezTo>
                <a:cubicBezTo>
                  <a:pt x="10849157" y="779446"/>
                  <a:pt x="10849157" y="779446"/>
                  <a:pt x="10849157" y="779446"/>
                </a:cubicBezTo>
                <a:cubicBezTo>
                  <a:pt x="10850903" y="779446"/>
                  <a:pt x="10851722" y="779209"/>
                  <a:pt x="10851722" y="776979"/>
                </a:cubicBezTo>
                <a:cubicBezTo>
                  <a:pt x="10851722" y="726406"/>
                  <a:pt x="10851722" y="726406"/>
                  <a:pt x="10851722" y="726406"/>
                </a:cubicBezTo>
                <a:cubicBezTo>
                  <a:pt x="10851722" y="723702"/>
                  <a:pt x="10856390" y="720889"/>
                  <a:pt x="10864916" y="720889"/>
                </a:cubicBezTo>
                <a:cubicBezTo>
                  <a:pt x="10879155" y="720889"/>
                  <a:pt x="10879155" y="730156"/>
                  <a:pt x="10879155" y="735908"/>
                </a:cubicBezTo>
                <a:cubicBezTo>
                  <a:pt x="10879155" y="776979"/>
                  <a:pt x="10879155" y="776979"/>
                  <a:pt x="10879155" y="776979"/>
                </a:cubicBezTo>
                <a:cubicBezTo>
                  <a:pt x="10879155" y="779209"/>
                  <a:pt x="10879856" y="779446"/>
                  <a:pt x="10881958" y="779446"/>
                </a:cubicBezTo>
                <a:cubicBezTo>
                  <a:pt x="10888727" y="779446"/>
                  <a:pt x="10888727" y="779446"/>
                  <a:pt x="10888727" y="779446"/>
                </a:cubicBezTo>
                <a:cubicBezTo>
                  <a:pt x="10889891" y="779219"/>
                  <a:pt x="10889891" y="778044"/>
                  <a:pt x="10889891" y="776989"/>
                </a:cubicBezTo>
                <a:cubicBezTo>
                  <a:pt x="10889891" y="734507"/>
                  <a:pt x="10889891" y="734507"/>
                  <a:pt x="10889891" y="734507"/>
                </a:cubicBezTo>
                <a:cubicBezTo>
                  <a:pt x="10889891" y="727116"/>
                  <a:pt x="10889655" y="714209"/>
                  <a:pt x="10865261" y="714209"/>
                </a:cubicBezTo>
                <a:close/>
                <a:moveTo>
                  <a:pt x="10777160" y="714209"/>
                </a:moveTo>
                <a:cubicBezTo>
                  <a:pt x="10771526" y="714209"/>
                  <a:pt x="10765773" y="715857"/>
                  <a:pt x="10761194" y="718788"/>
                </a:cubicBezTo>
                <a:cubicBezTo>
                  <a:pt x="10754148" y="723722"/>
                  <a:pt x="10749451" y="733106"/>
                  <a:pt x="10749451" y="747898"/>
                </a:cubicBezTo>
                <a:cubicBezTo>
                  <a:pt x="10749451" y="762572"/>
                  <a:pt x="10754148" y="771966"/>
                  <a:pt x="10761194" y="776890"/>
                </a:cubicBezTo>
                <a:cubicBezTo>
                  <a:pt x="10765536" y="779939"/>
                  <a:pt x="10771526" y="781350"/>
                  <a:pt x="10777160" y="781350"/>
                </a:cubicBezTo>
                <a:cubicBezTo>
                  <a:pt x="10782913" y="781350"/>
                  <a:pt x="10788666" y="779821"/>
                  <a:pt x="10793127" y="776890"/>
                </a:cubicBezTo>
                <a:cubicBezTo>
                  <a:pt x="10800291" y="771956"/>
                  <a:pt x="10804988" y="762572"/>
                  <a:pt x="10804988" y="747898"/>
                </a:cubicBezTo>
                <a:cubicBezTo>
                  <a:pt x="10804988" y="733106"/>
                  <a:pt x="10800291" y="723722"/>
                  <a:pt x="10793127" y="718788"/>
                </a:cubicBezTo>
                <a:cubicBezTo>
                  <a:pt x="10788903" y="715620"/>
                  <a:pt x="10782913" y="714209"/>
                  <a:pt x="10777160" y="714209"/>
                </a:cubicBezTo>
                <a:close/>
                <a:moveTo>
                  <a:pt x="10665376" y="714209"/>
                </a:moveTo>
                <a:cubicBezTo>
                  <a:pt x="10659742" y="714209"/>
                  <a:pt x="10653870" y="715857"/>
                  <a:pt x="10649410" y="718788"/>
                </a:cubicBezTo>
                <a:cubicBezTo>
                  <a:pt x="10642246" y="723722"/>
                  <a:pt x="10637549" y="733106"/>
                  <a:pt x="10637549" y="747898"/>
                </a:cubicBezTo>
                <a:cubicBezTo>
                  <a:pt x="10637549" y="762572"/>
                  <a:pt x="10642246" y="771966"/>
                  <a:pt x="10649410" y="776890"/>
                </a:cubicBezTo>
                <a:cubicBezTo>
                  <a:pt x="10653752" y="779939"/>
                  <a:pt x="10659623" y="781350"/>
                  <a:pt x="10665376" y="781350"/>
                </a:cubicBezTo>
                <a:cubicBezTo>
                  <a:pt x="10671129" y="781350"/>
                  <a:pt x="10676764" y="779821"/>
                  <a:pt x="10681343" y="776890"/>
                </a:cubicBezTo>
                <a:cubicBezTo>
                  <a:pt x="10688388" y="771956"/>
                  <a:pt x="10693086" y="762572"/>
                  <a:pt x="10693086" y="747898"/>
                </a:cubicBezTo>
                <a:cubicBezTo>
                  <a:pt x="10693086" y="733106"/>
                  <a:pt x="10688388" y="723722"/>
                  <a:pt x="10681343" y="718788"/>
                </a:cubicBezTo>
                <a:cubicBezTo>
                  <a:pt x="10676764" y="715620"/>
                  <a:pt x="10671129" y="714209"/>
                  <a:pt x="10665376" y="714209"/>
                </a:cubicBezTo>
                <a:close/>
                <a:moveTo>
                  <a:pt x="10603445" y="714209"/>
                </a:moveTo>
                <a:cubicBezTo>
                  <a:pt x="10594061" y="714209"/>
                  <a:pt x="10587844" y="716202"/>
                  <a:pt x="10584331" y="717258"/>
                </a:cubicBezTo>
                <a:cubicBezTo>
                  <a:pt x="10580226" y="718669"/>
                  <a:pt x="10578815" y="720189"/>
                  <a:pt x="10578815" y="722301"/>
                </a:cubicBezTo>
                <a:cubicBezTo>
                  <a:pt x="10578815" y="777216"/>
                  <a:pt x="10578815" y="777216"/>
                  <a:pt x="10578815" y="777216"/>
                </a:cubicBezTo>
                <a:cubicBezTo>
                  <a:pt x="10578815" y="779209"/>
                  <a:pt x="10579289" y="779446"/>
                  <a:pt x="10581045" y="779446"/>
                </a:cubicBezTo>
                <a:cubicBezTo>
                  <a:pt x="10587144" y="779446"/>
                  <a:pt x="10587144" y="779446"/>
                  <a:pt x="10587144" y="779446"/>
                </a:cubicBezTo>
                <a:cubicBezTo>
                  <a:pt x="10588900" y="779446"/>
                  <a:pt x="10589719" y="779209"/>
                  <a:pt x="10589719" y="776979"/>
                </a:cubicBezTo>
                <a:cubicBezTo>
                  <a:pt x="10589719" y="726406"/>
                  <a:pt x="10589719" y="726406"/>
                  <a:pt x="10589719" y="726406"/>
                </a:cubicBezTo>
                <a:cubicBezTo>
                  <a:pt x="10589719" y="723702"/>
                  <a:pt x="10594406" y="720889"/>
                  <a:pt x="10602972" y="720889"/>
                </a:cubicBezTo>
                <a:cubicBezTo>
                  <a:pt x="10617280" y="720889"/>
                  <a:pt x="10617280" y="730156"/>
                  <a:pt x="10617280" y="735908"/>
                </a:cubicBezTo>
                <a:cubicBezTo>
                  <a:pt x="10617280" y="776979"/>
                  <a:pt x="10617280" y="776979"/>
                  <a:pt x="10617280" y="776979"/>
                </a:cubicBezTo>
                <a:cubicBezTo>
                  <a:pt x="10617280" y="779209"/>
                  <a:pt x="10617981" y="779446"/>
                  <a:pt x="10620093" y="779446"/>
                </a:cubicBezTo>
                <a:cubicBezTo>
                  <a:pt x="10626891" y="779446"/>
                  <a:pt x="10626891" y="779446"/>
                  <a:pt x="10626891" y="779446"/>
                </a:cubicBezTo>
                <a:cubicBezTo>
                  <a:pt x="10628076" y="779219"/>
                  <a:pt x="10628194" y="778044"/>
                  <a:pt x="10628194" y="776989"/>
                </a:cubicBezTo>
                <a:cubicBezTo>
                  <a:pt x="10628194" y="734507"/>
                  <a:pt x="10628194" y="734507"/>
                  <a:pt x="10628194" y="734507"/>
                </a:cubicBezTo>
                <a:cubicBezTo>
                  <a:pt x="10628194" y="727116"/>
                  <a:pt x="10628076" y="714209"/>
                  <a:pt x="10603445" y="714209"/>
                </a:cubicBezTo>
                <a:close/>
                <a:moveTo>
                  <a:pt x="11043821" y="692884"/>
                </a:moveTo>
                <a:cubicBezTo>
                  <a:pt x="11041719" y="692884"/>
                  <a:pt x="11041601" y="693585"/>
                  <a:pt x="11041601" y="695697"/>
                </a:cubicBezTo>
                <a:cubicBezTo>
                  <a:pt x="11041601" y="717988"/>
                  <a:pt x="11041601" y="717988"/>
                  <a:pt x="11041601" y="717988"/>
                </a:cubicBezTo>
                <a:cubicBezTo>
                  <a:pt x="11037742" y="715995"/>
                  <a:pt x="11034002" y="714584"/>
                  <a:pt x="11028279" y="714584"/>
                </a:cubicBezTo>
                <a:cubicBezTo>
                  <a:pt x="11009234" y="714584"/>
                  <a:pt x="10999534" y="732770"/>
                  <a:pt x="10999534" y="747898"/>
                </a:cubicBezTo>
                <a:cubicBezTo>
                  <a:pt x="10999534" y="770426"/>
                  <a:pt x="11011800" y="781330"/>
                  <a:pt x="11030499" y="781330"/>
                </a:cubicBezTo>
                <a:cubicBezTo>
                  <a:pt x="11039499" y="781350"/>
                  <a:pt x="11052238" y="776890"/>
                  <a:pt x="11052238" y="772666"/>
                </a:cubicBezTo>
                <a:cubicBezTo>
                  <a:pt x="11052238" y="695351"/>
                  <a:pt x="11052238" y="695351"/>
                  <a:pt x="11052238" y="695351"/>
                </a:cubicBezTo>
                <a:cubicBezTo>
                  <a:pt x="11052238" y="693003"/>
                  <a:pt x="11051538" y="692884"/>
                  <a:pt x="11049900" y="692884"/>
                </a:cubicBezTo>
                <a:cubicBezTo>
                  <a:pt x="11043821" y="692884"/>
                  <a:pt x="11043821" y="692884"/>
                  <a:pt x="11043821" y="692884"/>
                </a:cubicBezTo>
                <a:close/>
                <a:moveTo>
                  <a:pt x="11140329" y="692657"/>
                </a:moveTo>
                <a:cubicBezTo>
                  <a:pt x="11139037" y="692657"/>
                  <a:pt x="11138326" y="692894"/>
                  <a:pt x="11138326" y="694651"/>
                </a:cubicBezTo>
                <a:cubicBezTo>
                  <a:pt x="11138326" y="777462"/>
                  <a:pt x="11138326" y="777462"/>
                  <a:pt x="11138326" y="777462"/>
                </a:cubicBezTo>
                <a:cubicBezTo>
                  <a:pt x="11138326" y="779100"/>
                  <a:pt x="11138681" y="779337"/>
                  <a:pt x="11140329" y="779337"/>
                </a:cubicBezTo>
                <a:cubicBezTo>
                  <a:pt x="11146793" y="779337"/>
                  <a:pt x="11146793" y="779337"/>
                  <a:pt x="11146793" y="779337"/>
                </a:cubicBezTo>
                <a:cubicBezTo>
                  <a:pt x="11148312" y="779337"/>
                  <a:pt x="11149023" y="779337"/>
                  <a:pt x="11149023" y="777581"/>
                </a:cubicBezTo>
                <a:cubicBezTo>
                  <a:pt x="11149023" y="694414"/>
                  <a:pt x="11149023" y="694414"/>
                  <a:pt x="11149023" y="694414"/>
                </a:cubicBezTo>
                <a:cubicBezTo>
                  <a:pt x="11149023" y="692657"/>
                  <a:pt x="11148204" y="692657"/>
                  <a:pt x="11146793" y="692657"/>
                </a:cubicBezTo>
                <a:cubicBezTo>
                  <a:pt x="11140329" y="692657"/>
                  <a:pt x="11140329" y="692657"/>
                  <a:pt x="11140329" y="692657"/>
                </a:cubicBezTo>
                <a:close/>
                <a:moveTo>
                  <a:pt x="11072487" y="691947"/>
                </a:moveTo>
                <a:cubicBezTo>
                  <a:pt x="11068530" y="691947"/>
                  <a:pt x="11065738" y="694759"/>
                  <a:pt x="11065738" y="698499"/>
                </a:cubicBezTo>
                <a:cubicBezTo>
                  <a:pt x="11065738" y="702012"/>
                  <a:pt x="11068185" y="704933"/>
                  <a:pt x="11072251" y="704933"/>
                </a:cubicBezTo>
                <a:cubicBezTo>
                  <a:pt x="11076435" y="704815"/>
                  <a:pt x="11079000" y="701539"/>
                  <a:pt x="11078882" y="698035"/>
                </a:cubicBezTo>
                <a:cubicBezTo>
                  <a:pt x="11078645" y="694404"/>
                  <a:pt x="11075744" y="691947"/>
                  <a:pt x="11072487" y="691947"/>
                </a:cubicBezTo>
                <a:close/>
                <a:moveTo>
                  <a:pt x="11202724" y="682641"/>
                </a:moveTo>
                <a:lnTo>
                  <a:pt x="11202964" y="682818"/>
                </a:lnTo>
                <a:lnTo>
                  <a:pt x="11202724" y="682878"/>
                </a:lnTo>
                <a:cubicBezTo>
                  <a:pt x="11202724" y="682878"/>
                  <a:pt x="11202724" y="682878"/>
                  <a:pt x="11202724" y="682641"/>
                </a:cubicBezTo>
                <a:close/>
                <a:moveTo>
                  <a:pt x="11195580" y="674076"/>
                </a:moveTo>
                <a:cubicBezTo>
                  <a:pt x="11199438" y="674076"/>
                  <a:pt x="11199438" y="674076"/>
                  <a:pt x="11199438" y="674076"/>
                </a:cubicBezTo>
                <a:cubicBezTo>
                  <a:pt x="11201431" y="674076"/>
                  <a:pt x="11204708" y="674076"/>
                  <a:pt x="11204708" y="677244"/>
                </a:cubicBezTo>
                <a:cubicBezTo>
                  <a:pt x="11204708" y="680411"/>
                  <a:pt x="11201313" y="680411"/>
                  <a:pt x="11199793" y="680411"/>
                </a:cubicBezTo>
                <a:cubicBezTo>
                  <a:pt x="11195580" y="680411"/>
                  <a:pt x="11195580" y="680411"/>
                  <a:pt x="11195580" y="680411"/>
                </a:cubicBezTo>
                <a:close/>
                <a:moveTo>
                  <a:pt x="11192304" y="671135"/>
                </a:moveTo>
                <a:lnTo>
                  <a:pt x="11192304" y="692381"/>
                </a:lnTo>
                <a:cubicBezTo>
                  <a:pt x="11195817" y="692381"/>
                  <a:pt x="11195817" y="692381"/>
                  <a:pt x="11195817" y="692381"/>
                </a:cubicBezTo>
                <a:cubicBezTo>
                  <a:pt x="11195817" y="683342"/>
                  <a:pt x="11195817" y="683342"/>
                  <a:pt x="11195817" y="683342"/>
                </a:cubicBezTo>
                <a:cubicBezTo>
                  <a:pt x="11197810" y="683342"/>
                  <a:pt x="11197810" y="683342"/>
                  <a:pt x="11197810" y="683342"/>
                </a:cubicBezTo>
                <a:cubicBezTo>
                  <a:pt x="11200622" y="683342"/>
                  <a:pt x="11201668" y="684398"/>
                  <a:pt x="11204125" y="688977"/>
                </a:cubicBezTo>
                <a:cubicBezTo>
                  <a:pt x="11206000" y="692263"/>
                  <a:pt x="11206000" y="692263"/>
                  <a:pt x="11206000" y="692263"/>
                </a:cubicBezTo>
                <a:cubicBezTo>
                  <a:pt x="11210095" y="692263"/>
                  <a:pt x="11210095" y="692263"/>
                  <a:pt x="11210095" y="692263"/>
                </a:cubicBezTo>
                <a:cubicBezTo>
                  <a:pt x="11207520" y="688039"/>
                  <a:pt x="11207520" y="688039"/>
                  <a:pt x="11207520" y="688039"/>
                </a:cubicBezTo>
                <a:cubicBezTo>
                  <a:pt x="11206232" y="685987"/>
                  <a:pt x="11205324" y="684783"/>
                  <a:pt x="11204593" y="684019"/>
                </a:cubicBezTo>
                <a:lnTo>
                  <a:pt x="11202964" y="682818"/>
                </a:lnTo>
                <a:lnTo>
                  <a:pt x="11205485" y="682189"/>
                </a:lnTo>
                <a:cubicBezTo>
                  <a:pt x="11207773" y="681050"/>
                  <a:pt x="11208694" y="678739"/>
                  <a:pt x="11208694" y="676888"/>
                </a:cubicBezTo>
                <a:cubicBezTo>
                  <a:pt x="11208694" y="675132"/>
                  <a:pt x="11207875" y="673602"/>
                  <a:pt x="11206701" y="672783"/>
                </a:cubicBezTo>
                <a:cubicBezTo>
                  <a:pt x="11204945" y="671135"/>
                  <a:pt x="11202142" y="671135"/>
                  <a:pt x="11199793" y="671135"/>
                </a:cubicBezTo>
                <a:cubicBezTo>
                  <a:pt x="11192304" y="671135"/>
                  <a:pt x="11192304" y="671135"/>
                  <a:pt x="11192304" y="671135"/>
                </a:cubicBezTo>
                <a:close/>
                <a:moveTo>
                  <a:pt x="11200613" y="665274"/>
                </a:moveTo>
                <a:cubicBezTo>
                  <a:pt x="11209622" y="665274"/>
                  <a:pt x="11216993" y="672547"/>
                  <a:pt x="11216993" y="681585"/>
                </a:cubicBezTo>
                <a:cubicBezTo>
                  <a:pt x="11216993" y="690624"/>
                  <a:pt x="11209740" y="698134"/>
                  <a:pt x="11200613" y="698134"/>
                </a:cubicBezTo>
                <a:cubicBezTo>
                  <a:pt x="11191603" y="698134"/>
                  <a:pt x="11184350" y="690624"/>
                  <a:pt x="11184350" y="681585"/>
                </a:cubicBezTo>
                <a:cubicBezTo>
                  <a:pt x="11184232" y="672547"/>
                  <a:pt x="11191485" y="665274"/>
                  <a:pt x="11200613" y="665274"/>
                </a:cubicBezTo>
                <a:close/>
                <a:moveTo>
                  <a:pt x="11200613" y="661869"/>
                </a:moveTo>
                <a:cubicBezTo>
                  <a:pt x="11189847" y="661869"/>
                  <a:pt x="11181074" y="670672"/>
                  <a:pt x="11181074" y="681585"/>
                </a:cubicBezTo>
                <a:cubicBezTo>
                  <a:pt x="11181074" y="692618"/>
                  <a:pt x="11189847" y="701302"/>
                  <a:pt x="11200613" y="701302"/>
                </a:cubicBezTo>
                <a:cubicBezTo>
                  <a:pt x="11211497" y="701302"/>
                  <a:pt x="11220151" y="692381"/>
                  <a:pt x="11220151" y="681585"/>
                </a:cubicBezTo>
                <a:cubicBezTo>
                  <a:pt x="11220151" y="670790"/>
                  <a:pt x="11211378" y="661869"/>
                  <a:pt x="11200613" y="661869"/>
                </a:cubicBezTo>
                <a:close/>
                <a:moveTo>
                  <a:pt x="11005508" y="533974"/>
                </a:moveTo>
                <a:cubicBezTo>
                  <a:pt x="11006049" y="533930"/>
                  <a:pt x="11006693" y="534194"/>
                  <a:pt x="11007162" y="534722"/>
                </a:cubicBezTo>
                <a:cubicBezTo>
                  <a:pt x="11014316" y="542221"/>
                  <a:pt x="11011859" y="598843"/>
                  <a:pt x="11010329" y="610093"/>
                </a:cubicBezTo>
                <a:cubicBezTo>
                  <a:pt x="11009974" y="612905"/>
                  <a:pt x="11007399" y="615135"/>
                  <a:pt x="11006698" y="609392"/>
                </a:cubicBezTo>
                <a:cubicBezTo>
                  <a:pt x="11005879" y="602129"/>
                  <a:pt x="11002011" y="585364"/>
                  <a:pt x="11000836" y="578446"/>
                </a:cubicBezTo>
                <a:cubicBezTo>
                  <a:pt x="10999544" y="571884"/>
                  <a:pt x="11003185" y="551842"/>
                  <a:pt x="11004468" y="535077"/>
                </a:cubicBezTo>
                <a:cubicBezTo>
                  <a:pt x="11004527" y="534371"/>
                  <a:pt x="11004966" y="534018"/>
                  <a:pt x="11005508" y="533974"/>
                </a:cubicBezTo>
                <a:close/>
                <a:moveTo>
                  <a:pt x="10869475" y="489122"/>
                </a:moveTo>
                <a:cubicBezTo>
                  <a:pt x="10887543" y="491589"/>
                  <a:pt x="10905838" y="492053"/>
                  <a:pt x="10923778" y="490997"/>
                </a:cubicBezTo>
                <a:cubicBezTo>
                  <a:pt x="10926709" y="502128"/>
                  <a:pt x="10926353" y="516663"/>
                  <a:pt x="10922248" y="520768"/>
                </a:cubicBezTo>
                <a:cubicBezTo>
                  <a:pt x="10915676" y="527449"/>
                  <a:pt x="10886013" y="526156"/>
                  <a:pt x="10877566" y="524873"/>
                </a:cubicBezTo>
                <a:cubicBezTo>
                  <a:pt x="10875218" y="524518"/>
                  <a:pt x="10872879" y="524173"/>
                  <a:pt x="10871586" y="518074"/>
                </a:cubicBezTo>
                <a:cubicBezTo>
                  <a:pt x="10870175" y="510920"/>
                  <a:pt x="10870057" y="497796"/>
                  <a:pt x="10869475" y="489122"/>
                </a:cubicBezTo>
                <a:close/>
                <a:moveTo>
                  <a:pt x="10964236" y="486191"/>
                </a:moveTo>
                <a:cubicBezTo>
                  <a:pt x="10969279" y="495566"/>
                  <a:pt x="10969634" y="500963"/>
                  <a:pt x="10968223" y="505651"/>
                </a:cubicBezTo>
                <a:cubicBezTo>
                  <a:pt x="10966812" y="510338"/>
                  <a:pt x="10960250" y="513032"/>
                  <a:pt x="10958839" y="512450"/>
                </a:cubicBezTo>
                <a:cubicBezTo>
                  <a:pt x="10958602" y="502365"/>
                  <a:pt x="10955908" y="494746"/>
                  <a:pt x="10951211" y="487948"/>
                </a:cubicBezTo>
                <a:cubicBezTo>
                  <a:pt x="10955326" y="487247"/>
                  <a:pt x="10959667" y="486665"/>
                  <a:pt x="10964236" y="486191"/>
                </a:cubicBezTo>
                <a:close/>
                <a:moveTo>
                  <a:pt x="10824447" y="479402"/>
                </a:moveTo>
                <a:cubicBezTo>
                  <a:pt x="10830190" y="481158"/>
                  <a:pt x="10836062" y="482688"/>
                  <a:pt x="10841805" y="484089"/>
                </a:cubicBezTo>
                <a:cubicBezTo>
                  <a:pt x="10837818" y="509292"/>
                  <a:pt x="10829964" y="516436"/>
                  <a:pt x="10825858" y="518084"/>
                </a:cubicBezTo>
                <a:cubicBezTo>
                  <a:pt x="10822681" y="519367"/>
                  <a:pt x="10815764" y="520068"/>
                  <a:pt x="10818231" y="512104"/>
                </a:cubicBezTo>
                <a:cubicBezTo>
                  <a:pt x="10820697" y="504131"/>
                  <a:pt x="10823036" y="490533"/>
                  <a:pt x="10824447" y="479402"/>
                </a:cubicBezTo>
                <a:close/>
                <a:moveTo>
                  <a:pt x="10804360" y="472972"/>
                </a:moveTo>
                <a:cubicBezTo>
                  <a:pt x="10806340" y="473104"/>
                  <a:pt x="10809448" y="474305"/>
                  <a:pt x="10815428" y="476590"/>
                </a:cubicBezTo>
                <a:cubicBezTo>
                  <a:pt x="10814609" y="495931"/>
                  <a:pt x="10809685" y="506953"/>
                  <a:pt x="10807800" y="516791"/>
                </a:cubicBezTo>
                <a:cubicBezTo>
                  <a:pt x="10805688" y="526877"/>
                  <a:pt x="10816948" y="529215"/>
                  <a:pt x="10826914" y="526758"/>
                </a:cubicBezTo>
                <a:cubicBezTo>
                  <a:pt x="10836762" y="524301"/>
                  <a:pt x="10846147" y="513979"/>
                  <a:pt x="10850252" y="485964"/>
                </a:cubicBezTo>
                <a:cubicBezTo>
                  <a:pt x="10854120" y="486902"/>
                  <a:pt x="10857288" y="487375"/>
                  <a:pt x="10861274" y="487957"/>
                </a:cubicBezTo>
                <a:cubicBezTo>
                  <a:pt x="10861748" y="517028"/>
                  <a:pt x="10863504" y="523591"/>
                  <a:pt x="10864679" y="526166"/>
                </a:cubicBezTo>
                <a:cubicBezTo>
                  <a:pt x="10866909" y="531554"/>
                  <a:pt x="10872307" y="533320"/>
                  <a:pt x="10876639" y="533666"/>
                </a:cubicBezTo>
                <a:cubicBezTo>
                  <a:pt x="10899394" y="535422"/>
                  <a:pt x="10921439" y="534722"/>
                  <a:pt x="10929176" y="527103"/>
                </a:cubicBezTo>
                <a:cubicBezTo>
                  <a:pt x="10937030" y="519367"/>
                  <a:pt x="10934337" y="500500"/>
                  <a:pt x="10932106" y="490296"/>
                </a:cubicBezTo>
                <a:cubicBezTo>
                  <a:pt x="10935738" y="489941"/>
                  <a:pt x="10938678" y="489595"/>
                  <a:pt x="10942191" y="489122"/>
                </a:cubicBezTo>
                <a:cubicBezTo>
                  <a:pt x="10949701" y="497796"/>
                  <a:pt x="10950638" y="507289"/>
                  <a:pt x="10950638" y="513269"/>
                </a:cubicBezTo>
                <a:cubicBezTo>
                  <a:pt x="10950638" y="519949"/>
                  <a:pt x="10958029" y="523462"/>
                  <a:pt x="10968351" y="516318"/>
                </a:cubicBezTo>
                <a:cubicBezTo>
                  <a:pt x="10978555" y="509164"/>
                  <a:pt x="10977617" y="496622"/>
                  <a:pt x="10971983" y="485254"/>
                </a:cubicBezTo>
                <a:cubicBezTo>
                  <a:pt x="10995439" y="483379"/>
                  <a:pt x="10994264" y="498733"/>
                  <a:pt x="10992972" y="517729"/>
                </a:cubicBezTo>
                <a:cubicBezTo>
                  <a:pt x="10991797" y="536488"/>
                  <a:pt x="10987574" y="563092"/>
                  <a:pt x="10981249" y="566141"/>
                </a:cubicBezTo>
                <a:cubicBezTo>
                  <a:pt x="10974795" y="568835"/>
                  <a:pt x="10964710" y="551605"/>
                  <a:pt x="10912173" y="550786"/>
                </a:cubicBezTo>
                <a:cubicBezTo>
                  <a:pt x="10874882" y="550086"/>
                  <a:pt x="10846265" y="555128"/>
                  <a:pt x="10840986" y="589232"/>
                </a:cubicBezTo>
                <a:cubicBezTo>
                  <a:pt x="10840631" y="591689"/>
                  <a:pt x="10839229" y="591344"/>
                  <a:pt x="10837937" y="590051"/>
                </a:cubicBezTo>
                <a:cubicBezTo>
                  <a:pt x="10827733" y="578920"/>
                  <a:pt x="10818349" y="573877"/>
                  <a:pt x="10803340" y="565203"/>
                </a:cubicBezTo>
                <a:cubicBezTo>
                  <a:pt x="10788212" y="556293"/>
                  <a:pt x="10778127" y="544343"/>
                  <a:pt x="10776252" y="532501"/>
                </a:cubicBezTo>
                <a:cubicBezTo>
                  <a:pt x="10774377" y="520660"/>
                  <a:pt x="10778719" y="504841"/>
                  <a:pt x="10800064" y="475771"/>
                </a:cubicBezTo>
                <a:cubicBezTo>
                  <a:pt x="10801529" y="473777"/>
                  <a:pt x="10802380" y="472840"/>
                  <a:pt x="10804360" y="472972"/>
                </a:cubicBezTo>
                <a:close/>
                <a:moveTo>
                  <a:pt x="10748327" y="459672"/>
                </a:moveTo>
                <a:cubicBezTo>
                  <a:pt x="10743049" y="459627"/>
                  <a:pt x="10733658" y="462079"/>
                  <a:pt x="10737432" y="467422"/>
                </a:cubicBezTo>
                <a:cubicBezTo>
                  <a:pt x="10742465" y="474774"/>
                  <a:pt x="10752412" y="462636"/>
                  <a:pt x="10751592" y="460535"/>
                </a:cubicBezTo>
                <a:cubicBezTo>
                  <a:pt x="10751388" y="459980"/>
                  <a:pt x="10750086" y="459687"/>
                  <a:pt x="10748327" y="459672"/>
                </a:cubicBezTo>
                <a:close/>
                <a:moveTo>
                  <a:pt x="10744927" y="444943"/>
                </a:moveTo>
                <a:cubicBezTo>
                  <a:pt x="10749286" y="444037"/>
                  <a:pt x="10755046" y="447136"/>
                  <a:pt x="10767805" y="454782"/>
                </a:cubicBezTo>
                <a:cubicBezTo>
                  <a:pt x="10788449" y="467324"/>
                  <a:pt x="10794784" y="464748"/>
                  <a:pt x="10787739" y="475879"/>
                </a:cubicBezTo>
                <a:cubicBezTo>
                  <a:pt x="10783397" y="483033"/>
                  <a:pt x="10768733" y="502019"/>
                  <a:pt x="10765102" y="525347"/>
                </a:cubicBezTo>
                <a:cubicBezTo>
                  <a:pt x="10760178" y="518785"/>
                  <a:pt x="10753487" y="502493"/>
                  <a:pt x="10747862" y="498033"/>
                </a:cubicBezTo>
                <a:cubicBezTo>
                  <a:pt x="10736840" y="489359"/>
                  <a:pt x="10727337" y="496039"/>
                  <a:pt x="10723232" y="490997"/>
                </a:cubicBezTo>
                <a:cubicBezTo>
                  <a:pt x="10718653" y="485490"/>
                  <a:pt x="10716778" y="485135"/>
                  <a:pt x="10720883" y="479866"/>
                </a:cubicBezTo>
                <a:cubicBezTo>
                  <a:pt x="10720883" y="479866"/>
                  <a:pt x="10725808" y="473422"/>
                  <a:pt x="10727682" y="470718"/>
                </a:cubicBezTo>
                <a:cubicBezTo>
                  <a:pt x="10729794" y="467906"/>
                  <a:pt x="10729212" y="462627"/>
                  <a:pt x="10730149" y="460406"/>
                </a:cubicBezTo>
                <a:cubicBezTo>
                  <a:pt x="10730968" y="458176"/>
                  <a:pt x="10736011" y="451496"/>
                  <a:pt x="10740826" y="447164"/>
                </a:cubicBezTo>
                <a:cubicBezTo>
                  <a:pt x="10742176" y="445992"/>
                  <a:pt x="10743474" y="445245"/>
                  <a:pt x="10744927" y="444943"/>
                </a:cubicBezTo>
                <a:close/>
                <a:moveTo>
                  <a:pt x="10717097" y="389363"/>
                </a:moveTo>
                <a:cubicBezTo>
                  <a:pt x="10716100" y="389570"/>
                  <a:pt x="10715367" y="391563"/>
                  <a:pt x="10715367" y="395841"/>
                </a:cubicBezTo>
                <a:cubicBezTo>
                  <a:pt x="10715367" y="417293"/>
                  <a:pt x="10724752" y="430181"/>
                  <a:pt x="10728038" y="433822"/>
                </a:cubicBezTo>
                <a:cubicBezTo>
                  <a:pt x="10731205" y="437453"/>
                  <a:pt x="10732725" y="441085"/>
                  <a:pt x="10730968" y="443197"/>
                </a:cubicBezTo>
                <a:cubicBezTo>
                  <a:pt x="10726281" y="448703"/>
                  <a:pt x="10721239" y="454801"/>
                  <a:pt x="10721120" y="457258"/>
                </a:cubicBezTo>
                <a:cubicBezTo>
                  <a:pt x="10720883" y="459952"/>
                  <a:pt x="10721120" y="461245"/>
                  <a:pt x="10720064" y="464294"/>
                </a:cubicBezTo>
                <a:cubicBezTo>
                  <a:pt x="10719009" y="467225"/>
                  <a:pt x="10715259" y="471557"/>
                  <a:pt x="10709279" y="478830"/>
                </a:cubicBezTo>
                <a:cubicBezTo>
                  <a:pt x="10705993" y="483053"/>
                  <a:pt x="10708105" y="487622"/>
                  <a:pt x="10710917" y="490671"/>
                </a:cubicBezTo>
                <a:cubicBezTo>
                  <a:pt x="10714203" y="494421"/>
                  <a:pt x="10716433" y="498763"/>
                  <a:pt x="10720538" y="500638"/>
                </a:cubicBezTo>
                <a:cubicBezTo>
                  <a:pt x="10724762" y="502513"/>
                  <a:pt x="10728511" y="501220"/>
                  <a:pt x="10733435" y="502049"/>
                </a:cubicBezTo>
                <a:cubicBezTo>
                  <a:pt x="10738123" y="502868"/>
                  <a:pt x="10743994" y="505680"/>
                  <a:pt x="10748681" y="514009"/>
                </a:cubicBezTo>
                <a:cubicBezTo>
                  <a:pt x="10755480" y="526196"/>
                  <a:pt x="10762753" y="545191"/>
                  <a:pt x="10775887" y="560891"/>
                </a:cubicBezTo>
                <a:cubicBezTo>
                  <a:pt x="10781749" y="567809"/>
                  <a:pt x="10781749" y="580588"/>
                  <a:pt x="10781749" y="584683"/>
                </a:cubicBezTo>
                <a:cubicBezTo>
                  <a:pt x="10782104" y="621490"/>
                  <a:pt x="10762871" y="656304"/>
                  <a:pt x="10750556" y="678457"/>
                </a:cubicBezTo>
                <a:cubicBezTo>
                  <a:pt x="10747626" y="683618"/>
                  <a:pt x="10748326" y="687950"/>
                  <a:pt x="10752194" y="687950"/>
                </a:cubicBezTo>
                <a:cubicBezTo>
                  <a:pt x="10756655" y="687950"/>
                  <a:pt x="10773302" y="687950"/>
                  <a:pt x="10776124" y="687950"/>
                </a:cubicBezTo>
                <a:cubicBezTo>
                  <a:pt x="10779173" y="687950"/>
                  <a:pt x="10781048" y="684664"/>
                  <a:pt x="10781285" y="681151"/>
                </a:cubicBezTo>
                <a:cubicBezTo>
                  <a:pt x="10783397" y="651025"/>
                  <a:pt x="10800399" y="595814"/>
                  <a:pt x="10813188" y="586439"/>
                </a:cubicBezTo>
                <a:cubicBezTo>
                  <a:pt x="10834651" y="599919"/>
                  <a:pt x="10855995" y="628753"/>
                  <a:pt x="10845555" y="679276"/>
                </a:cubicBezTo>
                <a:cubicBezTo>
                  <a:pt x="10845081" y="682089"/>
                  <a:pt x="10842506" y="688187"/>
                  <a:pt x="10848959" y="688187"/>
                </a:cubicBezTo>
                <a:cubicBezTo>
                  <a:pt x="10848959" y="688187"/>
                  <a:pt x="10867136" y="688187"/>
                  <a:pt x="10869485" y="688187"/>
                </a:cubicBezTo>
                <a:cubicBezTo>
                  <a:pt x="10872178" y="688187"/>
                  <a:pt x="10876520" y="687131"/>
                  <a:pt x="10876165" y="682207"/>
                </a:cubicBezTo>
                <a:cubicBezTo>
                  <a:pt x="10875109" y="662511"/>
                  <a:pt x="10858571" y="620908"/>
                  <a:pt x="10854239" y="596406"/>
                </a:cubicBezTo>
                <a:cubicBezTo>
                  <a:pt x="10851545" y="580933"/>
                  <a:pt x="10863860" y="553273"/>
                  <a:pt x="10910298" y="574489"/>
                </a:cubicBezTo>
                <a:cubicBezTo>
                  <a:pt x="10928129" y="558434"/>
                  <a:pt x="10951586" y="568164"/>
                  <a:pt x="10941491" y="598991"/>
                </a:cubicBezTo>
                <a:cubicBezTo>
                  <a:pt x="10931643" y="629700"/>
                  <a:pt x="10923077" y="643180"/>
                  <a:pt x="10889299" y="679286"/>
                </a:cubicBezTo>
                <a:cubicBezTo>
                  <a:pt x="10885549" y="683510"/>
                  <a:pt x="10885194" y="687960"/>
                  <a:pt x="10891411" y="687960"/>
                </a:cubicBezTo>
                <a:cubicBezTo>
                  <a:pt x="10894460" y="687960"/>
                  <a:pt x="10909943" y="687960"/>
                  <a:pt x="10913111" y="687960"/>
                </a:cubicBezTo>
                <a:cubicBezTo>
                  <a:pt x="10917798" y="687960"/>
                  <a:pt x="10919683" y="686549"/>
                  <a:pt x="10921084" y="682918"/>
                </a:cubicBezTo>
                <a:cubicBezTo>
                  <a:pt x="10922377" y="679049"/>
                  <a:pt x="10937859" y="630055"/>
                  <a:pt x="10968233" y="607083"/>
                </a:cubicBezTo>
                <a:cubicBezTo>
                  <a:pt x="10970581" y="605326"/>
                  <a:pt x="10972575" y="597471"/>
                  <a:pt x="10977262" y="579541"/>
                </a:cubicBezTo>
                <a:cubicBezTo>
                  <a:pt x="10991926" y="598883"/>
                  <a:pt x="10993919" y="634042"/>
                  <a:pt x="10968697" y="679405"/>
                </a:cubicBezTo>
                <a:cubicBezTo>
                  <a:pt x="10966121" y="684211"/>
                  <a:pt x="10967641" y="687842"/>
                  <a:pt x="10970808" y="687842"/>
                </a:cubicBezTo>
                <a:cubicBezTo>
                  <a:pt x="10972565" y="687842"/>
                  <a:pt x="10986291" y="687842"/>
                  <a:pt x="10990396" y="687842"/>
                </a:cubicBezTo>
                <a:cubicBezTo>
                  <a:pt x="10994028" y="687842"/>
                  <a:pt x="10995083" y="685848"/>
                  <a:pt x="10996495" y="680342"/>
                </a:cubicBezTo>
                <a:cubicBezTo>
                  <a:pt x="10998251" y="673543"/>
                  <a:pt x="10998843" y="670257"/>
                  <a:pt x="11001182" y="663813"/>
                </a:cubicBezTo>
                <a:cubicBezTo>
                  <a:pt x="11002593" y="659827"/>
                  <a:pt x="11003175" y="659126"/>
                  <a:pt x="11018895" y="659245"/>
                </a:cubicBezTo>
                <a:cubicBezTo>
                  <a:pt x="11023819" y="659245"/>
                  <a:pt x="11023473" y="656669"/>
                  <a:pt x="11023473" y="652446"/>
                </a:cubicBezTo>
                <a:cubicBezTo>
                  <a:pt x="11023700" y="591689"/>
                  <a:pt x="11024056" y="528159"/>
                  <a:pt x="11019477" y="506361"/>
                </a:cubicBezTo>
                <a:cubicBezTo>
                  <a:pt x="11013142" y="475771"/>
                  <a:pt x="10986518" y="474833"/>
                  <a:pt x="10972565" y="475889"/>
                </a:cubicBezTo>
                <a:cubicBezTo>
                  <a:pt x="10958019" y="476945"/>
                  <a:pt x="10930577" y="481277"/>
                  <a:pt x="10902315" y="481277"/>
                </a:cubicBezTo>
                <a:cubicBezTo>
                  <a:pt x="10864195" y="481277"/>
                  <a:pt x="10821270" y="470491"/>
                  <a:pt x="10788439" y="455137"/>
                </a:cubicBezTo>
                <a:cubicBezTo>
                  <a:pt x="10782696" y="452561"/>
                  <a:pt x="10785627" y="451387"/>
                  <a:pt x="10788084" y="449976"/>
                </a:cubicBezTo>
                <a:cubicBezTo>
                  <a:pt x="10800399" y="443177"/>
                  <a:pt x="10811066" y="437078"/>
                  <a:pt x="10817638" y="426303"/>
                </a:cubicBezTo>
                <a:cubicBezTo>
                  <a:pt x="10822681" y="418103"/>
                  <a:pt x="10820806" y="415517"/>
                  <a:pt x="10815290" y="419977"/>
                </a:cubicBezTo>
                <a:cubicBezTo>
                  <a:pt x="10800399" y="432401"/>
                  <a:pt x="10779163" y="439319"/>
                  <a:pt x="10755480" y="430763"/>
                </a:cubicBezTo>
                <a:cubicBezTo>
                  <a:pt x="10731669" y="422326"/>
                  <a:pt x="10722522" y="399354"/>
                  <a:pt x="10720410" y="393610"/>
                </a:cubicBezTo>
                <a:cubicBezTo>
                  <a:pt x="10719354" y="390739"/>
                  <a:pt x="10718093" y="389158"/>
                  <a:pt x="10717097" y="389363"/>
                </a:cubicBezTo>
                <a:close/>
                <a:moveTo>
                  <a:pt x="10778798" y="335508"/>
                </a:moveTo>
                <a:cubicBezTo>
                  <a:pt x="10796501" y="335508"/>
                  <a:pt x="10810691" y="349915"/>
                  <a:pt x="10810691" y="367480"/>
                </a:cubicBezTo>
                <a:cubicBezTo>
                  <a:pt x="10810691" y="385163"/>
                  <a:pt x="10796501" y="399452"/>
                  <a:pt x="10778798" y="399452"/>
                </a:cubicBezTo>
                <a:cubicBezTo>
                  <a:pt x="10761095" y="399452"/>
                  <a:pt x="10746668" y="385163"/>
                  <a:pt x="10746668" y="367480"/>
                </a:cubicBezTo>
                <a:cubicBezTo>
                  <a:pt x="10746668" y="349688"/>
                  <a:pt x="10761095" y="335508"/>
                  <a:pt x="10778798" y="335508"/>
                </a:cubicBezTo>
                <a:close/>
                <a:moveTo>
                  <a:pt x="10777397" y="324150"/>
                </a:moveTo>
                <a:cubicBezTo>
                  <a:pt x="10750665" y="324150"/>
                  <a:pt x="10729202" y="345938"/>
                  <a:pt x="10729202" y="372523"/>
                </a:cubicBezTo>
                <a:cubicBezTo>
                  <a:pt x="10729202" y="399344"/>
                  <a:pt x="10750892" y="420895"/>
                  <a:pt x="10777397" y="420895"/>
                </a:cubicBezTo>
                <a:cubicBezTo>
                  <a:pt x="10804129" y="420895"/>
                  <a:pt x="10825592" y="399107"/>
                  <a:pt x="10825592" y="372523"/>
                </a:cubicBezTo>
                <a:cubicBezTo>
                  <a:pt x="10825592" y="345702"/>
                  <a:pt x="10804129" y="324150"/>
                  <a:pt x="10777397" y="324150"/>
                </a:cubicBezTo>
                <a:close/>
                <a:moveTo>
                  <a:pt x="0" y="0"/>
                </a:moveTo>
                <a:lnTo>
                  <a:pt x="11544301" y="0"/>
                </a:lnTo>
                <a:lnTo>
                  <a:pt x="11544301" y="6208713"/>
                </a:lnTo>
                <a:lnTo>
                  <a:pt x="0" y="6208713"/>
                </a:lnTo>
                <a:close/>
              </a:path>
            </a:pathLst>
          </a:cu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1140274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E. Cov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8B4C608-FB3B-5FA6-5CC6-AFD227EBD1F0}"/>
              </a:ext>
            </a:extLst>
          </p:cNvPr>
          <p:cNvSpPr>
            <a:spLocks noGrp="1"/>
          </p:cNvSpPr>
          <p:nvPr>
            <p:ph type="pic" sz="quarter" idx="18" hasCustomPrompt="1"/>
          </p:nvPr>
        </p:nvSpPr>
        <p:spPr>
          <a:xfrm>
            <a:off x="5136000" y="324000"/>
            <a:ext cx="6730700" cy="6210000"/>
          </a:xfrm>
          <a:custGeom>
            <a:avLst/>
            <a:gdLst>
              <a:gd name="csX0" fmla="*/ 6217885 w 6730700"/>
              <a:gd name="csY0" fmla="*/ 721963 h 6210000"/>
              <a:gd name="csX1" fmla="*/ 6229568 w 6730700"/>
              <a:gd name="csY1" fmla="*/ 725950 h 6210000"/>
              <a:gd name="csX2" fmla="*/ 6229568 w 6730700"/>
              <a:gd name="csY2" fmla="*/ 769003 h 6210000"/>
              <a:gd name="csX3" fmla="*/ 6229450 w 6730700"/>
              <a:gd name="csY3" fmla="*/ 769003 h 6210000"/>
              <a:gd name="csX4" fmla="*/ 6218704 w 6730700"/>
              <a:gd name="csY4" fmla="*/ 773927 h 6210000"/>
              <a:gd name="csX5" fmla="*/ 6198494 w 6730700"/>
              <a:gd name="csY5" fmla="*/ 746949 h 6210000"/>
              <a:gd name="csX6" fmla="*/ 6217885 w 6730700"/>
              <a:gd name="csY6" fmla="*/ 721963 h 6210000"/>
              <a:gd name="csX7" fmla="*/ 6114913 w 6730700"/>
              <a:gd name="csY7" fmla="*/ 721223 h 6210000"/>
              <a:gd name="csX8" fmla="*/ 6125669 w 6730700"/>
              <a:gd name="csY8" fmla="*/ 725328 h 6210000"/>
              <a:gd name="csX9" fmla="*/ 6131402 w 6730700"/>
              <a:gd name="csY9" fmla="*/ 747748 h 6210000"/>
              <a:gd name="csX10" fmla="*/ 6125669 w 6730700"/>
              <a:gd name="csY10" fmla="*/ 770049 h 6210000"/>
              <a:gd name="csX11" fmla="*/ 6114913 w 6730700"/>
              <a:gd name="csY11" fmla="*/ 774036 h 6210000"/>
              <a:gd name="csX12" fmla="*/ 6104394 w 6730700"/>
              <a:gd name="csY12" fmla="*/ 770049 h 6210000"/>
              <a:gd name="csX13" fmla="*/ 6098660 w 6730700"/>
              <a:gd name="csY13" fmla="*/ 747748 h 6210000"/>
              <a:gd name="csX14" fmla="*/ 6104394 w 6730700"/>
              <a:gd name="csY14" fmla="*/ 725328 h 6210000"/>
              <a:gd name="csX15" fmla="*/ 6114913 w 6730700"/>
              <a:gd name="csY15" fmla="*/ 721223 h 6210000"/>
              <a:gd name="csX16" fmla="*/ 5965236 w 6730700"/>
              <a:gd name="csY16" fmla="*/ 721223 h 6210000"/>
              <a:gd name="csX17" fmla="*/ 5975805 w 6730700"/>
              <a:gd name="csY17" fmla="*/ 725328 h 6210000"/>
              <a:gd name="csX18" fmla="*/ 5981558 w 6730700"/>
              <a:gd name="csY18" fmla="*/ 747748 h 6210000"/>
              <a:gd name="csX19" fmla="*/ 5975805 w 6730700"/>
              <a:gd name="csY19" fmla="*/ 770049 h 6210000"/>
              <a:gd name="csX20" fmla="*/ 5965236 w 6730700"/>
              <a:gd name="csY20" fmla="*/ 774036 h 6210000"/>
              <a:gd name="csX21" fmla="*/ 5954431 w 6730700"/>
              <a:gd name="csY21" fmla="*/ 770049 h 6210000"/>
              <a:gd name="csX22" fmla="*/ 5948678 w 6730700"/>
              <a:gd name="csY22" fmla="*/ 747748 h 6210000"/>
              <a:gd name="csX23" fmla="*/ 5954431 w 6730700"/>
              <a:gd name="csY23" fmla="*/ 725328 h 6210000"/>
              <a:gd name="csX24" fmla="*/ 5965236 w 6730700"/>
              <a:gd name="csY24" fmla="*/ 721223 h 6210000"/>
              <a:gd name="csX25" fmla="*/ 5853216 w 6730700"/>
              <a:gd name="csY25" fmla="*/ 721223 h 6210000"/>
              <a:gd name="csX26" fmla="*/ 5863903 w 6730700"/>
              <a:gd name="csY26" fmla="*/ 725328 h 6210000"/>
              <a:gd name="csX27" fmla="*/ 5869655 w 6730700"/>
              <a:gd name="csY27" fmla="*/ 747748 h 6210000"/>
              <a:gd name="csX28" fmla="*/ 5863903 w 6730700"/>
              <a:gd name="csY28" fmla="*/ 770049 h 6210000"/>
              <a:gd name="csX29" fmla="*/ 5853216 w 6730700"/>
              <a:gd name="csY29" fmla="*/ 774036 h 6210000"/>
              <a:gd name="csX30" fmla="*/ 5842647 w 6730700"/>
              <a:gd name="csY30" fmla="*/ 770049 h 6210000"/>
              <a:gd name="csX31" fmla="*/ 5836894 w 6730700"/>
              <a:gd name="csY31" fmla="*/ 747748 h 6210000"/>
              <a:gd name="csX32" fmla="*/ 5842647 w 6730700"/>
              <a:gd name="csY32" fmla="*/ 725328 h 6210000"/>
              <a:gd name="csX33" fmla="*/ 5853216 w 6730700"/>
              <a:gd name="csY33" fmla="*/ 721223 h 6210000"/>
              <a:gd name="csX34" fmla="*/ 6256725 w 6730700"/>
              <a:gd name="csY34" fmla="*/ 715786 h 6210000"/>
              <a:gd name="csX35" fmla="*/ 6254633 w 6730700"/>
              <a:gd name="csY35" fmla="*/ 718006 h 6210000"/>
              <a:gd name="csX36" fmla="*/ 6254633 w 6730700"/>
              <a:gd name="csY36" fmla="*/ 777085 h 6210000"/>
              <a:gd name="csX37" fmla="*/ 6256498 w 6730700"/>
              <a:gd name="csY37" fmla="*/ 779306 h 6210000"/>
              <a:gd name="csX38" fmla="*/ 6263129 w 6730700"/>
              <a:gd name="csY38" fmla="*/ 779306 h 6210000"/>
              <a:gd name="csX39" fmla="*/ 6265448 w 6730700"/>
              <a:gd name="csY39" fmla="*/ 777085 h 6210000"/>
              <a:gd name="csX40" fmla="*/ 6265448 w 6730700"/>
              <a:gd name="csY40" fmla="*/ 718006 h 6210000"/>
              <a:gd name="csX41" fmla="*/ 6263119 w 6730700"/>
              <a:gd name="csY41" fmla="*/ 715786 h 6210000"/>
              <a:gd name="csX42" fmla="*/ 6256725 w 6730700"/>
              <a:gd name="csY42" fmla="*/ 715786 h 6210000"/>
              <a:gd name="csX43" fmla="*/ 6364502 w 6730700"/>
              <a:gd name="csY43" fmla="*/ 715480 h 6210000"/>
              <a:gd name="csX44" fmla="*/ 6360742 w 6730700"/>
              <a:gd name="csY44" fmla="*/ 717473 h 6210000"/>
              <a:gd name="csX45" fmla="*/ 6338994 w 6730700"/>
              <a:gd name="csY45" fmla="*/ 744768 h 6210000"/>
              <a:gd name="csX46" fmla="*/ 6338520 w 6730700"/>
              <a:gd name="csY46" fmla="*/ 745469 h 6210000"/>
              <a:gd name="csX47" fmla="*/ 6338638 w 6730700"/>
              <a:gd name="csY47" fmla="*/ 746169 h 6210000"/>
              <a:gd name="csX48" fmla="*/ 6360506 w 6730700"/>
              <a:gd name="csY48" fmla="*/ 777441 h 6210000"/>
              <a:gd name="csX49" fmla="*/ 6364147 w 6730700"/>
              <a:gd name="csY49" fmla="*/ 779315 h 6210000"/>
              <a:gd name="csX50" fmla="*/ 6372495 w 6730700"/>
              <a:gd name="csY50" fmla="*/ 779315 h 6210000"/>
              <a:gd name="csX51" fmla="*/ 6374252 w 6730700"/>
              <a:gd name="csY51" fmla="*/ 777786 h 6210000"/>
              <a:gd name="csX52" fmla="*/ 6373433 w 6730700"/>
              <a:gd name="csY52" fmla="*/ 776266 h 6210000"/>
              <a:gd name="csX53" fmla="*/ 6350154 w 6730700"/>
              <a:gd name="csY53" fmla="*/ 745459 h 6210000"/>
              <a:gd name="csX54" fmla="*/ 6349917 w 6730700"/>
              <a:gd name="csY54" fmla="*/ 745222 h 6210000"/>
              <a:gd name="csX55" fmla="*/ 6371903 w 6730700"/>
              <a:gd name="csY55" fmla="*/ 719338 h 6210000"/>
              <a:gd name="csX56" fmla="*/ 6372495 w 6730700"/>
              <a:gd name="csY56" fmla="*/ 716881 h 6210000"/>
              <a:gd name="csX57" fmla="*/ 6370265 w 6730700"/>
              <a:gd name="csY57" fmla="*/ 715480 h 6210000"/>
              <a:gd name="csX58" fmla="*/ 6364502 w 6730700"/>
              <a:gd name="csY58" fmla="*/ 715480 h 6210000"/>
              <a:gd name="csX59" fmla="*/ 5884467 w 6730700"/>
              <a:gd name="csY59" fmla="*/ 715480 h 6210000"/>
              <a:gd name="csX60" fmla="*/ 5882819 w 6730700"/>
              <a:gd name="csY60" fmla="*/ 717118 h 6210000"/>
              <a:gd name="csX61" fmla="*/ 5883293 w 6730700"/>
              <a:gd name="csY61" fmla="*/ 718874 h 6210000"/>
              <a:gd name="csX62" fmla="*/ 5905476 w 6730700"/>
              <a:gd name="csY62" fmla="*/ 777421 h 6210000"/>
              <a:gd name="csX63" fmla="*/ 5907469 w 6730700"/>
              <a:gd name="csY63" fmla="*/ 779296 h 6210000"/>
              <a:gd name="csX64" fmla="*/ 5912285 w 6730700"/>
              <a:gd name="csY64" fmla="*/ 779296 h 6210000"/>
              <a:gd name="csX65" fmla="*/ 5914515 w 6730700"/>
              <a:gd name="csY65" fmla="*/ 777421 h 6210000"/>
              <a:gd name="csX66" fmla="*/ 5936116 w 6730700"/>
              <a:gd name="csY66" fmla="*/ 718647 h 6210000"/>
              <a:gd name="csX67" fmla="*/ 5936353 w 6730700"/>
              <a:gd name="csY67" fmla="*/ 716773 h 6210000"/>
              <a:gd name="csX68" fmla="*/ 5934823 w 6730700"/>
              <a:gd name="csY68" fmla="*/ 715480 h 6210000"/>
              <a:gd name="csX69" fmla="*/ 5928715 w 6730700"/>
              <a:gd name="csY69" fmla="*/ 715480 h 6210000"/>
              <a:gd name="csX70" fmla="*/ 5927185 w 6730700"/>
              <a:gd name="csY70" fmla="*/ 717236 h 6210000"/>
              <a:gd name="csX71" fmla="*/ 5911219 w 6730700"/>
              <a:gd name="csY71" fmla="*/ 764168 h 6210000"/>
              <a:gd name="csX72" fmla="*/ 5894789 w 6730700"/>
              <a:gd name="csY72" fmla="*/ 717473 h 6210000"/>
              <a:gd name="csX73" fmla="*/ 5891977 w 6730700"/>
              <a:gd name="csY73" fmla="*/ 715480 h 6210000"/>
              <a:gd name="csX74" fmla="*/ 5884467 w 6730700"/>
              <a:gd name="csY74" fmla="*/ 715480 h 6210000"/>
              <a:gd name="csX75" fmla="*/ 6298387 w 6730700"/>
              <a:gd name="csY75" fmla="*/ 714414 h 6210000"/>
              <a:gd name="csX76" fmla="*/ 6277368 w 6730700"/>
              <a:gd name="csY76" fmla="*/ 731900 h 6210000"/>
              <a:gd name="csX77" fmla="*/ 6293927 w 6730700"/>
              <a:gd name="csY77" fmla="*/ 750916 h 6210000"/>
              <a:gd name="csX78" fmla="*/ 6307545 w 6730700"/>
              <a:gd name="csY78" fmla="*/ 763240 h 6210000"/>
              <a:gd name="csX79" fmla="*/ 6294983 w 6730700"/>
              <a:gd name="csY79" fmla="*/ 774036 h 6210000"/>
              <a:gd name="csX80" fmla="*/ 6279599 w 6730700"/>
              <a:gd name="csY80" fmla="*/ 767583 h 6210000"/>
              <a:gd name="csX81" fmla="*/ 6275020 w 6730700"/>
              <a:gd name="csY81" fmla="*/ 771687 h 6210000"/>
              <a:gd name="csX82" fmla="*/ 6294746 w 6730700"/>
              <a:gd name="csY82" fmla="*/ 781082 h 6210000"/>
              <a:gd name="csX83" fmla="*/ 6317294 w 6730700"/>
              <a:gd name="csY83" fmla="*/ 762066 h 6210000"/>
              <a:gd name="csX84" fmla="*/ 6287118 w 6730700"/>
              <a:gd name="csY84" fmla="*/ 730844 h 6210000"/>
              <a:gd name="csX85" fmla="*/ 6297686 w 6730700"/>
              <a:gd name="csY85" fmla="*/ 721450 h 6210000"/>
              <a:gd name="csX86" fmla="*/ 6310367 w 6730700"/>
              <a:gd name="csY86" fmla="*/ 726147 h 6210000"/>
              <a:gd name="csX87" fmla="*/ 6314945 w 6730700"/>
              <a:gd name="csY87" fmla="*/ 721805 h 6210000"/>
              <a:gd name="csX88" fmla="*/ 6298387 w 6730700"/>
              <a:gd name="csY88" fmla="*/ 714414 h 6210000"/>
              <a:gd name="csX89" fmla="*/ 6170380 w 6730700"/>
              <a:gd name="csY89" fmla="*/ 714059 h 6210000"/>
              <a:gd name="csX90" fmla="*/ 6156427 w 6730700"/>
              <a:gd name="csY90" fmla="*/ 715934 h 6210000"/>
              <a:gd name="csX91" fmla="*/ 6150684 w 6730700"/>
              <a:gd name="csY91" fmla="*/ 720957 h 6210000"/>
              <a:gd name="csX92" fmla="*/ 6150684 w 6730700"/>
              <a:gd name="csY92" fmla="*/ 776967 h 6210000"/>
              <a:gd name="csX93" fmla="*/ 6153151 w 6730700"/>
              <a:gd name="csY93" fmla="*/ 778950 h 6210000"/>
              <a:gd name="csX94" fmla="*/ 6159368 w 6730700"/>
              <a:gd name="csY94" fmla="*/ 778950 h 6210000"/>
              <a:gd name="csX95" fmla="*/ 6161598 w 6730700"/>
              <a:gd name="csY95" fmla="*/ 776967 h 6210000"/>
              <a:gd name="csX96" fmla="*/ 6161598 w 6730700"/>
              <a:gd name="csY96" fmla="*/ 725634 h 6210000"/>
              <a:gd name="csX97" fmla="*/ 6167815 w 6730700"/>
              <a:gd name="csY97" fmla="*/ 720138 h 6210000"/>
              <a:gd name="csX98" fmla="*/ 6181067 w 6730700"/>
              <a:gd name="csY98" fmla="*/ 725871 h 6210000"/>
              <a:gd name="csX99" fmla="*/ 6186445 w 6730700"/>
              <a:gd name="csY99" fmla="*/ 720493 h 6210000"/>
              <a:gd name="csX100" fmla="*/ 6170380 w 6730700"/>
              <a:gd name="csY100" fmla="*/ 714059 h 6210000"/>
              <a:gd name="csX101" fmla="*/ 6114923 w 6730700"/>
              <a:gd name="csY101" fmla="*/ 714059 h 6210000"/>
              <a:gd name="csX102" fmla="*/ 6099025 w 6730700"/>
              <a:gd name="csY102" fmla="*/ 718638 h 6210000"/>
              <a:gd name="csX103" fmla="*/ 6087332 w 6730700"/>
              <a:gd name="csY103" fmla="*/ 747748 h 6210000"/>
              <a:gd name="csX104" fmla="*/ 6099025 w 6730700"/>
              <a:gd name="csY104" fmla="*/ 776740 h 6210000"/>
              <a:gd name="csX105" fmla="*/ 6114923 w 6730700"/>
              <a:gd name="csY105" fmla="*/ 781200 h 6210000"/>
              <a:gd name="csX106" fmla="*/ 6130820 w 6730700"/>
              <a:gd name="csY106" fmla="*/ 776740 h 6210000"/>
              <a:gd name="csX107" fmla="*/ 6142632 w 6730700"/>
              <a:gd name="csY107" fmla="*/ 747748 h 6210000"/>
              <a:gd name="csX108" fmla="*/ 6130820 w 6730700"/>
              <a:gd name="csY108" fmla="*/ 718638 h 6210000"/>
              <a:gd name="csX109" fmla="*/ 6114923 w 6730700"/>
              <a:gd name="csY109" fmla="*/ 714059 h 6210000"/>
              <a:gd name="csX110" fmla="*/ 6053110 w 6730700"/>
              <a:gd name="csY110" fmla="*/ 714059 h 6210000"/>
              <a:gd name="csX111" fmla="*/ 6034085 w 6730700"/>
              <a:gd name="csY111" fmla="*/ 717108 h 6210000"/>
              <a:gd name="csX112" fmla="*/ 6028598 w 6730700"/>
              <a:gd name="csY112" fmla="*/ 722151 h 6210000"/>
              <a:gd name="csX113" fmla="*/ 6028598 w 6730700"/>
              <a:gd name="csY113" fmla="*/ 777065 h 6210000"/>
              <a:gd name="csX114" fmla="*/ 6030937 w 6730700"/>
              <a:gd name="csY114" fmla="*/ 779296 h 6210000"/>
              <a:gd name="csX115" fmla="*/ 6037006 w 6730700"/>
              <a:gd name="csY115" fmla="*/ 779296 h 6210000"/>
              <a:gd name="csX116" fmla="*/ 6039571 w 6730700"/>
              <a:gd name="csY116" fmla="*/ 776829 h 6210000"/>
              <a:gd name="csX117" fmla="*/ 6039571 w 6730700"/>
              <a:gd name="csY117" fmla="*/ 726256 h 6210000"/>
              <a:gd name="csX118" fmla="*/ 6052765 w 6730700"/>
              <a:gd name="csY118" fmla="*/ 720739 h 6210000"/>
              <a:gd name="csX119" fmla="*/ 6067004 w 6730700"/>
              <a:gd name="csY119" fmla="*/ 735758 h 6210000"/>
              <a:gd name="csX120" fmla="*/ 6067004 w 6730700"/>
              <a:gd name="csY120" fmla="*/ 776829 h 6210000"/>
              <a:gd name="csX121" fmla="*/ 6069807 w 6730700"/>
              <a:gd name="csY121" fmla="*/ 779296 h 6210000"/>
              <a:gd name="csX122" fmla="*/ 6076576 w 6730700"/>
              <a:gd name="csY122" fmla="*/ 779296 h 6210000"/>
              <a:gd name="csX123" fmla="*/ 6077740 w 6730700"/>
              <a:gd name="csY123" fmla="*/ 776839 h 6210000"/>
              <a:gd name="csX124" fmla="*/ 6077740 w 6730700"/>
              <a:gd name="csY124" fmla="*/ 734357 h 6210000"/>
              <a:gd name="csX125" fmla="*/ 6053110 w 6730700"/>
              <a:gd name="csY125" fmla="*/ 714059 h 6210000"/>
              <a:gd name="csX126" fmla="*/ 5965009 w 6730700"/>
              <a:gd name="csY126" fmla="*/ 714059 h 6210000"/>
              <a:gd name="csX127" fmla="*/ 5949043 w 6730700"/>
              <a:gd name="csY127" fmla="*/ 718638 h 6210000"/>
              <a:gd name="csX128" fmla="*/ 5937300 w 6730700"/>
              <a:gd name="csY128" fmla="*/ 747748 h 6210000"/>
              <a:gd name="csX129" fmla="*/ 5949043 w 6730700"/>
              <a:gd name="csY129" fmla="*/ 776740 h 6210000"/>
              <a:gd name="csX130" fmla="*/ 5965009 w 6730700"/>
              <a:gd name="csY130" fmla="*/ 781200 h 6210000"/>
              <a:gd name="csX131" fmla="*/ 5980976 w 6730700"/>
              <a:gd name="csY131" fmla="*/ 776740 h 6210000"/>
              <a:gd name="csX132" fmla="*/ 5992837 w 6730700"/>
              <a:gd name="csY132" fmla="*/ 747748 h 6210000"/>
              <a:gd name="csX133" fmla="*/ 5980976 w 6730700"/>
              <a:gd name="csY133" fmla="*/ 718638 h 6210000"/>
              <a:gd name="csX134" fmla="*/ 5965009 w 6730700"/>
              <a:gd name="csY134" fmla="*/ 714059 h 6210000"/>
              <a:gd name="csX135" fmla="*/ 5853225 w 6730700"/>
              <a:gd name="csY135" fmla="*/ 714059 h 6210000"/>
              <a:gd name="csX136" fmla="*/ 5837259 w 6730700"/>
              <a:gd name="csY136" fmla="*/ 718638 h 6210000"/>
              <a:gd name="csX137" fmla="*/ 5825398 w 6730700"/>
              <a:gd name="csY137" fmla="*/ 747748 h 6210000"/>
              <a:gd name="csX138" fmla="*/ 5837259 w 6730700"/>
              <a:gd name="csY138" fmla="*/ 776740 h 6210000"/>
              <a:gd name="csX139" fmla="*/ 5853225 w 6730700"/>
              <a:gd name="csY139" fmla="*/ 781200 h 6210000"/>
              <a:gd name="csX140" fmla="*/ 5869192 w 6730700"/>
              <a:gd name="csY140" fmla="*/ 776740 h 6210000"/>
              <a:gd name="csX141" fmla="*/ 5880935 w 6730700"/>
              <a:gd name="csY141" fmla="*/ 747748 h 6210000"/>
              <a:gd name="csX142" fmla="*/ 5869192 w 6730700"/>
              <a:gd name="csY142" fmla="*/ 718638 h 6210000"/>
              <a:gd name="csX143" fmla="*/ 5853225 w 6730700"/>
              <a:gd name="csY143" fmla="*/ 714059 h 6210000"/>
              <a:gd name="csX144" fmla="*/ 5791294 w 6730700"/>
              <a:gd name="csY144" fmla="*/ 714059 h 6210000"/>
              <a:gd name="csX145" fmla="*/ 5772180 w 6730700"/>
              <a:gd name="csY145" fmla="*/ 717108 h 6210000"/>
              <a:gd name="csX146" fmla="*/ 5766664 w 6730700"/>
              <a:gd name="csY146" fmla="*/ 722151 h 6210000"/>
              <a:gd name="csX147" fmla="*/ 5766664 w 6730700"/>
              <a:gd name="csY147" fmla="*/ 777065 h 6210000"/>
              <a:gd name="csX148" fmla="*/ 5768894 w 6730700"/>
              <a:gd name="csY148" fmla="*/ 779296 h 6210000"/>
              <a:gd name="csX149" fmla="*/ 5774993 w 6730700"/>
              <a:gd name="csY149" fmla="*/ 779296 h 6210000"/>
              <a:gd name="csX150" fmla="*/ 5777568 w 6730700"/>
              <a:gd name="csY150" fmla="*/ 776829 h 6210000"/>
              <a:gd name="csX151" fmla="*/ 5777568 w 6730700"/>
              <a:gd name="csY151" fmla="*/ 726256 h 6210000"/>
              <a:gd name="csX152" fmla="*/ 5790821 w 6730700"/>
              <a:gd name="csY152" fmla="*/ 720739 h 6210000"/>
              <a:gd name="csX153" fmla="*/ 5805129 w 6730700"/>
              <a:gd name="csY153" fmla="*/ 735758 h 6210000"/>
              <a:gd name="csX154" fmla="*/ 5805129 w 6730700"/>
              <a:gd name="csY154" fmla="*/ 776829 h 6210000"/>
              <a:gd name="csX155" fmla="*/ 5807942 w 6730700"/>
              <a:gd name="csY155" fmla="*/ 779296 h 6210000"/>
              <a:gd name="csX156" fmla="*/ 5814740 w 6730700"/>
              <a:gd name="csY156" fmla="*/ 779296 h 6210000"/>
              <a:gd name="csX157" fmla="*/ 5816043 w 6730700"/>
              <a:gd name="csY157" fmla="*/ 776839 h 6210000"/>
              <a:gd name="csX158" fmla="*/ 5816043 w 6730700"/>
              <a:gd name="csY158" fmla="*/ 734357 h 6210000"/>
              <a:gd name="csX159" fmla="*/ 5791294 w 6730700"/>
              <a:gd name="csY159" fmla="*/ 714059 h 6210000"/>
              <a:gd name="csX160" fmla="*/ 6231670 w 6730700"/>
              <a:gd name="csY160" fmla="*/ 692734 h 6210000"/>
              <a:gd name="csX161" fmla="*/ 6229450 w 6730700"/>
              <a:gd name="csY161" fmla="*/ 695547 h 6210000"/>
              <a:gd name="csX162" fmla="*/ 6229450 w 6730700"/>
              <a:gd name="csY162" fmla="*/ 717838 h 6210000"/>
              <a:gd name="csX163" fmla="*/ 6216128 w 6730700"/>
              <a:gd name="csY163" fmla="*/ 714434 h 6210000"/>
              <a:gd name="csX164" fmla="*/ 6187383 w 6730700"/>
              <a:gd name="csY164" fmla="*/ 747748 h 6210000"/>
              <a:gd name="csX165" fmla="*/ 6218348 w 6730700"/>
              <a:gd name="csY165" fmla="*/ 781180 h 6210000"/>
              <a:gd name="csX166" fmla="*/ 6240087 w 6730700"/>
              <a:gd name="csY166" fmla="*/ 772516 h 6210000"/>
              <a:gd name="csX167" fmla="*/ 6240087 w 6730700"/>
              <a:gd name="csY167" fmla="*/ 695201 h 6210000"/>
              <a:gd name="csX168" fmla="*/ 6237749 w 6730700"/>
              <a:gd name="csY168" fmla="*/ 692734 h 6210000"/>
              <a:gd name="csX169" fmla="*/ 6231670 w 6730700"/>
              <a:gd name="csY169" fmla="*/ 692734 h 6210000"/>
              <a:gd name="csX170" fmla="*/ 6328178 w 6730700"/>
              <a:gd name="csY170" fmla="*/ 692507 h 6210000"/>
              <a:gd name="csX171" fmla="*/ 6326175 w 6730700"/>
              <a:gd name="csY171" fmla="*/ 694501 h 6210000"/>
              <a:gd name="csX172" fmla="*/ 6326175 w 6730700"/>
              <a:gd name="csY172" fmla="*/ 777312 h 6210000"/>
              <a:gd name="csX173" fmla="*/ 6328178 w 6730700"/>
              <a:gd name="csY173" fmla="*/ 779187 h 6210000"/>
              <a:gd name="csX174" fmla="*/ 6334642 w 6730700"/>
              <a:gd name="csY174" fmla="*/ 779187 h 6210000"/>
              <a:gd name="csX175" fmla="*/ 6336872 w 6730700"/>
              <a:gd name="csY175" fmla="*/ 777431 h 6210000"/>
              <a:gd name="csX176" fmla="*/ 6336872 w 6730700"/>
              <a:gd name="csY176" fmla="*/ 694264 h 6210000"/>
              <a:gd name="csX177" fmla="*/ 6334642 w 6730700"/>
              <a:gd name="csY177" fmla="*/ 692507 h 6210000"/>
              <a:gd name="csX178" fmla="*/ 6328178 w 6730700"/>
              <a:gd name="csY178" fmla="*/ 692507 h 6210000"/>
              <a:gd name="csX179" fmla="*/ 6260336 w 6730700"/>
              <a:gd name="csY179" fmla="*/ 691797 h 6210000"/>
              <a:gd name="csX180" fmla="*/ 6253587 w 6730700"/>
              <a:gd name="csY180" fmla="*/ 698349 h 6210000"/>
              <a:gd name="csX181" fmla="*/ 6260100 w 6730700"/>
              <a:gd name="csY181" fmla="*/ 704783 h 6210000"/>
              <a:gd name="csX182" fmla="*/ 6266731 w 6730700"/>
              <a:gd name="csY182" fmla="*/ 697885 h 6210000"/>
              <a:gd name="csX183" fmla="*/ 6260336 w 6730700"/>
              <a:gd name="csY183" fmla="*/ 691797 h 6210000"/>
              <a:gd name="csX184" fmla="*/ 6390573 w 6730700"/>
              <a:gd name="csY184" fmla="*/ 682491 h 6210000"/>
              <a:gd name="csX185" fmla="*/ 6390813 w 6730700"/>
              <a:gd name="csY185" fmla="*/ 682668 h 6210000"/>
              <a:gd name="csX186" fmla="*/ 6390573 w 6730700"/>
              <a:gd name="csY186" fmla="*/ 682728 h 6210000"/>
              <a:gd name="csX187" fmla="*/ 6390573 w 6730700"/>
              <a:gd name="csY187" fmla="*/ 682491 h 6210000"/>
              <a:gd name="csX188" fmla="*/ 6383429 w 6730700"/>
              <a:gd name="csY188" fmla="*/ 673926 h 6210000"/>
              <a:gd name="csX189" fmla="*/ 6387287 w 6730700"/>
              <a:gd name="csY189" fmla="*/ 673926 h 6210000"/>
              <a:gd name="csX190" fmla="*/ 6392557 w 6730700"/>
              <a:gd name="csY190" fmla="*/ 677094 h 6210000"/>
              <a:gd name="csX191" fmla="*/ 6387642 w 6730700"/>
              <a:gd name="csY191" fmla="*/ 680261 h 6210000"/>
              <a:gd name="csX192" fmla="*/ 6383429 w 6730700"/>
              <a:gd name="csY192" fmla="*/ 680261 h 6210000"/>
              <a:gd name="csX193" fmla="*/ 6380153 w 6730700"/>
              <a:gd name="csY193" fmla="*/ 670985 h 6210000"/>
              <a:gd name="csX194" fmla="*/ 6380153 w 6730700"/>
              <a:gd name="csY194" fmla="*/ 692231 h 6210000"/>
              <a:gd name="csX195" fmla="*/ 6383666 w 6730700"/>
              <a:gd name="csY195" fmla="*/ 692231 h 6210000"/>
              <a:gd name="csX196" fmla="*/ 6383666 w 6730700"/>
              <a:gd name="csY196" fmla="*/ 683192 h 6210000"/>
              <a:gd name="csX197" fmla="*/ 6385659 w 6730700"/>
              <a:gd name="csY197" fmla="*/ 683192 h 6210000"/>
              <a:gd name="csX198" fmla="*/ 6391974 w 6730700"/>
              <a:gd name="csY198" fmla="*/ 688827 h 6210000"/>
              <a:gd name="csX199" fmla="*/ 6393849 w 6730700"/>
              <a:gd name="csY199" fmla="*/ 692113 h 6210000"/>
              <a:gd name="csX200" fmla="*/ 6397944 w 6730700"/>
              <a:gd name="csY200" fmla="*/ 692113 h 6210000"/>
              <a:gd name="csX201" fmla="*/ 6395369 w 6730700"/>
              <a:gd name="csY201" fmla="*/ 687889 h 6210000"/>
              <a:gd name="csX202" fmla="*/ 6392442 w 6730700"/>
              <a:gd name="csY202" fmla="*/ 683869 h 6210000"/>
              <a:gd name="csX203" fmla="*/ 6390813 w 6730700"/>
              <a:gd name="csY203" fmla="*/ 682668 h 6210000"/>
              <a:gd name="csX204" fmla="*/ 6393334 w 6730700"/>
              <a:gd name="csY204" fmla="*/ 682039 h 6210000"/>
              <a:gd name="csX205" fmla="*/ 6396543 w 6730700"/>
              <a:gd name="csY205" fmla="*/ 676738 h 6210000"/>
              <a:gd name="csX206" fmla="*/ 6394550 w 6730700"/>
              <a:gd name="csY206" fmla="*/ 672633 h 6210000"/>
              <a:gd name="csX207" fmla="*/ 6387642 w 6730700"/>
              <a:gd name="csY207" fmla="*/ 670985 h 6210000"/>
              <a:gd name="csX208" fmla="*/ 6380153 w 6730700"/>
              <a:gd name="csY208" fmla="*/ 670985 h 6210000"/>
              <a:gd name="csX209" fmla="*/ 6388462 w 6730700"/>
              <a:gd name="csY209" fmla="*/ 665124 h 6210000"/>
              <a:gd name="csX210" fmla="*/ 6404842 w 6730700"/>
              <a:gd name="csY210" fmla="*/ 681435 h 6210000"/>
              <a:gd name="csX211" fmla="*/ 6388462 w 6730700"/>
              <a:gd name="csY211" fmla="*/ 697984 h 6210000"/>
              <a:gd name="csX212" fmla="*/ 6372199 w 6730700"/>
              <a:gd name="csY212" fmla="*/ 681435 h 6210000"/>
              <a:gd name="csX213" fmla="*/ 6388462 w 6730700"/>
              <a:gd name="csY213" fmla="*/ 665124 h 6210000"/>
              <a:gd name="csX214" fmla="*/ 6388462 w 6730700"/>
              <a:gd name="csY214" fmla="*/ 661719 h 6210000"/>
              <a:gd name="csX215" fmla="*/ 6368923 w 6730700"/>
              <a:gd name="csY215" fmla="*/ 681435 h 6210000"/>
              <a:gd name="csX216" fmla="*/ 6388462 w 6730700"/>
              <a:gd name="csY216" fmla="*/ 701152 h 6210000"/>
              <a:gd name="csX217" fmla="*/ 6408000 w 6730700"/>
              <a:gd name="csY217" fmla="*/ 681435 h 6210000"/>
              <a:gd name="csX218" fmla="*/ 6388462 w 6730700"/>
              <a:gd name="csY218" fmla="*/ 661719 h 6210000"/>
              <a:gd name="csX219" fmla="*/ 6193357 w 6730700"/>
              <a:gd name="csY219" fmla="*/ 533824 h 6210000"/>
              <a:gd name="csX220" fmla="*/ 6195011 w 6730700"/>
              <a:gd name="csY220" fmla="*/ 534572 h 6210000"/>
              <a:gd name="csX221" fmla="*/ 6198178 w 6730700"/>
              <a:gd name="csY221" fmla="*/ 609943 h 6210000"/>
              <a:gd name="csX222" fmla="*/ 6194547 w 6730700"/>
              <a:gd name="csY222" fmla="*/ 609242 h 6210000"/>
              <a:gd name="csX223" fmla="*/ 6188685 w 6730700"/>
              <a:gd name="csY223" fmla="*/ 578296 h 6210000"/>
              <a:gd name="csX224" fmla="*/ 6192317 w 6730700"/>
              <a:gd name="csY224" fmla="*/ 534927 h 6210000"/>
              <a:gd name="csX225" fmla="*/ 6193357 w 6730700"/>
              <a:gd name="csY225" fmla="*/ 533824 h 6210000"/>
              <a:gd name="csX226" fmla="*/ 6057324 w 6730700"/>
              <a:gd name="csY226" fmla="*/ 488972 h 6210000"/>
              <a:gd name="csX227" fmla="*/ 6111627 w 6730700"/>
              <a:gd name="csY227" fmla="*/ 490847 h 6210000"/>
              <a:gd name="csX228" fmla="*/ 6110097 w 6730700"/>
              <a:gd name="csY228" fmla="*/ 520618 h 6210000"/>
              <a:gd name="csX229" fmla="*/ 6065415 w 6730700"/>
              <a:gd name="csY229" fmla="*/ 524723 h 6210000"/>
              <a:gd name="csX230" fmla="*/ 6059435 w 6730700"/>
              <a:gd name="csY230" fmla="*/ 517924 h 6210000"/>
              <a:gd name="csX231" fmla="*/ 6057324 w 6730700"/>
              <a:gd name="csY231" fmla="*/ 488972 h 6210000"/>
              <a:gd name="csX232" fmla="*/ 6152085 w 6730700"/>
              <a:gd name="csY232" fmla="*/ 486041 h 6210000"/>
              <a:gd name="csX233" fmla="*/ 6156072 w 6730700"/>
              <a:gd name="csY233" fmla="*/ 505501 h 6210000"/>
              <a:gd name="csX234" fmla="*/ 6146688 w 6730700"/>
              <a:gd name="csY234" fmla="*/ 512300 h 6210000"/>
              <a:gd name="csX235" fmla="*/ 6139060 w 6730700"/>
              <a:gd name="csY235" fmla="*/ 487798 h 6210000"/>
              <a:gd name="csX236" fmla="*/ 6152085 w 6730700"/>
              <a:gd name="csY236" fmla="*/ 486041 h 6210000"/>
              <a:gd name="csX237" fmla="*/ 6012296 w 6730700"/>
              <a:gd name="csY237" fmla="*/ 479252 h 6210000"/>
              <a:gd name="csX238" fmla="*/ 6029654 w 6730700"/>
              <a:gd name="csY238" fmla="*/ 483939 h 6210000"/>
              <a:gd name="csX239" fmla="*/ 6013707 w 6730700"/>
              <a:gd name="csY239" fmla="*/ 517934 h 6210000"/>
              <a:gd name="csX240" fmla="*/ 6006080 w 6730700"/>
              <a:gd name="csY240" fmla="*/ 511954 h 6210000"/>
              <a:gd name="csX241" fmla="*/ 6012296 w 6730700"/>
              <a:gd name="csY241" fmla="*/ 479252 h 6210000"/>
              <a:gd name="csX242" fmla="*/ 5992209 w 6730700"/>
              <a:gd name="csY242" fmla="*/ 472822 h 6210000"/>
              <a:gd name="csX243" fmla="*/ 6003277 w 6730700"/>
              <a:gd name="csY243" fmla="*/ 476440 h 6210000"/>
              <a:gd name="csX244" fmla="*/ 5995649 w 6730700"/>
              <a:gd name="csY244" fmla="*/ 516641 h 6210000"/>
              <a:gd name="csX245" fmla="*/ 6014763 w 6730700"/>
              <a:gd name="csY245" fmla="*/ 526608 h 6210000"/>
              <a:gd name="csX246" fmla="*/ 6038101 w 6730700"/>
              <a:gd name="csY246" fmla="*/ 485814 h 6210000"/>
              <a:gd name="csX247" fmla="*/ 6049123 w 6730700"/>
              <a:gd name="csY247" fmla="*/ 487808 h 6210000"/>
              <a:gd name="csX248" fmla="*/ 6052528 w 6730700"/>
              <a:gd name="csY248" fmla="*/ 526016 h 6210000"/>
              <a:gd name="csX249" fmla="*/ 6064488 w 6730700"/>
              <a:gd name="csY249" fmla="*/ 533516 h 6210000"/>
              <a:gd name="csX250" fmla="*/ 6117025 w 6730700"/>
              <a:gd name="csY250" fmla="*/ 526953 h 6210000"/>
              <a:gd name="csX251" fmla="*/ 6119955 w 6730700"/>
              <a:gd name="csY251" fmla="*/ 490146 h 6210000"/>
              <a:gd name="csX252" fmla="*/ 6130040 w 6730700"/>
              <a:gd name="csY252" fmla="*/ 488972 h 6210000"/>
              <a:gd name="csX253" fmla="*/ 6138487 w 6730700"/>
              <a:gd name="csY253" fmla="*/ 513119 h 6210000"/>
              <a:gd name="csX254" fmla="*/ 6156200 w 6730700"/>
              <a:gd name="csY254" fmla="*/ 516168 h 6210000"/>
              <a:gd name="csX255" fmla="*/ 6159832 w 6730700"/>
              <a:gd name="csY255" fmla="*/ 485104 h 6210000"/>
              <a:gd name="csX256" fmla="*/ 6180821 w 6730700"/>
              <a:gd name="csY256" fmla="*/ 517579 h 6210000"/>
              <a:gd name="csX257" fmla="*/ 6169098 w 6730700"/>
              <a:gd name="csY257" fmla="*/ 565991 h 6210000"/>
              <a:gd name="csX258" fmla="*/ 6100022 w 6730700"/>
              <a:gd name="csY258" fmla="*/ 550636 h 6210000"/>
              <a:gd name="csX259" fmla="*/ 6028835 w 6730700"/>
              <a:gd name="csY259" fmla="*/ 589082 h 6210000"/>
              <a:gd name="csX260" fmla="*/ 6025786 w 6730700"/>
              <a:gd name="csY260" fmla="*/ 589901 h 6210000"/>
              <a:gd name="csX261" fmla="*/ 5991189 w 6730700"/>
              <a:gd name="csY261" fmla="*/ 565054 h 6210000"/>
              <a:gd name="csX262" fmla="*/ 5964101 w 6730700"/>
              <a:gd name="csY262" fmla="*/ 532351 h 6210000"/>
              <a:gd name="csX263" fmla="*/ 5987913 w 6730700"/>
              <a:gd name="csY263" fmla="*/ 475621 h 6210000"/>
              <a:gd name="csX264" fmla="*/ 5992209 w 6730700"/>
              <a:gd name="csY264" fmla="*/ 472822 h 6210000"/>
              <a:gd name="csX265" fmla="*/ 5936176 w 6730700"/>
              <a:gd name="csY265" fmla="*/ 459522 h 6210000"/>
              <a:gd name="csX266" fmla="*/ 5925281 w 6730700"/>
              <a:gd name="csY266" fmla="*/ 467272 h 6210000"/>
              <a:gd name="csX267" fmla="*/ 5939441 w 6730700"/>
              <a:gd name="csY267" fmla="*/ 460385 h 6210000"/>
              <a:gd name="csX268" fmla="*/ 5936176 w 6730700"/>
              <a:gd name="csY268" fmla="*/ 459522 h 6210000"/>
              <a:gd name="csX269" fmla="*/ 5932776 w 6730700"/>
              <a:gd name="csY269" fmla="*/ 444793 h 6210000"/>
              <a:gd name="csX270" fmla="*/ 5955654 w 6730700"/>
              <a:gd name="csY270" fmla="*/ 454632 h 6210000"/>
              <a:gd name="csX271" fmla="*/ 5975588 w 6730700"/>
              <a:gd name="csY271" fmla="*/ 475729 h 6210000"/>
              <a:gd name="csX272" fmla="*/ 5952951 w 6730700"/>
              <a:gd name="csY272" fmla="*/ 525197 h 6210000"/>
              <a:gd name="csX273" fmla="*/ 5935711 w 6730700"/>
              <a:gd name="csY273" fmla="*/ 497883 h 6210000"/>
              <a:gd name="csX274" fmla="*/ 5911081 w 6730700"/>
              <a:gd name="csY274" fmla="*/ 490847 h 6210000"/>
              <a:gd name="csX275" fmla="*/ 5908732 w 6730700"/>
              <a:gd name="csY275" fmla="*/ 479716 h 6210000"/>
              <a:gd name="csX276" fmla="*/ 5915531 w 6730700"/>
              <a:gd name="csY276" fmla="*/ 470568 h 6210000"/>
              <a:gd name="csX277" fmla="*/ 5917998 w 6730700"/>
              <a:gd name="csY277" fmla="*/ 460256 h 6210000"/>
              <a:gd name="csX278" fmla="*/ 5928675 w 6730700"/>
              <a:gd name="csY278" fmla="*/ 447014 h 6210000"/>
              <a:gd name="csX279" fmla="*/ 5932776 w 6730700"/>
              <a:gd name="csY279" fmla="*/ 444793 h 6210000"/>
              <a:gd name="csX280" fmla="*/ 5904946 w 6730700"/>
              <a:gd name="csY280" fmla="*/ 389214 h 6210000"/>
              <a:gd name="csX281" fmla="*/ 5903216 w 6730700"/>
              <a:gd name="csY281" fmla="*/ 395691 h 6210000"/>
              <a:gd name="csX282" fmla="*/ 5915887 w 6730700"/>
              <a:gd name="csY282" fmla="*/ 433672 h 6210000"/>
              <a:gd name="csX283" fmla="*/ 5918817 w 6730700"/>
              <a:gd name="csY283" fmla="*/ 443047 h 6210000"/>
              <a:gd name="csX284" fmla="*/ 5908969 w 6730700"/>
              <a:gd name="csY284" fmla="*/ 457108 h 6210000"/>
              <a:gd name="csX285" fmla="*/ 5907913 w 6730700"/>
              <a:gd name="csY285" fmla="*/ 464144 h 6210000"/>
              <a:gd name="csX286" fmla="*/ 5897128 w 6730700"/>
              <a:gd name="csY286" fmla="*/ 478680 h 6210000"/>
              <a:gd name="csX287" fmla="*/ 5898766 w 6730700"/>
              <a:gd name="csY287" fmla="*/ 490521 h 6210000"/>
              <a:gd name="csX288" fmla="*/ 5908387 w 6730700"/>
              <a:gd name="csY288" fmla="*/ 500488 h 6210000"/>
              <a:gd name="csX289" fmla="*/ 5921284 w 6730700"/>
              <a:gd name="csY289" fmla="*/ 501899 h 6210000"/>
              <a:gd name="csX290" fmla="*/ 5936530 w 6730700"/>
              <a:gd name="csY290" fmla="*/ 513859 h 6210000"/>
              <a:gd name="csX291" fmla="*/ 5963736 w 6730700"/>
              <a:gd name="csY291" fmla="*/ 560741 h 6210000"/>
              <a:gd name="csX292" fmla="*/ 5969598 w 6730700"/>
              <a:gd name="csY292" fmla="*/ 584533 h 6210000"/>
              <a:gd name="csX293" fmla="*/ 5938405 w 6730700"/>
              <a:gd name="csY293" fmla="*/ 678307 h 6210000"/>
              <a:gd name="csX294" fmla="*/ 5940043 w 6730700"/>
              <a:gd name="csY294" fmla="*/ 687800 h 6210000"/>
              <a:gd name="csX295" fmla="*/ 5963973 w 6730700"/>
              <a:gd name="csY295" fmla="*/ 687800 h 6210000"/>
              <a:gd name="csX296" fmla="*/ 5969134 w 6730700"/>
              <a:gd name="csY296" fmla="*/ 681001 h 6210000"/>
              <a:gd name="csX297" fmla="*/ 6001037 w 6730700"/>
              <a:gd name="csY297" fmla="*/ 586289 h 6210000"/>
              <a:gd name="csX298" fmla="*/ 6033404 w 6730700"/>
              <a:gd name="csY298" fmla="*/ 679126 h 6210000"/>
              <a:gd name="csX299" fmla="*/ 6036808 w 6730700"/>
              <a:gd name="csY299" fmla="*/ 688037 h 6210000"/>
              <a:gd name="csX300" fmla="*/ 6057334 w 6730700"/>
              <a:gd name="csY300" fmla="*/ 688037 h 6210000"/>
              <a:gd name="csX301" fmla="*/ 6064014 w 6730700"/>
              <a:gd name="csY301" fmla="*/ 682057 h 6210000"/>
              <a:gd name="csX302" fmla="*/ 6042088 w 6730700"/>
              <a:gd name="csY302" fmla="*/ 596256 h 6210000"/>
              <a:gd name="csX303" fmla="*/ 6098147 w 6730700"/>
              <a:gd name="csY303" fmla="*/ 574339 h 6210000"/>
              <a:gd name="csX304" fmla="*/ 6129340 w 6730700"/>
              <a:gd name="csY304" fmla="*/ 598841 h 6210000"/>
              <a:gd name="csX305" fmla="*/ 6077148 w 6730700"/>
              <a:gd name="csY305" fmla="*/ 679136 h 6210000"/>
              <a:gd name="csX306" fmla="*/ 6079260 w 6730700"/>
              <a:gd name="csY306" fmla="*/ 687810 h 6210000"/>
              <a:gd name="csX307" fmla="*/ 6100960 w 6730700"/>
              <a:gd name="csY307" fmla="*/ 687810 h 6210000"/>
              <a:gd name="csX308" fmla="*/ 6108933 w 6730700"/>
              <a:gd name="csY308" fmla="*/ 682768 h 6210000"/>
              <a:gd name="csX309" fmla="*/ 6156082 w 6730700"/>
              <a:gd name="csY309" fmla="*/ 606933 h 6210000"/>
              <a:gd name="csX310" fmla="*/ 6165111 w 6730700"/>
              <a:gd name="csY310" fmla="*/ 579391 h 6210000"/>
              <a:gd name="csX311" fmla="*/ 6156546 w 6730700"/>
              <a:gd name="csY311" fmla="*/ 679255 h 6210000"/>
              <a:gd name="csX312" fmla="*/ 6158657 w 6730700"/>
              <a:gd name="csY312" fmla="*/ 687692 h 6210000"/>
              <a:gd name="csX313" fmla="*/ 6178245 w 6730700"/>
              <a:gd name="csY313" fmla="*/ 687692 h 6210000"/>
              <a:gd name="csX314" fmla="*/ 6184344 w 6730700"/>
              <a:gd name="csY314" fmla="*/ 680192 h 6210000"/>
              <a:gd name="csX315" fmla="*/ 6189031 w 6730700"/>
              <a:gd name="csY315" fmla="*/ 663664 h 6210000"/>
              <a:gd name="csX316" fmla="*/ 6206744 w 6730700"/>
              <a:gd name="csY316" fmla="*/ 659095 h 6210000"/>
              <a:gd name="csX317" fmla="*/ 6211322 w 6730700"/>
              <a:gd name="csY317" fmla="*/ 652296 h 6210000"/>
              <a:gd name="csX318" fmla="*/ 6207326 w 6730700"/>
              <a:gd name="csY318" fmla="*/ 506211 h 6210000"/>
              <a:gd name="csX319" fmla="*/ 6160414 w 6730700"/>
              <a:gd name="csY319" fmla="*/ 475739 h 6210000"/>
              <a:gd name="csX320" fmla="*/ 6090164 w 6730700"/>
              <a:gd name="csY320" fmla="*/ 481127 h 6210000"/>
              <a:gd name="csX321" fmla="*/ 5976288 w 6730700"/>
              <a:gd name="csY321" fmla="*/ 454987 h 6210000"/>
              <a:gd name="csX322" fmla="*/ 5975933 w 6730700"/>
              <a:gd name="csY322" fmla="*/ 449826 h 6210000"/>
              <a:gd name="csX323" fmla="*/ 6005487 w 6730700"/>
              <a:gd name="csY323" fmla="*/ 426153 h 6210000"/>
              <a:gd name="csX324" fmla="*/ 6003139 w 6730700"/>
              <a:gd name="csY324" fmla="*/ 419827 h 6210000"/>
              <a:gd name="csX325" fmla="*/ 5943329 w 6730700"/>
              <a:gd name="csY325" fmla="*/ 430613 h 6210000"/>
              <a:gd name="csX326" fmla="*/ 5908259 w 6730700"/>
              <a:gd name="csY326" fmla="*/ 393460 h 6210000"/>
              <a:gd name="csX327" fmla="*/ 5904946 w 6730700"/>
              <a:gd name="csY327" fmla="*/ 389214 h 6210000"/>
              <a:gd name="csX328" fmla="*/ 5966647 w 6730700"/>
              <a:gd name="csY328" fmla="*/ 335358 h 6210000"/>
              <a:gd name="csX329" fmla="*/ 5998540 w 6730700"/>
              <a:gd name="csY329" fmla="*/ 367330 h 6210000"/>
              <a:gd name="csX330" fmla="*/ 5966647 w 6730700"/>
              <a:gd name="csY330" fmla="*/ 399302 h 6210000"/>
              <a:gd name="csX331" fmla="*/ 5934517 w 6730700"/>
              <a:gd name="csY331" fmla="*/ 367330 h 6210000"/>
              <a:gd name="csX332" fmla="*/ 5966647 w 6730700"/>
              <a:gd name="csY332" fmla="*/ 335358 h 6210000"/>
              <a:gd name="csX333" fmla="*/ 5965246 w 6730700"/>
              <a:gd name="csY333" fmla="*/ 324000 h 6210000"/>
              <a:gd name="csX334" fmla="*/ 5917051 w 6730700"/>
              <a:gd name="csY334" fmla="*/ 372373 h 6210000"/>
              <a:gd name="csX335" fmla="*/ 5965246 w 6730700"/>
              <a:gd name="csY335" fmla="*/ 420745 h 6210000"/>
              <a:gd name="csX336" fmla="*/ 6013441 w 6730700"/>
              <a:gd name="csY336" fmla="*/ 372373 h 6210000"/>
              <a:gd name="csX337" fmla="*/ 5965246 w 6730700"/>
              <a:gd name="csY337" fmla="*/ 324000 h 6210000"/>
              <a:gd name="csX338" fmla="*/ 0 w 6730700"/>
              <a:gd name="csY338" fmla="*/ 0 h 6210000"/>
              <a:gd name="csX339" fmla="*/ 6730700 w 6730700"/>
              <a:gd name="csY339" fmla="*/ 0 h 6210000"/>
              <a:gd name="csX340" fmla="*/ 6730700 w 6730700"/>
              <a:gd name="csY340" fmla="*/ 6210000 h 6210000"/>
              <a:gd name="csX341" fmla="*/ 0 w 6730700"/>
              <a:gd name="csY341" fmla="*/ 6210000 h 621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6730700" h="6210000">
                <a:moveTo>
                  <a:pt x="6217885" y="721963"/>
                </a:moveTo>
                <a:cubicBezTo>
                  <a:pt x="6224190" y="721963"/>
                  <a:pt x="6227111" y="723956"/>
                  <a:pt x="6229568" y="725950"/>
                </a:cubicBezTo>
                <a:cubicBezTo>
                  <a:pt x="6229568" y="769003"/>
                  <a:pt x="6229568" y="769003"/>
                  <a:pt x="6229568" y="769003"/>
                </a:cubicBezTo>
                <a:lnTo>
                  <a:pt x="6229450" y="769003"/>
                </a:lnTo>
                <a:cubicBezTo>
                  <a:pt x="6229450" y="772171"/>
                  <a:pt x="6224190" y="773927"/>
                  <a:pt x="6218704" y="773927"/>
                </a:cubicBezTo>
                <a:cubicBezTo>
                  <a:pt x="6206902" y="773927"/>
                  <a:pt x="6198494" y="763951"/>
                  <a:pt x="6198494" y="746949"/>
                </a:cubicBezTo>
                <a:cubicBezTo>
                  <a:pt x="6198494" y="731930"/>
                  <a:pt x="6206675" y="721963"/>
                  <a:pt x="6217885" y="721963"/>
                </a:cubicBezTo>
                <a:close/>
                <a:moveTo>
                  <a:pt x="6114913" y="721223"/>
                </a:moveTo>
                <a:cubicBezTo>
                  <a:pt x="6119235" y="721223"/>
                  <a:pt x="6122393" y="722160"/>
                  <a:pt x="6125669" y="725328"/>
                </a:cubicBezTo>
                <a:cubicBezTo>
                  <a:pt x="6129182" y="728614"/>
                  <a:pt x="6131402" y="735897"/>
                  <a:pt x="6131402" y="747748"/>
                </a:cubicBezTo>
                <a:cubicBezTo>
                  <a:pt x="6131402" y="759254"/>
                  <a:pt x="6129182" y="766764"/>
                  <a:pt x="6125669" y="770049"/>
                </a:cubicBezTo>
                <a:cubicBezTo>
                  <a:pt x="6122393" y="773217"/>
                  <a:pt x="6119235" y="774036"/>
                  <a:pt x="6114913" y="774036"/>
                </a:cubicBezTo>
                <a:cubicBezTo>
                  <a:pt x="6110591" y="774036"/>
                  <a:pt x="6107660" y="773217"/>
                  <a:pt x="6104394" y="770049"/>
                </a:cubicBezTo>
                <a:cubicBezTo>
                  <a:pt x="6100999" y="766764"/>
                  <a:pt x="6098660" y="759481"/>
                  <a:pt x="6098660" y="747748"/>
                </a:cubicBezTo>
                <a:cubicBezTo>
                  <a:pt x="6098660" y="736124"/>
                  <a:pt x="6100999" y="728614"/>
                  <a:pt x="6104394" y="725328"/>
                </a:cubicBezTo>
                <a:cubicBezTo>
                  <a:pt x="6107670" y="722160"/>
                  <a:pt x="6110827" y="721223"/>
                  <a:pt x="6114913" y="721223"/>
                </a:cubicBezTo>
                <a:close/>
                <a:moveTo>
                  <a:pt x="5965236" y="721223"/>
                </a:moveTo>
                <a:cubicBezTo>
                  <a:pt x="5969588" y="721223"/>
                  <a:pt x="5972519" y="722160"/>
                  <a:pt x="5975805" y="725328"/>
                </a:cubicBezTo>
                <a:cubicBezTo>
                  <a:pt x="5979328" y="728614"/>
                  <a:pt x="5981558" y="735897"/>
                  <a:pt x="5981558" y="747748"/>
                </a:cubicBezTo>
                <a:cubicBezTo>
                  <a:pt x="5981558" y="759254"/>
                  <a:pt x="5979328" y="766764"/>
                  <a:pt x="5975805" y="770049"/>
                </a:cubicBezTo>
                <a:cubicBezTo>
                  <a:pt x="5972519" y="773217"/>
                  <a:pt x="5969351" y="774036"/>
                  <a:pt x="5965236" y="774036"/>
                </a:cubicBezTo>
                <a:cubicBezTo>
                  <a:pt x="5960894" y="774036"/>
                  <a:pt x="5957954" y="773217"/>
                  <a:pt x="5954431" y="770049"/>
                </a:cubicBezTo>
                <a:cubicBezTo>
                  <a:pt x="5951026" y="766764"/>
                  <a:pt x="5948678" y="759481"/>
                  <a:pt x="5948678" y="747748"/>
                </a:cubicBezTo>
                <a:cubicBezTo>
                  <a:pt x="5948678" y="736124"/>
                  <a:pt x="5951026" y="728614"/>
                  <a:pt x="5954431" y="725328"/>
                </a:cubicBezTo>
                <a:cubicBezTo>
                  <a:pt x="5957717" y="722160"/>
                  <a:pt x="5960884" y="721223"/>
                  <a:pt x="5965236" y="721223"/>
                </a:cubicBezTo>
                <a:close/>
                <a:moveTo>
                  <a:pt x="5853216" y="721223"/>
                </a:moveTo>
                <a:cubicBezTo>
                  <a:pt x="5857557" y="721223"/>
                  <a:pt x="5860498" y="722160"/>
                  <a:pt x="5863903" y="725328"/>
                </a:cubicBezTo>
                <a:cubicBezTo>
                  <a:pt x="5867317" y="728614"/>
                  <a:pt x="5869655" y="735897"/>
                  <a:pt x="5869655" y="747748"/>
                </a:cubicBezTo>
                <a:cubicBezTo>
                  <a:pt x="5869655" y="759254"/>
                  <a:pt x="5867425" y="766764"/>
                  <a:pt x="5863903" y="770049"/>
                </a:cubicBezTo>
                <a:cubicBezTo>
                  <a:pt x="5860616" y="773217"/>
                  <a:pt x="5857557" y="774036"/>
                  <a:pt x="5853216" y="774036"/>
                </a:cubicBezTo>
                <a:cubicBezTo>
                  <a:pt x="5848874" y="774036"/>
                  <a:pt x="5845933" y="773217"/>
                  <a:pt x="5842647" y="770049"/>
                </a:cubicBezTo>
                <a:cubicBezTo>
                  <a:pt x="5839124" y="766764"/>
                  <a:pt x="5836894" y="759481"/>
                  <a:pt x="5836894" y="747748"/>
                </a:cubicBezTo>
                <a:cubicBezTo>
                  <a:pt x="5836894" y="736124"/>
                  <a:pt x="5839124" y="728614"/>
                  <a:pt x="5842647" y="725328"/>
                </a:cubicBezTo>
                <a:cubicBezTo>
                  <a:pt x="5845933" y="722160"/>
                  <a:pt x="5848992" y="721223"/>
                  <a:pt x="5853216" y="721223"/>
                </a:cubicBezTo>
                <a:close/>
                <a:moveTo>
                  <a:pt x="6256725" y="715786"/>
                </a:moveTo>
                <a:cubicBezTo>
                  <a:pt x="6254633" y="715786"/>
                  <a:pt x="6254633" y="716486"/>
                  <a:pt x="6254633" y="718006"/>
                </a:cubicBezTo>
                <a:cubicBezTo>
                  <a:pt x="6254633" y="777085"/>
                  <a:pt x="6254633" y="777085"/>
                  <a:pt x="6254633" y="777085"/>
                </a:cubicBezTo>
                <a:cubicBezTo>
                  <a:pt x="6254633" y="778842"/>
                  <a:pt x="6254633" y="779306"/>
                  <a:pt x="6256498" y="779306"/>
                </a:cubicBezTo>
                <a:cubicBezTo>
                  <a:pt x="6263129" y="779306"/>
                  <a:pt x="6263129" y="779306"/>
                  <a:pt x="6263129" y="779306"/>
                </a:cubicBezTo>
                <a:cubicBezTo>
                  <a:pt x="6264984" y="779187"/>
                  <a:pt x="6265448" y="779187"/>
                  <a:pt x="6265448" y="777085"/>
                </a:cubicBezTo>
                <a:cubicBezTo>
                  <a:pt x="6265448" y="718006"/>
                  <a:pt x="6265448" y="718006"/>
                  <a:pt x="6265448" y="718006"/>
                </a:cubicBezTo>
                <a:cubicBezTo>
                  <a:pt x="6265448" y="716131"/>
                  <a:pt x="6264984" y="715786"/>
                  <a:pt x="6263119" y="715786"/>
                </a:cubicBezTo>
                <a:cubicBezTo>
                  <a:pt x="6256725" y="715786"/>
                  <a:pt x="6256725" y="715786"/>
                  <a:pt x="6256725" y="715786"/>
                </a:cubicBezTo>
                <a:close/>
                <a:moveTo>
                  <a:pt x="6364502" y="715480"/>
                </a:moveTo>
                <a:cubicBezTo>
                  <a:pt x="6362272" y="715480"/>
                  <a:pt x="6361443" y="715361"/>
                  <a:pt x="6360742" y="717473"/>
                </a:cubicBezTo>
                <a:cubicBezTo>
                  <a:pt x="6357220" y="728012"/>
                  <a:pt x="6348161" y="739380"/>
                  <a:pt x="6338994" y="744768"/>
                </a:cubicBezTo>
                <a:cubicBezTo>
                  <a:pt x="6338638" y="745123"/>
                  <a:pt x="6338520" y="745469"/>
                  <a:pt x="6338520" y="745469"/>
                </a:cubicBezTo>
                <a:cubicBezTo>
                  <a:pt x="6338520" y="745587"/>
                  <a:pt x="6338638" y="745932"/>
                  <a:pt x="6338638" y="746169"/>
                </a:cubicBezTo>
                <a:cubicBezTo>
                  <a:pt x="6360506" y="777441"/>
                  <a:pt x="6360506" y="777441"/>
                  <a:pt x="6360506" y="777441"/>
                </a:cubicBezTo>
                <a:cubicBezTo>
                  <a:pt x="6361798" y="779315"/>
                  <a:pt x="6362272" y="779315"/>
                  <a:pt x="6364147" y="779315"/>
                </a:cubicBezTo>
                <a:cubicBezTo>
                  <a:pt x="6372495" y="779315"/>
                  <a:pt x="6372495" y="779315"/>
                  <a:pt x="6372495" y="779315"/>
                </a:cubicBezTo>
                <a:cubicBezTo>
                  <a:pt x="6373077" y="779187"/>
                  <a:pt x="6374252" y="779187"/>
                  <a:pt x="6374252" y="777786"/>
                </a:cubicBezTo>
                <a:cubicBezTo>
                  <a:pt x="6374252" y="777322"/>
                  <a:pt x="6373896" y="776730"/>
                  <a:pt x="6373433" y="776266"/>
                </a:cubicBezTo>
                <a:cubicBezTo>
                  <a:pt x="6350154" y="745459"/>
                  <a:pt x="6350154" y="745459"/>
                  <a:pt x="6350154" y="745459"/>
                </a:cubicBezTo>
                <a:cubicBezTo>
                  <a:pt x="6349917" y="745222"/>
                  <a:pt x="6349917" y="745222"/>
                  <a:pt x="6349917" y="745222"/>
                </a:cubicBezTo>
                <a:cubicBezTo>
                  <a:pt x="6358147" y="739133"/>
                  <a:pt x="6366614" y="729640"/>
                  <a:pt x="6371903" y="719338"/>
                </a:cubicBezTo>
                <a:cubicBezTo>
                  <a:pt x="6372377" y="718164"/>
                  <a:pt x="6372495" y="717582"/>
                  <a:pt x="6372495" y="716881"/>
                </a:cubicBezTo>
                <a:cubicBezTo>
                  <a:pt x="6372495" y="715825"/>
                  <a:pt x="6371903" y="715480"/>
                  <a:pt x="6370265" y="715480"/>
                </a:cubicBezTo>
                <a:cubicBezTo>
                  <a:pt x="6364502" y="715480"/>
                  <a:pt x="6364502" y="715480"/>
                  <a:pt x="6364502" y="715480"/>
                </a:cubicBezTo>
                <a:close/>
                <a:moveTo>
                  <a:pt x="5884467" y="715480"/>
                </a:moveTo>
                <a:cubicBezTo>
                  <a:pt x="5883994" y="715480"/>
                  <a:pt x="5882819" y="715480"/>
                  <a:pt x="5882819" y="717118"/>
                </a:cubicBezTo>
                <a:cubicBezTo>
                  <a:pt x="5882819" y="717592"/>
                  <a:pt x="5882938" y="718174"/>
                  <a:pt x="5883293" y="718874"/>
                </a:cubicBezTo>
                <a:cubicBezTo>
                  <a:pt x="5905476" y="777421"/>
                  <a:pt x="5905476" y="777421"/>
                  <a:pt x="5905476" y="777421"/>
                </a:cubicBezTo>
                <a:cubicBezTo>
                  <a:pt x="5906177" y="778832"/>
                  <a:pt x="5906413" y="779296"/>
                  <a:pt x="5907469" y="779296"/>
                </a:cubicBezTo>
                <a:cubicBezTo>
                  <a:pt x="5912285" y="779296"/>
                  <a:pt x="5912285" y="779296"/>
                  <a:pt x="5912285" y="779296"/>
                </a:cubicBezTo>
                <a:cubicBezTo>
                  <a:pt x="5913696" y="779296"/>
                  <a:pt x="5914041" y="779059"/>
                  <a:pt x="5914515" y="777421"/>
                </a:cubicBezTo>
                <a:cubicBezTo>
                  <a:pt x="5936116" y="718647"/>
                  <a:pt x="5936116" y="718647"/>
                  <a:pt x="5936116" y="718647"/>
                </a:cubicBezTo>
                <a:cubicBezTo>
                  <a:pt x="5936353" y="717236"/>
                  <a:pt x="5936353" y="717118"/>
                  <a:pt x="5936353" y="716773"/>
                </a:cubicBezTo>
                <a:cubicBezTo>
                  <a:pt x="5936353" y="715480"/>
                  <a:pt x="5935415" y="715480"/>
                  <a:pt x="5934823" y="715480"/>
                </a:cubicBezTo>
                <a:cubicBezTo>
                  <a:pt x="5928715" y="715480"/>
                  <a:pt x="5928715" y="715480"/>
                  <a:pt x="5928715" y="715480"/>
                </a:cubicBezTo>
                <a:cubicBezTo>
                  <a:pt x="5927896" y="715717"/>
                  <a:pt x="5927777" y="716062"/>
                  <a:pt x="5927185" y="717236"/>
                </a:cubicBezTo>
                <a:cubicBezTo>
                  <a:pt x="5911219" y="764168"/>
                  <a:pt x="5911219" y="764168"/>
                  <a:pt x="5911219" y="764168"/>
                </a:cubicBezTo>
                <a:cubicBezTo>
                  <a:pt x="5894789" y="717473"/>
                  <a:pt x="5894789" y="717473"/>
                  <a:pt x="5894789" y="717473"/>
                </a:cubicBezTo>
                <a:cubicBezTo>
                  <a:pt x="5894088" y="715717"/>
                  <a:pt x="5893852" y="715480"/>
                  <a:pt x="5891977" y="715480"/>
                </a:cubicBezTo>
                <a:cubicBezTo>
                  <a:pt x="5884467" y="715480"/>
                  <a:pt x="5884467" y="715480"/>
                  <a:pt x="5884467" y="715480"/>
                </a:cubicBezTo>
                <a:close/>
                <a:moveTo>
                  <a:pt x="6298387" y="714414"/>
                </a:moveTo>
                <a:cubicBezTo>
                  <a:pt x="6287345" y="714414"/>
                  <a:pt x="6277368" y="720522"/>
                  <a:pt x="6277368" y="731900"/>
                </a:cubicBezTo>
                <a:cubicBezTo>
                  <a:pt x="6277368" y="742577"/>
                  <a:pt x="6284888" y="747037"/>
                  <a:pt x="6293927" y="750916"/>
                </a:cubicBezTo>
                <a:cubicBezTo>
                  <a:pt x="6300972" y="753846"/>
                  <a:pt x="6307545" y="756669"/>
                  <a:pt x="6307545" y="763240"/>
                </a:cubicBezTo>
                <a:cubicBezTo>
                  <a:pt x="6307545" y="768283"/>
                  <a:pt x="6303548" y="774036"/>
                  <a:pt x="6294983" y="774036"/>
                </a:cubicBezTo>
                <a:cubicBezTo>
                  <a:pt x="6286289" y="774036"/>
                  <a:pt x="6283832" y="767583"/>
                  <a:pt x="6279599" y="767583"/>
                </a:cubicBezTo>
                <a:cubicBezTo>
                  <a:pt x="6277605" y="767583"/>
                  <a:pt x="6275020" y="768520"/>
                  <a:pt x="6275020" y="771687"/>
                </a:cubicBezTo>
                <a:cubicBezTo>
                  <a:pt x="6275020" y="776730"/>
                  <a:pt x="6284888" y="781082"/>
                  <a:pt x="6294746" y="781082"/>
                </a:cubicBezTo>
                <a:cubicBezTo>
                  <a:pt x="6305897" y="781200"/>
                  <a:pt x="6317294" y="775329"/>
                  <a:pt x="6317294" y="762066"/>
                </a:cubicBezTo>
                <a:cubicBezTo>
                  <a:pt x="6317294" y="741294"/>
                  <a:pt x="6287118" y="744580"/>
                  <a:pt x="6287118" y="730844"/>
                </a:cubicBezTo>
                <a:cubicBezTo>
                  <a:pt x="6287118" y="726147"/>
                  <a:pt x="6290759" y="721450"/>
                  <a:pt x="6297686" y="721450"/>
                </a:cubicBezTo>
                <a:cubicBezTo>
                  <a:pt x="6304851" y="721450"/>
                  <a:pt x="6306725" y="726147"/>
                  <a:pt x="6310367" y="726147"/>
                </a:cubicBezTo>
                <a:cubicBezTo>
                  <a:pt x="6312242" y="726147"/>
                  <a:pt x="6314945" y="725091"/>
                  <a:pt x="6314945" y="721805"/>
                </a:cubicBezTo>
                <a:cubicBezTo>
                  <a:pt x="6314945" y="717108"/>
                  <a:pt x="6306962" y="714414"/>
                  <a:pt x="6298387" y="714414"/>
                </a:cubicBezTo>
                <a:close/>
                <a:moveTo>
                  <a:pt x="6170380" y="714059"/>
                </a:moveTo>
                <a:cubicBezTo>
                  <a:pt x="6163818" y="714059"/>
                  <a:pt x="6159713" y="715115"/>
                  <a:pt x="6156427" y="715934"/>
                </a:cubicBezTo>
                <a:cubicBezTo>
                  <a:pt x="6152204" y="716990"/>
                  <a:pt x="6150684" y="718973"/>
                  <a:pt x="6150684" y="720957"/>
                </a:cubicBezTo>
                <a:cubicBezTo>
                  <a:pt x="6150684" y="776967"/>
                  <a:pt x="6150684" y="776967"/>
                  <a:pt x="6150684" y="776967"/>
                </a:cubicBezTo>
                <a:cubicBezTo>
                  <a:pt x="6150684" y="778842"/>
                  <a:pt x="6151385" y="778950"/>
                  <a:pt x="6153151" y="778950"/>
                </a:cubicBezTo>
                <a:cubicBezTo>
                  <a:pt x="6159368" y="778950"/>
                  <a:pt x="6159368" y="778950"/>
                  <a:pt x="6159368" y="778950"/>
                </a:cubicBezTo>
                <a:cubicBezTo>
                  <a:pt x="6160887" y="778950"/>
                  <a:pt x="6161598" y="778832"/>
                  <a:pt x="6161598" y="776967"/>
                </a:cubicBezTo>
                <a:cubicBezTo>
                  <a:pt x="6161598" y="725634"/>
                  <a:pt x="6161598" y="725634"/>
                  <a:pt x="6161598" y="725634"/>
                </a:cubicBezTo>
                <a:cubicBezTo>
                  <a:pt x="6161598" y="722358"/>
                  <a:pt x="6164173" y="720138"/>
                  <a:pt x="6167815" y="720138"/>
                </a:cubicBezTo>
                <a:cubicBezTo>
                  <a:pt x="6175670" y="720138"/>
                  <a:pt x="6176844" y="725871"/>
                  <a:pt x="6181067" y="725871"/>
                </a:cubicBezTo>
                <a:cubicBezTo>
                  <a:pt x="6184097" y="725989"/>
                  <a:pt x="6186445" y="724114"/>
                  <a:pt x="6186445" y="720493"/>
                </a:cubicBezTo>
                <a:cubicBezTo>
                  <a:pt x="6186445" y="715934"/>
                  <a:pt x="6178946" y="714059"/>
                  <a:pt x="6170380" y="714059"/>
                </a:cubicBezTo>
                <a:close/>
                <a:moveTo>
                  <a:pt x="6114923" y="714059"/>
                </a:moveTo>
                <a:cubicBezTo>
                  <a:pt x="6109426" y="714059"/>
                  <a:pt x="6103584" y="715707"/>
                  <a:pt x="6099025" y="718638"/>
                </a:cubicBezTo>
                <a:cubicBezTo>
                  <a:pt x="6092009" y="723572"/>
                  <a:pt x="6087332" y="732956"/>
                  <a:pt x="6087332" y="747748"/>
                </a:cubicBezTo>
                <a:cubicBezTo>
                  <a:pt x="6087332" y="762422"/>
                  <a:pt x="6092009" y="771816"/>
                  <a:pt x="6099025" y="776740"/>
                </a:cubicBezTo>
                <a:cubicBezTo>
                  <a:pt x="6103348" y="779789"/>
                  <a:pt x="6109318" y="781200"/>
                  <a:pt x="6114923" y="781200"/>
                </a:cubicBezTo>
                <a:cubicBezTo>
                  <a:pt x="6120656" y="781200"/>
                  <a:pt x="6126498" y="779671"/>
                  <a:pt x="6130820" y="776740"/>
                </a:cubicBezTo>
                <a:cubicBezTo>
                  <a:pt x="6137954" y="771806"/>
                  <a:pt x="6142632" y="762422"/>
                  <a:pt x="6142632" y="747748"/>
                </a:cubicBezTo>
                <a:cubicBezTo>
                  <a:pt x="6142632" y="732956"/>
                  <a:pt x="6137954" y="723572"/>
                  <a:pt x="6130820" y="718638"/>
                </a:cubicBezTo>
                <a:cubicBezTo>
                  <a:pt x="6126379" y="715470"/>
                  <a:pt x="6120528" y="714059"/>
                  <a:pt x="6114923" y="714059"/>
                </a:cubicBezTo>
                <a:close/>
                <a:moveTo>
                  <a:pt x="6053110" y="714059"/>
                </a:moveTo>
                <a:cubicBezTo>
                  <a:pt x="6043775" y="714059"/>
                  <a:pt x="6037469" y="716052"/>
                  <a:pt x="6034085" y="717108"/>
                </a:cubicBezTo>
                <a:cubicBezTo>
                  <a:pt x="6029881" y="718519"/>
                  <a:pt x="6028598" y="720039"/>
                  <a:pt x="6028598" y="722151"/>
                </a:cubicBezTo>
                <a:cubicBezTo>
                  <a:pt x="6028598" y="777065"/>
                  <a:pt x="6028598" y="777065"/>
                  <a:pt x="6028598" y="777065"/>
                </a:cubicBezTo>
                <a:cubicBezTo>
                  <a:pt x="6028598" y="779059"/>
                  <a:pt x="6029062" y="779296"/>
                  <a:pt x="6030937" y="779296"/>
                </a:cubicBezTo>
                <a:cubicBezTo>
                  <a:pt x="6037006" y="779296"/>
                  <a:pt x="6037006" y="779296"/>
                  <a:pt x="6037006" y="779296"/>
                </a:cubicBezTo>
                <a:cubicBezTo>
                  <a:pt x="6038752" y="779296"/>
                  <a:pt x="6039571" y="779059"/>
                  <a:pt x="6039571" y="776829"/>
                </a:cubicBezTo>
                <a:cubicBezTo>
                  <a:pt x="6039571" y="726256"/>
                  <a:pt x="6039571" y="726256"/>
                  <a:pt x="6039571" y="726256"/>
                </a:cubicBezTo>
                <a:cubicBezTo>
                  <a:pt x="6039571" y="723552"/>
                  <a:pt x="6044239" y="720739"/>
                  <a:pt x="6052765" y="720739"/>
                </a:cubicBezTo>
                <a:cubicBezTo>
                  <a:pt x="6067004" y="720739"/>
                  <a:pt x="6067004" y="730006"/>
                  <a:pt x="6067004" y="735758"/>
                </a:cubicBezTo>
                <a:cubicBezTo>
                  <a:pt x="6067004" y="776829"/>
                  <a:pt x="6067004" y="776829"/>
                  <a:pt x="6067004" y="776829"/>
                </a:cubicBezTo>
                <a:cubicBezTo>
                  <a:pt x="6067004" y="779059"/>
                  <a:pt x="6067705" y="779296"/>
                  <a:pt x="6069807" y="779296"/>
                </a:cubicBezTo>
                <a:cubicBezTo>
                  <a:pt x="6076576" y="779296"/>
                  <a:pt x="6076576" y="779296"/>
                  <a:pt x="6076576" y="779296"/>
                </a:cubicBezTo>
                <a:cubicBezTo>
                  <a:pt x="6077740" y="779069"/>
                  <a:pt x="6077740" y="777894"/>
                  <a:pt x="6077740" y="776839"/>
                </a:cubicBezTo>
                <a:cubicBezTo>
                  <a:pt x="6077740" y="734357"/>
                  <a:pt x="6077740" y="734357"/>
                  <a:pt x="6077740" y="734357"/>
                </a:cubicBezTo>
                <a:cubicBezTo>
                  <a:pt x="6077740" y="726966"/>
                  <a:pt x="6077504" y="714059"/>
                  <a:pt x="6053110" y="714059"/>
                </a:cubicBezTo>
                <a:close/>
                <a:moveTo>
                  <a:pt x="5965009" y="714059"/>
                </a:moveTo>
                <a:cubicBezTo>
                  <a:pt x="5959375" y="714059"/>
                  <a:pt x="5953622" y="715707"/>
                  <a:pt x="5949043" y="718638"/>
                </a:cubicBezTo>
                <a:cubicBezTo>
                  <a:pt x="5941997" y="723572"/>
                  <a:pt x="5937300" y="732956"/>
                  <a:pt x="5937300" y="747748"/>
                </a:cubicBezTo>
                <a:cubicBezTo>
                  <a:pt x="5937300" y="762422"/>
                  <a:pt x="5941997" y="771816"/>
                  <a:pt x="5949043" y="776740"/>
                </a:cubicBezTo>
                <a:cubicBezTo>
                  <a:pt x="5953385" y="779789"/>
                  <a:pt x="5959375" y="781200"/>
                  <a:pt x="5965009" y="781200"/>
                </a:cubicBezTo>
                <a:cubicBezTo>
                  <a:pt x="5970762" y="781200"/>
                  <a:pt x="5976515" y="779671"/>
                  <a:pt x="5980976" y="776740"/>
                </a:cubicBezTo>
                <a:cubicBezTo>
                  <a:pt x="5988140" y="771806"/>
                  <a:pt x="5992837" y="762422"/>
                  <a:pt x="5992837" y="747748"/>
                </a:cubicBezTo>
                <a:cubicBezTo>
                  <a:pt x="5992837" y="732956"/>
                  <a:pt x="5988140" y="723572"/>
                  <a:pt x="5980976" y="718638"/>
                </a:cubicBezTo>
                <a:cubicBezTo>
                  <a:pt x="5976752" y="715470"/>
                  <a:pt x="5970762" y="714059"/>
                  <a:pt x="5965009" y="714059"/>
                </a:cubicBezTo>
                <a:close/>
                <a:moveTo>
                  <a:pt x="5853225" y="714059"/>
                </a:moveTo>
                <a:cubicBezTo>
                  <a:pt x="5847591" y="714059"/>
                  <a:pt x="5841719" y="715707"/>
                  <a:pt x="5837259" y="718638"/>
                </a:cubicBezTo>
                <a:cubicBezTo>
                  <a:pt x="5830095" y="723572"/>
                  <a:pt x="5825398" y="732956"/>
                  <a:pt x="5825398" y="747748"/>
                </a:cubicBezTo>
                <a:cubicBezTo>
                  <a:pt x="5825398" y="762422"/>
                  <a:pt x="5830095" y="771816"/>
                  <a:pt x="5837259" y="776740"/>
                </a:cubicBezTo>
                <a:cubicBezTo>
                  <a:pt x="5841601" y="779789"/>
                  <a:pt x="5847472" y="781200"/>
                  <a:pt x="5853225" y="781200"/>
                </a:cubicBezTo>
                <a:cubicBezTo>
                  <a:pt x="5858978" y="781200"/>
                  <a:pt x="5864613" y="779671"/>
                  <a:pt x="5869192" y="776740"/>
                </a:cubicBezTo>
                <a:cubicBezTo>
                  <a:pt x="5876237" y="771806"/>
                  <a:pt x="5880935" y="762422"/>
                  <a:pt x="5880935" y="747748"/>
                </a:cubicBezTo>
                <a:cubicBezTo>
                  <a:pt x="5880935" y="732956"/>
                  <a:pt x="5876237" y="723572"/>
                  <a:pt x="5869192" y="718638"/>
                </a:cubicBezTo>
                <a:cubicBezTo>
                  <a:pt x="5864613" y="715470"/>
                  <a:pt x="5858978" y="714059"/>
                  <a:pt x="5853225" y="714059"/>
                </a:cubicBezTo>
                <a:close/>
                <a:moveTo>
                  <a:pt x="5791294" y="714059"/>
                </a:moveTo>
                <a:cubicBezTo>
                  <a:pt x="5781910" y="714059"/>
                  <a:pt x="5775693" y="716052"/>
                  <a:pt x="5772180" y="717108"/>
                </a:cubicBezTo>
                <a:cubicBezTo>
                  <a:pt x="5768075" y="718519"/>
                  <a:pt x="5766664" y="720039"/>
                  <a:pt x="5766664" y="722151"/>
                </a:cubicBezTo>
                <a:cubicBezTo>
                  <a:pt x="5766664" y="777065"/>
                  <a:pt x="5766664" y="777065"/>
                  <a:pt x="5766664" y="777065"/>
                </a:cubicBezTo>
                <a:cubicBezTo>
                  <a:pt x="5766664" y="779059"/>
                  <a:pt x="5767138" y="779296"/>
                  <a:pt x="5768894" y="779296"/>
                </a:cubicBezTo>
                <a:cubicBezTo>
                  <a:pt x="5774993" y="779296"/>
                  <a:pt x="5774993" y="779296"/>
                  <a:pt x="5774993" y="779296"/>
                </a:cubicBezTo>
                <a:cubicBezTo>
                  <a:pt x="5776749" y="779296"/>
                  <a:pt x="5777568" y="779059"/>
                  <a:pt x="5777568" y="776829"/>
                </a:cubicBezTo>
                <a:cubicBezTo>
                  <a:pt x="5777568" y="726256"/>
                  <a:pt x="5777568" y="726256"/>
                  <a:pt x="5777568" y="726256"/>
                </a:cubicBezTo>
                <a:cubicBezTo>
                  <a:pt x="5777568" y="723552"/>
                  <a:pt x="5782255" y="720739"/>
                  <a:pt x="5790821" y="720739"/>
                </a:cubicBezTo>
                <a:cubicBezTo>
                  <a:pt x="5805129" y="720739"/>
                  <a:pt x="5805129" y="730006"/>
                  <a:pt x="5805129" y="735758"/>
                </a:cubicBezTo>
                <a:cubicBezTo>
                  <a:pt x="5805129" y="776829"/>
                  <a:pt x="5805129" y="776829"/>
                  <a:pt x="5805129" y="776829"/>
                </a:cubicBezTo>
                <a:cubicBezTo>
                  <a:pt x="5805129" y="779059"/>
                  <a:pt x="5805830" y="779296"/>
                  <a:pt x="5807942" y="779296"/>
                </a:cubicBezTo>
                <a:cubicBezTo>
                  <a:pt x="5814740" y="779296"/>
                  <a:pt x="5814740" y="779296"/>
                  <a:pt x="5814740" y="779296"/>
                </a:cubicBezTo>
                <a:cubicBezTo>
                  <a:pt x="5815925" y="779069"/>
                  <a:pt x="5816043" y="777894"/>
                  <a:pt x="5816043" y="776839"/>
                </a:cubicBezTo>
                <a:cubicBezTo>
                  <a:pt x="5816043" y="734357"/>
                  <a:pt x="5816043" y="734357"/>
                  <a:pt x="5816043" y="734357"/>
                </a:cubicBezTo>
                <a:cubicBezTo>
                  <a:pt x="5816043" y="726966"/>
                  <a:pt x="5815925" y="714059"/>
                  <a:pt x="5791294" y="714059"/>
                </a:cubicBezTo>
                <a:close/>
                <a:moveTo>
                  <a:pt x="6231670" y="692734"/>
                </a:moveTo>
                <a:cubicBezTo>
                  <a:pt x="6229568" y="692734"/>
                  <a:pt x="6229450" y="693435"/>
                  <a:pt x="6229450" y="695547"/>
                </a:cubicBezTo>
                <a:cubicBezTo>
                  <a:pt x="6229450" y="717838"/>
                  <a:pt x="6229450" y="717838"/>
                  <a:pt x="6229450" y="717838"/>
                </a:cubicBezTo>
                <a:cubicBezTo>
                  <a:pt x="6225591" y="715845"/>
                  <a:pt x="6221851" y="714434"/>
                  <a:pt x="6216128" y="714434"/>
                </a:cubicBezTo>
                <a:cubicBezTo>
                  <a:pt x="6197083" y="714434"/>
                  <a:pt x="6187383" y="732620"/>
                  <a:pt x="6187383" y="747748"/>
                </a:cubicBezTo>
                <a:cubicBezTo>
                  <a:pt x="6187383" y="770276"/>
                  <a:pt x="6199649" y="781180"/>
                  <a:pt x="6218348" y="781180"/>
                </a:cubicBezTo>
                <a:cubicBezTo>
                  <a:pt x="6227348" y="781200"/>
                  <a:pt x="6240087" y="776740"/>
                  <a:pt x="6240087" y="772516"/>
                </a:cubicBezTo>
                <a:cubicBezTo>
                  <a:pt x="6240087" y="695201"/>
                  <a:pt x="6240087" y="695201"/>
                  <a:pt x="6240087" y="695201"/>
                </a:cubicBezTo>
                <a:cubicBezTo>
                  <a:pt x="6240087" y="692853"/>
                  <a:pt x="6239387" y="692734"/>
                  <a:pt x="6237749" y="692734"/>
                </a:cubicBezTo>
                <a:cubicBezTo>
                  <a:pt x="6231670" y="692734"/>
                  <a:pt x="6231670" y="692734"/>
                  <a:pt x="6231670" y="692734"/>
                </a:cubicBezTo>
                <a:close/>
                <a:moveTo>
                  <a:pt x="6328178" y="692507"/>
                </a:moveTo>
                <a:cubicBezTo>
                  <a:pt x="6326886" y="692507"/>
                  <a:pt x="6326175" y="692744"/>
                  <a:pt x="6326175" y="694501"/>
                </a:cubicBezTo>
                <a:cubicBezTo>
                  <a:pt x="6326175" y="777312"/>
                  <a:pt x="6326175" y="777312"/>
                  <a:pt x="6326175" y="777312"/>
                </a:cubicBezTo>
                <a:cubicBezTo>
                  <a:pt x="6326175" y="778950"/>
                  <a:pt x="6326530" y="779187"/>
                  <a:pt x="6328178" y="779187"/>
                </a:cubicBezTo>
                <a:cubicBezTo>
                  <a:pt x="6334642" y="779187"/>
                  <a:pt x="6334642" y="779187"/>
                  <a:pt x="6334642" y="779187"/>
                </a:cubicBezTo>
                <a:cubicBezTo>
                  <a:pt x="6336161" y="779187"/>
                  <a:pt x="6336872" y="779187"/>
                  <a:pt x="6336872" y="777431"/>
                </a:cubicBezTo>
                <a:cubicBezTo>
                  <a:pt x="6336872" y="694264"/>
                  <a:pt x="6336872" y="694264"/>
                  <a:pt x="6336872" y="694264"/>
                </a:cubicBezTo>
                <a:cubicBezTo>
                  <a:pt x="6336872" y="692507"/>
                  <a:pt x="6336053" y="692507"/>
                  <a:pt x="6334642" y="692507"/>
                </a:cubicBezTo>
                <a:cubicBezTo>
                  <a:pt x="6328178" y="692507"/>
                  <a:pt x="6328178" y="692507"/>
                  <a:pt x="6328178" y="692507"/>
                </a:cubicBezTo>
                <a:close/>
                <a:moveTo>
                  <a:pt x="6260336" y="691797"/>
                </a:moveTo>
                <a:cubicBezTo>
                  <a:pt x="6256379" y="691797"/>
                  <a:pt x="6253587" y="694609"/>
                  <a:pt x="6253587" y="698349"/>
                </a:cubicBezTo>
                <a:cubicBezTo>
                  <a:pt x="6253587" y="701862"/>
                  <a:pt x="6256034" y="704783"/>
                  <a:pt x="6260100" y="704783"/>
                </a:cubicBezTo>
                <a:cubicBezTo>
                  <a:pt x="6264284" y="704665"/>
                  <a:pt x="6266849" y="701389"/>
                  <a:pt x="6266731" y="697885"/>
                </a:cubicBezTo>
                <a:cubicBezTo>
                  <a:pt x="6266494" y="694254"/>
                  <a:pt x="6263593" y="691797"/>
                  <a:pt x="6260336" y="691797"/>
                </a:cubicBezTo>
                <a:close/>
                <a:moveTo>
                  <a:pt x="6390573" y="682491"/>
                </a:moveTo>
                <a:lnTo>
                  <a:pt x="6390813" y="682668"/>
                </a:lnTo>
                <a:lnTo>
                  <a:pt x="6390573" y="682728"/>
                </a:lnTo>
                <a:cubicBezTo>
                  <a:pt x="6390573" y="682728"/>
                  <a:pt x="6390573" y="682728"/>
                  <a:pt x="6390573" y="682491"/>
                </a:cubicBezTo>
                <a:close/>
                <a:moveTo>
                  <a:pt x="6383429" y="673926"/>
                </a:moveTo>
                <a:cubicBezTo>
                  <a:pt x="6387287" y="673926"/>
                  <a:pt x="6387287" y="673926"/>
                  <a:pt x="6387287" y="673926"/>
                </a:cubicBezTo>
                <a:cubicBezTo>
                  <a:pt x="6389280" y="673926"/>
                  <a:pt x="6392557" y="673926"/>
                  <a:pt x="6392557" y="677094"/>
                </a:cubicBezTo>
                <a:cubicBezTo>
                  <a:pt x="6392557" y="680261"/>
                  <a:pt x="6389162" y="680261"/>
                  <a:pt x="6387642" y="680261"/>
                </a:cubicBezTo>
                <a:cubicBezTo>
                  <a:pt x="6383429" y="680261"/>
                  <a:pt x="6383429" y="680261"/>
                  <a:pt x="6383429" y="680261"/>
                </a:cubicBezTo>
                <a:close/>
                <a:moveTo>
                  <a:pt x="6380153" y="670985"/>
                </a:moveTo>
                <a:lnTo>
                  <a:pt x="6380153" y="692231"/>
                </a:lnTo>
                <a:cubicBezTo>
                  <a:pt x="6383666" y="692231"/>
                  <a:pt x="6383666" y="692231"/>
                  <a:pt x="6383666" y="692231"/>
                </a:cubicBezTo>
                <a:cubicBezTo>
                  <a:pt x="6383666" y="683192"/>
                  <a:pt x="6383666" y="683192"/>
                  <a:pt x="6383666" y="683192"/>
                </a:cubicBezTo>
                <a:cubicBezTo>
                  <a:pt x="6385659" y="683192"/>
                  <a:pt x="6385659" y="683192"/>
                  <a:pt x="6385659" y="683192"/>
                </a:cubicBezTo>
                <a:cubicBezTo>
                  <a:pt x="6388471" y="683192"/>
                  <a:pt x="6389517" y="684248"/>
                  <a:pt x="6391974" y="688827"/>
                </a:cubicBezTo>
                <a:cubicBezTo>
                  <a:pt x="6393849" y="692113"/>
                  <a:pt x="6393849" y="692113"/>
                  <a:pt x="6393849" y="692113"/>
                </a:cubicBezTo>
                <a:cubicBezTo>
                  <a:pt x="6397944" y="692113"/>
                  <a:pt x="6397944" y="692113"/>
                  <a:pt x="6397944" y="692113"/>
                </a:cubicBezTo>
                <a:cubicBezTo>
                  <a:pt x="6395369" y="687889"/>
                  <a:pt x="6395369" y="687889"/>
                  <a:pt x="6395369" y="687889"/>
                </a:cubicBezTo>
                <a:cubicBezTo>
                  <a:pt x="6394081" y="685837"/>
                  <a:pt x="6393173" y="684633"/>
                  <a:pt x="6392442" y="683869"/>
                </a:cubicBezTo>
                <a:lnTo>
                  <a:pt x="6390813" y="682668"/>
                </a:lnTo>
                <a:lnTo>
                  <a:pt x="6393334" y="682039"/>
                </a:lnTo>
                <a:cubicBezTo>
                  <a:pt x="6395622" y="680900"/>
                  <a:pt x="6396543" y="678589"/>
                  <a:pt x="6396543" y="676738"/>
                </a:cubicBezTo>
                <a:cubicBezTo>
                  <a:pt x="6396543" y="674982"/>
                  <a:pt x="6395724" y="673452"/>
                  <a:pt x="6394550" y="672633"/>
                </a:cubicBezTo>
                <a:cubicBezTo>
                  <a:pt x="6392794" y="670985"/>
                  <a:pt x="6389991" y="670985"/>
                  <a:pt x="6387642" y="670985"/>
                </a:cubicBezTo>
                <a:cubicBezTo>
                  <a:pt x="6380153" y="670985"/>
                  <a:pt x="6380153" y="670985"/>
                  <a:pt x="6380153" y="670985"/>
                </a:cubicBezTo>
                <a:close/>
                <a:moveTo>
                  <a:pt x="6388462" y="665124"/>
                </a:moveTo>
                <a:cubicBezTo>
                  <a:pt x="6397471" y="665124"/>
                  <a:pt x="6404842" y="672396"/>
                  <a:pt x="6404842" y="681435"/>
                </a:cubicBezTo>
                <a:cubicBezTo>
                  <a:pt x="6404842" y="690475"/>
                  <a:pt x="6397589" y="697984"/>
                  <a:pt x="6388462" y="697984"/>
                </a:cubicBezTo>
                <a:cubicBezTo>
                  <a:pt x="6379452" y="697984"/>
                  <a:pt x="6372199" y="690475"/>
                  <a:pt x="6372199" y="681435"/>
                </a:cubicBezTo>
                <a:cubicBezTo>
                  <a:pt x="6372081" y="672396"/>
                  <a:pt x="6379334" y="665124"/>
                  <a:pt x="6388462" y="665124"/>
                </a:cubicBezTo>
                <a:close/>
                <a:moveTo>
                  <a:pt x="6388462" y="661719"/>
                </a:moveTo>
                <a:cubicBezTo>
                  <a:pt x="6377696" y="661719"/>
                  <a:pt x="6368923" y="670522"/>
                  <a:pt x="6368923" y="681435"/>
                </a:cubicBezTo>
                <a:cubicBezTo>
                  <a:pt x="6368923" y="692468"/>
                  <a:pt x="6377696" y="701152"/>
                  <a:pt x="6388462" y="701152"/>
                </a:cubicBezTo>
                <a:cubicBezTo>
                  <a:pt x="6399346" y="701152"/>
                  <a:pt x="6408000" y="692231"/>
                  <a:pt x="6408000" y="681435"/>
                </a:cubicBezTo>
                <a:cubicBezTo>
                  <a:pt x="6408000" y="670640"/>
                  <a:pt x="6399227" y="661719"/>
                  <a:pt x="6388462" y="661719"/>
                </a:cubicBezTo>
                <a:close/>
                <a:moveTo>
                  <a:pt x="6193357" y="533824"/>
                </a:moveTo>
                <a:cubicBezTo>
                  <a:pt x="6193898" y="533780"/>
                  <a:pt x="6194542" y="534044"/>
                  <a:pt x="6195011" y="534572"/>
                </a:cubicBezTo>
                <a:cubicBezTo>
                  <a:pt x="6202165" y="542071"/>
                  <a:pt x="6199708" y="598693"/>
                  <a:pt x="6198178" y="609943"/>
                </a:cubicBezTo>
                <a:cubicBezTo>
                  <a:pt x="6197823" y="612755"/>
                  <a:pt x="6195248" y="614985"/>
                  <a:pt x="6194547" y="609242"/>
                </a:cubicBezTo>
                <a:cubicBezTo>
                  <a:pt x="6193728" y="601979"/>
                  <a:pt x="6189860" y="585214"/>
                  <a:pt x="6188685" y="578296"/>
                </a:cubicBezTo>
                <a:cubicBezTo>
                  <a:pt x="6187393" y="571734"/>
                  <a:pt x="6191034" y="551692"/>
                  <a:pt x="6192317" y="534927"/>
                </a:cubicBezTo>
                <a:cubicBezTo>
                  <a:pt x="6192376" y="534221"/>
                  <a:pt x="6192815" y="533868"/>
                  <a:pt x="6193357" y="533824"/>
                </a:cubicBezTo>
                <a:close/>
                <a:moveTo>
                  <a:pt x="6057324" y="488972"/>
                </a:moveTo>
                <a:cubicBezTo>
                  <a:pt x="6075392" y="491439"/>
                  <a:pt x="6093687" y="491903"/>
                  <a:pt x="6111627" y="490847"/>
                </a:cubicBezTo>
                <a:cubicBezTo>
                  <a:pt x="6114558" y="501978"/>
                  <a:pt x="6114202" y="516513"/>
                  <a:pt x="6110097" y="520618"/>
                </a:cubicBezTo>
                <a:cubicBezTo>
                  <a:pt x="6103525" y="527299"/>
                  <a:pt x="6073862" y="526006"/>
                  <a:pt x="6065415" y="524723"/>
                </a:cubicBezTo>
                <a:cubicBezTo>
                  <a:pt x="6063067" y="524368"/>
                  <a:pt x="6060728" y="524023"/>
                  <a:pt x="6059435" y="517924"/>
                </a:cubicBezTo>
                <a:cubicBezTo>
                  <a:pt x="6058024" y="510770"/>
                  <a:pt x="6057906" y="497646"/>
                  <a:pt x="6057324" y="488972"/>
                </a:cubicBezTo>
                <a:close/>
                <a:moveTo>
                  <a:pt x="6152085" y="486041"/>
                </a:moveTo>
                <a:cubicBezTo>
                  <a:pt x="6157128" y="495416"/>
                  <a:pt x="6157483" y="500813"/>
                  <a:pt x="6156072" y="505501"/>
                </a:cubicBezTo>
                <a:cubicBezTo>
                  <a:pt x="6154661" y="510188"/>
                  <a:pt x="6148099" y="512882"/>
                  <a:pt x="6146688" y="512300"/>
                </a:cubicBezTo>
                <a:cubicBezTo>
                  <a:pt x="6146451" y="502215"/>
                  <a:pt x="6143757" y="494597"/>
                  <a:pt x="6139060" y="487798"/>
                </a:cubicBezTo>
                <a:cubicBezTo>
                  <a:pt x="6143175" y="487097"/>
                  <a:pt x="6147516" y="486515"/>
                  <a:pt x="6152085" y="486041"/>
                </a:cubicBezTo>
                <a:close/>
                <a:moveTo>
                  <a:pt x="6012296" y="479252"/>
                </a:moveTo>
                <a:cubicBezTo>
                  <a:pt x="6018039" y="481008"/>
                  <a:pt x="6023911" y="482538"/>
                  <a:pt x="6029654" y="483939"/>
                </a:cubicBezTo>
                <a:cubicBezTo>
                  <a:pt x="6025667" y="509142"/>
                  <a:pt x="6017813" y="516286"/>
                  <a:pt x="6013707" y="517934"/>
                </a:cubicBezTo>
                <a:cubicBezTo>
                  <a:pt x="6010530" y="519217"/>
                  <a:pt x="6003613" y="519918"/>
                  <a:pt x="6006080" y="511954"/>
                </a:cubicBezTo>
                <a:cubicBezTo>
                  <a:pt x="6008546" y="503981"/>
                  <a:pt x="6010885" y="490383"/>
                  <a:pt x="6012296" y="479252"/>
                </a:cubicBezTo>
                <a:close/>
                <a:moveTo>
                  <a:pt x="5992209" y="472822"/>
                </a:moveTo>
                <a:cubicBezTo>
                  <a:pt x="5994189" y="472954"/>
                  <a:pt x="5997297" y="474155"/>
                  <a:pt x="6003277" y="476440"/>
                </a:cubicBezTo>
                <a:cubicBezTo>
                  <a:pt x="6002458" y="495781"/>
                  <a:pt x="5997534" y="506803"/>
                  <a:pt x="5995649" y="516641"/>
                </a:cubicBezTo>
                <a:cubicBezTo>
                  <a:pt x="5993537" y="526727"/>
                  <a:pt x="6004797" y="529065"/>
                  <a:pt x="6014763" y="526608"/>
                </a:cubicBezTo>
                <a:cubicBezTo>
                  <a:pt x="6024611" y="524151"/>
                  <a:pt x="6033996" y="513829"/>
                  <a:pt x="6038101" y="485814"/>
                </a:cubicBezTo>
                <a:cubicBezTo>
                  <a:pt x="6041969" y="486752"/>
                  <a:pt x="6045137" y="487225"/>
                  <a:pt x="6049123" y="487808"/>
                </a:cubicBezTo>
                <a:cubicBezTo>
                  <a:pt x="6049597" y="516878"/>
                  <a:pt x="6051353" y="523441"/>
                  <a:pt x="6052528" y="526016"/>
                </a:cubicBezTo>
                <a:cubicBezTo>
                  <a:pt x="6054758" y="531404"/>
                  <a:pt x="6060156" y="533170"/>
                  <a:pt x="6064488" y="533516"/>
                </a:cubicBezTo>
                <a:cubicBezTo>
                  <a:pt x="6087243" y="535272"/>
                  <a:pt x="6109288" y="534572"/>
                  <a:pt x="6117025" y="526953"/>
                </a:cubicBezTo>
                <a:cubicBezTo>
                  <a:pt x="6124879" y="519217"/>
                  <a:pt x="6122186" y="500350"/>
                  <a:pt x="6119955" y="490146"/>
                </a:cubicBezTo>
                <a:cubicBezTo>
                  <a:pt x="6123587" y="489791"/>
                  <a:pt x="6126527" y="489446"/>
                  <a:pt x="6130040" y="488972"/>
                </a:cubicBezTo>
                <a:cubicBezTo>
                  <a:pt x="6137550" y="497646"/>
                  <a:pt x="6138487" y="507139"/>
                  <a:pt x="6138487" y="513119"/>
                </a:cubicBezTo>
                <a:cubicBezTo>
                  <a:pt x="6138487" y="519799"/>
                  <a:pt x="6145878" y="523312"/>
                  <a:pt x="6156200" y="516168"/>
                </a:cubicBezTo>
                <a:cubicBezTo>
                  <a:pt x="6166404" y="509014"/>
                  <a:pt x="6165466" y="496472"/>
                  <a:pt x="6159832" y="485104"/>
                </a:cubicBezTo>
                <a:cubicBezTo>
                  <a:pt x="6183288" y="483229"/>
                  <a:pt x="6182113" y="498583"/>
                  <a:pt x="6180821" y="517579"/>
                </a:cubicBezTo>
                <a:cubicBezTo>
                  <a:pt x="6179646" y="536338"/>
                  <a:pt x="6175423" y="562942"/>
                  <a:pt x="6169098" y="565991"/>
                </a:cubicBezTo>
                <a:cubicBezTo>
                  <a:pt x="6162644" y="568685"/>
                  <a:pt x="6152559" y="551455"/>
                  <a:pt x="6100022" y="550636"/>
                </a:cubicBezTo>
                <a:cubicBezTo>
                  <a:pt x="6062731" y="549936"/>
                  <a:pt x="6034114" y="554978"/>
                  <a:pt x="6028835" y="589082"/>
                </a:cubicBezTo>
                <a:cubicBezTo>
                  <a:pt x="6028480" y="591539"/>
                  <a:pt x="6027078" y="591194"/>
                  <a:pt x="6025786" y="589901"/>
                </a:cubicBezTo>
                <a:cubicBezTo>
                  <a:pt x="6015582" y="578770"/>
                  <a:pt x="6006198" y="573727"/>
                  <a:pt x="5991189" y="565054"/>
                </a:cubicBezTo>
                <a:cubicBezTo>
                  <a:pt x="5976061" y="556143"/>
                  <a:pt x="5965976" y="544193"/>
                  <a:pt x="5964101" y="532351"/>
                </a:cubicBezTo>
                <a:cubicBezTo>
                  <a:pt x="5962226" y="520510"/>
                  <a:pt x="5966568" y="504692"/>
                  <a:pt x="5987913" y="475621"/>
                </a:cubicBezTo>
                <a:cubicBezTo>
                  <a:pt x="5989378" y="473627"/>
                  <a:pt x="5990229" y="472690"/>
                  <a:pt x="5992209" y="472822"/>
                </a:cubicBezTo>
                <a:close/>
                <a:moveTo>
                  <a:pt x="5936176" y="459522"/>
                </a:moveTo>
                <a:cubicBezTo>
                  <a:pt x="5930898" y="459477"/>
                  <a:pt x="5921507" y="461929"/>
                  <a:pt x="5925281" y="467272"/>
                </a:cubicBezTo>
                <a:cubicBezTo>
                  <a:pt x="5930314" y="474624"/>
                  <a:pt x="5940261" y="462486"/>
                  <a:pt x="5939441" y="460385"/>
                </a:cubicBezTo>
                <a:cubicBezTo>
                  <a:pt x="5939237" y="459829"/>
                  <a:pt x="5937935" y="459537"/>
                  <a:pt x="5936176" y="459522"/>
                </a:cubicBezTo>
                <a:close/>
                <a:moveTo>
                  <a:pt x="5932776" y="444793"/>
                </a:moveTo>
                <a:cubicBezTo>
                  <a:pt x="5937135" y="443887"/>
                  <a:pt x="5942895" y="446986"/>
                  <a:pt x="5955654" y="454632"/>
                </a:cubicBezTo>
                <a:cubicBezTo>
                  <a:pt x="5976298" y="467174"/>
                  <a:pt x="5982633" y="464598"/>
                  <a:pt x="5975588" y="475729"/>
                </a:cubicBezTo>
                <a:cubicBezTo>
                  <a:pt x="5971246" y="482883"/>
                  <a:pt x="5956582" y="501869"/>
                  <a:pt x="5952951" y="525197"/>
                </a:cubicBezTo>
                <a:cubicBezTo>
                  <a:pt x="5948027" y="518635"/>
                  <a:pt x="5941336" y="502343"/>
                  <a:pt x="5935711" y="497883"/>
                </a:cubicBezTo>
                <a:cubicBezTo>
                  <a:pt x="5924689" y="489209"/>
                  <a:pt x="5915186" y="495889"/>
                  <a:pt x="5911081" y="490847"/>
                </a:cubicBezTo>
                <a:cubicBezTo>
                  <a:pt x="5906502" y="485340"/>
                  <a:pt x="5904627" y="484985"/>
                  <a:pt x="5908732" y="479716"/>
                </a:cubicBezTo>
                <a:cubicBezTo>
                  <a:pt x="5908732" y="479716"/>
                  <a:pt x="5913657" y="473272"/>
                  <a:pt x="5915531" y="470568"/>
                </a:cubicBezTo>
                <a:cubicBezTo>
                  <a:pt x="5917643" y="467756"/>
                  <a:pt x="5917061" y="462476"/>
                  <a:pt x="5917998" y="460256"/>
                </a:cubicBezTo>
                <a:cubicBezTo>
                  <a:pt x="5918817" y="458026"/>
                  <a:pt x="5923860" y="451346"/>
                  <a:pt x="5928675" y="447014"/>
                </a:cubicBezTo>
                <a:cubicBezTo>
                  <a:pt x="5930025" y="445842"/>
                  <a:pt x="5931323" y="445095"/>
                  <a:pt x="5932776" y="444793"/>
                </a:cubicBezTo>
                <a:close/>
                <a:moveTo>
                  <a:pt x="5904946" y="389214"/>
                </a:moveTo>
                <a:cubicBezTo>
                  <a:pt x="5903949" y="389420"/>
                  <a:pt x="5903216" y="391413"/>
                  <a:pt x="5903216" y="395691"/>
                </a:cubicBezTo>
                <a:cubicBezTo>
                  <a:pt x="5903216" y="417143"/>
                  <a:pt x="5912601" y="430031"/>
                  <a:pt x="5915887" y="433672"/>
                </a:cubicBezTo>
                <a:cubicBezTo>
                  <a:pt x="5919054" y="437303"/>
                  <a:pt x="5920574" y="440935"/>
                  <a:pt x="5918817" y="443047"/>
                </a:cubicBezTo>
                <a:cubicBezTo>
                  <a:pt x="5914130" y="448553"/>
                  <a:pt x="5909088" y="454651"/>
                  <a:pt x="5908969" y="457108"/>
                </a:cubicBezTo>
                <a:cubicBezTo>
                  <a:pt x="5908732" y="459802"/>
                  <a:pt x="5908969" y="461095"/>
                  <a:pt x="5907913" y="464144"/>
                </a:cubicBezTo>
                <a:cubicBezTo>
                  <a:pt x="5906858" y="467075"/>
                  <a:pt x="5903108" y="471407"/>
                  <a:pt x="5897128" y="478680"/>
                </a:cubicBezTo>
                <a:cubicBezTo>
                  <a:pt x="5893842" y="482903"/>
                  <a:pt x="5895954" y="487472"/>
                  <a:pt x="5898766" y="490521"/>
                </a:cubicBezTo>
                <a:cubicBezTo>
                  <a:pt x="5902052" y="494271"/>
                  <a:pt x="5904282" y="498613"/>
                  <a:pt x="5908387" y="500488"/>
                </a:cubicBezTo>
                <a:cubicBezTo>
                  <a:pt x="5912611" y="502363"/>
                  <a:pt x="5916360" y="501070"/>
                  <a:pt x="5921284" y="501899"/>
                </a:cubicBezTo>
                <a:cubicBezTo>
                  <a:pt x="5925972" y="502718"/>
                  <a:pt x="5931843" y="505530"/>
                  <a:pt x="5936530" y="513859"/>
                </a:cubicBezTo>
                <a:cubicBezTo>
                  <a:pt x="5943329" y="526046"/>
                  <a:pt x="5950602" y="545041"/>
                  <a:pt x="5963736" y="560741"/>
                </a:cubicBezTo>
                <a:cubicBezTo>
                  <a:pt x="5969598" y="567659"/>
                  <a:pt x="5969598" y="580438"/>
                  <a:pt x="5969598" y="584533"/>
                </a:cubicBezTo>
                <a:cubicBezTo>
                  <a:pt x="5969953" y="621340"/>
                  <a:pt x="5950720" y="656154"/>
                  <a:pt x="5938405" y="678307"/>
                </a:cubicBezTo>
                <a:cubicBezTo>
                  <a:pt x="5935475" y="683468"/>
                  <a:pt x="5936175" y="687800"/>
                  <a:pt x="5940043" y="687800"/>
                </a:cubicBezTo>
                <a:cubicBezTo>
                  <a:pt x="5944504" y="687800"/>
                  <a:pt x="5961151" y="687800"/>
                  <a:pt x="5963973" y="687800"/>
                </a:cubicBezTo>
                <a:cubicBezTo>
                  <a:pt x="5967022" y="687800"/>
                  <a:pt x="5968897" y="684514"/>
                  <a:pt x="5969134" y="681001"/>
                </a:cubicBezTo>
                <a:cubicBezTo>
                  <a:pt x="5971246" y="650875"/>
                  <a:pt x="5988248" y="595664"/>
                  <a:pt x="6001037" y="586289"/>
                </a:cubicBezTo>
                <a:cubicBezTo>
                  <a:pt x="6022500" y="599769"/>
                  <a:pt x="6043844" y="628603"/>
                  <a:pt x="6033404" y="679126"/>
                </a:cubicBezTo>
                <a:cubicBezTo>
                  <a:pt x="6032930" y="681939"/>
                  <a:pt x="6030355" y="688037"/>
                  <a:pt x="6036808" y="688037"/>
                </a:cubicBezTo>
                <a:cubicBezTo>
                  <a:pt x="6036808" y="688037"/>
                  <a:pt x="6054985" y="688037"/>
                  <a:pt x="6057334" y="688037"/>
                </a:cubicBezTo>
                <a:cubicBezTo>
                  <a:pt x="6060027" y="688037"/>
                  <a:pt x="6064369" y="686981"/>
                  <a:pt x="6064014" y="682057"/>
                </a:cubicBezTo>
                <a:cubicBezTo>
                  <a:pt x="6062958" y="662361"/>
                  <a:pt x="6046420" y="620758"/>
                  <a:pt x="6042088" y="596256"/>
                </a:cubicBezTo>
                <a:cubicBezTo>
                  <a:pt x="6039394" y="580783"/>
                  <a:pt x="6051709" y="553123"/>
                  <a:pt x="6098147" y="574339"/>
                </a:cubicBezTo>
                <a:cubicBezTo>
                  <a:pt x="6115978" y="558284"/>
                  <a:pt x="6139435" y="568014"/>
                  <a:pt x="6129340" y="598841"/>
                </a:cubicBezTo>
                <a:cubicBezTo>
                  <a:pt x="6119492" y="629550"/>
                  <a:pt x="6110926" y="643030"/>
                  <a:pt x="6077148" y="679136"/>
                </a:cubicBezTo>
                <a:cubicBezTo>
                  <a:pt x="6073398" y="683360"/>
                  <a:pt x="6073043" y="687810"/>
                  <a:pt x="6079260" y="687810"/>
                </a:cubicBezTo>
                <a:cubicBezTo>
                  <a:pt x="6082309" y="687810"/>
                  <a:pt x="6097792" y="687810"/>
                  <a:pt x="6100960" y="687810"/>
                </a:cubicBezTo>
                <a:cubicBezTo>
                  <a:pt x="6105647" y="687810"/>
                  <a:pt x="6107532" y="686399"/>
                  <a:pt x="6108933" y="682768"/>
                </a:cubicBezTo>
                <a:cubicBezTo>
                  <a:pt x="6110226" y="678900"/>
                  <a:pt x="6125708" y="629905"/>
                  <a:pt x="6156082" y="606933"/>
                </a:cubicBezTo>
                <a:cubicBezTo>
                  <a:pt x="6158430" y="605176"/>
                  <a:pt x="6160424" y="597321"/>
                  <a:pt x="6165111" y="579391"/>
                </a:cubicBezTo>
                <a:cubicBezTo>
                  <a:pt x="6179775" y="598733"/>
                  <a:pt x="6181768" y="633892"/>
                  <a:pt x="6156546" y="679255"/>
                </a:cubicBezTo>
                <a:cubicBezTo>
                  <a:pt x="6153970" y="684060"/>
                  <a:pt x="6155490" y="687692"/>
                  <a:pt x="6158657" y="687692"/>
                </a:cubicBezTo>
                <a:cubicBezTo>
                  <a:pt x="6160414" y="687692"/>
                  <a:pt x="6174140" y="687692"/>
                  <a:pt x="6178245" y="687692"/>
                </a:cubicBezTo>
                <a:cubicBezTo>
                  <a:pt x="6181877" y="687692"/>
                  <a:pt x="6182932" y="685699"/>
                  <a:pt x="6184344" y="680192"/>
                </a:cubicBezTo>
                <a:cubicBezTo>
                  <a:pt x="6186100" y="673393"/>
                  <a:pt x="6186692" y="670107"/>
                  <a:pt x="6189031" y="663664"/>
                </a:cubicBezTo>
                <a:cubicBezTo>
                  <a:pt x="6190442" y="659677"/>
                  <a:pt x="6191024" y="658976"/>
                  <a:pt x="6206744" y="659095"/>
                </a:cubicBezTo>
                <a:cubicBezTo>
                  <a:pt x="6211668" y="659095"/>
                  <a:pt x="6211322" y="656519"/>
                  <a:pt x="6211322" y="652296"/>
                </a:cubicBezTo>
                <a:cubicBezTo>
                  <a:pt x="6211549" y="591539"/>
                  <a:pt x="6211905" y="528009"/>
                  <a:pt x="6207326" y="506211"/>
                </a:cubicBezTo>
                <a:cubicBezTo>
                  <a:pt x="6200991" y="475621"/>
                  <a:pt x="6174367" y="474683"/>
                  <a:pt x="6160414" y="475739"/>
                </a:cubicBezTo>
                <a:cubicBezTo>
                  <a:pt x="6145868" y="476795"/>
                  <a:pt x="6118426" y="481127"/>
                  <a:pt x="6090164" y="481127"/>
                </a:cubicBezTo>
                <a:cubicBezTo>
                  <a:pt x="6052044" y="481127"/>
                  <a:pt x="6009119" y="470341"/>
                  <a:pt x="5976288" y="454987"/>
                </a:cubicBezTo>
                <a:cubicBezTo>
                  <a:pt x="5970545" y="452411"/>
                  <a:pt x="5973476" y="451237"/>
                  <a:pt x="5975933" y="449826"/>
                </a:cubicBezTo>
                <a:cubicBezTo>
                  <a:pt x="5988248" y="443027"/>
                  <a:pt x="5998915" y="436929"/>
                  <a:pt x="6005487" y="426153"/>
                </a:cubicBezTo>
                <a:cubicBezTo>
                  <a:pt x="6010530" y="417953"/>
                  <a:pt x="6008655" y="415367"/>
                  <a:pt x="6003139" y="419827"/>
                </a:cubicBezTo>
                <a:cubicBezTo>
                  <a:pt x="5988248" y="432251"/>
                  <a:pt x="5967012" y="439169"/>
                  <a:pt x="5943329" y="430613"/>
                </a:cubicBezTo>
                <a:cubicBezTo>
                  <a:pt x="5919518" y="422176"/>
                  <a:pt x="5910371" y="399204"/>
                  <a:pt x="5908259" y="393460"/>
                </a:cubicBezTo>
                <a:cubicBezTo>
                  <a:pt x="5907203" y="390589"/>
                  <a:pt x="5905942" y="389008"/>
                  <a:pt x="5904946" y="389214"/>
                </a:cubicBezTo>
                <a:close/>
                <a:moveTo>
                  <a:pt x="5966647" y="335358"/>
                </a:moveTo>
                <a:cubicBezTo>
                  <a:pt x="5984350" y="335358"/>
                  <a:pt x="5998540" y="349765"/>
                  <a:pt x="5998540" y="367330"/>
                </a:cubicBezTo>
                <a:cubicBezTo>
                  <a:pt x="5998540" y="385013"/>
                  <a:pt x="5984350" y="399302"/>
                  <a:pt x="5966647" y="399302"/>
                </a:cubicBezTo>
                <a:cubicBezTo>
                  <a:pt x="5948944" y="399302"/>
                  <a:pt x="5934517" y="385013"/>
                  <a:pt x="5934517" y="367330"/>
                </a:cubicBezTo>
                <a:cubicBezTo>
                  <a:pt x="5934517" y="349538"/>
                  <a:pt x="5948944" y="335358"/>
                  <a:pt x="5966647" y="335358"/>
                </a:cubicBezTo>
                <a:close/>
                <a:moveTo>
                  <a:pt x="5965246" y="324000"/>
                </a:moveTo>
                <a:cubicBezTo>
                  <a:pt x="5938514" y="324000"/>
                  <a:pt x="5917051" y="345788"/>
                  <a:pt x="5917051" y="372373"/>
                </a:cubicBezTo>
                <a:cubicBezTo>
                  <a:pt x="5917051" y="399194"/>
                  <a:pt x="5938741" y="420745"/>
                  <a:pt x="5965246" y="420745"/>
                </a:cubicBezTo>
                <a:cubicBezTo>
                  <a:pt x="5991978" y="420745"/>
                  <a:pt x="6013441" y="398957"/>
                  <a:pt x="6013441" y="372373"/>
                </a:cubicBezTo>
                <a:cubicBezTo>
                  <a:pt x="6013441" y="345552"/>
                  <a:pt x="5991978" y="324000"/>
                  <a:pt x="5965246" y="324000"/>
                </a:cubicBezTo>
                <a:close/>
                <a:moveTo>
                  <a:pt x="0" y="0"/>
                </a:moveTo>
                <a:lnTo>
                  <a:pt x="6730700" y="0"/>
                </a:lnTo>
                <a:lnTo>
                  <a:pt x="6730700" y="6210000"/>
                </a:lnTo>
                <a:lnTo>
                  <a:pt x="0" y="6210000"/>
                </a:lnTo>
                <a:close/>
              </a:path>
            </a:pathLst>
          </a:custGeom>
          <a:solidFill>
            <a:srgbClr val="D4D7DC"/>
          </a:solidFill>
        </p:spPr>
        <p:txBody>
          <a:bodyPr wrap="square" tIns="72000">
            <a:noAutofit/>
          </a:bodyPr>
          <a:lstStyle>
            <a:lvl1pPr marL="0" indent="0" algn="ctr">
              <a:buNone/>
              <a:defRPr sz="1400">
                <a:solidFill>
                  <a:schemeClr val="bg1"/>
                </a:solidFill>
              </a:defRPr>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GB"/>
              <a:t>Click here and insert picture via Templafy</a:t>
            </a:r>
          </a:p>
        </p:txBody>
      </p:sp>
      <p:sp>
        <p:nvSpPr>
          <p:cNvPr id="2" name="Title 1"/>
          <p:cNvSpPr>
            <a:spLocks noGrp="1"/>
          </p:cNvSpPr>
          <p:nvPr>
            <p:ph type="ctrTitle" hasCustomPrompt="1"/>
          </p:nvPr>
        </p:nvSpPr>
        <p:spPr>
          <a:xfrm>
            <a:off x="646006" y="2163600"/>
            <a:ext cx="4165707" cy="2379600"/>
          </a:xfrm>
        </p:spPr>
        <p:txBody>
          <a:bodyPr anchor="ctr"/>
          <a:lstStyle>
            <a:lvl1pPr algn="l">
              <a:lnSpc>
                <a:spcPct val="100000"/>
              </a:lnSpc>
              <a:defRPr sz="4400">
                <a:solidFill>
                  <a:schemeClr val="tx2"/>
                </a:solidFill>
              </a:defRPr>
            </a:lvl1pPr>
          </a:lstStyle>
          <a:p>
            <a:r>
              <a:rPr lang="en-GB"/>
              <a:t>Click to add title</a:t>
            </a:r>
          </a:p>
        </p:txBody>
      </p:sp>
      <p:sp>
        <p:nvSpPr>
          <p:cNvPr id="28" name="Text Placeholder 9">
            <a:extLst>
              <a:ext uri="{FF2B5EF4-FFF2-40B4-BE49-F238E27FC236}">
                <a16:creationId xmlns:a16="http://schemas.microsoft.com/office/drawing/2014/main" id="{F3DB85B7-7760-4094-B5B7-6A45B6116B99}"/>
              </a:ext>
            </a:extLst>
          </p:cNvPr>
          <p:cNvSpPr>
            <a:spLocks noGrp="1"/>
          </p:cNvSpPr>
          <p:nvPr>
            <p:ph type="body" sz="quarter" idx="14" hasCustomPrompt="1"/>
          </p:nvPr>
        </p:nvSpPr>
        <p:spPr>
          <a:xfrm>
            <a:off x="645650" y="5799507"/>
            <a:ext cx="1920000" cy="154800"/>
          </a:xfrm>
        </p:spPr>
        <p:txBody>
          <a:bodyPr anchor="b"/>
          <a:lstStyle>
            <a:lvl1pPr marL="0" indent="0">
              <a:buNone/>
              <a:defRPr sz="1000" b="1">
                <a:solidFill>
                  <a:schemeClr val="tx2"/>
                </a:solidFill>
              </a:defRPr>
            </a:lvl1pPr>
          </a:lstStyle>
          <a:p>
            <a:pPr lvl="0"/>
            <a:r>
              <a:rPr lang="en-GB"/>
              <a:t>Insert name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645650" y="6055200"/>
            <a:ext cx="1920001" cy="154800"/>
          </a:xfrm>
        </p:spPr>
        <p:txBody>
          <a:bodyPr/>
          <a:lstStyle>
            <a:lvl1pPr>
              <a:defRPr sz="1000" b="1">
                <a:solidFill>
                  <a:schemeClr val="tx2"/>
                </a:solidFill>
              </a:defRPr>
            </a:lvl1pPr>
          </a:lstStyle>
          <a:p>
            <a:endParaRPr lang="en-GB"/>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333746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 Cov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7D0A685-8E57-D8B8-FB8E-604F52D59FCA}"/>
              </a:ext>
            </a:extLst>
          </p:cNvPr>
          <p:cNvSpPr>
            <a:spLocks noGrp="1"/>
          </p:cNvSpPr>
          <p:nvPr>
            <p:ph type="pic" sz="quarter" idx="18" hasCustomPrompt="1"/>
          </p:nvPr>
        </p:nvSpPr>
        <p:spPr>
          <a:xfrm>
            <a:off x="5136000" y="323999"/>
            <a:ext cx="6730700" cy="2941488"/>
          </a:xfrm>
          <a:custGeom>
            <a:avLst/>
            <a:gdLst>
              <a:gd name="csX0" fmla="*/ 6217885 w 6730700"/>
              <a:gd name="csY0" fmla="*/ 721964 h 2941488"/>
              <a:gd name="csX1" fmla="*/ 6229568 w 6730700"/>
              <a:gd name="csY1" fmla="*/ 725951 h 2941488"/>
              <a:gd name="csX2" fmla="*/ 6229568 w 6730700"/>
              <a:gd name="csY2" fmla="*/ 769004 h 2941488"/>
              <a:gd name="csX3" fmla="*/ 6229450 w 6730700"/>
              <a:gd name="csY3" fmla="*/ 769004 h 2941488"/>
              <a:gd name="csX4" fmla="*/ 6218704 w 6730700"/>
              <a:gd name="csY4" fmla="*/ 773928 h 2941488"/>
              <a:gd name="csX5" fmla="*/ 6198494 w 6730700"/>
              <a:gd name="csY5" fmla="*/ 746950 h 2941488"/>
              <a:gd name="csX6" fmla="*/ 6217885 w 6730700"/>
              <a:gd name="csY6" fmla="*/ 721964 h 2941488"/>
              <a:gd name="csX7" fmla="*/ 6114913 w 6730700"/>
              <a:gd name="csY7" fmla="*/ 721224 h 2941488"/>
              <a:gd name="csX8" fmla="*/ 6125669 w 6730700"/>
              <a:gd name="csY8" fmla="*/ 725329 h 2941488"/>
              <a:gd name="csX9" fmla="*/ 6131402 w 6730700"/>
              <a:gd name="csY9" fmla="*/ 747749 h 2941488"/>
              <a:gd name="csX10" fmla="*/ 6125669 w 6730700"/>
              <a:gd name="csY10" fmla="*/ 770050 h 2941488"/>
              <a:gd name="csX11" fmla="*/ 6114913 w 6730700"/>
              <a:gd name="csY11" fmla="*/ 774037 h 2941488"/>
              <a:gd name="csX12" fmla="*/ 6104394 w 6730700"/>
              <a:gd name="csY12" fmla="*/ 770050 h 2941488"/>
              <a:gd name="csX13" fmla="*/ 6098660 w 6730700"/>
              <a:gd name="csY13" fmla="*/ 747749 h 2941488"/>
              <a:gd name="csX14" fmla="*/ 6104394 w 6730700"/>
              <a:gd name="csY14" fmla="*/ 725329 h 2941488"/>
              <a:gd name="csX15" fmla="*/ 6114913 w 6730700"/>
              <a:gd name="csY15" fmla="*/ 721224 h 2941488"/>
              <a:gd name="csX16" fmla="*/ 5965236 w 6730700"/>
              <a:gd name="csY16" fmla="*/ 721224 h 2941488"/>
              <a:gd name="csX17" fmla="*/ 5975805 w 6730700"/>
              <a:gd name="csY17" fmla="*/ 725329 h 2941488"/>
              <a:gd name="csX18" fmla="*/ 5981558 w 6730700"/>
              <a:gd name="csY18" fmla="*/ 747749 h 2941488"/>
              <a:gd name="csX19" fmla="*/ 5975805 w 6730700"/>
              <a:gd name="csY19" fmla="*/ 770050 h 2941488"/>
              <a:gd name="csX20" fmla="*/ 5965236 w 6730700"/>
              <a:gd name="csY20" fmla="*/ 774037 h 2941488"/>
              <a:gd name="csX21" fmla="*/ 5954431 w 6730700"/>
              <a:gd name="csY21" fmla="*/ 770050 h 2941488"/>
              <a:gd name="csX22" fmla="*/ 5948678 w 6730700"/>
              <a:gd name="csY22" fmla="*/ 747749 h 2941488"/>
              <a:gd name="csX23" fmla="*/ 5954431 w 6730700"/>
              <a:gd name="csY23" fmla="*/ 725329 h 2941488"/>
              <a:gd name="csX24" fmla="*/ 5965236 w 6730700"/>
              <a:gd name="csY24" fmla="*/ 721224 h 2941488"/>
              <a:gd name="csX25" fmla="*/ 5853216 w 6730700"/>
              <a:gd name="csY25" fmla="*/ 721224 h 2941488"/>
              <a:gd name="csX26" fmla="*/ 5863903 w 6730700"/>
              <a:gd name="csY26" fmla="*/ 725329 h 2941488"/>
              <a:gd name="csX27" fmla="*/ 5869655 w 6730700"/>
              <a:gd name="csY27" fmla="*/ 747749 h 2941488"/>
              <a:gd name="csX28" fmla="*/ 5863903 w 6730700"/>
              <a:gd name="csY28" fmla="*/ 770050 h 2941488"/>
              <a:gd name="csX29" fmla="*/ 5853216 w 6730700"/>
              <a:gd name="csY29" fmla="*/ 774037 h 2941488"/>
              <a:gd name="csX30" fmla="*/ 5842647 w 6730700"/>
              <a:gd name="csY30" fmla="*/ 770050 h 2941488"/>
              <a:gd name="csX31" fmla="*/ 5836894 w 6730700"/>
              <a:gd name="csY31" fmla="*/ 747749 h 2941488"/>
              <a:gd name="csX32" fmla="*/ 5842647 w 6730700"/>
              <a:gd name="csY32" fmla="*/ 725329 h 2941488"/>
              <a:gd name="csX33" fmla="*/ 5853216 w 6730700"/>
              <a:gd name="csY33" fmla="*/ 721224 h 2941488"/>
              <a:gd name="csX34" fmla="*/ 6256725 w 6730700"/>
              <a:gd name="csY34" fmla="*/ 715787 h 2941488"/>
              <a:gd name="csX35" fmla="*/ 6254633 w 6730700"/>
              <a:gd name="csY35" fmla="*/ 718007 h 2941488"/>
              <a:gd name="csX36" fmla="*/ 6254633 w 6730700"/>
              <a:gd name="csY36" fmla="*/ 777086 h 2941488"/>
              <a:gd name="csX37" fmla="*/ 6256498 w 6730700"/>
              <a:gd name="csY37" fmla="*/ 779306 h 2941488"/>
              <a:gd name="csX38" fmla="*/ 6263129 w 6730700"/>
              <a:gd name="csY38" fmla="*/ 779306 h 2941488"/>
              <a:gd name="csX39" fmla="*/ 6265448 w 6730700"/>
              <a:gd name="csY39" fmla="*/ 777086 h 2941488"/>
              <a:gd name="csX40" fmla="*/ 6265448 w 6730700"/>
              <a:gd name="csY40" fmla="*/ 718007 h 2941488"/>
              <a:gd name="csX41" fmla="*/ 6263119 w 6730700"/>
              <a:gd name="csY41" fmla="*/ 715787 h 2941488"/>
              <a:gd name="csX42" fmla="*/ 6256725 w 6730700"/>
              <a:gd name="csY42" fmla="*/ 715787 h 2941488"/>
              <a:gd name="csX43" fmla="*/ 6364502 w 6730700"/>
              <a:gd name="csY43" fmla="*/ 715481 h 2941488"/>
              <a:gd name="csX44" fmla="*/ 6360742 w 6730700"/>
              <a:gd name="csY44" fmla="*/ 717474 h 2941488"/>
              <a:gd name="csX45" fmla="*/ 6338994 w 6730700"/>
              <a:gd name="csY45" fmla="*/ 744769 h 2941488"/>
              <a:gd name="csX46" fmla="*/ 6338520 w 6730700"/>
              <a:gd name="csY46" fmla="*/ 745469 h 2941488"/>
              <a:gd name="csX47" fmla="*/ 6338638 w 6730700"/>
              <a:gd name="csY47" fmla="*/ 746170 h 2941488"/>
              <a:gd name="csX48" fmla="*/ 6360506 w 6730700"/>
              <a:gd name="csY48" fmla="*/ 777442 h 2941488"/>
              <a:gd name="csX49" fmla="*/ 6364147 w 6730700"/>
              <a:gd name="csY49" fmla="*/ 779316 h 2941488"/>
              <a:gd name="csX50" fmla="*/ 6372495 w 6730700"/>
              <a:gd name="csY50" fmla="*/ 779316 h 2941488"/>
              <a:gd name="csX51" fmla="*/ 6374252 w 6730700"/>
              <a:gd name="csY51" fmla="*/ 777787 h 2941488"/>
              <a:gd name="csX52" fmla="*/ 6373433 w 6730700"/>
              <a:gd name="csY52" fmla="*/ 776267 h 2941488"/>
              <a:gd name="csX53" fmla="*/ 6350154 w 6730700"/>
              <a:gd name="csY53" fmla="*/ 745460 h 2941488"/>
              <a:gd name="csX54" fmla="*/ 6349917 w 6730700"/>
              <a:gd name="csY54" fmla="*/ 745223 h 2941488"/>
              <a:gd name="csX55" fmla="*/ 6371903 w 6730700"/>
              <a:gd name="csY55" fmla="*/ 719339 h 2941488"/>
              <a:gd name="csX56" fmla="*/ 6372495 w 6730700"/>
              <a:gd name="csY56" fmla="*/ 716882 h 2941488"/>
              <a:gd name="csX57" fmla="*/ 6370265 w 6730700"/>
              <a:gd name="csY57" fmla="*/ 715481 h 2941488"/>
              <a:gd name="csX58" fmla="*/ 6364502 w 6730700"/>
              <a:gd name="csY58" fmla="*/ 715481 h 2941488"/>
              <a:gd name="csX59" fmla="*/ 5884467 w 6730700"/>
              <a:gd name="csY59" fmla="*/ 715481 h 2941488"/>
              <a:gd name="csX60" fmla="*/ 5882819 w 6730700"/>
              <a:gd name="csY60" fmla="*/ 717119 h 2941488"/>
              <a:gd name="csX61" fmla="*/ 5883293 w 6730700"/>
              <a:gd name="csY61" fmla="*/ 718875 h 2941488"/>
              <a:gd name="csX62" fmla="*/ 5905476 w 6730700"/>
              <a:gd name="csY62" fmla="*/ 777422 h 2941488"/>
              <a:gd name="csX63" fmla="*/ 5907469 w 6730700"/>
              <a:gd name="csY63" fmla="*/ 779297 h 2941488"/>
              <a:gd name="csX64" fmla="*/ 5912285 w 6730700"/>
              <a:gd name="csY64" fmla="*/ 779297 h 2941488"/>
              <a:gd name="csX65" fmla="*/ 5914515 w 6730700"/>
              <a:gd name="csY65" fmla="*/ 777422 h 2941488"/>
              <a:gd name="csX66" fmla="*/ 5936116 w 6730700"/>
              <a:gd name="csY66" fmla="*/ 718648 h 2941488"/>
              <a:gd name="csX67" fmla="*/ 5936353 w 6730700"/>
              <a:gd name="csY67" fmla="*/ 716774 h 2941488"/>
              <a:gd name="csX68" fmla="*/ 5934823 w 6730700"/>
              <a:gd name="csY68" fmla="*/ 715481 h 2941488"/>
              <a:gd name="csX69" fmla="*/ 5928715 w 6730700"/>
              <a:gd name="csY69" fmla="*/ 715481 h 2941488"/>
              <a:gd name="csX70" fmla="*/ 5927185 w 6730700"/>
              <a:gd name="csY70" fmla="*/ 717237 h 2941488"/>
              <a:gd name="csX71" fmla="*/ 5911219 w 6730700"/>
              <a:gd name="csY71" fmla="*/ 764169 h 2941488"/>
              <a:gd name="csX72" fmla="*/ 5894789 w 6730700"/>
              <a:gd name="csY72" fmla="*/ 717474 h 2941488"/>
              <a:gd name="csX73" fmla="*/ 5891977 w 6730700"/>
              <a:gd name="csY73" fmla="*/ 715481 h 2941488"/>
              <a:gd name="csX74" fmla="*/ 5884467 w 6730700"/>
              <a:gd name="csY74" fmla="*/ 715481 h 2941488"/>
              <a:gd name="csX75" fmla="*/ 6298387 w 6730700"/>
              <a:gd name="csY75" fmla="*/ 714415 h 2941488"/>
              <a:gd name="csX76" fmla="*/ 6277368 w 6730700"/>
              <a:gd name="csY76" fmla="*/ 731901 h 2941488"/>
              <a:gd name="csX77" fmla="*/ 6293927 w 6730700"/>
              <a:gd name="csY77" fmla="*/ 750917 h 2941488"/>
              <a:gd name="csX78" fmla="*/ 6307545 w 6730700"/>
              <a:gd name="csY78" fmla="*/ 763241 h 2941488"/>
              <a:gd name="csX79" fmla="*/ 6294983 w 6730700"/>
              <a:gd name="csY79" fmla="*/ 774037 h 2941488"/>
              <a:gd name="csX80" fmla="*/ 6279599 w 6730700"/>
              <a:gd name="csY80" fmla="*/ 767583 h 2941488"/>
              <a:gd name="csX81" fmla="*/ 6275020 w 6730700"/>
              <a:gd name="csY81" fmla="*/ 771688 h 2941488"/>
              <a:gd name="csX82" fmla="*/ 6294746 w 6730700"/>
              <a:gd name="csY82" fmla="*/ 781083 h 2941488"/>
              <a:gd name="csX83" fmla="*/ 6317294 w 6730700"/>
              <a:gd name="csY83" fmla="*/ 762067 h 2941488"/>
              <a:gd name="csX84" fmla="*/ 6287118 w 6730700"/>
              <a:gd name="csY84" fmla="*/ 730845 h 2941488"/>
              <a:gd name="csX85" fmla="*/ 6297686 w 6730700"/>
              <a:gd name="csY85" fmla="*/ 721451 h 2941488"/>
              <a:gd name="csX86" fmla="*/ 6310367 w 6730700"/>
              <a:gd name="csY86" fmla="*/ 726148 h 2941488"/>
              <a:gd name="csX87" fmla="*/ 6314945 w 6730700"/>
              <a:gd name="csY87" fmla="*/ 721806 h 2941488"/>
              <a:gd name="csX88" fmla="*/ 6298387 w 6730700"/>
              <a:gd name="csY88" fmla="*/ 714415 h 2941488"/>
              <a:gd name="csX89" fmla="*/ 6170380 w 6730700"/>
              <a:gd name="csY89" fmla="*/ 714060 h 2941488"/>
              <a:gd name="csX90" fmla="*/ 6156427 w 6730700"/>
              <a:gd name="csY90" fmla="*/ 715935 h 2941488"/>
              <a:gd name="csX91" fmla="*/ 6150684 w 6730700"/>
              <a:gd name="csY91" fmla="*/ 720958 h 2941488"/>
              <a:gd name="csX92" fmla="*/ 6150684 w 6730700"/>
              <a:gd name="csY92" fmla="*/ 776968 h 2941488"/>
              <a:gd name="csX93" fmla="*/ 6153151 w 6730700"/>
              <a:gd name="csY93" fmla="*/ 778951 h 2941488"/>
              <a:gd name="csX94" fmla="*/ 6159368 w 6730700"/>
              <a:gd name="csY94" fmla="*/ 778951 h 2941488"/>
              <a:gd name="csX95" fmla="*/ 6161598 w 6730700"/>
              <a:gd name="csY95" fmla="*/ 776968 h 2941488"/>
              <a:gd name="csX96" fmla="*/ 6161598 w 6730700"/>
              <a:gd name="csY96" fmla="*/ 725635 h 2941488"/>
              <a:gd name="csX97" fmla="*/ 6167815 w 6730700"/>
              <a:gd name="csY97" fmla="*/ 720139 h 2941488"/>
              <a:gd name="csX98" fmla="*/ 6181067 w 6730700"/>
              <a:gd name="csY98" fmla="*/ 725872 h 2941488"/>
              <a:gd name="csX99" fmla="*/ 6186445 w 6730700"/>
              <a:gd name="csY99" fmla="*/ 720494 h 2941488"/>
              <a:gd name="csX100" fmla="*/ 6170380 w 6730700"/>
              <a:gd name="csY100" fmla="*/ 714060 h 2941488"/>
              <a:gd name="csX101" fmla="*/ 6114923 w 6730700"/>
              <a:gd name="csY101" fmla="*/ 714060 h 2941488"/>
              <a:gd name="csX102" fmla="*/ 6099025 w 6730700"/>
              <a:gd name="csY102" fmla="*/ 718639 h 2941488"/>
              <a:gd name="csX103" fmla="*/ 6087332 w 6730700"/>
              <a:gd name="csY103" fmla="*/ 747749 h 2941488"/>
              <a:gd name="csX104" fmla="*/ 6099025 w 6730700"/>
              <a:gd name="csY104" fmla="*/ 776741 h 2941488"/>
              <a:gd name="csX105" fmla="*/ 6114923 w 6730700"/>
              <a:gd name="csY105" fmla="*/ 781201 h 2941488"/>
              <a:gd name="csX106" fmla="*/ 6130820 w 6730700"/>
              <a:gd name="csY106" fmla="*/ 776741 h 2941488"/>
              <a:gd name="csX107" fmla="*/ 6142632 w 6730700"/>
              <a:gd name="csY107" fmla="*/ 747749 h 2941488"/>
              <a:gd name="csX108" fmla="*/ 6130820 w 6730700"/>
              <a:gd name="csY108" fmla="*/ 718639 h 2941488"/>
              <a:gd name="csX109" fmla="*/ 6114923 w 6730700"/>
              <a:gd name="csY109" fmla="*/ 714060 h 2941488"/>
              <a:gd name="csX110" fmla="*/ 6053110 w 6730700"/>
              <a:gd name="csY110" fmla="*/ 714060 h 2941488"/>
              <a:gd name="csX111" fmla="*/ 6034085 w 6730700"/>
              <a:gd name="csY111" fmla="*/ 717109 h 2941488"/>
              <a:gd name="csX112" fmla="*/ 6028598 w 6730700"/>
              <a:gd name="csY112" fmla="*/ 722152 h 2941488"/>
              <a:gd name="csX113" fmla="*/ 6028598 w 6730700"/>
              <a:gd name="csY113" fmla="*/ 777066 h 2941488"/>
              <a:gd name="csX114" fmla="*/ 6030937 w 6730700"/>
              <a:gd name="csY114" fmla="*/ 779297 h 2941488"/>
              <a:gd name="csX115" fmla="*/ 6037006 w 6730700"/>
              <a:gd name="csY115" fmla="*/ 779297 h 2941488"/>
              <a:gd name="csX116" fmla="*/ 6039571 w 6730700"/>
              <a:gd name="csY116" fmla="*/ 776830 h 2941488"/>
              <a:gd name="csX117" fmla="*/ 6039571 w 6730700"/>
              <a:gd name="csY117" fmla="*/ 726257 h 2941488"/>
              <a:gd name="csX118" fmla="*/ 6052765 w 6730700"/>
              <a:gd name="csY118" fmla="*/ 720740 h 2941488"/>
              <a:gd name="csX119" fmla="*/ 6067004 w 6730700"/>
              <a:gd name="csY119" fmla="*/ 735759 h 2941488"/>
              <a:gd name="csX120" fmla="*/ 6067004 w 6730700"/>
              <a:gd name="csY120" fmla="*/ 776830 h 2941488"/>
              <a:gd name="csX121" fmla="*/ 6069807 w 6730700"/>
              <a:gd name="csY121" fmla="*/ 779297 h 2941488"/>
              <a:gd name="csX122" fmla="*/ 6076576 w 6730700"/>
              <a:gd name="csY122" fmla="*/ 779297 h 2941488"/>
              <a:gd name="csX123" fmla="*/ 6077740 w 6730700"/>
              <a:gd name="csY123" fmla="*/ 776840 h 2941488"/>
              <a:gd name="csX124" fmla="*/ 6077740 w 6730700"/>
              <a:gd name="csY124" fmla="*/ 734358 h 2941488"/>
              <a:gd name="csX125" fmla="*/ 6053110 w 6730700"/>
              <a:gd name="csY125" fmla="*/ 714060 h 2941488"/>
              <a:gd name="csX126" fmla="*/ 5965009 w 6730700"/>
              <a:gd name="csY126" fmla="*/ 714060 h 2941488"/>
              <a:gd name="csX127" fmla="*/ 5949043 w 6730700"/>
              <a:gd name="csY127" fmla="*/ 718639 h 2941488"/>
              <a:gd name="csX128" fmla="*/ 5937300 w 6730700"/>
              <a:gd name="csY128" fmla="*/ 747749 h 2941488"/>
              <a:gd name="csX129" fmla="*/ 5949043 w 6730700"/>
              <a:gd name="csY129" fmla="*/ 776741 h 2941488"/>
              <a:gd name="csX130" fmla="*/ 5965009 w 6730700"/>
              <a:gd name="csY130" fmla="*/ 781201 h 2941488"/>
              <a:gd name="csX131" fmla="*/ 5980976 w 6730700"/>
              <a:gd name="csY131" fmla="*/ 776741 h 2941488"/>
              <a:gd name="csX132" fmla="*/ 5992837 w 6730700"/>
              <a:gd name="csY132" fmla="*/ 747749 h 2941488"/>
              <a:gd name="csX133" fmla="*/ 5980976 w 6730700"/>
              <a:gd name="csY133" fmla="*/ 718639 h 2941488"/>
              <a:gd name="csX134" fmla="*/ 5965009 w 6730700"/>
              <a:gd name="csY134" fmla="*/ 714060 h 2941488"/>
              <a:gd name="csX135" fmla="*/ 5853225 w 6730700"/>
              <a:gd name="csY135" fmla="*/ 714060 h 2941488"/>
              <a:gd name="csX136" fmla="*/ 5837259 w 6730700"/>
              <a:gd name="csY136" fmla="*/ 718639 h 2941488"/>
              <a:gd name="csX137" fmla="*/ 5825398 w 6730700"/>
              <a:gd name="csY137" fmla="*/ 747749 h 2941488"/>
              <a:gd name="csX138" fmla="*/ 5837259 w 6730700"/>
              <a:gd name="csY138" fmla="*/ 776741 h 2941488"/>
              <a:gd name="csX139" fmla="*/ 5853225 w 6730700"/>
              <a:gd name="csY139" fmla="*/ 781201 h 2941488"/>
              <a:gd name="csX140" fmla="*/ 5869192 w 6730700"/>
              <a:gd name="csY140" fmla="*/ 776741 h 2941488"/>
              <a:gd name="csX141" fmla="*/ 5880935 w 6730700"/>
              <a:gd name="csY141" fmla="*/ 747749 h 2941488"/>
              <a:gd name="csX142" fmla="*/ 5869192 w 6730700"/>
              <a:gd name="csY142" fmla="*/ 718639 h 2941488"/>
              <a:gd name="csX143" fmla="*/ 5853225 w 6730700"/>
              <a:gd name="csY143" fmla="*/ 714060 h 2941488"/>
              <a:gd name="csX144" fmla="*/ 5791294 w 6730700"/>
              <a:gd name="csY144" fmla="*/ 714060 h 2941488"/>
              <a:gd name="csX145" fmla="*/ 5772180 w 6730700"/>
              <a:gd name="csY145" fmla="*/ 717109 h 2941488"/>
              <a:gd name="csX146" fmla="*/ 5766664 w 6730700"/>
              <a:gd name="csY146" fmla="*/ 722152 h 2941488"/>
              <a:gd name="csX147" fmla="*/ 5766664 w 6730700"/>
              <a:gd name="csY147" fmla="*/ 777066 h 2941488"/>
              <a:gd name="csX148" fmla="*/ 5768894 w 6730700"/>
              <a:gd name="csY148" fmla="*/ 779297 h 2941488"/>
              <a:gd name="csX149" fmla="*/ 5774993 w 6730700"/>
              <a:gd name="csY149" fmla="*/ 779297 h 2941488"/>
              <a:gd name="csX150" fmla="*/ 5777568 w 6730700"/>
              <a:gd name="csY150" fmla="*/ 776830 h 2941488"/>
              <a:gd name="csX151" fmla="*/ 5777568 w 6730700"/>
              <a:gd name="csY151" fmla="*/ 726257 h 2941488"/>
              <a:gd name="csX152" fmla="*/ 5790821 w 6730700"/>
              <a:gd name="csY152" fmla="*/ 720740 h 2941488"/>
              <a:gd name="csX153" fmla="*/ 5805129 w 6730700"/>
              <a:gd name="csY153" fmla="*/ 735759 h 2941488"/>
              <a:gd name="csX154" fmla="*/ 5805129 w 6730700"/>
              <a:gd name="csY154" fmla="*/ 776830 h 2941488"/>
              <a:gd name="csX155" fmla="*/ 5807942 w 6730700"/>
              <a:gd name="csY155" fmla="*/ 779297 h 2941488"/>
              <a:gd name="csX156" fmla="*/ 5814740 w 6730700"/>
              <a:gd name="csY156" fmla="*/ 779297 h 2941488"/>
              <a:gd name="csX157" fmla="*/ 5816043 w 6730700"/>
              <a:gd name="csY157" fmla="*/ 776840 h 2941488"/>
              <a:gd name="csX158" fmla="*/ 5816043 w 6730700"/>
              <a:gd name="csY158" fmla="*/ 734358 h 2941488"/>
              <a:gd name="csX159" fmla="*/ 5791294 w 6730700"/>
              <a:gd name="csY159" fmla="*/ 714060 h 2941488"/>
              <a:gd name="csX160" fmla="*/ 6231670 w 6730700"/>
              <a:gd name="csY160" fmla="*/ 692735 h 2941488"/>
              <a:gd name="csX161" fmla="*/ 6229450 w 6730700"/>
              <a:gd name="csY161" fmla="*/ 695548 h 2941488"/>
              <a:gd name="csX162" fmla="*/ 6229450 w 6730700"/>
              <a:gd name="csY162" fmla="*/ 717839 h 2941488"/>
              <a:gd name="csX163" fmla="*/ 6216128 w 6730700"/>
              <a:gd name="csY163" fmla="*/ 714435 h 2941488"/>
              <a:gd name="csX164" fmla="*/ 6187383 w 6730700"/>
              <a:gd name="csY164" fmla="*/ 747749 h 2941488"/>
              <a:gd name="csX165" fmla="*/ 6218348 w 6730700"/>
              <a:gd name="csY165" fmla="*/ 781181 h 2941488"/>
              <a:gd name="csX166" fmla="*/ 6240087 w 6730700"/>
              <a:gd name="csY166" fmla="*/ 772517 h 2941488"/>
              <a:gd name="csX167" fmla="*/ 6240087 w 6730700"/>
              <a:gd name="csY167" fmla="*/ 695202 h 2941488"/>
              <a:gd name="csX168" fmla="*/ 6237749 w 6730700"/>
              <a:gd name="csY168" fmla="*/ 692735 h 2941488"/>
              <a:gd name="csX169" fmla="*/ 6231670 w 6730700"/>
              <a:gd name="csY169" fmla="*/ 692735 h 2941488"/>
              <a:gd name="csX170" fmla="*/ 6328178 w 6730700"/>
              <a:gd name="csY170" fmla="*/ 692508 h 2941488"/>
              <a:gd name="csX171" fmla="*/ 6326175 w 6730700"/>
              <a:gd name="csY171" fmla="*/ 694502 h 2941488"/>
              <a:gd name="csX172" fmla="*/ 6326175 w 6730700"/>
              <a:gd name="csY172" fmla="*/ 777313 h 2941488"/>
              <a:gd name="csX173" fmla="*/ 6328178 w 6730700"/>
              <a:gd name="csY173" fmla="*/ 779188 h 2941488"/>
              <a:gd name="csX174" fmla="*/ 6334642 w 6730700"/>
              <a:gd name="csY174" fmla="*/ 779188 h 2941488"/>
              <a:gd name="csX175" fmla="*/ 6336872 w 6730700"/>
              <a:gd name="csY175" fmla="*/ 777431 h 2941488"/>
              <a:gd name="csX176" fmla="*/ 6336872 w 6730700"/>
              <a:gd name="csY176" fmla="*/ 694265 h 2941488"/>
              <a:gd name="csX177" fmla="*/ 6334642 w 6730700"/>
              <a:gd name="csY177" fmla="*/ 692508 h 2941488"/>
              <a:gd name="csX178" fmla="*/ 6328178 w 6730700"/>
              <a:gd name="csY178" fmla="*/ 692508 h 2941488"/>
              <a:gd name="csX179" fmla="*/ 6260336 w 6730700"/>
              <a:gd name="csY179" fmla="*/ 691798 h 2941488"/>
              <a:gd name="csX180" fmla="*/ 6253587 w 6730700"/>
              <a:gd name="csY180" fmla="*/ 698350 h 2941488"/>
              <a:gd name="csX181" fmla="*/ 6260100 w 6730700"/>
              <a:gd name="csY181" fmla="*/ 704784 h 2941488"/>
              <a:gd name="csX182" fmla="*/ 6266731 w 6730700"/>
              <a:gd name="csY182" fmla="*/ 697886 h 2941488"/>
              <a:gd name="csX183" fmla="*/ 6260336 w 6730700"/>
              <a:gd name="csY183" fmla="*/ 691798 h 2941488"/>
              <a:gd name="csX184" fmla="*/ 6390573 w 6730700"/>
              <a:gd name="csY184" fmla="*/ 682492 h 2941488"/>
              <a:gd name="csX185" fmla="*/ 6390813 w 6730700"/>
              <a:gd name="csY185" fmla="*/ 682669 h 2941488"/>
              <a:gd name="csX186" fmla="*/ 6390573 w 6730700"/>
              <a:gd name="csY186" fmla="*/ 682729 h 2941488"/>
              <a:gd name="csX187" fmla="*/ 6390573 w 6730700"/>
              <a:gd name="csY187" fmla="*/ 682492 h 2941488"/>
              <a:gd name="csX188" fmla="*/ 6383429 w 6730700"/>
              <a:gd name="csY188" fmla="*/ 673927 h 2941488"/>
              <a:gd name="csX189" fmla="*/ 6387287 w 6730700"/>
              <a:gd name="csY189" fmla="*/ 673927 h 2941488"/>
              <a:gd name="csX190" fmla="*/ 6392557 w 6730700"/>
              <a:gd name="csY190" fmla="*/ 677095 h 2941488"/>
              <a:gd name="csX191" fmla="*/ 6387642 w 6730700"/>
              <a:gd name="csY191" fmla="*/ 680262 h 2941488"/>
              <a:gd name="csX192" fmla="*/ 6383429 w 6730700"/>
              <a:gd name="csY192" fmla="*/ 680262 h 2941488"/>
              <a:gd name="csX193" fmla="*/ 6380153 w 6730700"/>
              <a:gd name="csY193" fmla="*/ 670986 h 2941488"/>
              <a:gd name="csX194" fmla="*/ 6380153 w 6730700"/>
              <a:gd name="csY194" fmla="*/ 692232 h 2941488"/>
              <a:gd name="csX195" fmla="*/ 6383666 w 6730700"/>
              <a:gd name="csY195" fmla="*/ 692232 h 2941488"/>
              <a:gd name="csX196" fmla="*/ 6383666 w 6730700"/>
              <a:gd name="csY196" fmla="*/ 683193 h 2941488"/>
              <a:gd name="csX197" fmla="*/ 6385659 w 6730700"/>
              <a:gd name="csY197" fmla="*/ 683193 h 2941488"/>
              <a:gd name="csX198" fmla="*/ 6391974 w 6730700"/>
              <a:gd name="csY198" fmla="*/ 688828 h 2941488"/>
              <a:gd name="csX199" fmla="*/ 6393849 w 6730700"/>
              <a:gd name="csY199" fmla="*/ 692114 h 2941488"/>
              <a:gd name="csX200" fmla="*/ 6397944 w 6730700"/>
              <a:gd name="csY200" fmla="*/ 692114 h 2941488"/>
              <a:gd name="csX201" fmla="*/ 6395369 w 6730700"/>
              <a:gd name="csY201" fmla="*/ 687890 h 2941488"/>
              <a:gd name="csX202" fmla="*/ 6392442 w 6730700"/>
              <a:gd name="csY202" fmla="*/ 683870 h 2941488"/>
              <a:gd name="csX203" fmla="*/ 6390813 w 6730700"/>
              <a:gd name="csY203" fmla="*/ 682669 h 2941488"/>
              <a:gd name="csX204" fmla="*/ 6393334 w 6730700"/>
              <a:gd name="csY204" fmla="*/ 682040 h 2941488"/>
              <a:gd name="csX205" fmla="*/ 6396543 w 6730700"/>
              <a:gd name="csY205" fmla="*/ 676739 h 2941488"/>
              <a:gd name="csX206" fmla="*/ 6394550 w 6730700"/>
              <a:gd name="csY206" fmla="*/ 672634 h 2941488"/>
              <a:gd name="csX207" fmla="*/ 6387642 w 6730700"/>
              <a:gd name="csY207" fmla="*/ 670986 h 2941488"/>
              <a:gd name="csX208" fmla="*/ 6380153 w 6730700"/>
              <a:gd name="csY208" fmla="*/ 670986 h 2941488"/>
              <a:gd name="csX209" fmla="*/ 6388462 w 6730700"/>
              <a:gd name="csY209" fmla="*/ 665125 h 2941488"/>
              <a:gd name="csX210" fmla="*/ 6404842 w 6730700"/>
              <a:gd name="csY210" fmla="*/ 681436 h 2941488"/>
              <a:gd name="csX211" fmla="*/ 6388462 w 6730700"/>
              <a:gd name="csY211" fmla="*/ 697985 h 2941488"/>
              <a:gd name="csX212" fmla="*/ 6372199 w 6730700"/>
              <a:gd name="csY212" fmla="*/ 681436 h 2941488"/>
              <a:gd name="csX213" fmla="*/ 6388462 w 6730700"/>
              <a:gd name="csY213" fmla="*/ 665125 h 2941488"/>
              <a:gd name="csX214" fmla="*/ 6388462 w 6730700"/>
              <a:gd name="csY214" fmla="*/ 661720 h 2941488"/>
              <a:gd name="csX215" fmla="*/ 6368923 w 6730700"/>
              <a:gd name="csY215" fmla="*/ 681436 h 2941488"/>
              <a:gd name="csX216" fmla="*/ 6388462 w 6730700"/>
              <a:gd name="csY216" fmla="*/ 701153 h 2941488"/>
              <a:gd name="csX217" fmla="*/ 6408000 w 6730700"/>
              <a:gd name="csY217" fmla="*/ 681436 h 2941488"/>
              <a:gd name="csX218" fmla="*/ 6388462 w 6730700"/>
              <a:gd name="csY218" fmla="*/ 661720 h 2941488"/>
              <a:gd name="csX219" fmla="*/ 6193357 w 6730700"/>
              <a:gd name="csY219" fmla="*/ 533825 h 2941488"/>
              <a:gd name="csX220" fmla="*/ 6195011 w 6730700"/>
              <a:gd name="csY220" fmla="*/ 534572 h 2941488"/>
              <a:gd name="csX221" fmla="*/ 6198178 w 6730700"/>
              <a:gd name="csY221" fmla="*/ 609944 h 2941488"/>
              <a:gd name="csX222" fmla="*/ 6194547 w 6730700"/>
              <a:gd name="csY222" fmla="*/ 609243 h 2941488"/>
              <a:gd name="csX223" fmla="*/ 6188685 w 6730700"/>
              <a:gd name="csY223" fmla="*/ 578297 h 2941488"/>
              <a:gd name="csX224" fmla="*/ 6192317 w 6730700"/>
              <a:gd name="csY224" fmla="*/ 534928 h 2941488"/>
              <a:gd name="csX225" fmla="*/ 6193357 w 6730700"/>
              <a:gd name="csY225" fmla="*/ 533825 h 2941488"/>
              <a:gd name="csX226" fmla="*/ 6057324 w 6730700"/>
              <a:gd name="csY226" fmla="*/ 488973 h 2941488"/>
              <a:gd name="csX227" fmla="*/ 6111627 w 6730700"/>
              <a:gd name="csY227" fmla="*/ 490848 h 2941488"/>
              <a:gd name="csX228" fmla="*/ 6110097 w 6730700"/>
              <a:gd name="csY228" fmla="*/ 520619 h 2941488"/>
              <a:gd name="csX229" fmla="*/ 6065415 w 6730700"/>
              <a:gd name="csY229" fmla="*/ 524724 h 2941488"/>
              <a:gd name="csX230" fmla="*/ 6059435 w 6730700"/>
              <a:gd name="csY230" fmla="*/ 517925 h 2941488"/>
              <a:gd name="csX231" fmla="*/ 6057324 w 6730700"/>
              <a:gd name="csY231" fmla="*/ 488973 h 2941488"/>
              <a:gd name="csX232" fmla="*/ 6152085 w 6730700"/>
              <a:gd name="csY232" fmla="*/ 486042 h 2941488"/>
              <a:gd name="csX233" fmla="*/ 6156072 w 6730700"/>
              <a:gd name="csY233" fmla="*/ 505502 h 2941488"/>
              <a:gd name="csX234" fmla="*/ 6146688 w 6730700"/>
              <a:gd name="csY234" fmla="*/ 512301 h 2941488"/>
              <a:gd name="csX235" fmla="*/ 6139060 w 6730700"/>
              <a:gd name="csY235" fmla="*/ 487799 h 2941488"/>
              <a:gd name="csX236" fmla="*/ 6152085 w 6730700"/>
              <a:gd name="csY236" fmla="*/ 486042 h 2941488"/>
              <a:gd name="csX237" fmla="*/ 6012296 w 6730700"/>
              <a:gd name="csY237" fmla="*/ 479253 h 2941488"/>
              <a:gd name="csX238" fmla="*/ 6029654 w 6730700"/>
              <a:gd name="csY238" fmla="*/ 483940 h 2941488"/>
              <a:gd name="csX239" fmla="*/ 6013707 w 6730700"/>
              <a:gd name="csY239" fmla="*/ 517935 h 2941488"/>
              <a:gd name="csX240" fmla="*/ 6006080 w 6730700"/>
              <a:gd name="csY240" fmla="*/ 511955 h 2941488"/>
              <a:gd name="csX241" fmla="*/ 6012296 w 6730700"/>
              <a:gd name="csY241" fmla="*/ 479253 h 2941488"/>
              <a:gd name="csX242" fmla="*/ 5992209 w 6730700"/>
              <a:gd name="csY242" fmla="*/ 472823 h 2941488"/>
              <a:gd name="csX243" fmla="*/ 6003277 w 6730700"/>
              <a:gd name="csY243" fmla="*/ 476440 h 2941488"/>
              <a:gd name="csX244" fmla="*/ 5995649 w 6730700"/>
              <a:gd name="csY244" fmla="*/ 516642 h 2941488"/>
              <a:gd name="csX245" fmla="*/ 6014763 w 6730700"/>
              <a:gd name="csY245" fmla="*/ 526609 h 2941488"/>
              <a:gd name="csX246" fmla="*/ 6038101 w 6730700"/>
              <a:gd name="csY246" fmla="*/ 485815 h 2941488"/>
              <a:gd name="csX247" fmla="*/ 6049123 w 6730700"/>
              <a:gd name="csY247" fmla="*/ 487808 h 2941488"/>
              <a:gd name="csX248" fmla="*/ 6052528 w 6730700"/>
              <a:gd name="csY248" fmla="*/ 526017 h 2941488"/>
              <a:gd name="csX249" fmla="*/ 6064488 w 6730700"/>
              <a:gd name="csY249" fmla="*/ 533517 h 2941488"/>
              <a:gd name="csX250" fmla="*/ 6117025 w 6730700"/>
              <a:gd name="csY250" fmla="*/ 526954 h 2941488"/>
              <a:gd name="csX251" fmla="*/ 6119955 w 6730700"/>
              <a:gd name="csY251" fmla="*/ 490147 h 2941488"/>
              <a:gd name="csX252" fmla="*/ 6130040 w 6730700"/>
              <a:gd name="csY252" fmla="*/ 488973 h 2941488"/>
              <a:gd name="csX253" fmla="*/ 6138487 w 6730700"/>
              <a:gd name="csY253" fmla="*/ 513120 h 2941488"/>
              <a:gd name="csX254" fmla="*/ 6156200 w 6730700"/>
              <a:gd name="csY254" fmla="*/ 516169 h 2941488"/>
              <a:gd name="csX255" fmla="*/ 6159832 w 6730700"/>
              <a:gd name="csY255" fmla="*/ 485105 h 2941488"/>
              <a:gd name="csX256" fmla="*/ 6180821 w 6730700"/>
              <a:gd name="csY256" fmla="*/ 517580 h 2941488"/>
              <a:gd name="csX257" fmla="*/ 6169098 w 6730700"/>
              <a:gd name="csY257" fmla="*/ 565992 h 2941488"/>
              <a:gd name="csX258" fmla="*/ 6100022 w 6730700"/>
              <a:gd name="csY258" fmla="*/ 550637 h 2941488"/>
              <a:gd name="csX259" fmla="*/ 6028835 w 6730700"/>
              <a:gd name="csY259" fmla="*/ 589083 h 2941488"/>
              <a:gd name="csX260" fmla="*/ 6025786 w 6730700"/>
              <a:gd name="csY260" fmla="*/ 589902 h 2941488"/>
              <a:gd name="csX261" fmla="*/ 5991189 w 6730700"/>
              <a:gd name="csY261" fmla="*/ 565054 h 2941488"/>
              <a:gd name="csX262" fmla="*/ 5964101 w 6730700"/>
              <a:gd name="csY262" fmla="*/ 532352 h 2941488"/>
              <a:gd name="csX263" fmla="*/ 5987913 w 6730700"/>
              <a:gd name="csY263" fmla="*/ 475622 h 2941488"/>
              <a:gd name="csX264" fmla="*/ 5992209 w 6730700"/>
              <a:gd name="csY264" fmla="*/ 472823 h 2941488"/>
              <a:gd name="csX265" fmla="*/ 5936176 w 6730700"/>
              <a:gd name="csY265" fmla="*/ 459523 h 2941488"/>
              <a:gd name="csX266" fmla="*/ 5925281 w 6730700"/>
              <a:gd name="csY266" fmla="*/ 467273 h 2941488"/>
              <a:gd name="csX267" fmla="*/ 5939441 w 6730700"/>
              <a:gd name="csY267" fmla="*/ 460386 h 2941488"/>
              <a:gd name="csX268" fmla="*/ 5936176 w 6730700"/>
              <a:gd name="csY268" fmla="*/ 459523 h 2941488"/>
              <a:gd name="csX269" fmla="*/ 5932776 w 6730700"/>
              <a:gd name="csY269" fmla="*/ 444794 h 2941488"/>
              <a:gd name="csX270" fmla="*/ 5955654 w 6730700"/>
              <a:gd name="csY270" fmla="*/ 454632 h 2941488"/>
              <a:gd name="csX271" fmla="*/ 5975588 w 6730700"/>
              <a:gd name="csY271" fmla="*/ 475730 h 2941488"/>
              <a:gd name="csX272" fmla="*/ 5952951 w 6730700"/>
              <a:gd name="csY272" fmla="*/ 525198 h 2941488"/>
              <a:gd name="csX273" fmla="*/ 5935711 w 6730700"/>
              <a:gd name="csY273" fmla="*/ 497884 h 2941488"/>
              <a:gd name="csX274" fmla="*/ 5911081 w 6730700"/>
              <a:gd name="csY274" fmla="*/ 490848 h 2941488"/>
              <a:gd name="csX275" fmla="*/ 5908732 w 6730700"/>
              <a:gd name="csY275" fmla="*/ 479717 h 2941488"/>
              <a:gd name="csX276" fmla="*/ 5915531 w 6730700"/>
              <a:gd name="csY276" fmla="*/ 470569 h 2941488"/>
              <a:gd name="csX277" fmla="*/ 5917998 w 6730700"/>
              <a:gd name="csY277" fmla="*/ 460257 h 2941488"/>
              <a:gd name="csX278" fmla="*/ 5928675 w 6730700"/>
              <a:gd name="csY278" fmla="*/ 447015 h 2941488"/>
              <a:gd name="csX279" fmla="*/ 5932776 w 6730700"/>
              <a:gd name="csY279" fmla="*/ 444794 h 2941488"/>
              <a:gd name="csX280" fmla="*/ 5904946 w 6730700"/>
              <a:gd name="csY280" fmla="*/ 389214 h 2941488"/>
              <a:gd name="csX281" fmla="*/ 5903216 w 6730700"/>
              <a:gd name="csY281" fmla="*/ 395691 h 2941488"/>
              <a:gd name="csX282" fmla="*/ 5915887 w 6730700"/>
              <a:gd name="csY282" fmla="*/ 433673 h 2941488"/>
              <a:gd name="csX283" fmla="*/ 5918817 w 6730700"/>
              <a:gd name="csY283" fmla="*/ 443048 h 2941488"/>
              <a:gd name="csX284" fmla="*/ 5908969 w 6730700"/>
              <a:gd name="csY284" fmla="*/ 457109 h 2941488"/>
              <a:gd name="csX285" fmla="*/ 5907913 w 6730700"/>
              <a:gd name="csY285" fmla="*/ 464145 h 2941488"/>
              <a:gd name="csX286" fmla="*/ 5897128 w 6730700"/>
              <a:gd name="csY286" fmla="*/ 478681 h 2941488"/>
              <a:gd name="csX287" fmla="*/ 5898766 w 6730700"/>
              <a:gd name="csY287" fmla="*/ 490522 h 2941488"/>
              <a:gd name="csX288" fmla="*/ 5908387 w 6730700"/>
              <a:gd name="csY288" fmla="*/ 500489 h 2941488"/>
              <a:gd name="csX289" fmla="*/ 5921284 w 6730700"/>
              <a:gd name="csY289" fmla="*/ 501900 h 2941488"/>
              <a:gd name="csX290" fmla="*/ 5936530 w 6730700"/>
              <a:gd name="csY290" fmla="*/ 513860 h 2941488"/>
              <a:gd name="csX291" fmla="*/ 5963736 w 6730700"/>
              <a:gd name="csY291" fmla="*/ 560742 h 2941488"/>
              <a:gd name="csX292" fmla="*/ 5969598 w 6730700"/>
              <a:gd name="csY292" fmla="*/ 584534 h 2941488"/>
              <a:gd name="csX293" fmla="*/ 5938405 w 6730700"/>
              <a:gd name="csY293" fmla="*/ 678308 h 2941488"/>
              <a:gd name="csX294" fmla="*/ 5940043 w 6730700"/>
              <a:gd name="csY294" fmla="*/ 687801 h 2941488"/>
              <a:gd name="csX295" fmla="*/ 5963973 w 6730700"/>
              <a:gd name="csY295" fmla="*/ 687801 h 2941488"/>
              <a:gd name="csX296" fmla="*/ 5969134 w 6730700"/>
              <a:gd name="csY296" fmla="*/ 681002 h 2941488"/>
              <a:gd name="csX297" fmla="*/ 6001037 w 6730700"/>
              <a:gd name="csY297" fmla="*/ 586290 h 2941488"/>
              <a:gd name="csX298" fmla="*/ 6033404 w 6730700"/>
              <a:gd name="csY298" fmla="*/ 679127 h 2941488"/>
              <a:gd name="csX299" fmla="*/ 6036808 w 6730700"/>
              <a:gd name="csY299" fmla="*/ 688038 h 2941488"/>
              <a:gd name="csX300" fmla="*/ 6057334 w 6730700"/>
              <a:gd name="csY300" fmla="*/ 688038 h 2941488"/>
              <a:gd name="csX301" fmla="*/ 6064014 w 6730700"/>
              <a:gd name="csY301" fmla="*/ 682058 h 2941488"/>
              <a:gd name="csX302" fmla="*/ 6042088 w 6730700"/>
              <a:gd name="csY302" fmla="*/ 596257 h 2941488"/>
              <a:gd name="csX303" fmla="*/ 6098147 w 6730700"/>
              <a:gd name="csY303" fmla="*/ 574340 h 2941488"/>
              <a:gd name="csX304" fmla="*/ 6129340 w 6730700"/>
              <a:gd name="csY304" fmla="*/ 598842 h 2941488"/>
              <a:gd name="csX305" fmla="*/ 6077148 w 6730700"/>
              <a:gd name="csY305" fmla="*/ 679137 h 2941488"/>
              <a:gd name="csX306" fmla="*/ 6079260 w 6730700"/>
              <a:gd name="csY306" fmla="*/ 687811 h 2941488"/>
              <a:gd name="csX307" fmla="*/ 6100960 w 6730700"/>
              <a:gd name="csY307" fmla="*/ 687811 h 2941488"/>
              <a:gd name="csX308" fmla="*/ 6108933 w 6730700"/>
              <a:gd name="csY308" fmla="*/ 682769 h 2941488"/>
              <a:gd name="csX309" fmla="*/ 6156082 w 6730700"/>
              <a:gd name="csY309" fmla="*/ 606934 h 2941488"/>
              <a:gd name="csX310" fmla="*/ 6165111 w 6730700"/>
              <a:gd name="csY310" fmla="*/ 579392 h 2941488"/>
              <a:gd name="csX311" fmla="*/ 6156546 w 6730700"/>
              <a:gd name="csY311" fmla="*/ 679256 h 2941488"/>
              <a:gd name="csX312" fmla="*/ 6158657 w 6730700"/>
              <a:gd name="csY312" fmla="*/ 687693 h 2941488"/>
              <a:gd name="csX313" fmla="*/ 6178245 w 6730700"/>
              <a:gd name="csY313" fmla="*/ 687693 h 2941488"/>
              <a:gd name="csX314" fmla="*/ 6184344 w 6730700"/>
              <a:gd name="csY314" fmla="*/ 680193 h 2941488"/>
              <a:gd name="csX315" fmla="*/ 6189031 w 6730700"/>
              <a:gd name="csY315" fmla="*/ 663664 h 2941488"/>
              <a:gd name="csX316" fmla="*/ 6206744 w 6730700"/>
              <a:gd name="csY316" fmla="*/ 659096 h 2941488"/>
              <a:gd name="csX317" fmla="*/ 6211322 w 6730700"/>
              <a:gd name="csY317" fmla="*/ 652297 h 2941488"/>
              <a:gd name="csX318" fmla="*/ 6207326 w 6730700"/>
              <a:gd name="csY318" fmla="*/ 506212 h 2941488"/>
              <a:gd name="csX319" fmla="*/ 6160414 w 6730700"/>
              <a:gd name="csY319" fmla="*/ 475740 h 2941488"/>
              <a:gd name="csX320" fmla="*/ 6090164 w 6730700"/>
              <a:gd name="csY320" fmla="*/ 481128 h 2941488"/>
              <a:gd name="csX321" fmla="*/ 5976288 w 6730700"/>
              <a:gd name="csY321" fmla="*/ 454988 h 2941488"/>
              <a:gd name="csX322" fmla="*/ 5975933 w 6730700"/>
              <a:gd name="csY322" fmla="*/ 449827 h 2941488"/>
              <a:gd name="csX323" fmla="*/ 6005487 w 6730700"/>
              <a:gd name="csY323" fmla="*/ 426154 h 2941488"/>
              <a:gd name="csX324" fmla="*/ 6003139 w 6730700"/>
              <a:gd name="csY324" fmla="*/ 419828 h 2941488"/>
              <a:gd name="csX325" fmla="*/ 5943329 w 6730700"/>
              <a:gd name="csY325" fmla="*/ 430614 h 2941488"/>
              <a:gd name="csX326" fmla="*/ 5908259 w 6730700"/>
              <a:gd name="csY326" fmla="*/ 393461 h 2941488"/>
              <a:gd name="csX327" fmla="*/ 5904946 w 6730700"/>
              <a:gd name="csY327" fmla="*/ 389214 h 2941488"/>
              <a:gd name="csX328" fmla="*/ 5966647 w 6730700"/>
              <a:gd name="csY328" fmla="*/ 335359 h 2941488"/>
              <a:gd name="csX329" fmla="*/ 5998540 w 6730700"/>
              <a:gd name="csY329" fmla="*/ 367331 h 2941488"/>
              <a:gd name="csX330" fmla="*/ 5966647 w 6730700"/>
              <a:gd name="csY330" fmla="*/ 399303 h 2941488"/>
              <a:gd name="csX331" fmla="*/ 5934517 w 6730700"/>
              <a:gd name="csY331" fmla="*/ 367331 h 2941488"/>
              <a:gd name="csX332" fmla="*/ 5966647 w 6730700"/>
              <a:gd name="csY332" fmla="*/ 335359 h 2941488"/>
              <a:gd name="csX333" fmla="*/ 5965246 w 6730700"/>
              <a:gd name="csY333" fmla="*/ 324001 h 2941488"/>
              <a:gd name="csX334" fmla="*/ 5917051 w 6730700"/>
              <a:gd name="csY334" fmla="*/ 372374 h 2941488"/>
              <a:gd name="csX335" fmla="*/ 5965246 w 6730700"/>
              <a:gd name="csY335" fmla="*/ 420746 h 2941488"/>
              <a:gd name="csX336" fmla="*/ 6013441 w 6730700"/>
              <a:gd name="csY336" fmla="*/ 372374 h 2941488"/>
              <a:gd name="csX337" fmla="*/ 5965246 w 6730700"/>
              <a:gd name="csY337" fmla="*/ 324001 h 2941488"/>
              <a:gd name="csX338" fmla="*/ 0 w 6730700"/>
              <a:gd name="csY338" fmla="*/ 0 h 2941488"/>
              <a:gd name="csX339" fmla="*/ 6730700 w 6730700"/>
              <a:gd name="csY339" fmla="*/ 0 h 2941488"/>
              <a:gd name="csX340" fmla="*/ 6730700 w 6730700"/>
              <a:gd name="csY340" fmla="*/ 2941488 h 2941488"/>
              <a:gd name="csX341" fmla="*/ 0 w 6730700"/>
              <a:gd name="csY341" fmla="*/ 2941488 h 2941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6730700" h="2941488">
                <a:moveTo>
                  <a:pt x="6217885" y="721964"/>
                </a:moveTo>
                <a:cubicBezTo>
                  <a:pt x="6224190" y="721964"/>
                  <a:pt x="6227111" y="723957"/>
                  <a:pt x="6229568" y="725951"/>
                </a:cubicBezTo>
                <a:cubicBezTo>
                  <a:pt x="6229568" y="769004"/>
                  <a:pt x="6229568" y="769004"/>
                  <a:pt x="6229568" y="769004"/>
                </a:cubicBezTo>
                <a:lnTo>
                  <a:pt x="6229450" y="769004"/>
                </a:lnTo>
                <a:cubicBezTo>
                  <a:pt x="6229450" y="772172"/>
                  <a:pt x="6224190" y="773928"/>
                  <a:pt x="6218704" y="773928"/>
                </a:cubicBezTo>
                <a:cubicBezTo>
                  <a:pt x="6206902" y="773928"/>
                  <a:pt x="6198494" y="763952"/>
                  <a:pt x="6198494" y="746950"/>
                </a:cubicBezTo>
                <a:cubicBezTo>
                  <a:pt x="6198494" y="731931"/>
                  <a:pt x="6206675" y="721964"/>
                  <a:pt x="6217885" y="721964"/>
                </a:cubicBezTo>
                <a:close/>
                <a:moveTo>
                  <a:pt x="6114913" y="721224"/>
                </a:moveTo>
                <a:cubicBezTo>
                  <a:pt x="6119235" y="721224"/>
                  <a:pt x="6122393" y="722161"/>
                  <a:pt x="6125669" y="725329"/>
                </a:cubicBezTo>
                <a:cubicBezTo>
                  <a:pt x="6129182" y="728615"/>
                  <a:pt x="6131402" y="735898"/>
                  <a:pt x="6131402" y="747749"/>
                </a:cubicBezTo>
                <a:cubicBezTo>
                  <a:pt x="6131402" y="759255"/>
                  <a:pt x="6129182" y="766764"/>
                  <a:pt x="6125669" y="770050"/>
                </a:cubicBezTo>
                <a:cubicBezTo>
                  <a:pt x="6122393" y="773218"/>
                  <a:pt x="6119235" y="774037"/>
                  <a:pt x="6114913" y="774037"/>
                </a:cubicBezTo>
                <a:cubicBezTo>
                  <a:pt x="6110591" y="774037"/>
                  <a:pt x="6107660" y="773218"/>
                  <a:pt x="6104394" y="770050"/>
                </a:cubicBezTo>
                <a:cubicBezTo>
                  <a:pt x="6100999" y="766764"/>
                  <a:pt x="6098660" y="759482"/>
                  <a:pt x="6098660" y="747749"/>
                </a:cubicBezTo>
                <a:cubicBezTo>
                  <a:pt x="6098660" y="736125"/>
                  <a:pt x="6100999" y="728615"/>
                  <a:pt x="6104394" y="725329"/>
                </a:cubicBezTo>
                <a:cubicBezTo>
                  <a:pt x="6107670" y="722161"/>
                  <a:pt x="6110827" y="721224"/>
                  <a:pt x="6114913" y="721224"/>
                </a:cubicBezTo>
                <a:close/>
                <a:moveTo>
                  <a:pt x="5965236" y="721224"/>
                </a:moveTo>
                <a:cubicBezTo>
                  <a:pt x="5969588" y="721224"/>
                  <a:pt x="5972519" y="722161"/>
                  <a:pt x="5975805" y="725329"/>
                </a:cubicBezTo>
                <a:cubicBezTo>
                  <a:pt x="5979328" y="728615"/>
                  <a:pt x="5981558" y="735898"/>
                  <a:pt x="5981558" y="747749"/>
                </a:cubicBezTo>
                <a:cubicBezTo>
                  <a:pt x="5981558" y="759255"/>
                  <a:pt x="5979328" y="766764"/>
                  <a:pt x="5975805" y="770050"/>
                </a:cubicBezTo>
                <a:cubicBezTo>
                  <a:pt x="5972519" y="773218"/>
                  <a:pt x="5969351" y="774037"/>
                  <a:pt x="5965236" y="774037"/>
                </a:cubicBezTo>
                <a:cubicBezTo>
                  <a:pt x="5960894" y="774037"/>
                  <a:pt x="5957954" y="773218"/>
                  <a:pt x="5954431" y="770050"/>
                </a:cubicBezTo>
                <a:cubicBezTo>
                  <a:pt x="5951026" y="766764"/>
                  <a:pt x="5948678" y="759482"/>
                  <a:pt x="5948678" y="747749"/>
                </a:cubicBezTo>
                <a:cubicBezTo>
                  <a:pt x="5948678" y="736125"/>
                  <a:pt x="5951026" y="728615"/>
                  <a:pt x="5954431" y="725329"/>
                </a:cubicBezTo>
                <a:cubicBezTo>
                  <a:pt x="5957717" y="722161"/>
                  <a:pt x="5960884" y="721224"/>
                  <a:pt x="5965236" y="721224"/>
                </a:cubicBezTo>
                <a:close/>
                <a:moveTo>
                  <a:pt x="5853216" y="721224"/>
                </a:moveTo>
                <a:cubicBezTo>
                  <a:pt x="5857557" y="721224"/>
                  <a:pt x="5860498" y="722161"/>
                  <a:pt x="5863903" y="725329"/>
                </a:cubicBezTo>
                <a:cubicBezTo>
                  <a:pt x="5867317" y="728615"/>
                  <a:pt x="5869655" y="735898"/>
                  <a:pt x="5869655" y="747749"/>
                </a:cubicBezTo>
                <a:cubicBezTo>
                  <a:pt x="5869655" y="759255"/>
                  <a:pt x="5867425" y="766764"/>
                  <a:pt x="5863903" y="770050"/>
                </a:cubicBezTo>
                <a:cubicBezTo>
                  <a:pt x="5860616" y="773218"/>
                  <a:pt x="5857557" y="774037"/>
                  <a:pt x="5853216" y="774037"/>
                </a:cubicBezTo>
                <a:cubicBezTo>
                  <a:pt x="5848874" y="774037"/>
                  <a:pt x="5845933" y="773218"/>
                  <a:pt x="5842647" y="770050"/>
                </a:cubicBezTo>
                <a:cubicBezTo>
                  <a:pt x="5839124" y="766764"/>
                  <a:pt x="5836894" y="759482"/>
                  <a:pt x="5836894" y="747749"/>
                </a:cubicBezTo>
                <a:cubicBezTo>
                  <a:pt x="5836894" y="736125"/>
                  <a:pt x="5839124" y="728615"/>
                  <a:pt x="5842647" y="725329"/>
                </a:cubicBezTo>
                <a:cubicBezTo>
                  <a:pt x="5845933" y="722161"/>
                  <a:pt x="5848992" y="721224"/>
                  <a:pt x="5853216" y="721224"/>
                </a:cubicBezTo>
                <a:close/>
                <a:moveTo>
                  <a:pt x="6256725" y="715787"/>
                </a:moveTo>
                <a:cubicBezTo>
                  <a:pt x="6254633" y="715787"/>
                  <a:pt x="6254633" y="716487"/>
                  <a:pt x="6254633" y="718007"/>
                </a:cubicBezTo>
                <a:cubicBezTo>
                  <a:pt x="6254633" y="777086"/>
                  <a:pt x="6254633" y="777086"/>
                  <a:pt x="6254633" y="777086"/>
                </a:cubicBezTo>
                <a:cubicBezTo>
                  <a:pt x="6254633" y="778843"/>
                  <a:pt x="6254633" y="779306"/>
                  <a:pt x="6256498" y="779306"/>
                </a:cubicBezTo>
                <a:cubicBezTo>
                  <a:pt x="6263129" y="779306"/>
                  <a:pt x="6263129" y="779306"/>
                  <a:pt x="6263129" y="779306"/>
                </a:cubicBezTo>
                <a:cubicBezTo>
                  <a:pt x="6264984" y="779188"/>
                  <a:pt x="6265448" y="779188"/>
                  <a:pt x="6265448" y="777086"/>
                </a:cubicBezTo>
                <a:cubicBezTo>
                  <a:pt x="6265448" y="718007"/>
                  <a:pt x="6265448" y="718007"/>
                  <a:pt x="6265448" y="718007"/>
                </a:cubicBezTo>
                <a:cubicBezTo>
                  <a:pt x="6265448" y="716132"/>
                  <a:pt x="6264984" y="715787"/>
                  <a:pt x="6263119" y="715787"/>
                </a:cubicBezTo>
                <a:cubicBezTo>
                  <a:pt x="6256725" y="715787"/>
                  <a:pt x="6256725" y="715787"/>
                  <a:pt x="6256725" y="715787"/>
                </a:cubicBezTo>
                <a:close/>
                <a:moveTo>
                  <a:pt x="6364502" y="715481"/>
                </a:moveTo>
                <a:cubicBezTo>
                  <a:pt x="6362272" y="715481"/>
                  <a:pt x="6361443" y="715362"/>
                  <a:pt x="6360742" y="717474"/>
                </a:cubicBezTo>
                <a:cubicBezTo>
                  <a:pt x="6357220" y="728013"/>
                  <a:pt x="6348161" y="739381"/>
                  <a:pt x="6338994" y="744769"/>
                </a:cubicBezTo>
                <a:cubicBezTo>
                  <a:pt x="6338638" y="745124"/>
                  <a:pt x="6338520" y="745469"/>
                  <a:pt x="6338520" y="745469"/>
                </a:cubicBezTo>
                <a:cubicBezTo>
                  <a:pt x="6338520" y="745588"/>
                  <a:pt x="6338638" y="745933"/>
                  <a:pt x="6338638" y="746170"/>
                </a:cubicBezTo>
                <a:cubicBezTo>
                  <a:pt x="6360506" y="777442"/>
                  <a:pt x="6360506" y="777442"/>
                  <a:pt x="6360506" y="777442"/>
                </a:cubicBezTo>
                <a:cubicBezTo>
                  <a:pt x="6361798" y="779316"/>
                  <a:pt x="6362272" y="779316"/>
                  <a:pt x="6364147" y="779316"/>
                </a:cubicBezTo>
                <a:cubicBezTo>
                  <a:pt x="6372495" y="779316"/>
                  <a:pt x="6372495" y="779316"/>
                  <a:pt x="6372495" y="779316"/>
                </a:cubicBezTo>
                <a:cubicBezTo>
                  <a:pt x="6373077" y="779188"/>
                  <a:pt x="6374252" y="779188"/>
                  <a:pt x="6374252" y="777787"/>
                </a:cubicBezTo>
                <a:cubicBezTo>
                  <a:pt x="6374252" y="777323"/>
                  <a:pt x="6373896" y="776731"/>
                  <a:pt x="6373433" y="776267"/>
                </a:cubicBezTo>
                <a:cubicBezTo>
                  <a:pt x="6350154" y="745460"/>
                  <a:pt x="6350154" y="745460"/>
                  <a:pt x="6350154" y="745460"/>
                </a:cubicBezTo>
                <a:cubicBezTo>
                  <a:pt x="6349917" y="745223"/>
                  <a:pt x="6349917" y="745223"/>
                  <a:pt x="6349917" y="745223"/>
                </a:cubicBezTo>
                <a:cubicBezTo>
                  <a:pt x="6358147" y="739134"/>
                  <a:pt x="6366614" y="729641"/>
                  <a:pt x="6371903" y="719339"/>
                </a:cubicBezTo>
                <a:cubicBezTo>
                  <a:pt x="6372377" y="718165"/>
                  <a:pt x="6372495" y="717583"/>
                  <a:pt x="6372495" y="716882"/>
                </a:cubicBezTo>
                <a:cubicBezTo>
                  <a:pt x="6372495" y="715826"/>
                  <a:pt x="6371903" y="715481"/>
                  <a:pt x="6370265" y="715481"/>
                </a:cubicBezTo>
                <a:cubicBezTo>
                  <a:pt x="6364502" y="715481"/>
                  <a:pt x="6364502" y="715481"/>
                  <a:pt x="6364502" y="715481"/>
                </a:cubicBezTo>
                <a:close/>
                <a:moveTo>
                  <a:pt x="5884467" y="715481"/>
                </a:moveTo>
                <a:cubicBezTo>
                  <a:pt x="5883994" y="715481"/>
                  <a:pt x="5882819" y="715481"/>
                  <a:pt x="5882819" y="717119"/>
                </a:cubicBezTo>
                <a:cubicBezTo>
                  <a:pt x="5882819" y="717593"/>
                  <a:pt x="5882938" y="718175"/>
                  <a:pt x="5883293" y="718875"/>
                </a:cubicBezTo>
                <a:cubicBezTo>
                  <a:pt x="5905476" y="777422"/>
                  <a:pt x="5905476" y="777422"/>
                  <a:pt x="5905476" y="777422"/>
                </a:cubicBezTo>
                <a:cubicBezTo>
                  <a:pt x="5906177" y="778833"/>
                  <a:pt x="5906413" y="779297"/>
                  <a:pt x="5907469" y="779297"/>
                </a:cubicBezTo>
                <a:cubicBezTo>
                  <a:pt x="5912285" y="779297"/>
                  <a:pt x="5912285" y="779297"/>
                  <a:pt x="5912285" y="779297"/>
                </a:cubicBezTo>
                <a:cubicBezTo>
                  <a:pt x="5913696" y="779297"/>
                  <a:pt x="5914041" y="779060"/>
                  <a:pt x="5914515" y="777422"/>
                </a:cubicBezTo>
                <a:cubicBezTo>
                  <a:pt x="5936116" y="718648"/>
                  <a:pt x="5936116" y="718648"/>
                  <a:pt x="5936116" y="718648"/>
                </a:cubicBezTo>
                <a:cubicBezTo>
                  <a:pt x="5936353" y="717237"/>
                  <a:pt x="5936353" y="717119"/>
                  <a:pt x="5936353" y="716774"/>
                </a:cubicBezTo>
                <a:cubicBezTo>
                  <a:pt x="5936353" y="715481"/>
                  <a:pt x="5935415" y="715481"/>
                  <a:pt x="5934823" y="715481"/>
                </a:cubicBezTo>
                <a:cubicBezTo>
                  <a:pt x="5928715" y="715481"/>
                  <a:pt x="5928715" y="715481"/>
                  <a:pt x="5928715" y="715481"/>
                </a:cubicBezTo>
                <a:cubicBezTo>
                  <a:pt x="5927896" y="715718"/>
                  <a:pt x="5927777" y="716063"/>
                  <a:pt x="5927185" y="717237"/>
                </a:cubicBezTo>
                <a:cubicBezTo>
                  <a:pt x="5911219" y="764169"/>
                  <a:pt x="5911219" y="764169"/>
                  <a:pt x="5911219" y="764169"/>
                </a:cubicBezTo>
                <a:cubicBezTo>
                  <a:pt x="5894789" y="717474"/>
                  <a:pt x="5894789" y="717474"/>
                  <a:pt x="5894789" y="717474"/>
                </a:cubicBezTo>
                <a:cubicBezTo>
                  <a:pt x="5894088" y="715718"/>
                  <a:pt x="5893852" y="715481"/>
                  <a:pt x="5891977" y="715481"/>
                </a:cubicBezTo>
                <a:cubicBezTo>
                  <a:pt x="5884467" y="715481"/>
                  <a:pt x="5884467" y="715481"/>
                  <a:pt x="5884467" y="715481"/>
                </a:cubicBezTo>
                <a:close/>
                <a:moveTo>
                  <a:pt x="6298387" y="714415"/>
                </a:moveTo>
                <a:cubicBezTo>
                  <a:pt x="6287345" y="714415"/>
                  <a:pt x="6277368" y="720523"/>
                  <a:pt x="6277368" y="731901"/>
                </a:cubicBezTo>
                <a:cubicBezTo>
                  <a:pt x="6277368" y="742578"/>
                  <a:pt x="6284888" y="747038"/>
                  <a:pt x="6293927" y="750917"/>
                </a:cubicBezTo>
                <a:cubicBezTo>
                  <a:pt x="6300972" y="753847"/>
                  <a:pt x="6307545" y="756669"/>
                  <a:pt x="6307545" y="763241"/>
                </a:cubicBezTo>
                <a:cubicBezTo>
                  <a:pt x="6307545" y="768284"/>
                  <a:pt x="6303548" y="774037"/>
                  <a:pt x="6294983" y="774037"/>
                </a:cubicBezTo>
                <a:cubicBezTo>
                  <a:pt x="6286289" y="774037"/>
                  <a:pt x="6283832" y="767583"/>
                  <a:pt x="6279599" y="767583"/>
                </a:cubicBezTo>
                <a:cubicBezTo>
                  <a:pt x="6277605" y="767583"/>
                  <a:pt x="6275020" y="768521"/>
                  <a:pt x="6275020" y="771688"/>
                </a:cubicBezTo>
                <a:cubicBezTo>
                  <a:pt x="6275020" y="776731"/>
                  <a:pt x="6284888" y="781083"/>
                  <a:pt x="6294746" y="781083"/>
                </a:cubicBezTo>
                <a:cubicBezTo>
                  <a:pt x="6305897" y="781201"/>
                  <a:pt x="6317294" y="775330"/>
                  <a:pt x="6317294" y="762067"/>
                </a:cubicBezTo>
                <a:cubicBezTo>
                  <a:pt x="6317294" y="741295"/>
                  <a:pt x="6287118" y="744581"/>
                  <a:pt x="6287118" y="730845"/>
                </a:cubicBezTo>
                <a:cubicBezTo>
                  <a:pt x="6287118" y="726148"/>
                  <a:pt x="6290759" y="721451"/>
                  <a:pt x="6297686" y="721451"/>
                </a:cubicBezTo>
                <a:cubicBezTo>
                  <a:pt x="6304851" y="721451"/>
                  <a:pt x="6306725" y="726148"/>
                  <a:pt x="6310367" y="726148"/>
                </a:cubicBezTo>
                <a:cubicBezTo>
                  <a:pt x="6312242" y="726148"/>
                  <a:pt x="6314945" y="725092"/>
                  <a:pt x="6314945" y="721806"/>
                </a:cubicBezTo>
                <a:cubicBezTo>
                  <a:pt x="6314945" y="717109"/>
                  <a:pt x="6306962" y="714415"/>
                  <a:pt x="6298387" y="714415"/>
                </a:cubicBezTo>
                <a:close/>
                <a:moveTo>
                  <a:pt x="6170380" y="714060"/>
                </a:moveTo>
                <a:cubicBezTo>
                  <a:pt x="6163818" y="714060"/>
                  <a:pt x="6159713" y="715116"/>
                  <a:pt x="6156427" y="715935"/>
                </a:cubicBezTo>
                <a:cubicBezTo>
                  <a:pt x="6152204" y="716991"/>
                  <a:pt x="6150684" y="718974"/>
                  <a:pt x="6150684" y="720958"/>
                </a:cubicBezTo>
                <a:cubicBezTo>
                  <a:pt x="6150684" y="776968"/>
                  <a:pt x="6150684" y="776968"/>
                  <a:pt x="6150684" y="776968"/>
                </a:cubicBezTo>
                <a:cubicBezTo>
                  <a:pt x="6150684" y="778843"/>
                  <a:pt x="6151385" y="778951"/>
                  <a:pt x="6153151" y="778951"/>
                </a:cubicBezTo>
                <a:cubicBezTo>
                  <a:pt x="6159368" y="778951"/>
                  <a:pt x="6159368" y="778951"/>
                  <a:pt x="6159368" y="778951"/>
                </a:cubicBezTo>
                <a:cubicBezTo>
                  <a:pt x="6160887" y="778951"/>
                  <a:pt x="6161598" y="778833"/>
                  <a:pt x="6161598" y="776968"/>
                </a:cubicBezTo>
                <a:cubicBezTo>
                  <a:pt x="6161598" y="725635"/>
                  <a:pt x="6161598" y="725635"/>
                  <a:pt x="6161598" y="725635"/>
                </a:cubicBezTo>
                <a:cubicBezTo>
                  <a:pt x="6161598" y="722359"/>
                  <a:pt x="6164173" y="720139"/>
                  <a:pt x="6167815" y="720139"/>
                </a:cubicBezTo>
                <a:cubicBezTo>
                  <a:pt x="6175670" y="720139"/>
                  <a:pt x="6176844" y="725872"/>
                  <a:pt x="6181067" y="725872"/>
                </a:cubicBezTo>
                <a:cubicBezTo>
                  <a:pt x="6184097" y="725990"/>
                  <a:pt x="6186445" y="724115"/>
                  <a:pt x="6186445" y="720494"/>
                </a:cubicBezTo>
                <a:cubicBezTo>
                  <a:pt x="6186445" y="715935"/>
                  <a:pt x="6178946" y="714060"/>
                  <a:pt x="6170380" y="714060"/>
                </a:cubicBezTo>
                <a:close/>
                <a:moveTo>
                  <a:pt x="6114923" y="714060"/>
                </a:moveTo>
                <a:cubicBezTo>
                  <a:pt x="6109426" y="714060"/>
                  <a:pt x="6103584" y="715708"/>
                  <a:pt x="6099025" y="718639"/>
                </a:cubicBezTo>
                <a:cubicBezTo>
                  <a:pt x="6092009" y="723573"/>
                  <a:pt x="6087332" y="732957"/>
                  <a:pt x="6087332" y="747749"/>
                </a:cubicBezTo>
                <a:cubicBezTo>
                  <a:pt x="6087332" y="762422"/>
                  <a:pt x="6092009" y="771817"/>
                  <a:pt x="6099025" y="776741"/>
                </a:cubicBezTo>
                <a:cubicBezTo>
                  <a:pt x="6103348" y="779790"/>
                  <a:pt x="6109318" y="781201"/>
                  <a:pt x="6114923" y="781201"/>
                </a:cubicBezTo>
                <a:cubicBezTo>
                  <a:pt x="6120656" y="781201"/>
                  <a:pt x="6126498" y="779672"/>
                  <a:pt x="6130820" y="776741"/>
                </a:cubicBezTo>
                <a:cubicBezTo>
                  <a:pt x="6137954" y="771807"/>
                  <a:pt x="6142632" y="762422"/>
                  <a:pt x="6142632" y="747749"/>
                </a:cubicBezTo>
                <a:cubicBezTo>
                  <a:pt x="6142632" y="732957"/>
                  <a:pt x="6137954" y="723573"/>
                  <a:pt x="6130820" y="718639"/>
                </a:cubicBezTo>
                <a:cubicBezTo>
                  <a:pt x="6126379" y="715471"/>
                  <a:pt x="6120528" y="714060"/>
                  <a:pt x="6114923" y="714060"/>
                </a:cubicBezTo>
                <a:close/>
                <a:moveTo>
                  <a:pt x="6053110" y="714060"/>
                </a:moveTo>
                <a:cubicBezTo>
                  <a:pt x="6043775" y="714060"/>
                  <a:pt x="6037469" y="716053"/>
                  <a:pt x="6034085" y="717109"/>
                </a:cubicBezTo>
                <a:cubicBezTo>
                  <a:pt x="6029881" y="718520"/>
                  <a:pt x="6028598" y="720040"/>
                  <a:pt x="6028598" y="722152"/>
                </a:cubicBezTo>
                <a:cubicBezTo>
                  <a:pt x="6028598" y="777066"/>
                  <a:pt x="6028598" y="777066"/>
                  <a:pt x="6028598" y="777066"/>
                </a:cubicBezTo>
                <a:cubicBezTo>
                  <a:pt x="6028598" y="779060"/>
                  <a:pt x="6029062" y="779297"/>
                  <a:pt x="6030937" y="779297"/>
                </a:cubicBezTo>
                <a:cubicBezTo>
                  <a:pt x="6037006" y="779297"/>
                  <a:pt x="6037006" y="779297"/>
                  <a:pt x="6037006" y="779297"/>
                </a:cubicBezTo>
                <a:cubicBezTo>
                  <a:pt x="6038752" y="779297"/>
                  <a:pt x="6039571" y="779060"/>
                  <a:pt x="6039571" y="776830"/>
                </a:cubicBezTo>
                <a:cubicBezTo>
                  <a:pt x="6039571" y="726257"/>
                  <a:pt x="6039571" y="726257"/>
                  <a:pt x="6039571" y="726257"/>
                </a:cubicBezTo>
                <a:cubicBezTo>
                  <a:pt x="6039571" y="723553"/>
                  <a:pt x="6044239" y="720740"/>
                  <a:pt x="6052765" y="720740"/>
                </a:cubicBezTo>
                <a:cubicBezTo>
                  <a:pt x="6067004" y="720740"/>
                  <a:pt x="6067004" y="730006"/>
                  <a:pt x="6067004" y="735759"/>
                </a:cubicBezTo>
                <a:cubicBezTo>
                  <a:pt x="6067004" y="776830"/>
                  <a:pt x="6067004" y="776830"/>
                  <a:pt x="6067004" y="776830"/>
                </a:cubicBezTo>
                <a:cubicBezTo>
                  <a:pt x="6067004" y="779060"/>
                  <a:pt x="6067705" y="779297"/>
                  <a:pt x="6069807" y="779297"/>
                </a:cubicBezTo>
                <a:cubicBezTo>
                  <a:pt x="6076576" y="779297"/>
                  <a:pt x="6076576" y="779297"/>
                  <a:pt x="6076576" y="779297"/>
                </a:cubicBezTo>
                <a:cubicBezTo>
                  <a:pt x="6077740" y="779070"/>
                  <a:pt x="6077740" y="777895"/>
                  <a:pt x="6077740" y="776840"/>
                </a:cubicBezTo>
                <a:cubicBezTo>
                  <a:pt x="6077740" y="734358"/>
                  <a:pt x="6077740" y="734358"/>
                  <a:pt x="6077740" y="734358"/>
                </a:cubicBezTo>
                <a:cubicBezTo>
                  <a:pt x="6077740" y="726967"/>
                  <a:pt x="6077504" y="714060"/>
                  <a:pt x="6053110" y="714060"/>
                </a:cubicBezTo>
                <a:close/>
                <a:moveTo>
                  <a:pt x="5965009" y="714060"/>
                </a:moveTo>
                <a:cubicBezTo>
                  <a:pt x="5959375" y="714060"/>
                  <a:pt x="5953622" y="715708"/>
                  <a:pt x="5949043" y="718639"/>
                </a:cubicBezTo>
                <a:cubicBezTo>
                  <a:pt x="5941997" y="723573"/>
                  <a:pt x="5937300" y="732957"/>
                  <a:pt x="5937300" y="747749"/>
                </a:cubicBezTo>
                <a:cubicBezTo>
                  <a:pt x="5937300" y="762422"/>
                  <a:pt x="5941997" y="771817"/>
                  <a:pt x="5949043" y="776741"/>
                </a:cubicBezTo>
                <a:cubicBezTo>
                  <a:pt x="5953385" y="779790"/>
                  <a:pt x="5959375" y="781201"/>
                  <a:pt x="5965009" y="781201"/>
                </a:cubicBezTo>
                <a:cubicBezTo>
                  <a:pt x="5970762" y="781201"/>
                  <a:pt x="5976515" y="779672"/>
                  <a:pt x="5980976" y="776741"/>
                </a:cubicBezTo>
                <a:cubicBezTo>
                  <a:pt x="5988140" y="771807"/>
                  <a:pt x="5992837" y="762422"/>
                  <a:pt x="5992837" y="747749"/>
                </a:cubicBezTo>
                <a:cubicBezTo>
                  <a:pt x="5992837" y="732957"/>
                  <a:pt x="5988140" y="723573"/>
                  <a:pt x="5980976" y="718639"/>
                </a:cubicBezTo>
                <a:cubicBezTo>
                  <a:pt x="5976752" y="715471"/>
                  <a:pt x="5970762" y="714060"/>
                  <a:pt x="5965009" y="714060"/>
                </a:cubicBezTo>
                <a:close/>
                <a:moveTo>
                  <a:pt x="5853225" y="714060"/>
                </a:moveTo>
                <a:cubicBezTo>
                  <a:pt x="5847591" y="714060"/>
                  <a:pt x="5841719" y="715708"/>
                  <a:pt x="5837259" y="718639"/>
                </a:cubicBezTo>
                <a:cubicBezTo>
                  <a:pt x="5830095" y="723573"/>
                  <a:pt x="5825398" y="732957"/>
                  <a:pt x="5825398" y="747749"/>
                </a:cubicBezTo>
                <a:cubicBezTo>
                  <a:pt x="5825398" y="762422"/>
                  <a:pt x="5830095" y="771817"/>
                  <a:pt x="5837259" y="776741"/>
                </a:cubicBezTo>
                <a:cubicBezTo>
                  <a:pt x="5841601" y="779790"/>
                  <a:pt x="5847472" y="781201"/>
                  <a:pt x="5853225" y="781201"/>
                </a:cubicBezTo>
                <a:cubicBezTo>
                  <a:pt x="5858978" y="781201"/>
                  <a:pt x="5864613" y="779672"/>
                  <a:pt x="5869192" y="776741"/>
                </a:cubicBezTo>
                <a:cubicBezTo>
                  <a:pt x="5876237" y="771807"/>
                  <a:pt x="5880935" y="762422"/>
                  <a:pt x="5880935" y="747749"/>
                </a:cubicBezTo>
                <a:cubicBezTo>
                  <a:pt x="5880935" y="732957"/>
                  <a:pt x="5876237" y="723573"/>
                  <a:pt x="5869192" y="718639"/>
                </a:cubicBezTo>
                <a:cubicBezTo>
                  <a:pt x="5864613" y="715471"/>
                  <a:pt x="5858978" y="714060"/>
                  <a:pt x="5853225" y="714060"/>
                </a:cubicBezTo>
                <a:close/>
                <a:moveTo>
                  <a:pt x="5791294" y="714060"/>
                </a:moveTo>
                <a:cubicBezTo>
                  <a:pt x="5781910" y="714060"/>
                  <a:pt x="5775693" y="716053"/>
                  <a:pt x="5772180" y="717109"/>
                </a:cubicBezTo>
                <a:cubicBezTo>
                  <a:pt x="5768075" y="718520"/>
                  <a:pt x="5766664" y="720040"/>
                  <a:pt x="5766664" y="722152"/>
                </a:cubicBezTo>
                <a:cubicBezTo>
                  <a:pt x="5766664" y="777066"/>
                  <a:pt x="5766664" y="777066"/>
                  <a:pt x="5766664" y="777066"/>
                </a:cubicBezTo>
                <a:cubicBezTo>
                  <a:pt x="5766664" y="779060"/>
                  <a:pt x="5767138" y="779297"/>
                  <a:pt x="5768894" y="779297"/>
                </a:cubicBezTo>
                <a:cubicBezTo>
                  <a:pt x="5774993" y="779297"/>
                  <a:pt x="5774993" y="779297"/>
                  <a:pt x="5774993" y="779297"/>
                </a:cubicBezTo>
                <a:cubicBezTo>
                  <a:pt x="5776749" y="779297"/>
                  <a:pt x="5777568" y="779060"/>
                  <a:pt x="5777568" y="776830"/>
                </a:cubicBezTo>
                <a:cubicBezTo>
                  <a:pt x="5777568" y="726257"/>
                  <a:pt x="5777568" y="726257"/>
                  <a:pt x="5777568" y="726257"/>
                </a:cubicBezTo>
                <a:cubicBezTo>
                  <a:pt x="5777568" y="723553"/>
                  <a:pt x="5782255" y="720740"/>
                  <a:pt x="5790821" y="720740"/>
                </a:cubicBezTo>
                <a:cubicBezTo>
                  <a:pt x="5805129" y="720740"/>
                  <a:pt x="5805129" y="730006"/>
                  <a:pt x="5805129" y="735759"/>
                </a:cubicBezTo>
                <a:cubicBezTo>
                  <a:pt x="5805129" y="776830"/>
                  <a:pt x="5805129" y="776830"/>
                  <a:pt x="5805129" y="776830"/>
                </a:cubicBezTo>
                <a:cubicBezTo>
                  <a:pt x="5805129" y="779060"/>
                  <a:pt x="5805830" y="779297"/>
                  <a:pt x="5807942" y="779297"/>
                </a:cubicBezTo>
                <a:cubicBezTo>
                  <a:pt x="5814740" y="779297"/>
                  <a:pt x="5814740" y="779297"/>
                  <a:pt x="5814740" y="779297"/>
                </a:cubicBezTo>
                <a:cubicBezTo>
                  <a:pt x="5815925" y="779070"/>
                  <a:pt x="5816043" y="777895"/>
                  <a:pt x="5816043" y="776840"/>
                </a:cubicBezTo>
                <a:cubicBezTo>
                  <a:pt x="5816043" y="734358"/>
                  <a:pt x="5816043" y="734358"/>
                  <a:pt x="5816043" y="734358"/>
                </a:cubicBezTo>
                <a:cubicBezTo>
                  <a:pt x="5816043" y="726967"/>
                  <a:pt x="5815925" y="714060"/>
                  <a:pt x="5791294" y="714060"/>
                </a:cubicBezTo>
                <a:close/>
                <a:moveTo>
                  <a:pt x="6231670" y="692735"/>
                </a:moveTo>
                <a:cubicBezTo>
                  <a:pt x="6229568" y="692735"/>
                  <a:pt x="6229450" y="693436"/>
                  <a:pt x="6229450" y="695548"/>
                </a:cubicBezTo>
                <a:cubicBezTo>
                  <a:pt x="6229450" y="717839"/>
                  <a:pt x="6229450" y="717839"/>
                  <a:pt x="6229450" y="717839"/>
                </a:cubicBezTo>
                <a:cubicBezTo>
                  <a:pt x="6225591" y="715846"/>
                  <a:pt x="6221851" y="714435"/>
                  <a:pt x="6216128" y="714435"/>
                </a:cubicBezTo>
                <a:cubicBezTo>
                  <a:pt x="6197083" y="714435"/>
                  <a:pt x="6187383" y="732621"/>
                  <a:pt x="6187383" y="747749"/>
                </a:cubicBezTo>
                <a:cubicBezTo>
                  <a:pt x="6187383" y="770277"/>
                  <a:pt x="6199649" y="781181"/>
                  <a:pt x="6218348" y="781181"/>
                </a:cubicBezTo>
                <a:cubicBezTo>
                  <a:pt x="6227348" y="781201"/>
                  <a:pt x="6240087" y="776741"/>
                  <a:pt x="6240087" y="772517"/>
                </a:cubicBezTo>
                <a:cubicBezTo>
                  <a:pt x="6240087" y="695202"/>
                  <a:pt x="6240087" y="695202"/>
                  <a:pt x="6240087" y="695202"/>
                </a:cubicBezTo>
                <a:cubicBezTo>
                  <a:pt x="6240087" y="692854"/>
                  <a:pt x="6239387" y="692735"/>
                  <a:pt x="6237749" y="692735"/>
                </a:cubicBezTo>
                <a:cubicBezTo>
                  <a:pt x="6231670" y="692735"/>
                  <a:pt x="6231670" y="692735"/>
                  <a:pt x="6231670" y="692735"/>
                </a:cubicBezTo>
                <a:close/>
                <a:moveTo>
                  <a:pt x="6328178" y="692508"/>
                </a:moveTo>
                <a:cubicBezTo>
                  <a:pt x="6326886" y="692508"/>
                  <a:pt x="6326175" y="692745"/>
                  <a:pt x="6326175" y="694502"/>
                </a:cubicBezTo>
                <a:cubicBezTo>
                  <a:pt x="6326175" y="777313"/>
                  <a:pt x="6326175" y="777313"/>
                  <a:pt x="6326175" y="777313"/>
                </a:cubicBezTo>
                <a:cubicBezTo>
                  <a:pt x="6326175" y="778951"/>
                  <a:pt x="6326530" y="779188"/>
                  <a:pt x="6328178" y="779188"/>
                </a:cubicBezTo>
                <a:cubicBezTo>
                  <a:pt x="6334642" y="779188"/>
                  <a:pt x="6334642" y="779188"/>
                  <a:pt x="6334642" y="779188"/>
                </a:cubicBezTo>
                <a:cubicBezTo>
                  <a:pt x="6336161" y="779188"/>
                  <a:pt x="6336872" y="779188"/>
                  <a:pt x="6336872" y="777431"/>
                </a:cubicBezTo>
                <a:cubicBezTo>
                  <a:pt x="6336872" y="694265"/>
                  <a:pt x="6336872" y="694265"/>
                  <a:pt x="6336872" y="694265"/>
                </a:cubicBezTo>
                <a:cubicBezTo>
                  <a:pt x="6336872" y="692508"/>
                  <a:pt x="6336053" y="692508"/>
                  <a:pt x="6334642" y="692508"/>
                </a:cubicBezTo>
                <a:cubicBezTo>
                  <a:pt x="6328178" y="692508"/>
                  <a:pt x="6328178" y="692508"/>
                  <a:pt x="6328178" y="692508"/>
                </a:cubicBezTo>
                <a:close/>
                <a:moveTo>
                  <a:pt x="6260336" y="691798"/>
                </a:moveTo>
                <a:cubicBezTo>
                  <a:pt x="6256379" y="691798"/>
                  <a:pt x="6253587" y="694610"/>
                  <a:pt x="6253587" y="698350"/>
                </a:cubicBezTo>
                <a:cubicBezTo>
                  <a:pt x="6253587" y="701863"/>
                  <a:pt x="6256034" y="704784"/>
                  <a:pt x="6260100" y="704784"/>
                </a:cubicBezTo>
                <a:cubicBezTo>
                  <a:pt x="6264284" y="704666"/>
                  <a:pt x="6266849" y="701389"/>
                  <a:pt x="6266731" y="697886"/>
                </a:cubicBezTo>
                <a:cubicBezTo>
                  <a:pt x="6266494" y="694255"/>
                  <a:pt x="6263593" y="691798"/>
                  <a:pt x="6260336" y="691798"/>
                </a:cubicBezTo>
                <a:close/>
                <a:moveTo>
                  <a:pt x="6390573" y="682492"/>
                </a:moveTo>
                <a:lnTo>
                  <a:pt x="6390813" y="682669"/>
                </a:lnTo>
                <a:lnTo>
                  <a:pt x="6390573" y="682729"/>
                </a:lnTo>
                <a:cubicBezTo>
                  <a:pt x="6390573" y="682729"/>
                  <a:pt x="6390573" y="682729"/>
                  <a:pt x="6390573" y="682492"/>
                </a:cubicBezTo>
                <a:close/>
                <a:moveTo>
                  <a:pt x="6383429" y="673927"/>
                </a:moveTo>
                <a:cubicBezTo>
                  <a:pt x="6387287" y="673927"/>
                  <a:pt x="6387287" y="673927"/>
                  <a:pt x="6387287" y="673927"/>
                </a:cubicBezTo>
                <a:cubicBezTo>
                  <a:pt x="6389280" y="673927"/>
                  <a:pt x="6392557" y="673927"/>
                  <a:pt x="6392557" y="677095"/>
                </a:cubicBezTo>
                <a:cubicBezTo>
                  <a:pt x="6392557" y="680262"/>
                  <a:pt x="6389162" y="680262"/>
                  <a:pt x="6387642" y="680262"/>
                </a:cubicBezTo>
                <a:cubicBezTo>
                  <a:pt x="6383429" y="680262"/>
                  <a:pt x="6383429" y="680262"/>
                  <a:pt x="6383429" y="680262"/>
                </a:cubicBezTo>
                <a:close/>
                <a:moveTo>
                  <a:pt x="6380153" y="670986"/>
                </a:moveTo>
                <a:lnTo>
                  <a:pt x="6380153" y="692232"/>
                </a:lnTo>
                <a:cubicBezTo>
                  <a:pt x="6383666" y="692232"/>
                  <a:pt x="6383666" y="692232"/>
                  <a:pt x="6383666" y="692232"/>
                </a:cubicBezTo>
                <a:cubicBezTo>
                  <a:pt x="6383666" y="683193"/>
                  <a:pt x="6383666" y="683193"/>
                  <a:pt x="6383666" y="683193"/>
                </a:cubicBezTo>
                <a:cubicBezTo>
                  <a:pt x="6385659" y="683193"/>
                  <a:pt x="6385659" y="683193"/>
                  <a:pt x="6385659" y="683193"/>
                </a:cubicBezTo>
                <a:cubicBezTo>
                  <a:pt x="6388471" y="683193"/>
                  <a:pt x="6389517" y="684249"/>
                  <a:pt x="6391974" y="688828"/>
                </a:cubicBezTo>
                <a:cubicBezTo>
                  <a:pt x="6393849" y="692114"/>
                  <a:pt x="6393849" y="692114"/>
                  <a:pt x="6393849" y="692114"/>
                </a:cubicBezTo>
                <a:cubicBezTo>
                  <a:pt x="6397944" y="692114"/>
                  <a:pt x="6397944" y="692114"/>
                  <a:pt x="6397944" y="692114"/>
                </a:cubicBezTo>
                <a:cubicBezTo>
                  <a:pt x="6395369" y="687890"/>
                  <a:pt x="6395369" y="687890"/>
                  <a:pt x="6395369" y="687890"/>
                </a:cubicBezTo>
                <a:cubicBezTo>
                  <a:pt x="6394081" y="685838"/>
                  <a:pt x="6393173" y="684634"/>
                  <a:pt x="6392442" y="683870"/>
                </a:cubicBezTo>
                <a:lnTo>
                  <a:pt x="6390813" y="682669"/>
                </a:lnTo>
                <a:lnTo>
                  <a:pt x="6393334" y="682040"/>
                </a:lnTo>
                <a:cubicBezTo>
                  <a:pt x="6395622" y="680901"/>
                  <a:pt x="6396543" y="678590"/>
                  <a:pt x="6396543" y="676739"/>
                </a:cubicBezTo>
                <a:cubicBezTo>
                  <a:pt x="6396543" y="674983"/>
                  <a:pt x="6395724" y="673453"/>
                  <a:pt x="6394550" y="672634"/>
                </a:cubicBezTo>
                <a:cubicBezTo>
                  <a:pt x="6392794" y="670986"/>
                  <a:pt x="6389991" y="670986"/>
                  <a:pt x="6387642" y="670986"/>
                </a:cubicBezTo>
                <a:cubicBezTo>
                  <a:pt x="6380153" y="670986"/>
                  <a:pt x="6380153" y="670986"/>
                  <a:pt x="6380153" y="670986"/>
                </a:cubicBezTo>
                <a:close/>
                <a:moveTo>
                  <a:pt x="6388462" y="665125"/>
                </a:moveTo>
                <a:cubicBezTo>
                  <a:pt x="6397471" y="665125"/>
                  <a:pt x="6404842" y="672397"/>
                  <a:pt x="6404842" y="681436"/>
                </a:cubicBezTo>
                <a:cubicBezTo>
                  <a:pt x="6404842" y="690475"/>
                  <a:pt x="6397589" y="697985"/>
                  <a:pt x="6388462" y="697985"/>
                </a:cubicBezTo>
                <a:cubicBezTo>
                  <a:pt x="6379452" y="697985"/>
                  <a:pt x="6372199" y="690475"/>
                  <a:pt x="6372199" y="681436"/>
                </a:cubicBezTo>
                <a:cubicBezTo>
                  <a:pt x="6372081" y="672397"/>
                  <a:pt x="6379334" y="665125"/>
                  <a:pt x="6388462" y="665125"/>
                </a:cubicBezTo>
                <a:close/>
                <a:moveTo>
                  <a:pt x="6388462" y="661720"/>
                </a:moveTo>
                <a:cubicBezTo>
                  <a:pt x="6377696" y="661720"/>
                  <a:pt x="6368923" y="670523"/>
                  <a:pt x="6368923" y="681436"/>
                </a:cubicBezTo>
                <a:cubicBezTo>
                  <a:pt x="6368923" y="692469"/>
                  <a:pt x="6377696" y="701153"/>
                  <a:pt x="6388462" y="701153"/>
                </a:cubicBezTo>
                <a:cubicBezTo>
                  <a:pt x="6399346" y="701153"/>
                  <a:pt x="6408000" y="692232"/>
                  <a:pt x="6408000" y="681436"/>
                </a:cubicBezTo>
                <a:cubicBezTo>
                  <a:pt x="6408000" y="670641"/>
                  <a:pt x="6399227" y="661720"/>
                  <a:pt x="6388462" y="661720"/>
                </a:cubicBezTo>
                <a:close/>
                <a:moveTo>
                  <a:pt x="6193357" y="533825"/>
                </a:moveTo>
                <a:cubicBezTo>
                  <a:pt x="6193898" y="533781"/>
                  <a:pt x="6194542" y="534045"/>
                  <a:pt x="6195011" y="534572"/>
                </a:cubicBezTo>
                <a:cubicBezTo>
                  <a:pt x="6202165" y="542072"/>
                  <a:pt x="6199708" y="598694"/>
                  <a:pt x="6198178" y="609944"/>
                </a:cubicBezTo>
                <a:cubicBezTo>
                  <a:pt x="6197823" y="612756"/>
                  <a:pt x="6195248" y="614986"/>
                  <a:pt x="6194547" y="609243"/>
                </a:cubicBezTo>
                <a:cubicBezTo>
                  <a:pt x="6193728" y="601980"/>
                  <a:pt x="6189860" y="585215"/>
                  <a:pt x="6188685" y="578297"/>
                </a:cubicBezTo>
                <a:cubicBezTo>
                  <a:pt x="6187393" y="571735"/>
                  <a:pt x="6191034" y="551693"/>
                  <a:pt x="6192317" y="534928"/>
                </a:cubicBezTo>
                <a:cubicBezTo>
                  <a:pt x="6192376" y="534222"/>
                  <a:pt x="6192815" y="533869"/>
                  <a:pt x="6193357" y="533825"/>
                </a:cubicBezTo>
                <a:close/>
                <a:moveTo>
                  <a:pt x="6057324" y="488973"/>
                </a:moveTo>
                <a:cubicBezTo>
                  <a:pt x="6075392" y="491440"/>
                  <a:pt x="6093687" y="491904"/>
                  <a:pt x="6111627" y="490848"/>
                </a:cubicBezTo>
                <a:cubicBezTo>
                  <a:pt x="6114558" y="501979"/>
                  <a:pt x="6114202" y="516514"/>
                  <a:pt x="6110097" y="520619"/>
                </a:cubicBezTo>
                <a:cubicBezTo>
                  <a:pt x="6103525" y="527300"/>
                  <a:pt x="6073862" y="526007"/>
                  <a:pt x="6065415" y="524724"/>
                </a:cubicBezTo>
                <a:cubicBezTo>
                  <a:pt x="6063067" y="524369"/>
                  <a:pt x="6060728" y="524024"/>
                  <a:pt x="6059435" y="517925"/>
                </a:cubicBezTo>
                <a:cubicBezTo>
                  <a:pt x="6058024" y="510771"/>
                  <a:pt x="6057906" y="497647"/>
                  <a:pt x="6057324" y="488973"/>
                </a:cubicBezTo>
                <a:close/>
                <a:moveTo>
                  <a:pt x="6152085" y="486042"/>
                </a:moveTo>
                <a:cubicBezTo>
                  <a:pt x="6157128" y="495417"/>
                  <a:pt x="6157483" y="500814"/>
                  <a:pt x="6156072" y="505502"/>
                </a:cubicBezTo>
                <a:cubicBezTo>
                  <a:pt x="6154661" y="510189"/>
                  <a:pt x="6148099" y="512883"/>
                  <a:pt x="6146688" y="512301"/>
                </a:cubicBezTo>
                <a:cubicBezTo>
                  <a:pt x="6146451" y="502216"/>
                  <a:pt x="6143757" y="494597"/>
                  <a:pt x="6139060" y="487799"/>
                </a:cubicBezTo>
                <a:cubicBezTo>
                  <a:pt x="6143175" y="487098"/>
                  <a:pt x="6147516" y="486516"/>
                  <a:pt x="6152085" y="486042"/>
                </a:cubicBezTo>
                <a:close/>
                <a:moveTo>
                  <a:pt x="6012296" y="479253"/>
                </a:moveTo>
                <a:cubicBezTo>
                  <a:pt x="6018039" y="481009"/>
                  <a:pt x="6023911" y="482539"/>
                  <a:pt x="6029654" y="483940"/>
                </a:cubicBezTo>
                <a:cubicBezTo>
                  <a:pt x="6025667" y="509143"/>
                  <a:pt x="6017813" y="516287"/>
                  <a:pt x="6013707" y="517935"/>
                </a:cubicBezTo>
                <a:cubicBezTo>
                  <a:pt x="6010530" y="519218"/>
                  <a:pt x="6003613" y="519919"/>
                  <a:pt x="6006080" y="511955"/>
                </a:cubicBezTo>
                <a:cubicBezTo>
                  <a:pt x="6008546" y="503982"/>
                  <a:pt x="6010885" y="490384"/>
                  <a:pt x="6012296" y="479253"/>
                </a:cubicBezTo>
                <a:close/>
                <a:moveTo>
                  <a:pt x="5992209" y="472823"/>
                </a:moveTo>
                <a:cubicBezTo>
                  <a:pt x="5994189" y="472955"/>
                  <a:pt x="5997297" y="474156"/>
                  <a:pt x="6003277" y="476440"/>
                </a:cubicBezTo>
                <a:cubicBezTo>
                  <a:pt x="6002458" y="495782"/>
                  <a:pt x="5997534" y="506804"/>
                  <a:pt x="5995649" y="516642"/>
                </a:cubicBezTo>
                <a:cubicBezTo>
                  <a:pt x="5993537" y="526727"/>
                  <a:pt x="6004797" y="529066"/>
                  <a:pt x="6014763" y="526609"/>
                </a:cubicBezTo>
                <a:cubicBezTo>
                  <a:pt x="6024611" y="524152"/>
                  <a:pt x="6033996" y="513830"/>
                  <a:pt x="6038101" y="485815"/>
                </a:cubicBezTo>
                <a:cubicBezTo>
                  <a:pt x="6041969" y="486753"/>
                  <a:pt x="6045137" y="487226"/>
                  <a:pt x="6049123" y="487808"/>
                </a:cubicBezTo>
                <a:cubicBezTo>
                  <a:pt x="6049597" y="516879"/>
                  <a:pt x="6051353" y="523441"/>
                  <a:pt x="6052528" y="526017"/>
                </a:cubicBezTo>
                <a:cubicBezTo>
                  <a:pt x="6054758" y="531405"/>
                  <a:pt x="6060156" y="533171"/>
                  <a:pt x="6064488" y="533517"/>
                </a:cubicBezTo>
                <a:cubicBezTo>
                  <a:pt x="6087243" y="535273"/>
                  <a:pt x="6109288" y="534572"/>
                  <a:pt x="6117025" y="526954"/>
                </a:cubicBezTo>
                <a:cubicBezTo>
                  <a:pt x="6124879" y="519218"/>
                  <a:pt x="6122186" y="500350"/>
                  <a:pt x="6119955" y="490147"/>
                </a:cubicBezTo>
                <a:cubicBezTo>
                  <a:pt x="6123587" y="489792"/>
                  <a:pt x="6126527" y="489446"/>
                  <a:pt x="6130040" y="488973"/>
                </a:cubicBezTo>
                <a:cubicBezTo>
                  <a:pt x="6137550" y="497647"/>
                  <a:pt x="6138487" y="507140"/>
                  <a:pt x="6138487" y="513120"/>
                </a:cubicBezTo>
                <a:cubicBezTo>
                  <a:pt x="6138487" y="519800"/>
                  <a:pt x="6145878" y="523313"/>
                  <a:pt x="6156200" y="516169"/>
                </a:cubicBezTo>
                <a:cubicBezTo>
                  <a:pt x="6166404" y="509015"/>
                  <a:pt x="6165466" y="496472"/>
                  <a:pt x="6159832" y="485105"/>
                </a:cubicBezTo>
                <a:cubicBezTo>
                  <a:pt x="6183288" y="483230"/>
                  <a:pt x="6182113" y="498584"/>
                  <a:pt x="6180821" y="517580"/>
                </a:cubicBezTo>
                <a:cubicBezTo>
                  <a:pt x="6179646" y="536339"/>
                  <a:pt x="6175423" y="562943"/>
                  <a:pt x="6169098" y="565992"/>
                </a:cubicBezTo>
                <a:cubicBezTo>
                  <a:pt x="6162644" y="568686"/>
                  <a:pt x="6152559" y="551456"/>
                  <a:pt x="6100022" y="550637"/>
                </a:cubicBezTo>
                <a:cubicBezTo>
                  <a:pt x="6062731" y="549937"/>
                  <a:pt x="6034114" y="554979"/>
                  <a:pt x="6028835" y="589083"/>
                </a:cubicBezTo>
                <a:cubicBezTo>
                  <a:pt x="6028480" y="591540"/>
                  <a:pt x="6027078" y="591195"/>
                  <a:pt x="6025786" y="589902"/>
                </a:cubicBezTo>
                <a:cubicBezTo>
                  <a:pt x="6015582" y="578771"/>
                  <a:pt x="6006198" y="573728"/>
                  <a:pt x="5991189" y="565054"/>
                </a:cubicBezTo>
                <a:cubicBezTo>
                  <a:pt x="5976061" y="556144"/>
                  <a:pt x="5965976" y="544194"/>
                  <a:pt x="5964101" y="532352"/>
                </a:cubicBezTo>
                <a:cubicBezTo>
                  <a:pt x="5962226" y="520511"/>
                  <a:pt x="5966568" y="504692"/>
                  <a:pt x="5987913" y="475622"/>
                </a:cubicBezTo>
                <a:cubicBezTo>
                  <a:pt x="5989378" y="473628"/>
                  <a:pt x="5990229" y="472691"/>
                  <a:pt x="5992209" y="472823"/>
                </a:cubicBezTo>
                <a:close/>
                <a:moveTo>
                  <a:pt x="5936176" y="459523"/>
                </a:moveTo>
                <a:cubicBezTo>
                  <a:pt x="5930898" y="459478"/>
                  <a:pt x="5921507" y="461930"/>
                  <a:pt x="5925281" y="467273"/>
                </a:cubicBezTo>
                <a:cubicBezTo>
                  <a:pt x="5930314" y="474625"/>
                  <a:pt x="5940261" y="462487"/>
                  <a:pt x="5939441" y="460386"/>
                </a:cubicBezTo>
                <a:cubicBezTo>
                  <a:pt x="5939237" y="459830"/>
                  <a:pt x="5937935" y="459538"/>
                  <a:pt x="5936176" y="459523"/>
                </a:cubicBezTo>
                <a:close/>
                <a:moveTo>
                  <a:pt x="5932776" y="444794"/>
                </a:moveTo>
                <a:cubicBezTo>
                  <a:pt x="5937135" y="443888"/>
                  <a:pt x="5942895" y="446987"/>
                  <a:pt x="5955654" y="454632"/>
                </a:cubicBezTo>
                <a:cubicBezTo>
                  <a:pt x="5976298" y="467175"/>
                  <a:pt x="5982633" y="464599"/>
                  <a:pt x="5975588" y="475730"/>
                </a:cubicBezTo>
                <a:cubicBezTo>
                  <a:pt x="5971246" y="482884"/>
                  <a:pt x="5956582" y="501870"/>
                  <a:pt x="5952951" y="525198"/>
                </a:cubicBezTo>
                <a:cubicBezTo>
                  <a:pt x="5948027" y="518636"/>
                  <a:pt x="5941336" y="502344"/>
                  <a:pt x="5935711" y="497884"/>
                </a:cubicBezTo>
                <a:cubicBezTo>
                  <a:pt x="5924689" y="489210"/>
                  <a:pt x="5915186" y="495890"/>
                  <a:pt x="5911081" y="490848"/>
                </a:cubicBezTo>
                <a:cubicBezTo>
                  <a:pt x="5906502" y="485341"/>
                  <a:pt x="5904627" y="484986"/>
                  <a:pt x="5908732" y="479717"/>
                </a:cubicBezTo>
                <a:cubicBezTo>
                  <a:pt x="5908732" y="479717"/>
                  <a:pt x="5913657" y="473273"/>
                  <a:pt x="5915531" y="470569"/>
                </a:cubicBezTo>
                <a:cubicBezTo>
                  <a:pt x="5917643" y="467757"/>
                  <a:pt x="5917061" y="462477"/>
                  <a:pt x="5917998" y="460257"/>
                </a:cubicBezTo>
                <a:cubicBezTo>
                  <a:pt x="5918817" y="458027"/>
                  <a:pt x="5923860" y="451347"/>
                  <a:pt x="5928675" y="447015"/>
                </a:cubicBezTo>
                <a:cubicBezTo>
                  <a:pt x="5930025" y="445843"/>
                  <a:pt x="5931323" y="445096"/>
                  <a:pt x="5932776" y="444794"/>
                </a:cubicBezTo>
                <a:close/>
                <a:moveTo>
                  <a:pt x="5904946" y="389214"/>
                </a:moveTo>
                <a:cubicBezTo>
                  <a:pt x="5903949" y="389421"/>
                  <a:pt x="5903216" y="391414"/>
                  <a:pt x="5903216" y="395691"/>
                </a:cubicBezTo>
                <a:cubicBezTo>
                  <a:pt x="5903216" y="417144"/>
                  <a:pt x="5912601" y="430032"/>
                  <a:pt x="5915887" y="433673"/>
                </a:cubicBezTo>
                <a:cubicBezTo>
                  <a:pt x="5919054" y="437304"/>
                  <a:pt x="5920574" y="440936"/>
                  <a:pt x="5918817" y="443048"/>
                </a:cubicBezTo>
                <a:cubicBezTo>
                  <a:pt x="5914130" y="448554"/>
                  <a:pt x="5909088" y="454652"/>
                  <a:pt x="5908969" y="457109"/>
                </a:cubicBezTo>
                <a:cubicBezTo>
                  <a:pt x="5908732" y="459803"/>
                  <a:pt x="5908969" y="461096"/>
                  <a:pt x="5907913" y="464145"/>
                </a:cubicBezTo>
                <a:cubicBezTo>
                  <a:pt x="5906858" y="467076"/>
                  <a:pt x="5903108" y="471408"/>
                  <a:pt x="5897128" y="478681"/>
                </a:cubicBezTo>
                <a:cubicBezTo>
                  <a:pt x="5893842" y="482904"/>
                  <a:pt x="5895954" y="487473"/>
                  <a:pt x="5898766" y="490522"/>
                </a:cubicBezTo>
                <a:cubicBezTo>
                  <a:pt x="5902052" y="494272"/>
                  <a:pt x="5904282" y="498614"/>
                  <a:pt x="5908387" y="500489"/>
                </a:cubicBezTo>
                <a:cubicBezTo>
                  <a:pt x="5912611" y="502364"/>
                  <a:pt x="5916360" y="501071"/>
                  <a:pt x="5921284" y="501900"/>
                </a:cubicBezTo>
                <a:cubicBezTo>
                  <a:pt x="5925972" y="502719"/>
                  <a:pt x="5931843" y="505531"/>
                  <a:pt x="5936530" y="513860"/>
                </a:cubicBezTo>
                <a:cubicBezTo>
                  <a:pt x="5943329" y="526047"/>
                  <a:pt x="5950602" y="545042"/>
                  <a:pt x="5963736" y="560742"/>
                </a:cubicBezTo>
                <a:cubicBezTo>
                  <a:pt x="5969598" y="567660"/>
                  <a:pt x="5969598" y="580439"/>
                  <a:pt x="5969598" y="584534"/>
                </a:cubicBezTo>
                <a:cubicBezTo>
                  <a:pt x="5969953" y="621341"/>
                  <a:pt x="5950720" y="656155"/>
                  <a:pt x="5938405" y="678308"/>
                </a:cubicBezTo>
                <a:cubicBezTo>
                  <a:pt x="5935475" y="683469"/>
                  <a:pt x="5936175" y="687801"/>
                  <a:pt x="5940043" y="687801"/>
                </a:cubicBezTo>
                <a:cubicBezTo>
                  <a:pt x="5944504" y="687801"/>
                  <a:pt x="5961151" y="687801"/>
                  <a:pt x="5963973" y="687801"/>
                </a:cubicBezTo>
                <a:cubicBezTo>
                  <a:pt x="5967022" y="687801"/>
                  <a:pt x="5968897" y="684515"/>
                  <a:pt x="5969134" y="681002"/>
                </a:cubicBezTo>
                <a:cubicBezTo>
                  <a:pt x="5971246" y="650876"/>
                  <a:pt x="5988248" y="595665"/>
                  <a:pt x="6001037" y="586290"/>
                </a:cubicBezTo>
                <a:cubicBezTo>
                  <a:pt x="6022500" y="599770"/>
                  <a:pt x="6043844" y="628604"/>
                  <a:pt x="6033404" y="679127"/>
                </a:cubicBezTo>
                <a:cubicBezTo>
                  <a:pt x="6032930" y="681940"/>
                  <a:pt x="6030355" y="688038"/>
                  <a:pt x="6036808" y="688038"/>
                </a:cubicBezTo>
                <a:cubicBezTo>
                  <a:pt x="6036808" y="688038"/>
                  <a:pt x="6054985" y="688038"/>
                  <a:pt x="6057334" y="688038"/>
                </a:cubicBezTo>
                <a:cubicBezTo>
                  <a:pt x="6060027" y="688038"/>
                  <a:pt x="6064369" y="686982"/>
                  <a:pt x="6064014" y="682058"/>
                </a:cubicBezTo>
                <a:cubicBezTo>
                  <a:pt x="6062958" y="662362"/>
                  <a:pt x="6046420" y="620759"/>
                  <a:pt x="6042088" y="596257"/>
                </a:cubicBezTo>
                <a:cubicBezTo>
                  <a:pt x="6039394" y="580784"/>
                  <a:pt x="6051709" y="553124"/>
                  <a:pt x="6098147" y="574340"/>
                </a:cubicBezTo>
                <a:cubicBezTo>
                  <a:pt x="6115978" y="558285"/>
                  <a:pt x="6139435" y="568015"/>
                  <a:pt x="6129340" y="598842"/>
                </a:cubicBezTo>
                <a:cubicBezTo>
                  <a:pt x="6119492" y="629551"/>
                  <a:pt x="6110926" y="643031"/>
                  <a:pt x="6077148" y="679137"/>
                </a:cubicBezTo>
                <a:cubicBezTo>
                  <a:pt x="6073398" y="683361"/>
                  <a:pt x="6073043" y="687811"/>
                  <a:pt x="6079260" y="687811"/>
                </a:cubicBezTo>
                <a:cubicBezTo>
                  <a:pt x="6082309" y="687811"/>
                  <a:pt x="6097792" y="687811"/>
                  <a:pt x="6100960" y="687811"/>
                </a:cubicBezTo>
                <a:cubicBezTo>
                  <a:pt x="6105647" y="687811"/>
                  <a:pt x="6107532" y="686400"/>
                  <a:pt x="6108933" y="682769"/>
                </a:cubicBezTo>
                <a:cubicBezTo>
                  <a:pt x="6110226" y="678900"/>
                  <a:pt x="6125708" y="629906"/>
                  <a:pt x="6156082" y="606934"/>
                </a:cubicBezTo>
                <a:cubicBezTo>
                  <a:pt x="6158430" y="605177"/>
                  <a:pt x="6160424" y="597322"/>
                  <a:pt x="6165111" y="579392"/>
                </a:cubicBezTo>
                <a:cubicBezTo>
                  <a:pt x="6179775" y="598734"/>
                  <a:pt x="6181768" y="633893"/>
                  <a:pt x="6156546" y="679256"/>
                </a:cubicBezTo>
                <a:cubicBezTo>
                  <a:pt x="6153970" y="684061"/>
                  <a:pt x="6155490" y="687693"/>
                  <a:pt x="6158657" y="687693"/>
                </a:cubicBezTo>
                <a:cubicBezTo>
                  <a:pt x="6160414" y="687693"/>
                  <a:pt x="6174140" y="687693"/>
                  <a:pt x="6178245" y="687693"/>
                </a:cubicBezTo>
                <a:cubicBezTo>
                  <a:pt x="6181877" y="687693"/>
                  <a:pt x="6182932" y="685699"/>
                  <a:pt x="6184344" y="680193"/>
                </a:cubicBezTo>
                <a:cubicBezTo>
                  <a:pt x="6186100" y="673394"/>
                  <a:pt x="6186692" y="670108"/>
                  <a:pt x="6189031" y="663664"/>
                </a:cubicBezTo>
                <a:cubicBezTo>
                  <a:pt x="6190442" y="659678"/>
                  <a:pt x="6191024" y="658977"/>
                  <a:pt x="6206744" y="659096"/>
                </a:cubicBezTo>
                <a:cubicBezTo>
                  <a:pt x="6211668" y="659096"/>
                  <a:pt x="6211322" y="656520"/>
                  <a:pt x="6211322" y="652297"/>
                </a:cubicBezTo>
                <a:cubicBezTo>
                  <a:pt x="6211549" y="591540"/>
                  <a:pt x="6211905" y="528010"/>
                  <a:pt x="6207326" y="506212"/>
                </a:cubicBezTo>
                <a:cubicBezTo>
                  <a:pt x="6200991" y="475622"/>
                  <a:pt x="6174367" y="474684"/>
                  <a:pt x="6160414" y="475740"/>
                </a:cubicBezTo>
                <a:cubicBezTo>
                  <a:pt x="6145868" y="476796"/>
                  <a:pt x="6118426" y="481128"/>
                  <a:pt x="6090164" y="481128"/>
                </a:cubicBezTo>
                <a:cubicBezTo>
                  <a:pt x="6052044" y="481128"/>
                  <a:pt x="6009119" y="470342"/>
                  <a:pt x="5976288" y="454988"/>
                </a:cubicBezTo>
                <a:cubicBezTo>
                  <a:pt x="5970545" y="452412"/>
                  <a:pt x="5973476" y="451238"/>
                  <a:pt x="5975933" y="449827"/>
                </a:cubicBezTo>
                <a:cubicBezTo>
                  <a:pt x="5988248" y="443028"/>
                  <a:pt x="5998915" y="436929"/>
                  <a:pt x="6005487" y="426154"/>
                </a:cubicBezTo>
                <a:cubicBezTo>
                  <a:pt x="6010530" y="417954"/>
                  <a:pt x="6008655" y="415368"/>
                  <a:pt x="6003139" y="419828"/>
                </a:cubicBezTo>
                <a:cubicBezTo>
                  <a:pt x="5988248" y="432252"/>
                  <a:pt x="5967012" y="439170"/>
                  <a:pt x="5943329" y="430614"/>
                </a:cubicBezTo>
                <a:cubicBezTo>
                  <a:pt x="5919518" y="422177"/>
                  <a:pt x="5910371" y="399205"/>
                  <a:pt x="5908259" y="393461"/>
                </a:cubicBezTo>
                <a:cubicBezTo>
                  <a:pt x="5907203" y="390590"/>
                  <a:pt x="5905942" y="389009"/>
                  <a:pt x="5904946" y="389214"/>
                </a:cubicBezTo>
                <a:close/>
                <a:moveTo>
                  <a:pt x="5966647" y="335359"/>
                </a:moveTo>
                <a:cubicBezTo>
                  <a:pt x="5984350" y="335359"/>
                  <a:pt x="5998540" y="349766"/>
                  <a:pt x="5998540" y="367331"/>
                </a:cubicBezTo>
                <a:cubicBezTo>
                  <a:pt x="5998540" y="385014"/>
                  <a:pt x="5984350" y="399303"/>
                  <a:pt x="5966647" y="399303"/>
                </a:cubicBezTo>
                <a:cubicBezTo>
                  <a:pt x="5948944" y="399303"/>
                  <a:pt x="5934517" y="385014"/>
                  <a:pt x="5934517" y="367331"/>
                </a:cubicBezTo>
                <a:cubicBezTo>
                  <a:pt x="5934517" y="349539"/>
                  <a:pt x="5948944" y="335359"/>
                  <a:pt x="5966647" y="335359"/>
                </a:cubicBezTo>
                <a:close/>
                <a:moveTo>
                  <a:pt x="5965246" y="324001"/>
                </a:moveTo>
                <a:cubicBezTo>
                  <a:pt x="5938514" y="324001"/>
                  <a:pt x="5917051" y="345789"/>
                  <a:pt x="5917051" y="372374"/>
                </a:cubicBezTo>
                <a:cubicBezTo>
                  <a:pt x="5917051" y="399195"/>
                  <a:pt x="5938741" y="420746"/>
                  <a:pt x="5965246" y="420746"/>
                </a:cubicBezTo>
                <a:cubicBezTo>
                  <a:pt x="5991978" y="420746"/>
                  <a:pt x="6013441" y="398958"/>
                  <a:pt x="6013441" y="372374"/>
                </a:cubicBezTo>
                <a:cubicBezTo>
                  <a:pt x="6013441" y="345552"/>
                  <a:pt x="5991978" y="324001"/>
                  <a:pt x="5965246" y="324001"/>
                </a:cubicBezTo>
                <a:close/>
                <a:moveTo>
                  <a:pt x="0" y="0"/>
                </a:moveTo>
                <a:lnTo>
                  <a:pt x="6730700" y="0"/>
                </a:lnTo>
                <a:lnTo>
                  <a:pt x="6730700" y="2941488"/>
                </a:lnTo>
                <a:lnTo>
                  <a:pt x="0" y="2941488"/>
                </a:lnTo>
                <a:close/>
              </a:path>
            </a:pathLst>
          </a:custGeom>
          <a:solidFill>
            <a:srgbClr val="D4D7DC"/>
          </a:solidFill>
        </p:spPr>
        <p:txBody>
          <a:bodyPr wrap="square" tIns="72000">
            <a:noAutofit/>
          </a:bodyPr>
          <a:lstStyle>
            <a:lvl1pPr marL="0" indent="0" algn="ctr">
              <a:buNone/>
              <a:defRPr sz="1400">
                <a:solidFill>
                  <a:schemeClr val="bg1"/>
                </a:solidFill>
              </a:defRPr>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GB"/>
              <a:t>Click here and insert picture via Templafy</a:t>
            </a:r>
          </a:p>
        </p:txBody>
      </p:sp>
      <p:sp>
        <p:nvSpPr>
          <p:cNvPr id="7" name="Picture Placeholder 6">
            <a:extLst>
              <a:ext uri="{FF2B5EF4-FFF2-40B4-BE49-F238E27FC236}">
                <a16:creationId xmlns:a16="http://schemas.microsoft.com/office/drawing/2014/main" id="{913F12A1-707C-1AD5-C730-9700ECA4D624}"/>
              </a:ext>
            </a:extLst>
          </p:cNvPr>
          <p:cNvSpPr>
            <a:spLocks noGrp="1"/>
          </p:cNvSpPr>
          <p:nvPr>
            <p:ph type="pic" sz="quarter" idx="19" hasCustomPrompt="1"/>
          </p:nvPr>
        </p:nvSpPr>
        <p:spPr>
          <a:xfrm>
            <a:off x="7386541" y="3589487"/>
            <a:ext cx="4480022" cy="2941488"/>
          </a:xfrm>
          <a:solidFill>
            <a:srgbClr val="D4D7DC"/>
          </a:solidFill>
          <a:effectLst/>
        </p:spPr>
        <p:txBody>
          <a:bodyPr vert="horz" wrap="square" tIns="72000" anchor="t">
            <a:noAutofit/>
          </a:bodyPr>
          <a:lstStyle>
            <a:lvl1pPr marL="0" indent="0" algn="ctr">
              <a:lnSpc>
                <a:spcPct val="120000"/>
              </a:lnSpc>
              <a:buNone/>
              <a:defRPr sz="1400" b="0" i="0" u="none" strike="noStrike">
                <a:solidFill>
                  <a:schemeClr val="bg1"/>
                </a:solidFill>
                <a:latin typeface="Apis For Office" panose="020B0604020202020204" charset="0"/>
              </a:defRPr>
            </a:lvl1pPr>
          </a:lstStyle>
          <a:p>
            <a:r>
              <a:rPr lang="en-GB"/>
              <a:t>Click here and insert picture via Templafy</a:t>
            </a:r>
          </a:p>
        </p:txBody>
      </p:sp>
      <p:sp>
        <p:nvSpPr>
          <p:cNvPr id="9" name="Picture Placeholder 8">
            <a:extLst>
              <a:ext uri="{FF2B5EF4-FFF2-40B4-BE49-F238E27FC236}">
                <a16:creationId xmlns:a16="http://schemas.microsoft.com/office/drawing/2014/main" id="{F759E7FB-271E-4978-A20B-01A7A7B8075D}"/>
              </a:ext>
            </a:extLst>
          </p:cNvPr>
          <p:cNvSpPr>
            <a:spLocks noGrp="1"/>
          </p:cNvSpPr>
          <p:nvPr>
            <p:ph type="pic" sz="quarter" idx="20" hasCustomPrompt="1"/>
          </p:nvPr>
        </p:nvSpPr>
        <p:spPr>
          <a:xfrm>
            <a:off x="5140325" y="3589487"/>
            <a:ext cx="1914525" cy="2943076"/>
          </a:xfrm>
          <a:solidFill>
            <a:srgbClr val="D4D7DC"/>
          </a:solidFill>
          <a:effectLst/>
        </p:spPr>
        <p:txBody>
          <a:bodyPr vert="horz" wrap="square" tIns="72000" anchor="t">
            <a:noAutofit/>
          </a:bodyPr>
          <a:lstStyle>
            <a:lvl1pPr marL="0" indent="0" algn="ctr">
              <a:lnSpc>
                <a:spcPct val="120000"/>
              </a:lnSpc>
              <a:buNone/>
              <a:defRPr sz="1400" b="0" i="0" u="none" strike="noStrike">
                <a:solidFill>
                  <a:schemeClr val="bg1"/>
                </a:solidFill>
                <a:latin typeface="Apis For Office" panose="020B0604020202020204" charset="0"/>
              </a:defRPr>
            </a:lvl1pPr>
          </a:lstStyle>
          <a:p>
            <a:r>
              <a:rPr lang="en-GB"/>
              <a:t>Click here and insert picture via Templafy</a:t>
            </a:r>
          </a:p>
        </p:txBody>
      </p:sp>
      <p:sp>
        <p:nvSpPr>
          <p:cNvPr id="2" name="Title 1"/>
          <p:cNvSpPr>
            <a:spLocks noGrp="1"/>
          </p:cNvSpPr>
          <p:nvPr>
            <p:ph type="ctrTitle" hasCustomPrompt="1"/>
          </p:nvPr>
        </p:nvSpPr>
        <p:spPr>
          <a:xfrm>
            <a:off x="646006" y="2163600"/>
            <a:ext cx="4165707" cy="2379600"/>
          </a:xfrm>
        </p:spPr>
        <p:txBody>
          <a:bodyPr anchor="ctr"/>
          <a:lstStyle>
            <a:lvl1pPr algn="l">
              <a:lnSpc>
                <a:spcPct val="100000"/>
              </a:lnSpc>
              <a:defRPr sz="4400">
                <a:solidFill>
                  <a:schemeClr val="tx2"/>
                </a:solidFill>
              </a:defRPr>
            </a:lvl1pPr>
          </a:lstStyle>
          <a:p>
            <a:r>
              <a:rPr lang="en-GB"/>
              <a:t>Click to add title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0" y="6858000"/>
            <a:ext cx="0" cy="0"/>
          </a:xfrm>
        </p:spPr>
        <p:txBody>
          <a:bodyPr/>
          <a:lstStyle>
            <a:lvl1pPr>
              <a:defRPr sz="800" b="1">
                <a:noFill/>
              </a:defRPr>
            </a:lvl1pPr>
          </a:lstStyle>
          <a:p>
            <a:endParaRPr lang="en-GB"/>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3284855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 Cover">
    <p:spTree>
      <p:nvGrpSpPr>
        <p:cNvPr id="1" name=""/>
        <p:cNvGrpSpPr/>
        <p:nvPr/>
      </p:nvGrpSpPr>
      <p:grpSpPr>
        <a:xfrm>
          <a:off x="0" y="0"/>
          <a:ext cx="0" cy="0"/>
          <a:chOff x="0" y="0"/>
          <a:chExt cx="0" cy="0"/>
        </a:xfrm>
      </p:grpSpPr>
      <p:sp>
        <p:nvSpPr>
          <p:cNvPr id="116" name="Picture Placeholder 115">
            <a:extLst>
              <a:ext uri="{FF2B5EF4-FFF2-40B4-BE49-F238E27FC236}">
                <a16:creationId xmlns:a16="http://schemas.microsoft.com/office/drawing/2014/main" id="{4407AE94-8FEE-64CB-B9FB-BC43DF09FF00}"/>
              </a:ext>
            </a:extLst>
          </p:cNvPr>
          <p:cNvSpPr>
            <a:spLocks noGrp="1"/>
          </p:cNvSpPr>
          <p:nvPr>
            <p:ph type="pic" sz="quarter" idx="13" hasCustomPrompt="1"/>
          </p:nvPr>
        </p:nvSpPr>
        <p:spPr>
          <a:xfrm>
            <a:off x="323849" y="323850"/>
            <a:ext cx="7054851" cy="6208713"/>
          </a:xfrm>
          <a:prstGeom prst="rect">
            <a:avLst/>
          </a:pr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4" name="Logo Apis Bull">
            <a:extLst>
              <a:ext uri="{FF2B5EF4-FFF2-40B4-BE49-F238E27FC236}">
                <a16:creationId xmlns:a16="http://schemas.microsoft.com/office/drawing/2014/main" id="{60A04678-27D4-C056-C92B-945957339625}"/>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706616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11" name="Logo Apis Bull">
            <a:extLst>
              <a:ext uri="{FF2B5EF4-FFF2-40B4-BE49-F238E27FC236}">
                <a16:creationId xmlns:a16="http://schemas.microsoft.com/office/drawing/2014/main" id="{4609661D-AB7E-8B1C-C92A-259507C2708F}"/>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4127168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rgbClr val="EBE8E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4" name="Logo Apis Bull">
            <a:extLst>
              <a:ext uri="{FF2B5EF4-FFF2-40B4-BE49-F238E27FC236}">
                <a16:creationId xmlns:a16="http://schemas.microsoft.com/office/drawing/2014/main" id="{EC1CAB69-E39D-675E-4F05-AFEC6C21012A}"/>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085725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J.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rgbClr val="D8EAF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11" name="Logo Apis Bull">
            <a:extLst>
              <a:ext uri="{FF2B5EF4-FFF2-40B4-BE49-F238E27FC236}">
                <a16:creationId xmlns:a16="http://schemas.microsoft.com/office/drawing/2014/main" id="{BFD5E151-E1EE-08DA-AD6F-1A23680ED05C}"/>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156844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flipH="1">
            <a:off x="7378700" y="323850"/>
            <a:ext cx="4489450" cy="6208713"/>
          </a:xfrm>
          <a:prstGeom prst="rect">
            <a:avLst/>
          </a:prstGeom>
          <a:solidFill>
            <a:srgbClr val="D4E9E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12" name="Graphic 11">
            <a:extLst>
              <a:ext uri="{FF2B5EF4-FFF2-40B4-BE49-F238E27FC236}">
                <a16:creationId xmlns:a16="http://schemas.microsoft.com/office/drawing/2014/main" id="{C8451AB0-7DBF-E8EF-E716-813795D8D608}"/>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6" name="Logo Apis Bull">
            <a:extLst>
              <a:ext uri="{FF2B5EF4-FFF2-40B4-BE49-F238E27FC236}">
                <a16:creationId xmlns:a16="http://schemas.microsoft.com/office/drawing/2014/main" id="{34419667-1C72-3469-4B38-A6F5FFB023E5}"/>
              </a:ext>
            </a:extLst>
          </p:cNvPr>
          <p:cNvSpPr>
            <a:spLocks noChangeAspect="1"/>
          </p:cNvSpPr>
          <p:nvPr userDrawn="1"/>
        </p:nvSpPr>
        <p:spPr>
          <a:xfrm>
            <a:off x="10902964" y="647700"/>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814975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flipH="1">
            <a:off x="7378700" y="323850"/>
            <a:ext cx="4489450" cy="6208713"/>
          </a:xfrm>
          <a:prstGeom prst="rect">
            <a:avLst/>
          </a:prstGeom>
          <a:solidFill>
            <a:srgbClr val="FCED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12" name="Graphic 11">
            <a:extLst>
              <a:ext uri="{FF2B5EF4-FFF2-40B4-BE49-F238E27FC236}">
                <a16:creationId xmlns:a16="http://schemas.microsoft.com/office/drawing/2014/main" id="{C8451AB0-7DBF-E8EF-E716-813795D8D608}"/>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6" name="Logo Apis Bull">
            <a:extLst>
              <a:ext uri="{FF2B5EF4-FFF2-40B4-BE49-F238E27FC236}">
                <a16:creationId xmlns:a16="http://schemas.microsoft.com/office/drawing/2014/main" id="{DF7CC670-205C-5993-F411-BA8D900312BB}"/>
              </a:ext>
            </a:extLst>
          </p:cNvPr>
          <p:cNvSpPr>
            <a:spLocks noChangeAspect="1"/>
          </p:cNvSpPr>
          <p:nvPr userDrawn="1"/>
        </p:nvSpPr>
        <p:spPr>
          <a:xfrm>
            <a:off x="10902964" y="647700"/>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887591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 Agenda">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F3B750-FD0B-4117-8CF8-02751916C1F8}"/>
              </a:ext>
            </a:extLst>
          </p:cNvPr>
          <p:cNvSpPr/>
          <p:nvPr userDrawn="1"/>
        </p:nvSpPr>
        <p:spPr bwMode="inv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 name="Text Placeholder 2"/>
          <p:cNvSpPr>
            <a:spLocks noGrp="1"/>
          </p:cNvSpPr>
          <p:nvPr>
            <p:ph type="body" sz="quarter" idx="13" hasCustomPrompt="1"/>
          </p:nvPr>
        </p:nvSpPr>
        <p:spPr>
          <a:xfrm>
            <a:off x="648000" y="648000"/>
            <a:ext cx="6408000" cy="5562000"/>
          </a:xfrm>
        </p:spPr>
        <p:txBody>
          <a:bodyPr anchor="ctr"/>
          <a:lstStyle>
            <a:lvl1pPr marL="0" indent="0">
              <a:spcBef>
                <a:spcPts val="300"/>
              </a:spcBef>
              <a:spcAft>
                <a:spcPts val="600"/>
              </a:spcAft>
              <a:buFont typeface="Arial" panose="020B0604020202020204" pitchFamily="34" charset="0"/>
              <a:buChar char="​"/>
              <a:defRPr>
                <a:solidFill>
                  <a:schemeClr val="bg1"/>
                </a:solidFill>
              </a:defRPr>
            </a:lvl1pPr>
            <a:lvl2pPr marL="0" indent="0">
              <a:spcBef>
                <a:spcPts val="300"/>
              </a:spcBef>
              <a:spcAft>
                <a:spcPts val="600"/>
              </a:spcAft>
              <a:buFont typeface="Arial" panose="020B0604020202020204" pitchFamily="34" charset="0"/>
              <a:buChar char="​"/>
              <a:defRPr sz="2000" b="1">
                <a:solidFill>
                  <a:schemeClr val="bg1"/>
                </a:solidFill>
              </a:defRPr>
            </a:lvl2pPr>
            <a:lvl3pPr marL="0" indent="0">
              <a:spcBef>
                <a:spcPts val="300"/>
              </a:spcBef>
              <a:spcAft>
                <a:spcPts val="600"/>
              </a:spcAft>
              <a:buFont typeface="Arial" panose="020B0604020202020204" pitchFamily="34" charset="0"/>
              <a:buChar char="​"/>
              <a:defRPr sz="2000">
                <a:solidFill>
                  <a:schemeClr val="bg1"/>
                </a:solidFill>
              </a:defRPr>
            </a:lvl3pPr>
            <a:lvl4pPr marL="0" indent="0">
              <a:spcBef>
                <a:spcPts val="300"/>
              </a:spcBef>
              <a:spcAft>
                <a:spcPts val="600"/>
              </a:spcAft>
              <a:buFont typeface="Arial" panose="020B0604020202020204" pitchFamily="34" charset="0"/>
              <a:buChar char="​"/>
              <a:defRPr sz="2000">
                <a:solidFill>
                  <a:schemeClr val="bg1"/>
                </a:solidFill>
              </a:defRPr>
            </a:lvl4pPr>
            <a:lvl5pPr marL="0" indent="0">
              <a:spcBef>
                <a:spcPts val="300"/>
              </a:spcBef>
              <a:spcAft>
                <a:spcPts val="600"/>
              </a:spcAft>
              <a:buFont typeface="Arial" panose="020B0604020202020204" pitchFamily="34" charset="0"/>
              <a:buChar char="​"/>
              <a:defRPr sz="2000">
                <a:solidFill>
                  <a:schemeClr val="bg1"/>
                </a:solidFill>
              </a:defRPr>
            </a:lvl5pPr>
            <a:lvl6pPr marL="0" indent="0">
              <a:spcBef>
                <a:spcPts val="300"/>
              </a:spcBef>
              <a:spcAft>
                <a:spcPts val="600"/>
              </a:spcAft>
              <a:buFont typeface="Arial" panose="020B0604020202020204" pitchFamily="34" charset="0"/>
              <a:buChar char="​"/>
              <a:defRPr sz="2000">
                <a:solidFill>
                  <a:schemeClr val="bg1"/>
                </a:solidFill>
              </a:defRPr>
            </a:lvl6pPr>
            <a:lvl7pPr marL="0" indent="0">
              <a:spcBef>
                <a:spcPts val="300"/>
              </a:spcBef>
              <a:spcAft>
                <a:spcPts val="600"/>
              </a:spcAft>
              <a:buFont typeface="Arial" panose="020B0604020202020204" pitchFamily="34" charset="0"/>
              <a:buChar char="​"/>
              <a:defRPr sz="2000">
                <a:solidFill>
                  <a:schemeClr val="bg1"/>
                </a:solidFill>
              </a:defRPr>
            </a:lvl7pPr>
            <a:lvl8pPr marL="0" indent="0">
              <a:spcBef>
                <a:spcPts val="300"/>
              </a:spcBef>
              <a:spcAft>
                <a:spcPts val="600"/>
              </a:spcAft>
              <a:buFont typeface="Arial" panose="020B0604020202020204" pitchFamily="34" charset="0"/>
              <a:buChar char="​"/>
              <a:defRPr sz="2000">
                <a:solidFill>
                  <a:schemeClr val="bg1"/>
                </a:solidFill>
              </a:defRPr>
            </a:lvl8pPr>
            <a:lvl9pPr marL="0" indent="0">
              <a:spcBef>
                <a:spcPts val="300"/>
              </a:spcBef>
              <a:spcAft>
                <a:spcPts val="600"/>
              </a:spcAft>
              <a:buFont typeface="Arial" panose="020B0604020202020204" pitchFamily="34" charset="0"/>
              <a:buChar char="​"/>
              <a:defRPr sz="2000">
                <a:solidFill>
                  <a:schemeClr val="bg1"/>
                </a:solidFill>
              </a:defRPr>
            </a:lvl9pPr>
          </a:lstStyle>
          <a:p>
            <a:pPr lvl="0"/>
            <a:r>
              <a:rPr lang="en-GB" noProof="0"/>
              <a:t>01 Agenda point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bg1"/>
                </a:solidFill>
              </a:defRPr>
            </a:lvl1pPr>
          </a:lstStyle>
          <a:p>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bg1"/>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3" name="Logo Apis Bull">
            <a:extLst>
              <a:ext uri="{FF2B5EF4-FFF2-40B4-BE49-F238E27FC236}">
                <a16:creationId xmlns:a16="http://schemas.microsoft.com/office/drawing/2014/main" id="{17B449A8-9E62-8A25-AA7F-5F57138B0DBD}"/>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bg1"/>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42430143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 Agenda">
    <p:bg>
      <p:bgPr>
        <a:solidFill>
          <a:srgbClr val="F7F6F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A02891-9B5C-45AF-8221-7F98276EA462}"/>
              </a:ext>
            </a:extLst>
          </p:cNvPr>
          <p:cNvSpPr/>
          <p:nvPr userDrawn="1"/>
        </p:nvSpPr>
        <p:spPr>
          <a:xfrm>
            <a:off x="0" y="0"/>
            <a:ext cx="12192000" cy="6858000"/>
          </a:xfrm>
          <a:prstGeom prst="rect">
            <a:avLst/>
          </a:prstGeom>
          <a:solidFill>
            <a:srgbClr val="F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pic>
        <p:nvPicPr>
          <p:cNvPr id="2" name="Graphic 1">
            <a:extLst>
              <a:ext uri="{FF2B5EF4-FFF2-40B4-BE49-F238E27FC236}">
                <a16:creationId xmlns:a16="http://schemas.microsoft.com/office/drawing/2014/main" id="{00884CB1-C89E-483F-AD92-A451F60F1C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082" t="20310" r="8216" b="23549"/>
          <a:stretch/>
        </p:blipFill>
        <p:spPr>
          <a:xfrm>
            <a:off x="190500" y="2105535"/>
            <a:ext cx="10292105" cy="2989020"/>
          </a:xfrm>
          <a:prstGeom prst="rect">
            <a:avLst/>
          </a:prstGeom>
        </p:spPr>
      </p:pic>
      <p:sp>
        <p:nvSpPr>
          <p:cNvPr id="11" name="Text Placeholder 2">
            <a:extLst>
              <a:ext uri="{FF2B5EF4-FFF2-40B4-BE49-F238E27FC236}">
                <a16:creationId xmlns:a16="http://schemas.microsoft.com/office/drawing/2014/main" id="{9AB77215-63F5-457D-BB11-70300B8118CE}"/>
              </a:ext>
            </a:extLst>
          </p:cNvPr>
          <p:cNvSpPr>
            <a:spLocks noGrp="1"/>
          </p:cNvSpPr>
          <p:nvPr>
            <p:ph type="body" sz="quarter" idx="13" hasCustomPrompt="1"/>
          </p:nvPr>
        </p:nvSpPr>
        <p:spPr>
          <a:xfrm>
            <a:off x="648000" y="648000"/>
            <a:ext cx="6408000" cy="5562000"/>
          </a:xfrm>
        </p:spPr>
        <p:txBody>
          <a:bodyPr anchor="ctr"/>
          <a:lstStyle>
            <a:lvl1pPr marL="0" indent="0">
              <a:spcBef>
                <a:spcPts val="300"/>
              </a:spcBef>
              <a:spcAft>
                <a:spcPts val="600"/>
              </a:spcAft>
              <a:buFont typeface="Arial" panose="020B0604020202020204" pitchFamily="34" charset="0"/>
              <a:buChar char="​"/>
              <a:defRPr>
                <a:solidFill>
                  <a:schemeClr val="tx2"/>
                </a:solidFill>
              </a:defRPr>
            </a:lvl1pPr>
            <a:lvl2pPr marL="0" indent="0">
              <a:spcBef>
                <a:spcPts val="300"/>
              </a:spcBef>
              <a:spcAft>
                <a:spcPts val="600"/>
              </a:spcAft>
              <a:buFont typeface="Arial" panose="020B0604020202020204" pitchFamily="34" charset="0"/>
              <a:buChar char="​"/>
              <a:defRPr sz="2000" b="1">
                <a:solidFill>
                  <a:schemeClr val="tx2"/>
                </a:solidFill>
              </a:defRPr>
            </a:lvl2pPr>
            <a:lvl3pPr marL="0" indent="0">
              <a:spcBef>
                <a:spcPts val="300"/>
              </a:spcBef>
              <a:spcAft>
                <a:spcPts val="600"/>
              </a:spcAft>
              <a:buFont typeface="Arial" panose="020B0604020202020204" pitchFamily="34" charset="0"/>
              <a:buChar char="​"/>
              <a:defRPr sz="2000">
                <a:solidFill>
                  <a:schemeClr val="tx2"/>
                </a:solidFill>
              </a:defRPr>
            </a:lvl3pPr>
            <a:lvl4pPr marL="0" indent="0">
              <a:spcBef>
                <a:spcPts val="300"/>
              </a:spcBef>
              <a:spcAft>
                <a:spcPts val="600"/>
              </a:spcAft>
              <a:buFont typeface="Arial" panose="020B0604020202020204" pitchFamily="34" charset="0"/>
              <a:buChar char="​"/>
              <a:defRPr sz="2000">
                <a:solidFill>
                  <a:schemeClr val="tx2"/>
                </a:solidFill>
              </a:defRPr>
            </a:lvl4pPr>
            <a:lvl5pPr marL="0" indent="0">
              <a:spcBef>
                <a:spcPts val="300"/>
              </a:spcBef>
              <a:spcAft>
                <a:spcPts val="600"/>
              </a:spcAft>
              <a:buFont typeface="Arial" panose="020B0604020202020204" pitchFamily="34" charset="0"/>
              <a:buChar char="​"/>
              <a:defRPr sz="2000">
                <a:solidFill>
                  <a:schemeClr val="tx2"/>
                </a:solidFill>
              </a:defRPr>
            </a:lvl5pPr>
            <a:lvl6pPr marL="0" indent="0">
              <a:spcBef>
                <a:spcPts val="300"/>
              </a:spcBef>
              <a:spcAft>
                <a:spcPts val="600"/>
              </a:spcAft>
              <a:buFont typeface="Arial" panose="020B0604020202020204" pitchFamily="34" charset="0"/>
              <a:buChar char="​"/>
              <a:defRPr sz="2000">
                <a:solidFill>
                  <a:schemeClr val="tx2"/>
                </a:solidFill>
              </a:defRPr>
            </a:lvl6pPr>
            <a:lvl7pPr marL="0" indent="0">
              <a:spcBef>
                <a:spcPts val="300"/>
              </a:spcBef>
              <a:spcAft>
                <a:spcPts val="600"/>
              </a:spcAft>
              <a:buFont typeface="Arial" panose="020B0604020202020204" pitchFamily="34" charset="0"/>
              <a:buChar char="​"/>
              <a:defRPr sz="2000">
                <a:solidFill>
                  <a:schemeClr val="tx2"/>
                </a:solidFill>
              </a:defRPr>
            </a:lvl7pPr>
            <a:lvl8pPr marL="0" indent="0">
              <a:spcBef>
                <a:spcPts val="300"/>
              </a:spcBef>
              <a:spcAft>
                <a:spcPts val="600"/>
              </a:spcAft>
              <a:buFont typeface="Arial" panose="020B0604020202020204" pitchFamily="34" charset="0"/>
              <a:buChar char="​"/>
              <a:defRPr sz="2000">
                <a:solidFill>
                  <a:schemeClr val="tx2"/>
                </a:solidFill>
              </a:defRPr>
            </a:lvl8pPr>
            <a:lvl9pPr marL="0" indent="0">
              <a:spcBef>
                <a:spcPts val="300"/>
              </a:spcBef>
              <a:spcAft>
                <a:spcPts val="600"/>
              </a:spcAft>
              <a:buFont typeface="Arial" panose="020B0604020202020204" pitchFamily="34" charset="0"/>
              <a:buChar char="​"/>
              <a:defRPr sz="2000">
                <a:solidFill>
                  <a:schemeClr val="tx2"/>
                </a:solidFill>
              </a:defRPr>
            </a:lvl9pPr>
          </a:lstStyle>
          <a:p>
            <a:pPr lvl="0"/>
            <a:r>
              <a:rPr lang="en-GB" noProof="0"/>
              <a:t>01 Agenda point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tx2"/>
                </a:solidFill>
              </a:defRPr>
            </a:lvl1pPr>
          </a:lstStyle>
          <a:p>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tx2"/>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tx2"/>
                </a:solidFill>
              </a:defRPr>
            </a:lvl1pPr>
          </a:lstStyle>
          <a:p>
            <a:fld id="{23AA811B-2EBD-4900-905E-5BE206449611}" type="slidenum">
              <a:rPr lang="en-GB" smtClean="0"/>
              <a:pPr/>
              <a:t>‹#›</a:t>
            </a:fld>
            <a:endParaRPr lang="en-GB"/>
          </a:p>
        </p:txBody>
      </p:sp>
      <p:sp>
        <p:nvSpPr>
          <p:cNvPr id="3" name="Logo Apis Bull">
            <a:extLst>
              <a:ext uri="{FF2B5EF4-FFF2-40B4-BE49-F238E27FC236}">
                <a16:creationId xmlns:a16="http://schemas.microsoft.com/office/drawing/2014/main" id="{3B263967-832B-EF54-75F7-3C148BB3EA7F}"/>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757139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randed Agenda">
    <p:bg>
      <p:bgPr>
        <a:solidFill>
          <a:srgbClr val="F7F6F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A02891-9B5C-45AF-8221-7F98276EA462}"/>
              </a:ext>
            </a:extLst>
          </p:cNvPr>
          <p:cNvSpPr/>
          <p:nvPr userDrawn="1"/>
        </p:nvSpPr>
        <p:spPr>
          <a:xfrm>
            <a:off x="0" y="0"/>
            <a:ext cx="12192000" cy="6858000"/>
          </a:xfrm>
          <a:prstGeom prst="rect">
            <a:avLst/>
          </a:prstGeom>
          <a:solidFill>
            <a:srgbClr val="F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tx2"/>
                </a:solidFill>
              </a:defRPr>
            </a:lvl1pPr>
          </a:lstStyle>
          <a:p>
            <a:fld id="{C2AD94F7-3470-4EDF-8360-C604BB358116}" type="datetime3">
              <a:rPr lang="en-GB" smtClean="0"/>
              <a:t>12 October, 2026</a:t>
            </a:fld>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tx2"/>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tx2"/>
                </a:solidFill>
              </a:defRPr>
            </a:lvl1pPr>
          </a:lstStyle>
          <a:p>
            <a:fld id="{23AA811B-2EBD-4900-905E-5BE206449611}" type="slidenum">
              <a:rPr lang="en-GB" smtClean="0"/>
              <a:pPr/>
              <a:t>‹#›</a:t>
            </a:fld>
            <a:endParaRPr lang="en-GB"/>
          </a:p>
        </p:txBody>
      </p:sp>
      <p:pic>
        <p:nvPicPr>
          <p:cNvPr id="2" name="Graphic 1">
            <a:extLst>
              <a:ext uri="{FF2B5EF4-FFF2-40B4-BE49-F238E27FC236}">
                <a16:creationId xmlns:a16="http://schemas.microsoft.com/office/drawing/2014/main" id="{00884CB1-C89E-483F-AD92-A451F60F1C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082" t="20310" r="8216" b="23549"/>
          <a:stretch/>
        </p:blipFill>
        <p:spPr>
          <a:xfrm>
            <a:off x="190500" y="2105535"/>
            <a:ext cx="10292105" cy="2989020"/>
          </a:xfrm>
          <a:prstGeom prst="rect">
            <a:avLst/>
          </a:prstGeom>
        </p:spPr>
      </p:pic>
      <p:sp>
        <p:nvSpPr>
          <p:cNvPr id="3" name="Logo Apis Bull">
            <a:extLst>
              <a:ext uri="{FF2B5EF4-FFF2-40B4-BE49-F238E27FC236}">
                <a16:creationId xmlns:a16="http://schemas.microsoft.com/office/drawing/2014/main" id="{4D06FAA0-C417-DBA2-9939-FE8C4DD3B6F9}"/>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154341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ucket 1 sub">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C135AE9C-0192-4702-9483-2D7F66625848}"/>
              </a:ext>
            </a:extLst>
          </p:cNvPr>
          <p:cNvSpPr>
            <a:spLocks noGrp="1"/>
          </p:cNvSpPr>
          <p:nvPr>
            <p:ph type="body" sz="quarter" idx="13" hasCustomPrompt="1"/>
          </p:nvPr>
        </p:nvSpPr>
        <p:spPr>
          <a:xfrm>
            <a:off x="647998" y="6279450"/>
            <a:ext cx="10896301" cy="324000"/>
          </a:xfrm>
        </p:spPr>
        <p:txBody>
          <a:bodyPr anchor="b"/>
          <a:lstStyle>
            <a:lvl1pPr marL="0" indent="0">
              <a:spcBef>
                <a:spcPts val="0"/>
              </a:spcBef>
              <a:spcAft>
                <a:spcPts val="0"/>
              </a:spcAft>
              <a:buNone/>
              <a:defRPr sz="700" i="1">
                <a:solidFill>
                  <a:schemeClr val="tx2"/>
                </a:solidFill>
              </a:defRPr>
            </a:lvl1pPr>
          </a:lstStyle>
          <a:p>
            <a:pPr lvl="0"/>
            <a:r>
              <a:rPr lang="en-GB"/>
              <a:t>Insert notes</a:t>
            </a:r>
          </a:p>
        </p:txBody>
      </p:sp>
      <p:sp>
        <p:nvSpPr>
          <p:cNvPr id="3" name="Rectangle: Top Corners Rounded 2">
            <a:extLst>
              <a:ext uri="{FF2B5EF4-FFF2-40B4-BE49-F238E27FC236}">
                <a16:creationId xmlns:a16="http://schemas.microsoft.com/office/drawing/2014/main" id="{08CD69AC-97D5-FE5D-C35F-C309032C4102}"/>
              </a:ext>
            </a:extLst>
          </p:cNvPr>
          <p:cNvSpPr/>
          <p:nvPr userDrawn="1"/>
        </p:nvSpPr>
        <p:spPr>
          <a:xfrm rot="5400000">
            <a:off x="5063375" y="-4091375"/>
            <a:ext cx="1428063" cy="11554812"/>
          </a:xfrm>
          <a:prstGeom prst="round2SameRect">
            <a:avLst>
              <a:gd name="adj1" fmla="val 50000"/>
              <a:gd name="adj2" fmla="val 0"/>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pis For Office"/>
              <a:ea typeface="+mn-ea"/>
              <a:cs typeface="+mn-cs"/>
            </a:endParaRPr>
          </a:p>
        </p:txBody>
      </p:sp>
      <p:sp>
        <p:nvSpPr>
          <p:cNvPr id="2" name="Title 1"/>
          <p:cNvSpPr>
            <a:spLocks noGrp="1"/>
          </p:cNvSpPr>
          <p:nvPr>
            <p:ph type="title" hasCustomPrompt="1"/>
          </p:nvPr>
        </p:nvSpPr>
        <p:spPr>
          <a:xfrm>
            <a:off x="648000" y="1038031"/>
            <a:ext cx="10896000" cy="1296000"/>
          </a:xfrm>
        </p:spPr>
        <p:txBody>
          <a:bodyPr anchor="ctr"/>
          <a:lstStyle>
            <a:lvl1pPr>
              <a:defRPr sz="2200">
                <a:solidFill>
                  <a:schemeClr val="tx2"/>
                </a:solidFill>
              </a:defRPr>
            </a:lvl1pPr>
          </a:lstStyle>
          <a:p>
            <a:r>
              <a:rPr lang="en-GB" noProof="0"/>
              <a:t>Click to add title</a:t>
            </a:r>
            <a:endParaRPr lang="en-GB"/>
          </a:p>
        </p:txBody>
      </p:sp>
      <p:sp>
        <p:nvSpPr>
          <p:cNvPr id="13" name="Graphic 27">
            <a:extLst>
              <a:ext uri="{FF2B5EF4-FFF2-40B4-BE49-F238E27FC236}">
                <a16:creationId xmlns:a16="http://schemas.microsoft.com/office/drawing/2014/main" id="{2EA3EF24-13B1-7B89-E796-3234E24062A8}"/>
              </a:ext>
            </a:extLst>
          </p:cNvPr>
          <p:cNvSpPr>
            <a:spLocks noChangeAspect="1"/>
          </p:cNvSpPr>
          <p:nvPr userDrawn="1"/>
        </p:nvSpPr>
        <p:spPr>
          <a:xfrm>
            <a:off x="4274844" y="77617"/>
            <a:ext cx="427843" cy="426463"/>
          </a:xfrm>
          <a:custGeom>
            <a:avLst/>
            <a:gdLst>
              <a:gd name="connsiteX0" fmla="*/ 414825 w 415838"/>
              <a:gd name="connsiteY0" fmla="*/ 61972 h 414497"/>
              <a:gd name="connsiteX1" fmla="*/ 401300 w 415838"/>
              <a:gd name="connsiteY1" fmla="*/ 52447 h 414497"/>
              <a:gd name="connsiteX2" fmla="*/ 367296 w 415838"/>
              <a:gd name="connsiteY2" fmla="*/ 52447 h 414497"/>
              <a:gd name="connsiteX3" fmla="*/ 367296 w 415838"/>
              <a:gd name="connsiteY3" fmla="*/ 14347 h 414497"/>
              <a:gd name="connsiteX4" fmla="*/ 352530 w 415838"/>
              <a:gd name="connsiteY4" fmla="*/ -36 h 414497"/>
              <a:gd name="connsiteX5" fmla="*/ 341864 w 415838"/>
              <a:gd name="connsiteY5" fmla="*/ 4822 h 414497"/>
              <a:gd name="connsiteX6" fmla="*/ 292429 w 415838"/>
              <a:gd name="connsiteY6" fmla="*/ 58543 h 414497"/>
              <a:gd name="connsiteX7" fmla="*/ 292429 w 415838"/>
              <a:gd name="connsiteY7" fmla="*/ 113502 h 414497"/>
              <a:gd name="connsiteX8" fmla="*/ 276999 w 415838"/>
              <a:gd name="connsiteY8" fmla="*/ 128551 h 414497"/>
              <a:gd name="connsiteX9" fmla="*/ 43743 w 415838"/>
              <a:gd name="connsiteY9" fmla="*/ 137876 h 414497"/>
              <a:gd name="connsiteX10" fmla="*/ 14394 w 415838"/>
              <a:gd name="connsiteY10" fmla="*/ 317337 h 414497"/>
              <a:gd name="connsiteX11" fmla="*/ 14394 w 415838"/>
              <a:gd name="connsiteY11" fmla="*/ 317337 h 414497"/>
              <a:gd name="connsiteX12" fmla="*/ 232954 w 415838"/>
              <a:gd name="connsiteY12" fmla="*/ 399738 h 414497"/>
              <a:gd name="connsiteX13" fmla="*/ 315353 w 415838"/>
              <a:gd name="connsiteY13" fmla="*/ 181177 h 414497"/>
              <a:gd name="connsiteX14" fmla="*/ 290619 w 415838"/>
              <a:gd name="connsiteY14" fmla="*/ 142172 h 414497"/>
              <a:gd name="connsiteX15" fmla="*/ 305574 w 415838"/>
              <a:gd name="connsiteY15" fmla="*/ 126456 h 414497"/>
              <a:gd name="connsiteX16" fmla="*/ 361390 w 415838"/>
              <a:gd name="connsiteY16" fmla="*/ 126456 h 414497"/>
              <a:gd name="connsiteX17" fmla="*/ 411111 w 415838"/>
              <a:gd name="connsiteY17" fmla="*/ 77974 h 414497"/>
              <a:gd name="connsiteX18" fmla="*/ 414825 w 415838"/>
              <a:gd name="connsiteY18" fmla="*/ 61972 h 414497"/>
              <a:gd name="connsiteX19" fmla="*/ 298620 w 415838"/>
              <a:gd name="connsiteY19" fmla="*/ 190464 h 414497"/>
              <a:gd name="connsiteX20" fmla="*/ 231131 w 415838"/>
              <a:gd name="connsiteY20" fmla="*/ 385765 h 414497"/>
              <a:gd name="connsiteX21" fmla="*/ 35827 w 415838"/>
              <a:gd name="connsiteY21" fmla="*/ 318280 h 414497"/>
              <a:gd name="connsiteX22" fmla="*/ 31920 w 415838"/>
              <a:gd name="connsiteY22" fmla="*/ 309526 h 414497"/>
              <a:gd name="connsiteX23" fmla="*/ 31920 w 415838"/>
              <a:gd name="connsiteY23" fmla="*/ 309526 h 414497"/>
              <a:gd name="connsiteX24" fmla="*/ 106465 w 415838"/>
              <a:gd name="connsiteY24" fmla="*/ 116807 h 414497"/>
              <a:gd name="connsiteX25" fmla="*/ 263568 w 415838"/>
              <a:gd name="connsiteY25" fmla="*/ 142077 h 414497"/>
              <a:gd name="connsiteX26" fmla="*/ 228707 w 415838"/>
              <a:gd name="connsiteY26" fmla="*/ 177129 h 414497"/>
              <a:gd name="connsiteX27" fmla="*/ 92317 w 415838"/>
              <a:gd name="connsiteY27" fmla="*/ 186692 h 414497"/>
              <a:gd name="connsiteX28" fmla="*/ 76974 w 415838"/>
              <a:gd name="connsiteY28" fmla="*/ 289429 h 414497"/>
              <a:gd name="connsiteX29" fmla="*/ 76974 w 415838"/>
              <a:gd name="connsiteY29" fmla="*/ 289429 h 414497"/>
              <a:gd name="connsiteX30" fmla="*/ 165461 w 415838"/>
              <a:gd name="connsiteY30" fmla="*/ 346579 h 414497"/>
              <a:gd name="connsiteX31" fmla="*/ 204704 w 415838"/>
              <a:gd name="connsiteY31" fmla="*/ 338197 h 414497"/>
              <a:gd name="connsiteX32" fmla="*/ 253662 w 415838"/>
              <a:gd name="connsiteY32" fmla="*/ 210371 h 414497"/>
              <a:gd name="connsiteX33" fmla="*/ 241851 w 415838"/>
              <a:gd name="connsiteY33" fmla="*/ 190845 h 414497"/>
              <a:gd name="connsiteX34" fmla="*/ 276808 w 415838"/>
              <a:gd name="connsiteY34" fmla="*/ 155603 h 414497"/>
              <a:gd name="connsiteX35" fmla="*/ 298620 w 415838"/>
              <a:gd name="connsiteY35" fmla="*/ 190464 h 414497"/>
              <a:gd name="connsiteX36" fmla="*/ 236232 w 415838"/>
              <a:gd name="connsiteY36" fmla="*/ 218277 h 414497"/>
              <a:gd name="connsiteX37" fmla="*/ 197093 w 415838"/>
              <a:gd name="connsiteY37" fmla="*/ 321423 h 414497"/>
              <a:gd name="connsiteX38" fmla="*/ 93947 w 415838"/>
              <a:gd name="connsiteY38" fmla="*/ 282285 h 414497"/>
              <a:gd name="connsiteX39" fmla="*/ 133084 w 415838"/>
              <a:gd name="connsiteY39" fmla="*/ 179139 h 414497"/>
              <a:gd name="connsiteX40" fmla="*/ 215277 w 415838"/>
              <a:gd name="connsiteY40" fmla="*/ 190559 h 414497"/>
              <a:gd name="connsiteX41" fmla="*/ 180891 w 415838"/>
              <a:gd name="connsiteY41" fmla="*/ 225135 h 414497"/>
              <a:gd name="connsiteX42" fmla="*/ 140407 w 415838"/>
              <a:gd name="connsiteY42" fmla="*/ 234212 h 414497"/>
              <a:gd name="connsiteX43" fmla="*/ 138410 w 415838"/>
              <a:gd name="connsiteY43" fmla="*/ 261901 h 414497"/>
              <a:gd name="connsiteX44" fmla="*/ 138410 w 415838"/>
              <a:gd name="connsiteY44" fmla="*/ 261901 h 414497"/>
              <a:gd name="connsiteX45" fmla="*/ 154698 w 415838"/>
              <a:gd name="connsiteY45" fmla="*/ 277427 h 414497"/>
              <a:gd name="connsiteX46" fmla="*/ 165270 w 415838"/>
              <a:gd name="connsiteY46" fmla="*/ 279332 h 414497"/>
              <a:gd name="connsiteX47" fmla="*/ 194486 w 415838"/>
              <a:gd name="connsiteY47" fmla="*/ 249871 h 414497"/>
              <a:gd name="connsiteX48" fmla="*/ 192798 w 415838"/>
              <a:gd name="connsiteY48" fmla="*/ 240184 h 414497"/>
              <a:gd name="connsiteX49" fmla="*/ 228231 w 415838"/>
              <a:gd name="connsiteY49" fmla="*/ 204466 h 414497"/>
              <a:gd name="connsiteX50" fmla="*/ 236232 w 415838"/>
              <a:gd name="connsiteY50" fmla="*/ 218277 h 414497"/>
              <a:gd name="connsiteX51" fmla="*/ 174700 w 415838"/>
              <a:gd name="connsiteY51" fmla="*/ 245709 h 414497"/>
              <a:gd name="connsiteX52" fmla="*/ 169461 w 415838"/>
              <a:gd name="connsiteY52" fmla="*/ 259425 h 414497"/>
              <a:gd name="connsiteX53" fmla="*/ 155745 w 415838"/>
              <a:gd name="connsiteY53" fmla="*/ 254186 h 414497"/>
              <a:gd name="connsiteX54" fmla="*/ 161032 w 415838"/>
              <a:gd name="connsiteY54" fmla="*/ 240423 h 414497"/>
              <a:gd name="connsiteX55" fmla="*/ 174795 w 415838"/>
              <a:gd name="connsiteY55" fmla="*/ 245709 h 414497"/>
              <a:gd name="connsiteX56" fmla="*/ 353961 w 415838"/>
              <a:gd name="connsiteY56" fmla="*/ 107311 h 414497"/>
              <a:gd name="connsiteX57" fmla="*/ 311479 w 415838"/>
              <a:gd name="connsiteY57" fmla="*/ 107311 h 414497"/>
              <a:gd name="connsiteX58" fmla="*/ 311479 w 415838"/>
              <a:gd name="connsiteY58" fmla="*/ 65877 h 414497"/>
              <a:gd name="connsiteX59" fmla="*/ 348246 w 415838"/>
              <a:gd name="connsiteY59" fmla="*/ 25777 h 414497"/>
              <a:gd name="connsiteX60" fmla="*/ 348246 w 415838"/>
              <a:gd name="connsiteY60" fmla="*/ 71497 h 414497"/>
              <a:gd name="connsiteX61" fmla="*/ 390632 w 415838"/>
              <a:gd name="connsiteY61" fmla="*/ 72068 h 41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15838" h="414497">
                <a:moveTo>
                  <a:pt x="414825" y="61972"/>
                </a:moveTo>
                <a:cubicBezTo>
                  <a:pt x="412664" y="56352"/>
                  <a:pt x="407322" y="52590"/>
                  <a:pt x="401300" y="52447"/>
                </a:cubicBezTo>
                <a:lnTo>
                  <a:pt x="367296" y="52447"/>
                </a:lnTo>
                <a:lnTo>
                  <a:pt x="367296" y="14347"/>
                </a:lnTo>
                <a:cubicBezTo>
                  <a:pt x="367189" y="6298"/>
                  <a:pt x="360579" y="-141"/>
                  <a:pt x="352530" y="-36"/>
                </a:cubicBezTo>
                <a:cubicBezTo>
                  <a:pt x="348452" y="21"/>
                  <a:pt x="344583" y="1783"/>
                  <a:pt x="341864" y="4822"/>
                </a:cubicBezTo>
                <a:lnTo>
                  <a:pt x="292429" y="58543"/>
                </a:lnTo>
                <a:lnTo>
                  <a:pt x="292429" y="113502"/>
                </a:lnTo>
                <a:lnTo>
                  <a:pt x="276999" y="128551"/>
                </a:lnTo>
                <a:cubicBezTo>
                  <a:pt x="210012" y="66715"/>
                  <a:pt x="105580" y="70887"/>
                  <a:pt x="43743" y="137876"/>
                </a:cubicBezTo>
                <a:cubicBezTo>
                  <a:pt x="-1079" y="186425"/>
                  <a:pt x="-12625" y="257034"/>
                  <a:pt x="14394" y="317337"/>
                </a:cubicBezTo>
                <a:lnTo>
                  <a:pt x="14394" y="317337"/>
                </a:lnTo>
                <a:cubicBezTo>
                  <a:pt x="51994" y="400443"/>
                  <a:pt x="149846" y="437333"/>
                  <a:pt x="232954" y="399738"/>
                </a:cubicBezTo>
                <a:cubicBezTo>
                  <a:pt x="316062" y="362133"/>
                  <a:pt x="352953" y="264283"/>
                  <a:pt x="315353" y="181177"/>
                </a:cubicBezTo>
                <a:cubicBezTo>
                  <a:pt x="308976" y="167080"/>
                  <a:pt x="300650" y="153955"/>
                  <a:pt x="290619" y="142172"/>
                </a:cubicBezTo>
                <a:lnTo>
                  <a:pt x="305574" y="126456"/>
                </a:lnTo>
                <a:lnTo>
                  <a:pt x="361390" y="126456"/>
                </a:lnTo>
                <a:lnTo>
                  <a:pt x="411111" y="77974"/>
                </a:lnTo>
                <a:cubicBezTo>
                  <a:pt x="415500" y="73897"/>
                  <a:pt x="416970" y="67563"/>
                  <a:pt x="414825" y="61972"/>
                </a:cubicBezTo>
                <a:close/>
                <a:moveTo>
                  <a:pt x="298620" y="190464"/>
                </a:moveTo>
                <a:cubicBezTo>
                  <a:pt x="333915" y="263035"/>
                  <a:pt x="303699" y="350474"/>
                  <a:pt x="231131" y="385765"/>
                </a:cubicBezTo>
                <a:cubicBezTo>
                  <a:pt x="158563" y="421064"/>
                  <a:pt x="71122" y="390841"/>
                  <a:pt x="35827" y="318280"/>
                </a:cubicBezTo>
                <a:cubicBezTo>
                  <a:pt x="34429" y="315403"/>
                  <a:pt x="33126" y="312489"/>
                  <a:pt x="31920" y="309526"/>
                </a:cubicBezTo>
                <a:lnTo>
                  <a:pt x="31920" y="309526"/>
                </a:lnTo>
                <a:cubicBezTo>
                  <a:pt x="-713" y="235727"/>
                  <a:pt x="32661" y="149440"/>
                  <a:pt x="106465" y="116807"/>
                </a:cubicBezTo>
                <a:cubicBezTo>
                  <a:pt x="159230" y="93471"/>
                  <a:pt x="220782" y="103377"/>
                  <a:pt x="263568" y="142077"/>
                </a:cubicBezTo>
                <a:lnTo>
                  <a:pt x="228707" y="177129"/>
                </a:lnTo>
                <a:cubicBezTo>
                  <a:pt x="188403" y="142105"/>
                  <a:pt x="127339" y="146392"/>
                  <a:pt x="92317" y="186692"/>
                </a:cubicBezTo>
                <a:cubicBezTo>
                  <a:pt x="67677" y="215048"/>
                  <a:pt x="61694" y="255110"/>
                  <a:pt x="76974" y="289429"/>
                </a:cubicBezTo>
                <a:lnTo>
                  <a:pt x="76974" y="289429"/>
                </a:lnTo>
                <a:cubicBezTo>
                  <a:pt x="92610" y="324271"/>
                  <a:pt x="127272" y="346655"/>
                  <a:pt x="165461" y="346579"/>
                </a:cubicBezTo>
                <a:cubicBezTo>
                  <a:pt x="178987" y="346588"/>
                  <a:pt x="192362" y="343731"/>
                  <a:pt x="204704" y="338197"/>
                </a:cubicBezTo>
                <a:cubicBezTo>
                  <a:pt x="253487" y="316384"/>
                  <a:pt x="275393" y="259187"/>
                  <a:pt x="253662" y="210371"/>
                </a:cubicBezTo>
                <a:cubicBezTo>
                  <a:pt x="250537" y="203408"/>
                  <a:pt x="246571" y="196846"/>
                  <a:pt x="241851" y="190845"/>
                </a:cubicBezTo>
                <a:lnTo>
                  <a:pt x="276808" y="155603"/>
                </a:lnTo>
                <a:cubicBezTo>
                  <a:pt x="285692" y="166127"/>
                  <a:pt x="293036" y="177872"/>
                  <a:pt x="298620" y="190464"/>
                </a:cubicBezTo>
                <a:close/>
                <a:moveTo>
                  <a:pt x="236232" y="218277"/>
                </a:moveTo>
                <a:cubicBezTo>
                  <a:pt x="253907" y="257568"/>
                  <a:pt x="236385" y="303745"/>
                  <a:pt x="197093" y="321423"/>
                </a:cubicBezTo>
                <a:cubicBezTo>
                  <a:pt x="157803" y="339102"/>
                  <a:pt x="111623" y="321576"/>
                  <a:pt x="93947" y="282285"/>
                </a:cubicBezTo>
                <a:cubicBezTo>
                  <a:pt x="76272" y="242994"/>
                  <a:pt x="93794" y="196817"/>
                  <a:pt x="133084" y="179139"/>
                </a:cubicBezTo>
                <a:cubicBezTo>
                  <a:pt x="160402" y="166852"/>
                  <a:pt x="192344" y="171290"/>
                  <a:pt x="215277" y="190559"/>
                </a:cubicBezTo>
                <a:lnTo>
                  <a:pt x="180891" y="225135"/>
                </a:lnTo>
                <a:cubicBezTo>
                  <a:pt x="167206" y="216458"/>
                  <a:pt x="149081" y="220525"/>
                  <a:pt x="140407" y="234212"/>
                </a:cubicBezTo>
                <a:cubicBezTo>
                  <a:pt x="135139" y="242518"/>
                  <a:pt x="134388" y="252919"/>
                  <a:pt x="138410" y="261901"/>
                </a:cubicBezTo>
                <a:lnTo>
                  <a:pt x="138410" y="261901"/>
                </a:lnTo>
                <a:cubicBezTo>
                  <a:pt x="141551" y="269045"/>
                  <a:pt x="147415" y="274636"/>
                  <a:pt x="154698" y="277427"/>
                </a:cubicBezTo>
                <a:cubicBezTo>
                  <a:pt x="158084" y="278675"/>
                  <a:pt x="161662" y="279323"/>
                  <a:pt x="165270" y="279332"/>
                </a:cubicBezTo>
                <a:cubicBezTo>
                  <a:pt x="181472" y="279266"/>
                  <a:pt x="194553" y="266073"/>
                  <a:pt x="194486" y="249871"/>
                </a:cubicBezTo>
                <a:cubicBezTo>
                  <a:pt x="194473" y="246576"/>
                  <a:pt x="193902" y="243299"/>
                  <a:pt x="192798" y="240184"/>
                </a:cubicBezTo>
                <a:lnTo>
                  <a:pt x="228231" y="204466"/>
                </a:lnTo>
                <a:cubicBezTo>
                  <a:pt x="231356" y="208790"/>
                  <a:pt x="234037" y="213419"/>
                  <a:pt x="236232" y="218277"/>
                </a:cubicBezTo>
                <a:close/>
                <a:moveTo>
                  <a:pt x="174700" y="245709"/>
                </a:moveTo>
                <a:cubicBezTo>
                  <a:pt x="176985" y="250948"/>
                  <a:pt x="174654" y="257044"/>
                  <a:pt x="169461" y="259425"/>
                </a:cubicBezTo>
                <a:cubicBezTo>
                  <a:pt x="164225" y="261711"/>
                  <a:pt x="158125" y="259377"/>
                  <a:pt x="155745" y="254186"/>
                </a:cubicBezTo>
                <a:cubicBezTo>
                  <a:pt x="153404" y="248928"/>
                  <a:pt x="155771" y="242766"/>
                  <a:pt x="161032" y="240423"/>
                </a:cubicBezTo>
                <a:cubicBezTo>
                  <a:pt x="166292" y="238079"/>
                  <a:pt x="172454" y="240451"/>
                  <a:pt x="174795" y="245709"/>
                </a:cubicBezTo>
                <a:close/>
                <a:moveTo>
                  <a:pt x="353961" y="107311"/>
                </a:moveTo>
                <a:lnTo>
                  <a:pt x="311479" y="107311"/>
                </a:lnTo>
                <a:lnTo>
                  <a:pt x="311479" y="65877"/>
                </a:lnTo>
                <a:lnTo>
                  <a:pt x="348246" y="25777"/>
                </a:lnTo>
                <a:lnTo>
                  <a:pt x="348246" y="71497"/>
                </a:lnTo>
                <a:lnTo>
                  <a:pt x="390632" y="72068"/>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
        <p:nvSpPr>
          <p:cNvPr id="14" name="Heart CVD Icon">
            <a:extLst>
              <a:ext uri="{FF2B5EF4-FFF2-40B4-BE49-F238E27FC236}">
                <a16:creationId xmlns:a16="http://schemas.microsoft.com/office/drawing/2014/main" id="{5C299429-78FB-B49F-BF00-B27A641A2B07}"/>
              </a:ext>
            </a:extLst>
          </p:cNvPr>
          <p:cNvSpPr>
            <a:spLocks noChangeAspect="1"/>
          </p:cNvSpPr>
          <p:nvPr userDrawn="1"/>
        </p:nvSpPr>
        <p:spPr>
          <a:xfrm>
            <a:off x="2682273" y="87489"/>
            <a:ext cx="389095" cy="457661"/>
          </a:xfrm>
          <a:custGeom>
            <a:avLst/>
            <a:gdLst>
              <a:gd name="connsiteX0" fmla="*/ 85792 w 351099"/>
              <a:gd name="connsiteY0" fmla="*/ 31454 h 412969"/>
              <a:gd name="connsiteX1" fmla="*/ 89326 w 351099"/>
              <a:gd name="connsiteY1" fmla="*/ 18452 h 412969"/>
              <a:gd name="connsiteX2" fmla="*/ 89411 w 351099"/>
              <a:gd name="connsiteY2" fmla="*/ 18405 h 412969"/>
              <a:gd name="connsiteX3" fmla="*/ 102365 w 351099"/>
              <a:gd name="connsiteY3" fmla="*/ 22024 h 412969"/>
              <a:gd name="connsiteX4" fmla="*/ 125035 w 351099"/>
              <a:gd name="connsiteY4" fmla="*/ 61839 h 412969"/>
              <a:gd name="connsiteX5" fmla="*/ 155991 w 351099"/>
              <a:gd name="connsiteY5" fmla="*/ 72030 h 412969"/>
              <a:gd name="connsiteX6" fmla="*/ 165516 w 351099"/>
              <a:gd name="connsiteY6" fmla="*/ 52980 h 412969"/>
              <a:gd name="connsiteX7" fmla="*/ 152086 w 351099"/>
              <a:gd name="connsiteY7" fmla="*/ 12499 h 412969"/>
              <a:gd name="connsiteX8" fmla="*/ 158134 w 351099"/>
              <a:gd name="connsiteY8" fmla="*/ 450 h 412969"/>
              <a:gd name="connsiteX9" fmla="*/ 170183 w 351099"/>
              <a:gd name="connsiteY9" fmla="*/ 6498 h 412969"/>
              <a:gd name="connsiteX10" fmla="*/ 186090 w 351099"/>
              <a:gd name="connsiteY10" fmla="*/ 54123 h 412969"/>
              <a:gd name="connsiteX11" fmla="*/ 165707 w 351099"/>
              <a:gd name="connsiteY11" fmla="*/ 95557 h 412969"/>
              <a:gd name="connsiteX12" fmla="*/ 112081 w 351099"/>
              <a:gd name="connsiteY12" fmla="*/ 77936 h 412969"/>
              <a:gd name="connsiteX13" fmla="*/ 289341 w 351099"/>
              <a:gd name="connsiteY13" fmla="*/ 136896 h 412969"/>
              <a:gd name="connsiteX14" fmla="*/ 314487 w 351099"/>
              <a:gd name="connsiteY14" fmla="*/ 158232 h 412969"/>
              <a:gd name="connsiteX15" fmla="*/ 322202 w 351099"/>
              <a:gd name="connsiteY15" fmla="*/ 162232 h 412969"/>
              <a:gd name="connsiteX16" fmla="*/ 327727 w 351099"/>
              <a:gd name="connsiteY16" fmla="*/ 160518 h 412969"/>
              <a:gd name="connsiteX17" fmla="*/ 330061 w 351099"/>
              <a:gd name="connsiteY17" fmla="*/ 147249 h 412969"/>
              <a:gd name="connsiteX18" fmla="*/ 330013 w 351099"/>
              <a:gd name="connsiteY18" fmla="*/ 147183 h 412969"/>
              <a:gd name="connsiteX19" fmla="*/ 297628 w 351099"/>
              <a:gd name="connsiteY19" fmla="*/ 119846 h 412969"/>
              <a:gd name="connsiteX20" fmla="*/ 285398 w 351099"/>
              <a:gd name="connsiteY20" fmla="*/ 125485 h 412969"/>
              <a:gd name="connsiteX21" fmla="*/ 289341 w 351099"/>
              <a:gd name="connsiteY21" fmla="*/ 136896 h 412969"/>
              <a:gd name="connsiteX22" fmla="*/ 328013 w 351099"/>
              <a:gd name="connsiteY22" fmla="*/ 189664 h 412969"/>
              <a:gd name="connsiteX23" fmla="*/ 332013 w 351099"/>
              <a:gd name="connsiteY23" fmla="*/ 225288 h 412969"/>
              <a:gd name="connsiteX24" fmla="*/ 341538 w 351099"/>
              <a:gd name="connsiteY24" fmla="*/ 234813 h 412969"/>
              <a:gd name="connsiteX25" fmla="*/ 341538 w 351099"/>
              <a:gd name="connsiteY25" fmla="*/ 234813 h 412969"/>
              <a:gd name="connsiteX26" fmla="*/ 351063 w 351099"/>
              <a:gd name="connsiteY26" fmla="*/ 225288 h 412969"/>
              <a:gd name="connsiteX27" fmla="*/ 346586 w 351099"/>
              <a:gd name="connsiteY27" fmla="*/ 185378 h 412969"/>
              <a:gd name="connsiteX28" fmla="*/ 334871 w 351099"/>
              <a:gd name="connsiteY28" fmla="*/ 178044 h 412969"/>
              <a:gd name="connsiteX29" fmla="*/ 327536 w 351099"/>
              <a:gd name="connsiteY29" fmla="*/ 189760 h 412969"/>
              <a:gd name="connsiteX30" fmla="*/ 340300 w 351099"/>
              <a:gd name="connsiteY30" fmla="*/ 253767 h 412969"/>
              <a:gd name="connsiteX31" fmla="*/ 329641 w 351099"/>
              <a:gd name="connsiteY31" fmla="*/ 261997 h 412969"/>
              <a:gd name="connsiteX32" fmla="*/ 329632 w 351099"/>
              <a:gd name="connsiteY32" fmla="*/ 262054 h 412969"/>
              <a:gd name="connsiteX33" fmla="*/ 322869 w 351099"/>
              <a:gd name="connsiteY33" fmla="*/ 298535 h 412969"/>
              <a:gd name="connsiteX34" fmla="*/ 329889 w 351099"/>
              <a:gd name="connsiteY34" fmla="*/ 310032 h 412969"/>
              <a:gd name="connsiteX35" fmla="*/ 330013 w 351099"/>
              <a:gd name="connsiteY35" fmla="*/ 310060 h 412969"/>
              <a:gd name="connsiteX36" fmla="*/ 332204 w 351099"/>
              <a:gd name="connsiteY36" fmla="*/ 310060 h 412969"/>
              <a:gd name="connsiteX37" fmla="*/ 341729 w 351099"/>
              <a:gd name="connsiteY37" fmla="*/ 302726 h 412969"/>
              <a:gd name="connsiteX38" fmla="*/ 348777 w 351099"/>
              <a:gd name="connsiteY38" fmla="*/ 264626 h 412969"/>
              <a:gd name="connsiteX39" fmla="*/ 340738 w 351099"/>
              <a:gd name="connsiteY39" fmla="*/ 253825 h 412969"/>
              <a:gd name="connsiteX40" fmla="*/ 340300 w 351099"/>
              <a:gd name="connsiteY40" fmla="*/ 253767 h 412969"/>
              <a:gd name="connsiteX41" fmla="*/ 324488 w 351099"/>
              <a:gd name="connsiteY41" fmla="*/ 328348 h 412969"/>
              <a:gd name="connsiteX42" fmla="*/ 312677 w 351099"/>
              <a:gd name="connsiteY42" fmla="*/ 334730 h 412969"/>
              <a:gd name="connsiteX43" fmla="*/ 297152 w 351099"/>
              <a:gd name="connsiteY43" fmla="*/ 365591 h 412969"/>
              <a:gd name="connsiteX44" fmla="*/ 297152 w 351099"/>
              <a:gd name="connsiteY44" fmla="*/ 365591 h 412969"/>
              <a:gd name="connsiteX45" fmla="*/ 238763 w 351099"/>
              <a:gd name="connsiteY45" fmla="*/ 394166 h 412969"/>
              <a:gd name="connsiteX46" fmla="*/ 72933 w 351099"/>
              <a:gd name="connsiteY46" fmla="*/ 273008 h 412969"/>
              <a:gd name="connsiteX47" fmla="*/ 64456 w 351099"/>
              <a:gd name="connsiteY47" fmla="*/ 168233 h 412969"/>
              <a:gd name="connsiteX48" fmla="*/ 151991 w 351099"/>
              <a:gd name="connsiteY48" fmla="*/ 139658 h 412969"/>
              <a:gd name="connsiteX49" fmla="*/ 171041 w 351099"/>
              <a:gd name="connsiteY49" fmla="*/ 144992 h 412969"/>
              <a:gd name="connsiteX50" fmla="*/ 175422 w 351099"/>
              <a:gd name="connsiteY50" fmla="*/ 144992 h 412969"/>
              <a:gd name="connsiteX51" fmla="*/ 177994 w 351099"/>
              <a:gd name="connsiteY51" fmla="*/ 141563 h 412969"/>
              <a:gd name="connsiteX52" fmla="*/ 199901 w 351099"/>
              <a:gd name="connsiteY52" fmla="*/ 102129 h 412969"/>
              <a:gd name="connsiteX53" fmla="*/ 250860 w 351099"/>
              <a:gd name="connsiteY53" fmla="*/ 22977 h 412969"/>
              <a:gd name="connsiteX54" fmla="*/ 262671 w 351099"/>
              <a:gd name="connsiteY54" fmla="*/ 32502 h 412969"/>
              <a:gd name="connsiteX55" fmla="*/ 252384 w 351099"/>
              <a:gd name="connsiteY55" fmla="*/ 44313 h 412969"/>
              <a:gd name="connsiteX56" fmla="*/ 230953 w 351099"/>
              <a:gd name="connsiteY56" fmla="*/ 109178 h 412969"/>
              <a:gd name="connsiteX57" fmla="*/ 230953 w 351099"/>
              <a:gd name="connsiteY57" fmla="*/ 110702 h 412969"/>
              <a:gd name="connsiteX58" fmla="*/ 235239 w 351099"/>
              <a:gd name="connsiteY58" fmla="*/ 158327 h 412969"/>
              <a:gd name="connsiteX59" fmla="*/ 235239 w 351099"/>
              <a:gd name="connsiteY59" fmla="*/ 158327 h 412969"/>
              <a:gd name="connsiteX60" fmla="*/ 230762 w 351099"/>
              <a:gd name="connsiteY60" fmla="*/ 188236 h 412969"/>
              <a:gd name="connsiteX61" fmla="*/ 237620 w 351099"/>
              <a:gd name="connsiteY61" fmla="*/ 199827 h 412969"/>
              <a:gd name="connsiteX62" fmla="*/ 237716 w 351099"/>
              <a:gd name="connsiteY62" fmla="*/ 199856 h 412969"/>
              <a:gd name="connsiteX63" fmla="*/ 240002 w 351099"/>
              <a:gd name="connsiteY63" fmla="*/ 199856 h 412969"/>
              <a:gd name="connsiteX64" fmla="*/ 249527 w 351099"/>
              <a:gd name="connsiteY64" fmla="*/ 192617 h 412969"/>
              <a:gd name="connsiteX65" fmla="*/ 254575 w 351099"/>
              <a:gd name="connsiteY65" fmla="*/ 158994 h 412969"/>
              <a:gd name="connsiteX66" fmla="*/ 254575 w 351099"/>
              <a:gd name="connsiteY66" fmla="*/ 158994 h 412969"/>
              <a:gd name="connsiteX67" fmla="*/ 253908 w 351099"/>
              <a:gd name="connsiteY67" fmla="*/ 130419 h 412969"/>
              <a:gd name="connsiteX68" fmla="*/ 256861 w 351099"/>
              <a:gd name="connsiteY68" fmla="*/ 130419 h 412969"/>
              <a:gd name="connsiteX69" fmla="*/ 265814 w 351099"/>
              <a:gd name="connsiteY69" fmla="*/ 120322 h 412969"/>
              <a:gd name="connsiteX70" fmla="*/ 255718 w 351099"/>
              <a:gd name="connsiteY70" fmla="*/ 111369 h 412969"/>
              <a:gd name="connsiteX71" fmla="*/ 251146 w 351099"/>
              <a:gd name="connsiteY71" fmla="*/ 111369 h 412969"/>
              <a:gd name="connsiteX72" fmla="*/ 250003 w 351099"/>
              <a:gd name="connsiteY72" fmla="*/ 105844 h 412969"/>
              <a:gd name="connsiteX73" fmla="*/ 266862 w 351099"/>
              <a:gd name="connsiteY73" fmla="*/ 55552 h 412969"/>
              <a:gd name="connsiteX74" fmla="*/ 280292 w 351099"/>
              <a:gd name="connsiteY74" fmla="*/ 40027 h 412969"/>
              <a:gd name="connsiteX75" fmla="*/ 278854 w 351099"/>
              <a:gd name="connsiteY75" fmla="*/ 19871 h 412969"/>
              <a:gd name="connsiteX76" fmla="*/ 278578 w 351099"/>
              <a:gd name="connsiteY76" fmla="*/ 19643 h 412969"/>
              <a:gd name="connsiteX77" fmla="*/ 259528 w 351099"/>
              <a:gd name="connsiteY77" fmla="*/ 3831 h 412969"/>
              <a:gd name="connsiteX78" fmla="*/ 239525 w 351099"/>
              <a:gd name="connsiteY78" fmla="*/ 5451 h 412969"/>
              <a:gd name="connsiteX79" fmla="*/ 182375 w 351099"/>
              <a:gd name="connsiteY79" fmla="*/ 94128 h 412969"/>
              <a:gd name="connsiteX80" fmla="*/ 166564 w 351099"/>
              <a:gd name="connsiteY80" fmla="*/ 123846 h 412969"/>
              <a:gd name="connsiteX81" fmla="*/ 159325 w 351099"/>
              <a:gd name="connsiteY81" fmla="*/ 120989 h 412969"/>
              <a:gd name="connsiteX82" fmla="*/ 47311 w 351099"/>
              <a:gd name="connsiteY82" fmla="*/ 159089 h 412969"/>
              <a:gd name="connsiteX83" fmla="*/ 56360 w 351099"/>
              <a:gd name="connsiteY83" fmla="*/ 282342 h 412969"/>
              <a:gd name="connsiteX84" fmla="*/ 237335 w 351099"/>
              <a:gd name="connsiteY84" fmla="*/ 412930 h 412969"/>
              <a:gd name="connsiteX85" fmla="*/ 241907 w 351099"/>
              <a:gd name="connsiteY85" fmla="*/ 412930 h 412969"/>
              <a:gd name="connsiteX86" fmla="*/ 311915 w 351099"/>
              <a:gd name="connsiteY86" fmla="*/ 376830 h 412969"/>
              <a:gd name="connsiteX87" fmla="*/ 311915 w 351099"/>
              <a:gd name="connsiteY87" fmla="*/ 376830 h 412969"/>
              <a:gd name="connsiteX88" fmla="*/ 330489 w 351099"/>
              <a:gd name="connsiteY88" fmla="*/ 339969 h 412969"/>
              <a:gd name="connsiteX89" fmla="*/ 324488 w 351099"/>
              <a:gd name="connsiteY89" fmla="*/ 328348 h 412969"/>
              <a:gd name="connsiteX90" fmla="*/ 231239 w 351099"/>
              <a:gd name="connsiteY90" fmla="*/ 217191 h 412969"/>
              <a:gd name="connsiteX91" fmla="*/ 218285 w 351099"/>
              <a:gd name="connsiteY91" fmla="*/ 220897 h 412969"/>
              <a:gd name="connsiteX92" fmla="*/ 218285 w 351099"/>
              <a:gd name="connsiteY92" fmla="*/ 220906 h 412969"/>
              <a:gd name="connsiteX93" fmla="*/ 197330 w 351099"/>
              <a:gd name="connsiteY93" fmla="*/ 249481 h 412969"/>
              <a:gd name="connsiteX94" fmla="*/ 197758 w 351099"/>
              <a:gd name="connsiteY94" fmla="*/ 262959 h 412969"/>
              <a:gd name="connsiteX95" fmla="*/ 211236 w 351099"/>
              <a:gd name="connsiteY95" fmla="*/ 262530 h 412969"/>
              <a:gd name="connsiteX96" fmla="*/ 234953 w 351099"/>
              <a:gd name="connsiteY96" fmla="*/ 229860 h 412969"/>
              <a:gd name="connsiteX97" fmla="*/ 231239 w 351099"/>
              <a:gd name="connsiteY97" fmla="*/ 217191 h 412969"/>
              <a:gd name="connsiteX98" fmla="*/ 89411 w 351099"/>
              <a:gd name="connsiteY98" fmla="*/ 101748 h 412969"/>
              <a:gd name="connsiteX99" fmla="*/ 97317 w 351099"/>
              <a:gd name="connsiteY99" fmla="*/ 105939 h 412969"/>
              <a:gd name="connsiteX100" fmla="*/ 102651 w 351099"/>
              <a:gd name="connsiteY100" fmla="*/ 104320 h 412969"/>
              <a:gd name="connsiteX101" fmla="*/ 105128 w 351099"/>
              <a:gd name="connsiteY101" fmla="*/ 91080 h 412969"/>
              <a:gd name="connsiteX102" fmla="*/ 76553 w 351099"/>
              <a:gd name="connsiteY102" fmla="*/ 48408 h 412969"/>
              <a:gd name="connsiteX103" fmla="*/ 8163 w 351099"/>
              <a:gd name="connsiteY103" fmla="*/ 62791 h 412969"/>
              <a:gd name="connsiteX104" fmla="*/ 57 w 351099"/>
              <a:gd name="connsiteY104" fmla="*/ 73545 h 412969"/>
              <a:gd name="connsiteX105" fmla="*/ 10811 w 351099"/>
              <a:gd name="connsiteY105" fmla="*/ 81660 h 412969"/>
              <a:gd name="connsiteX106" fmla="*/ 12164 w 351099"/>
              <a:gd name="connsiteY106" fmla="*/ 81365 h 412969"/>
              <a:gd name="connsiteX107" fmla="*/ 67980 w 351099"/>
              <a:gd name="connsiteY107" fmla="*/ 69649 h 412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51099" h="412969">
                <a:moveTo>
                  <a:pt x="85792" y="31454"/>
                </a:moveTo>
                <a:cubicBezTo>
                  <a:pt x="83182" y="26891"/>
                  <a:pt x="84754" y="21072"/>
                  <a:pt x="89326" y="18452"/>
                </a:cubicBezTo>
                <a:cubicBezTo>
                  <a:pt x="89354" y="18433"/>
                  <a:pt x="89383" y="18424"/>
                  <a:pt x="89411" y="18405"/>
                </a:cubicBezTo>
                <a:cubicBezTo>
                  <a:pt x="93993" y="15833"/>
                  <a:pt x="99784" y="17452"/>
                  <a:pt x="102365" y="22024"/>
                </a:cubicBezTo>
                <a:lnTo>
                  <a:pt x="125035" y="61839"/>
                </a:lnTo>
                <a:lnTo>
                  <a:pt x="155991" y="72030"/>
                </a:lnTo>
                <a:lnTo>
                  <a:pt x="165516" y="52980"/>
                </a:lnTo>
                <a:lnTo>
                  <a:pt x="152086" y="12499"/>
                </a:lnTo>
                <a:cubicBezTo>
                  <a:pt x="150429" y="7499"/>
                  <a:pt x="153134" y="2107"/>
                  <a:pt x="158134" y="450"/>
                </a:cubicBezTo>
                <a:cubicBezTo>
                  <a:pt x="163135" y="-1207"/>
                  <a:pt x="168526" y="1498"/>
                  <a:pt x="170183" y="6498"/>
                </a:cubicBezTo>
                <a:lnTo>
                  <a:pt x="186090" y="54123"/>
                </a:lnTo>
                <a:lnTo>
                  <a:pt x="165707" y="95557"/>
                </a:lnTo>
                <a:lnTo>
                  <a:pt x="112081" y="77936"/>
                </a:lnTo>
                <a:close/>
                <a:moveTo>
                  <a:pt x="289341" y="136896"/>
                </a:moveTo>
                <a:cubicBezTo>
                  <a:pt x="299380" y="141792"/>
                  <a:pt x="308020" y="149126"/>
                  <a:pt x="314487" y="158232"/>
                </a:cubicBezTo>
                <a:cubicBezTo>
                  <a:pt x="316268" y="160727"/>
                  <a:pt x="319135" y="162223"/>
                  <a:pt x="322202" y="162232"/>
                </a:cubicBezTo>
                <a:cubicBezTo>
                  <a:pt x="324174" y="162251"/>
                  <a:pt x="326108" y="161651"/>
                  <a:pt x="327727" y="160518"/>
                </a:cubicBezTo>
                <a:cubicBezTo>
                  <a:pt x="332032" y="157498"/>
                  <a:pt x="333080" y="151555"/>
                  <a:pt x="330061" y="147249"/>
                </a:cubicBezTo>
                <a:cubicBezTo>
                  <a:pt x="330042" y="147230"/>
                  <a:pt x="330032" y="147202"/>
                  <a:pt x="330013" y="147183"/>
                </a:cubicBezTo>
                <a:cubicBezTo>
                  <a:pt x="321726" y="135457"/>
                  <a:pt x="310572" y="126056"/>
                  <a:pt x="297628" y="119846"/>
                </a:cubicBezTo>
                <a:cubicBezTo>
                  <a:pt x="292694" y="118027"/>
                  <a:pt x="287217" y="120551"/>
                  <a:pt x="285398" y="125485"/>
                </a:cubicBezTo>
                <a:cubicBezTo>
                  <a:pt x="283826" y="129742"/>
                  <a:pt x="285474" y="134514"/>
                  <a:pt x="289341" y="136896"/>
                </a:cubicBezTo>
                <a:close/>
                <a:moveTo>
                  <a:pt x="328013" y="189664"/>
                </a:moveTo>
                <a:cubicBezTo>
                  <a:pt x="330661" y="201351"/>
                  <a:pt x="332004" y="213305"/>
                  <a:pt x="332013" y="225288"/>
                </a:cubicBezTo>
                <a:cubicBezTo>
                  <a:pt x="332013" y="230545"/>
                  <a:pt x="336280" y="234813"/>
                  <a:pt x="341538" y="234813"/>
                </a:cubicBezTo>
                <a:lnTo>
                  <a:pt x="341538" y="234813"/>
                </a:lnTo>
                <a:cubicBezTo>
                  <a:pt x="346796" y="234813"/>
                  <a:pt x="351063" y="230545"/>
                  <a:pt x="351063" y="225288"/>
                </a:cubicBezTo>
                <a:cubicBezTo>
                  <a:pt x="351044" y="211857"/>
                  <a:pt x="349539" y="198475"/>
                  <a:pt x="346586" y="185378"/>
                </a:cubicBezTo>
                <a:cubicBezTo>
                  <a:pt x="345377" y="180120"/>
                  <a:pt x="340128" y="176834"/>
                  <a:pt x="334871" y="178044"/>
                </a:cubicBezTo>
                <a:cubicBezTo>
                  <a:pt x="329613" y="179253"/>
                  <a:pt x="326327" y="184502"/>
                  <a:pt x="327536" y="189760"/>
                </a:cubicBezTo>
                <a:close/>
                <a:moveTo>
                  <a:pt x="340300" y="253767"/>
                </a:moveTo>
                <a:cubicBezTo>
                  <a:pt x="335080" y="253101"/>
                  <a:pt x="330308" y="256787"/>
                  <a:pt x="329641" y="261997"/>
                </a:cubicBezTo>
                <a:cubicBezTo>
                  <a:pt x="329632" y="262016"/>
                  <a:pt x="329632" y="262035"/>
                  <a:pt x="329632" y="262054"/>
                </a:cubicBezTo>
                <a:cubicBezTo>
                  <a:pt x="328013" y="274322"/>
                  <a:pt x="325755" y="286495"/>
                  <a:pt x="322869" y="298535"/>
                </a:cubicBezTo>
                <a:cubicBezTo>
                  <a:pt x="321631" y="303650"/>
                  <a:pt x="324774" y="308793"/>
                  <a:pt x="329889" y="310032"/>
                </a:cubicBezTo>
                <a:cubicBezTo>
                  <a:pt x="329927" y="310041"/>
                  <a:pt x="329975" y="310051"/>
                  <a:pt x="330013" y="310060"/>
                </a:cubicBezTo>
                <a:lnTo>
                  <a:pt x="332204" y="310060"/>
                </a:lnTo>
                <a:cubicBezTo>
                  <a:pt x="336718" y="310184"/>
                  <a:pt x="340690" y="307117"/>
                  <a:pt x="341729" y="302726"/>
                </a:cubicBezTo>
                <a:cubicBezTo>
                  <a:pt x="344777" y="289677"/>
                  <a:pt x="347158" y="276723"/>
                  <a:pt x="348777" y="264626"/>
                </a:cubicBezTo>
                <a:cubicBezTo>
                  <a:pt x="349539" y="259425"/>
                  <a:pt x="345939" y="254587"/>
                  <a:pt x="340738" y="253825"/>
                </a:cubicBezTo>
                <a:cubicBezTo>
                  <a:pt x="340586" y="253796"/>
                  <a:pt x="340443" y="253786"/>
                  <a:pt x="340300" y="253767"/>
                </a:cubicBezTo>
                <a:close/>
                <a:moveTo>
                  <a:pt x="324488" y="328348"/>
                </a:moveTo>
                <a:cubicBezTo>
                  <a:pt x="319469" y="326872"/>
                  <a:pt x="314192" y="329720"/>
                  <a:pt x="312677" y="334730"/>
                </a:cubicBezTo>
                <a:cubicBezTo>
                  <a:pt x="309287" y="345817"/>
                  <a:pt x="304038" y="356256"/>
                  <a:pt x="297152" y="365591"/>
                </a:cubicBezTo>
                <a:lnTo>
                  <a:pt x="297152" y="365591"/>
                </a:lnTo>
                <a:cubicBezTo>
                  <a:pt x="284122" y="384774"/>
                  <a:pt x="261909" y="395642"/>
                  <a:pt x="238763" y="394166"/>
                </a:cubicBezTo>
                <a:cubicBezTo>
                  <a:pt x="199330" y="392356"/>
                  <a:pt x="112271" y="340636"/>
                  <a:pt x="72933" y="273008"/>
                </a:cubicBezTo>
                <a:cubicBezTo>
                  <a:pt x="51026" y="234908"/>
                  <a:pt x="48168" y="199951"/>
                  <a:pt x="64456" y="168233"/>
                </a:cubicBezTo>
                <a:cubicBezTo>
                  <a:pt x="87792" y="122322"/>
                  <a:pt x="129702" y="130609"/>
                  <a:pt x="151991" y="139658"/>
                </a:cubicBezTo>
                <a:cubicBezTo>
                  <a:pt x="157858" y="142858"/>
                  <a:pt x="164364" y="144687"/>
                  <a:pt x="171041" y="144992"/>
                </a:cubicBezTo>
                <a:lnTo>
                  <a:pt x="175422" y="144992"/>
                </a:lnTo>
                <a:lnTo>
                  <a:pt x="177994" y="141563"/>
                </a:lnTo>
                <a:cubicBezTo>
                  <a:pt x="187214" y="129580"/>
                  <a:pt x="194596" y="116284"/>
                  <a:pt x="199901" y="102129"/>
                </a:cubicBezTo>
                <a:cubicBezTo>
                  <a:pt x="213313" y="73602"/>
                  <a:pt x="230448" y="46989"/>
                  <a:pt x="250860" y="22977"/>
                </a:cubicBezTo>
                <a:lnTo>
                  <a:pt x="262671" y="32502"/>
                </a:lnTo>
                <a:lnTo>
                  <a:pt x="252384" y="44313"/>
                </a:lnTo>
                <a:cubicBezTo>
                  <a:pt x="236954" y="62258"/>
                  <a:pt x="229257" y="85575"/>
                  <a:pt x="230953" y="109178"/>
                </a:cubicBezTo>
                <a:lnTo>
                  <a:pt x="230953" y="110702"/>
                </a:lnTo>
                <a:cubicBezTo>
                  <a:pt x="234601" y="126294"/>
                  <a:pt x="236039" y="142325"/>
                  <a:pt x="235239" y="158327"/>
                </a:cubicBezTo>
                <a:lnTo>
                  <a:pt x="235239" y="158327"/>
                </a:lnTo>
                <a:cubicBezTo>
                  <a:pt x="234782" y="168423"/>
                  <a:pt x="233277" y="178444"/>
                  <a:pt x="230762" y="188236"/>
                </a:cubicBezTo>
                <a:cubicBezTo>
                  <a:pt x="229458" y="193331"/>
                  <a:pt x="232525" y="198522"/>
                  <a:pt x="237620" y="199827"/>
                </a:cubicBezTo>
                <a:cubicBezTo>
                  <a:pt x="237649" y="199837"/>
                  <a:pt x="237687" y="199846"/>
                  <a:pt x="237716" y="199856"/>
                </a:cubicBezTo>
                <a:lnTo>
                  <a:pt x="240002" y="199856"/>
                </a:lnTo>
                <a:cubicBezTo>
                  <a:pt x="244488" y="199989"/>
                  <a:pt x="248450" y="196970"/>
                  <a:pt x="249527" y="192617"/>
                </a:cubicBezTo>
                <a:cubicBezTo>
                  <a:pt x="252337" y="181606"/>
                  <a:pt x="254022" y="170338"/>
                  <a:pt x="254575" y="158994"/>
                </a:cubicBezTo>
                <a:lnTo>
                  <a:pt x="254575" y="158994"/>
                </a:lnTo>
                <a:cubicBezTo>
                  <a:pt x="255108" y="149469"/>
                  <a:pt x="254889" y="139915"/>
                  <a:pt x="253908" y="130419"/>
                </a:cubicBezTo>
                <a:lnTo>
                  <a:pt x="256861" y="130419"/>
                </a:lnTo>
                <a:cubicBezTo>
                  <a:pt x="262119" y="130104"/>
                  <a:pt x="266129" y="125580"/>
                  <a:pt x="265814" y="120322"/>
                </a:cubicBezTo>
                <a:cubicBezTo>
                  <a:pt x="265500" y="115064"/>
                  <a:pt x="260976" y="111054"/>
                  <a:pt x="255718" y="111369"/>
                </a:cubicBezTo>
                <a:lnTo>
                  <a:pt x="251146" y="111369"/>
                </a:lnTo>
                <a:cubicBezTo>
                  <a:pt x="251146" y="109369"/>
                  <a:pt x="250384" y="107559"/>
                  <a:pt x="250003" y="105844"/>
                </a:cubicBezTo>
                <a:cubicBezTo>
                  <a:pt x="248841" y="87518"/>
                  <a:pt x="254889" y="69468"/>
                  <a:pt x="266862" y="55552"/>
                </a:cubicBezTo>
                <a:lnTo>
                  <a:pt x="280292" y="40027"/>
                </a:lnTo>
                <a:cubicBezTo>
                  <a:pt x="285455" y="34064"/>
                  <a:pt x="284817" y="25043"/>
                  <a:pt x="278854" y="19871"/>
                </a:cubicBezTo>
                <a:cubicBezTo>
                  <a:pt x="278759" y="19795"/>
                  <a:pt x="278673" y="19719"/>
                  <a:pt x="278578" y="19643"/>
                </a:cubicBezTo>
                <a:lnTo>
                  <a:pt x="259528" y="3831"/>
                </a:lnTo>
                <a:cubicBezTo>
                  <a:pt x="253508" y="-1083"/>
                  <a:pt x="244678" y="-369"/>
                  <a:pt x="239525" y="5451"/>
                </a:cubicBezTo>
                <a:cubicBezTo>
                  <a:pt x="216370" y="32149"/>
                  <a:pt x="197130" y="62010"/>
                  <a:pt x="182375" y="94128"/>
                </a:cubicBezTo>
                <a:cubicBezTo>
                  <a:pt x="178413" y="104673"/>
                  <a:pt x="173098" y="114664"/>
                  <a:pt x="166564" y="123846"/>
                </a:cubicBezTo>
                <a:cubicBezTo>
                  <a:pt x="164087" y="123056"/>
                  <a:pt x="161668" y="122103"/>
                  <a:pt x="159325" y="120989"/>
                </a:cubicBezTo>
                <a:cubicBezTo>
                  <a:pt x="110938" y="101939"/>
                  <a:pt x="69028" y="116036"/>
                  <a:pt x="47311" y="159089"/>
                </a:cubicBezTo>
                <a:cubicBezTo>
                  <a:pt x="28261" y="196617"/>
                  <a:pt x="31309" y="239194"/>
                  <a:pt x="56360" y="282342"/>
                </a:cubicBezTo>
                <a:cubicBezTo>
                  <a:pt x="96746" y="351875"/>
                  <a:pt x="188567" y="410644"/>
                  <a:pt x="237335" y="412930"/>
                </a:cubicBezTo>
                <a:lnTo>
                  <a:pt x="241907" y="412930"/>
                </a:lnTo>
                <a:cubicBezTo>
                  <a:pt x="269758" y="413130"/>
                  <a:pt x="295923" y="399633"/>
                  <a:pt x="311915" y="376830"/>
                </a:cubicBezTo>
                <a:lnTo>
                  <a:pt x="311915" y="376830"/>
                </a:lnTo>
                <a:cubicBezTo>
                  <a:pt x="320088" y="365648"/>
                  <a:pt x="326365" y="353189"/>
                  <a:pt x="330489" y="339969"/>
                </a:cubicBezTo>
                <a:cubicBezTo>
                  <a:pt x="331880" y="335120"/>
                  <a:pt x="329251" y="330015"/>
                  <a:pt x="324488" y="328348"/>
                </a:cubicBezTo>
                <a:close/>
                <a:moveTo>
                  <a:pt x="231239" y="217191"/>
                </a:moveTo>
                <a:cubicBezTo>
                  <a:pt x="226638" y="214639"/>
                  <a:pt x="220837" y="216296"/>
                  <a:pt x="218285" y="220897"/>
                </a:cubicBezTo>
                <a:cubicBezTo>
                  <a:pt x="218285" y="220897"/>
                  <a:pt x="218285" y="220906"/>
                  <a:pt x="218285" y="220906"/>
                </a:cubicBezTo>
                <a:cubicBezTo>
                  <a:pt x="212522" y="231269"/>
                  <a:pt x="205483" y="240871"/>
                  <a:pt x="197330" y="249481"/>
                </a:cubicBezTo>
                <a:cubicBezTo>
                  <a:pt x="193729" y="253320"/>
                  <a:pt x="193920" y="259359"/>
                  <a:pt x="197758" y="262959"/>
                </a:cubicBezTo>
                <a:cubicBezTo>
                  <a:pt x="201597" y="266560"/>
                  <a:pt x="207636" y="266369"/>
                  <a:pt x="211236" y="262530"/>
                </a:cubicBezTo>
                <a:cubicBezTo>
                  <a:pt x="220437" y="252644"/>
                  <a:pt x="228410" y="241671"/>
                  <a:pt x="234953" y="229860"/>
                </a:cubicBezTo>
                <a:cubicBezTo>
                  <a:pt x="237316" y="225326"/>
                  <a:pt x="235677" y="219734"/>
                  <a:pt x="231239" y="217191"/>
                </a:cubicBezTo>
                <a:close/>
                <a:moveTo>
                  <a:pt x="89411" y="101748"/>
                </a:moveTo>
                <a:cubicBezTo>
                  <a:pt x="91183" y="104377"/>
                  <a:pt x="94145" y="105939"/>
                  <a:pt x="97317" y="105939"/>
                </a:cubicBezTo>
                <a:cubicBezTo>
                  <a:pt x="99213" y="105939"/>
                  <a:pt x="101070" y="105378"/>
                  <a:pt x="102651" y="104320"/>
                </a:cubicBezTo>
                <a:cubicBezTo>
                  <a:pt x="106995" y="101348"/>
                  <a:pt x="108099" y="95424"/>
                  <a:pt x="105128" y="91080"/>
                </a:cubicBezTo>
                <a:lnTo>
                  <a:pt x="76553" y="48408"/>
                </a:lnTo>
                <a:lnTo>
                  <a:pt x="8163" y="62791"/>
                </a:lnTo>
                <a:cubicBezTo>
                  <a:pt x="2953" y="63525"/>
                  <a:pt x="-676" y="68335"/>
                  <a:pt x="57" y="73545"/>
                </a:cubicBezTo>
                <a:cubicBezTo>
                  <a:pt x="781" y="78755"/>
                  <a:pt x="5601" y="82384"/>
                  <a:pt x="10811" y="81660"/>
                </a:cubicBezTo>
                <a:cubicBezTo>
                  <a:pt x="11268" y="81593"/>
                  <a:pt x="11716" y="81498"/>
                  <a:pt x="12164" y="81365"/>
                </a:cubicBezTo>
                <a:lnTo>
                  <a:pt x="67980" y="69649"/>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pic>
        <p:nvPicPr>
          <p:cNvPr id="15" name="Graphic 14">
            <a:extLst>
              <a:ext uri="{FF2B5EF4-FFF2-40B4-BE49-F238E27FC236}">
                <a16:creationId xmlns:a16="http://schemas.microsoft.com/office/drawing/2014/main" id="{235C097B-ACB5-76B5-BD6E-401DE277D1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839" y="41150"/>
            <a:ext cx="322072" cy="442850"/>
          </a:xfrm>
          <a:prstGeom prst="rect">
            <a:avLst/>
          </a:prstGeom>
        </p:spPr>
      </p:pic>
      <p:sp>
        <p:nvSpPr>
          <p:cNvPr id="16" name="Graphic 85">
            <a:extLst>
              <a:ext uri="{FF2B5EF4-FFF2-40B4-BE49-F238E27FC236}">
                <a16:creationId xmlns:a16="http://schemas.microsoft.com/office/drawing/2014/main" id="{F84CD4F7-656D-FB07-E812-92836079FE50}"/>
              </a:ext>
            </a:extLst>
          </p:cNvPr>
          <p:cNvSpPr>
            <a:spLocks noChangeAspect="1"/>
          </p:cNvSpPr>
          <p:nvPr userDrawn="1"/>
        </p:nvSpPr>
        <p:spPr>
          <a:xfrm>
            <a:off x="3467564" y="111416"/>
            <a:ext cx="430461" cy="392665"/>
          </a:xfrm>
          <a:custGeom>
            <a:avLst/>
            <a:gdLst>
              <a:gd name="connsiteX0" fmla="*/ 381220 w 382779"/>
              <a:gd name="connsiteY0" fmla="*/ 295126 h 349170"/>
              <a:gd name="connsiteX1" fmla="*/ 330166 w 382779"/>
              <a:gd name="connsiteY1" fmla="*/ 269599 h 349170"/>
              <a:gd name="connsiteX2" fmla="*/ 313879 w 382779"/>
              <a:gd name="connsiteY2" fmla="*/ 280267 h 349170"/>
              <a:gd name="connsiteX3" fmla="*/ 286065 w 382779"/>
              <a:gd name="connsiteY3" fmla="*/ 257883 h 349170"/>
              <a:gd name="connsiteX4" fmla="*/ 286542 w 382779"/>
              <a:gd name="connsiteY4" fmla="*/ 257121 h 349170"/>
              <a:gd name="connsiteX5" fmla="*/ 288828 w 382779"/>
              <a:gd name="connsiteY5" fmla="*/ 227022 h 349170"/>
              <a:gd name="connsiteX6" fmla="*/ 318165 w 382779"/>
              <a:gd name="connsiteY6" fmla="*/ 204162 h 349170"/>
              <a:gd name="connsiteX7" fmla="*/ 323118 w 382779"/>
              <a:gd name="connsiteY7" fmla="*/ 207306 h 349170"/>
              <a:gd name="connsiteX8" fmla="*/ 341120 w 382779"/>
              <a:gd name="connsiteY8" fmla="*/ 211592 h 349170"/>
              <a:gd name="connsiteX9" fmla="*/ 353978 w 382779"/>
              <a:gd name="connsiteY9" fmla="*/ 209496 h 349170"/>
              <a:gd name="connsiteX10" fmla="*/ 377219 w 382779"/>
              <a:gd name="connsiteY10" fmla="*/ 189303 h 349170"/>
              <a:gd name="connsiteX11" fmla="*/ 379411 w 382779"/>
              <a:gd name="connsiteY11" fmla="*/ 158538 h 349170"/>
              <a:gd name="connsiteX12" fmla="*/ 359218 w 382779"/>
              <a:gd name="connsiteY12" fmla="*/ 135678 h 349170"/>
              <a:gd name="connsiteX13" fmla="*/ 328452 w 382779"/>
              <a:gd name="connsiteY13" fmla="*/ 133487 h 349170"/>
              <a:gd name="connsiteX14" fmla="*/ 305115 w 382779"/>
              <a:gd name="connsiteY14" fmla="*/ 153775 h 349170"/>
              <a:gd name="connsiteX15" fmla="*/ 302925 w 382779"/>
              <a:gd name="connsiteY15" fmla="*/ 184541 h 349170"/>
              <a:gd name="connsiteX16" fmla="*/ 305592 w 382779"/>
              <a:gd name="connsiteY16" fmla="*/ 190351 h 349170"/>
              <a:gd name="connsiteX17" fmla="*/ 278827 w 382779"/>
              <a:gd name="connsiteY17" fmla="*/ 211211 h 349170"/>
              <a:gd name="connsiteX18" fmla="*/ 237679 w 382779"/>
              <a:gd name="connsiteY18" fmla="*/ 201686 h 349170"/>
              <a:gd name="connsiteX19" fmla="*/ 214342 w 382779"/>
              <a:gd name="connsiteY19" fmla="*/ 221403 h 349170"/>
              <a:gd name="connsiteX20" fmla="*/ 211294 w 382779"/>
              <a:gd name="connsiteY20" fmla="*/ 230261 h 349170"/>
              <a:gd name="connsiteX21" fmla="*/ 167669 w 382779"/>
              <a:gd name="connsiteY21" fmla="*/ 230832 h 349170"/>
              <a:gd name="connsiteX22" fmla="*/ 163860 w 382779"/>
              <a:gd name="connsiteY22" fmla="*/ 209306 h 349170"/>
              <a:gd name="connsiteX23" fmla="*/ 122616 w 382779"/>
              <a:gd name="connsiteY23" fmla="*/ 160443 h 349170"/>
              <a:gd name="connsiteX24" fmla="*/ 151191 w 382779"/>
              <a:gd name="connsiteY24" fmla="*/ 99864 h 349170"/>
              <a:gd name="connsiteX25" fmla="*/ 157573 w 382779"/>
              <a:gd name="connsiteY25" fmla="*/ 100530 h 349170"/>
              <a:gd name="connsiteX26" fmla="*/ 176623 w 382779"/>
              <a:gd name="connsiteY26" fmla="*/ 96911 h 349170"/>
              <a:gd name="connsiteX27" fmla="*/ 205274 w 382779"/>
              <a:gd name="connsiteY27" fmla="*/ 31666 h 349170"/>
              <a:gd name="connsiteX28" fmla="*/ 205198 w 382779"/>
              <a:gd name="connsiteY28" fmla="*/ 31474 h 349170"/>
              <a:gd name="connsiteX29" fmla="*/ 178337 w 382779"/>
              <a:gd name="connsiteY29" fmla="*/ 3756 h 349170"/>
              <a:gd name="connsiteX30" fmla="*/ 140237 w 382779"/>
              <a:gd name="connsiteY30" fmla="*/ 3756 h 349170"/>
              <a:gd name="connsiteX31" fmla="*/ 111586 w 382779"/>
              <a:gd name="connsiteY31" fmla="*/ 69002 h 349170"/>
              <a:gd name="connsiteX32" fmla="*/ 111662 w 382779"/>
              <a:gd name="connsiteY32" fmla="*/ 69193 h 349170"/>
              <a:gd name="connsiteX33" fmla="*/ 133856 w 382779"/>
              <a:gd name="connsiteY33" fmla="*/ 94244 h 349170"/>
              <a:gd name="connsiteX34" fmla="*/ 105281 w 382779"/>
              <a:gd name="connsiteY34" fmla="*/ 154156 h 349170"/>
              <a:gd name="connsiteX35" fmla="*/ 59180 w 382779"/>
              <a:gd name="connsiteY35" fmla="*/ 155394 h 349170"/>
              <a:gd name="connsiteX36" fmla="*/ 4792 w 382779"/>
              <a:gd name="connsiteY36" fmla="*/ 260741 h 349170"/>
              <a:gd name="connsiteX37" fmla="*/ 46130 w 382779"/>
              <a:gd name="connsiteY37" fmla="*/ 309699 h 349170"/>
              <a:gd name="connsiteX38" fmla="*/ 84230 w 382779"/>
              <a:gd name="connsiteY38" fmla="*/ 319224 h 349170"/>
              <a:gd name="connsiteX39" fmla="*/ 109758 w 382779"/>
              <a:gd name="connsiteY39" fmla="*/ 315224 h 349170"/>
              <a:gd name="connsiteX40" fmla="*/ 166908 w 382779"/>
              <a:gd name="connsiteY40" fmla="*/ 250549 h 349170"/>
              <a:gd name="connsiteX41" fmla="*/ 212056 w 382779"/>
              <a:gd name="connsiteY41" fmla="*/ 249978 h 349170"/>
              <a:gd name="connsiteX42" fmla="*/ 212723 w 382779"/>
              <a:gd name="connsiteY42" fmla="*/ 252835 h 349170"/>
              <a:gd name="connsiteX43" fmla="*/ 250823 w 382779"/>
              <a:gd name="connsiteY43" fmla="*/ 280362 h 349170"/>
              <a:gd name="connsiteX44" fmla="*/ 263586 w 382779"/>
              <a:gd name="connsiteY44" fmla="*/ 278267 h 349170"/>
              <a:gd name="connsiteX45" fmla="*/ 273683 w 382779"/>
              <a:gd name="connsiteY45" fmla="*/ 273028 h 349170"/>
              <a:gd name="connsiteX46" fmla="*/ 304544 w 382779"/>
              <a:gd name="connsiteY46" fmla="*/ 297888 h 349170"/>
              <a:gd name="connsiteX47" fmla="*/ 305115 w 382779"/>
              <a:gd name="connsiteY47" fmla="*/ 321606 h 349170"/>
              <a:gd name="connsiteX48" fmla="*/ 343215 w 382779"/>
              <a:gd name="connsiteY48" fmla="*/ 349133 h 349170"/>
              <a:gd name="connsiteX49" fmla="*/ 355884 w 382779"/>
              <a:gd name="connsiteY49" fmla="*/ 347037 h 349170"/>
              <a:gd name="connsiteX50" fmla="*/ 381582 w 382779"/>
              <a:gd name="connsiteY50" fmla="*/ 296182 h 349170"/>
              <a:gd name="connsiteX51" fmla="*/ 381220 w 382779"/>
              <a:gd name="connsiteY51" fmla="*/ 295126 h 349170"/>
              <a:gd name="connsiteX52" fmla="*/ 145857 w 382779"/>
              <a:gd name="connsiteY52" fmla="*/ 20616 h 349170"/>
              <a:gd name="connsiteX53" fmla="*/ 157383 w 382779"/>
              <a:gd name="connsiteY53" fmla="*/ 18425 h 349170"/>
              <a:gd name="connsiteX54" fmla="*/ 186529 w 382779"/>
              <a:gd name="connsiteY54" fmla="*/ 38237 h 349170"/>
              <a:gd name="connsiteX55" fmla="*/ 169003 w 382779"/>
              <a:gd name="connsiteY55" fmla="*/ 78528 h 349170"/>
              <a:gd name="connsiteX56" fmla="*/ 145000 w 382779"/>
              <a:gd name="connsiteY56" fmla="*/ 78528 h 349170"/>
              <a:gd name="connsiteX57" fmla="*/ 128236 w 382779"/>
              <a:gd name="connsiteY57" fmla="*/ 61287 h 349170"/>
              <a:gd name="connsiteX58" fmla="*/ 145857 w 382779"/>
              <a:gd name="connsiteY58" fmla="*/ 20616 h 349170"/>
              <a:gd name="connsiteX59" fmla="*/ 322165 w 382779"/>
              <a:gd name="connsiteY59" fmla="*/ 161776 h 349170"/>
              <a:gd name="connsiteX60" fmla="*/ 334452 w 382779"/>
              <a:gd name="connsiteY60" fmla="*/ 151108 h 349170"/>
              <a:gd name="connsiteX61" fmla="*/ 341215 w 382779"/>
              <a:gd name="connsiteY61" fmla="*/ 149965 h 349170"/>
              <a:gd name="connsiteX62" fmla="*/ 350740 w 382779"/>
              <a:gd name="connsiteY62" fmla="*/ 152251 h 349170"/>
              <a:gd name="connsiteX63" fmla="*/ 361313 w 382779"/>
              <a:gd name="connsiteY63" fmla="*/ 164253 h 349170"/>
              <a:gd name="connsiteX64" fmla="*/ 360170 w 382779"/>
              <a:gd name="connsiteY64" fmla="*/ 180445 h 349170"/>
              <a:gd name="connsiteX65" fmla="*/ 347883 w 382779"/>
              <a:gd name="connsiteY65" fmla="*/ 191113 h 349170"/>
              <a:gd name="connsiteX66" fmla="*/ 331690 w 382779"/>
              <a:gd name="connsiteY66" fmla="*/ 189970 h 349170"/>
              <a:gd name="connsiteX67" fmla="*/ 321022 w 382779"/>
              <a:gd name="connsiteY67" fmla="*/ 177683 h 349170"/>
              <a:gd name="connsiteX68" fmla="*/ 321022 w 382779"/>
              <a:gd name="connsiteY68" fmla="*/ 177683 h 349170"/>
              <a:gd name="connsiteX69" fmla="*/ 322165 w 382779"/>
              <a:gd name="connsiteY69" fmla="*/ 161776 h 349170"/>
              <a:gd name="connsiteX70" fmla="*/ 103757 w 382779"/>
              <a:gd name="connsiteY70" fmla="*/ 296174 h 349170"/>
              <a:gd name="connsiteX71" fmla="*/ 54322 w 382779"/>
              <a:gd name="connsiteY71" fmla="*/ 291983 h 349170"/>
              <a:gd name="connsiteX72" fmla="*/ 22318 w 382779"/>
              <a:gd name="connsiteY72" fmla="*/ 253883 h 349170"/>
              <a:gd name="connsiteX73" fmla="*/ 64323 w 382779"/>
              <a:gd name="connsiteY73" fmla="*/ 172539 h 349170"/>
              <a:gd name="connsiteX74" fmla="*/ 83945 w 382779"/>
              <a:gd name="connsiteY74" fmla="*/ 169491 h 349170"/>
              <a:gd name="connsiteX75" fmla="*/ 145762 w 382779"/>
              <a:gd name="connsiteY75" fmla="*/ 214545 h 349170"/>
              <a:gd name="connsiteX76" fmla="*/ 103852 w 382779"/>
              <a:gd name="connsiteY76" fmla="*/ 296143 h 349170"/>
              <a:gd name="connsiteX77" fmla="*/ 103757 w 382779"/>
              <a:gd name="connsiteY77" fmla="*/ 296174 h 349170"/>
              <a:gd name="connsiteX78" fmla="*/ 257205 w 382779"/>
              <a:gd name="connsiteY78" fmla="*/ 259503 h 349170"/>
              <a:gd name="connsiteX79" fmla="*/ 230249 w 382779"/>
              <a:gd name="connsiteY79" fmla="*/ 246072 h 349170"/>
              <a:gd name="connsiteX80" fmla="*/ 230249 w 382779"/>
              <a:gd name="connsiteY80" fmla="*/ 246072 h 349170"/>
              <a:gd name="connsiteX81" fmla="*/ 231392 w 382779"/>
              <a:gd name="connsiteY81" fmla="*/ 229880 h 349170"/>
              <a:gd name="connsiteX82" fmla="*/ 243679 w 382779"/>
              <a:gd name="connsiteY82" fmla="*/ 219212 h 349170"/>
              <a:gd name="connsiteX83" fmla="*/ 250442 w 382779"/>
              <a:gd name="connsiteY83" fmla="*/ 218164 h 349170"/>
              <a:gd name="connsiteX84" fmla="*/ 270254 w 382779"/>
              <a:gd name="connsiteY84" fmla="*/ 232356 h 349170"/>
              <a:gd name="connsiteX85" fmla="*/ 269111 w 382779"/>
              <a:gd name="connsiteY85" fmla="*/ 248644 h 349170"/>
              <a:gd name="connsiteX86" fmla="*/ 257205 w 382779"/>
              <a:gd name="connsiteY86" fmla="*/ 259503 h 349170"/>
              <a:gd name="connsiteX87" fmla="*/ 349693 w 382779"/>
              <a:gd name="connsiteY87" fmla="*/ 328178 h 349170"/>
              <a:gd name="connsiteX88" fmla="*/ 322775 w 382779"/>
              <a:gd name="connsiteY88" fmla="*/ 314851 h 349170"/>
              <a:gd name="connsiteX89" fmla="*/ 322737 w 382779"/>
              <a:gd name="connsiteY89" fmla="*/ 314748 h 349170"/>
              <a:gd name="connsiteX90" fmla="*/ 336167 w 382779"/>
              <a:gd name="connsiteY90" fmla="*/ 288078 h 349170"/>
              <a:gd name="connsiteX91" fmla="*/ 342930 w 382779"/>
              <a:gd name="connsiteY91" fmla="*/ 287030 h 349170"/>
              <a:gd name="connsiteX92" fmla="*/ 363123 w 382779"/>
              <a:gd name="connsiteY92" fmla="*/ 301508 h 349170"/>
              <a:gd name="connsiteX93" fmla="*/ 349693 w 382779"/>
              <a:gd name="connsiteY93" fmla="*/ 327987 h 34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82779" h="349170">
                <a:moveTo>
                  <a:pt x="381220" y="295126"/>
                </a:moveTo>
                <a:cubicBezTo>
                  <a:pt x="374162" y="273988"/>
                  <a:pt x="351312" y="262565"/>
                  <a:pt x="330166" y="269599"/>
                </a:cubicBezTo>
                <a:cubicBezTo>
                  <a:pt x="323937" y="271753"/>
                  <a:pt x="318346" y="275418"/>
                  <a:pt x="313879" y="280267"/>
                </a:cubicBezTo>
                <a:lnTo>
                  <a:pt x="286065" y="257883"/>
                </a:lnTo>
                <a:cubicBezTo>
                  <a:pt x="286189" y="257609"/>
                  <a:pt x="286351" y="257353"/>
                  <a:pt x="286542" y="257121"/>
                </a:cubicBezTo>
                <a:cubicBezTo>
                  <a:pt x="291181" y="247766"/>
                  <a:pt x="292009" y="236971"/>
                  <a:pt x="288828" y="227022"/>
                </a:cubicBezTo>
                <a:lnTo>
                  <a:pt x="318165" y="204162"/>
                </a:lnTo>
                <a:cubicBezTo>
                  <a:pt x="319736" y="205332"/>
                  <a:pt x="321394" y="206383"/>
                  <a:pt x="323118" y="207306"/>
                </a:cubicBezTo>
                <a:cubicBezTo>
                  <a:pt x="328699" y="210122"/>
                  <a:pt x="334871" y="211590"/>
                  <a:pt x="341120" y="211592"/>
                </a:cubicBezTo>
                <a:cubicBezTo>
                  <a:pt x="345492" y="211602"/>
                  <a:pt x="349835" y="210895"/>
                  <a:pt x="353978" y="209496"/>
                </a:cubicBezTo>
                <a:cubicBezTo>
                  <a:pt x="364113" y="206144"/>
                  <a:pt x="372485" y="198872"/>
                  <a:pt x="377219" y="189303"/>
                </a:cubicBezTo>
                <a:cubicBezTo>
                  <a:pt x="382068" y="179762"/>
                  <a:pt x="382859" y="168669"/>
                  <a:pt x="379411" y="158538"/>
                </a:cubicBezTo>
                <a:cubicBezTo>
                  <a:pt x="375953" y="148555"/>
                  <a:pt x="368695" y="140340"/>
                  <a:pt x="359218" y="135678"/>
                </a:cubicBezTo>
                <a:cubicBezTo>
                  <a:pt x="349673" y="130833"/>
                  <a:pt x="338586" y="130043"/>
                  <a:pt x="328452" y="133487"/>
                </a:cubicBezTo>
                <a:cubicBezTo>
                  <a:pt x="318250" y="136810"/>
                  <a:pt x="309831" y="144131"/>
                  <a:pt x="305115" y="153775"/>
                </a:cubicBezTo>
                <a:cubicBezTo>
                  <a:pt x="300267" y="163316"/>
                  <a:pt x="299477" y="174409"/>
                  <a:pt x="302925" y="184541"/>
                </a:cubicBezTo>
                <a:cubicBezTo>
                  <a:pt x="303639" y="186554"/>
                  <a:pt x="304534" y="188498"/>
                  <a:pt x="305592" y="190351"/>
                </a:cubicBezTo>
                <a:lnTo>
                  <a:pt x="278827" y="211211"/>
                </a:lnTo>
                <a:cubicBezTo>
                  <a:pt x="268016" y="200505"/>
                  <a:pt x="252090" y="196819"/>
                  <a:pt x="237679" y="201686"/>
                </a:cubicBezTo>
                <a:cubicBezTo>
                  <a:pt x="227630" y="204967"/>
                  <a:pt x="219257" y="212041"/>
                  <a:pt x="214342" y="221403"/>
                </a:cubicBezTo>
                <a:cubicBezTo>
                  <a:pt x="212961" y="224216"/>
                  <a:pt x="211932" y="227192"/>
                  <a:pt x="211294" y="230261"/>
                </a:cubicBezTo>
                <a:lnTo>
                  <a:pt x="167669" y="230832"/>
                </a:lnTo>
                <a:cubicBezTo>
                  <a:pt x="167326" y="223524"/>
                  <a:pt x="166041" y="216290"/>
                  <a:pt x="163860" y="209306"/>
                </a:cubicBezTo>
                <a:cubicBezTo>
                  <a:pt x="157145" y="188188"/>
                  <a:pt x="142305" y="170608"/>
                  <a:pt x="122616" y="160443"/>
                </a:cubicBezTo>
                <a:lnTo>
                  <a:pt x="151191" y="99864"/>
                </a:lnTo>
                <a:cubicBezTo>
                  <a:pt x="153306" y="100222"/>
                  <a:pt x="155430" y="100445"/>
                  <a:pt x="157573" y="100530"/>
                </a:cubicBezTo>
                <a:cubicBezTo>
                  <a:pt x="164098" y="100557"/>
                  <a:pt x="170565" y="99328"/>
                  <a:pt x="176623" y="96911"/>
                </a:cubicBezTo>
                <a:cubicBezTo>
                  <a:pt x="202550" y="86806"/>
                  <a:pt x="215380" y="57594"/>
                  <a:pt x="205274" y="31666"/>
                </a:cubicBezTo>
                <a:cubicBezTo>
                  <a:pt x="205246" y="31602"/>
                  <a:pt x="205226" y="31538"/>
                  <a:pt x="205198" y="31474"/>
                </a:cubicBezTo>
                <a:cubicBezTo>
                  <a:pt x="200331" y="19001"/>
                  <a:pt x="190654" y="9010"/>
                  <a:pt x="178337" y="3756"/>
                </a:cubicBezTo>
                <a:cubicBezTo>
                  <a:pt x="166146" y="-1302"/>
                  <a:pt x="152430" y="-1302"/>
                  <a:pt x="140237" y="3756"/>
                </a:cubicBezTo>
                <a:cubicBezTo>
                  <a:pt x="114311" y="13861"/>
                  <a:pt x="101480" y="43073"/>
                  <a:pt x="111586" y="69002"/>
                </a:cubicBezTo>
                <a:cubicBezTo>
                  <a:pt x="111615" y="69065"/>
                  <a:pt x="111634" y="69129"/>
                  <a:pt x="111662" y="69193"/>
                </a:cubicBezTo>
                <a:cubicBezTo>
                  <a:pt x="115939" y="79861"/>
                  <a:pt x="123779" y="88715"/>
                  <a:pt x="133856" y="94244"/>
                </a:cubicBezTo>
                <a:lnTo>
                  <a:pt x="105281" y="154156"/>
                </a:lnTo>
                <a:cubicBezTo>
                  <a:pt x="90107" y="150193"/>
                  <a:pt x="74115" y="150622"/>
                  <a:pt x="59180" y="155394"/>
                </a:cubicBezTo>
                <a:cubicBezTo>
                  <a:pt x="15098" y="169504"/>
                  <a:pt x="-9228" y="216635"/>
                  <a:pt x="4792" y="260741"/>
                </a:cubicBezTo>
                <a:cubicBezTo>
                  <a:pt x="11517" y="281906"/>
                  <a:pt x="26395" y="299524"/>
                  <a:pt x="46130" y="309699"/>
                </a:cubicBezTo>
                <a:cubicBezTo>
                  <a:pt x="57894" y="315843"/>
                  <a:pt x="70953" y="319108"/>
                  <a:pt x="84230" y="319224"/>
                </a:cubicBezTo>
                <a:cubicBezTo>
                  <a:pt x="92898" y="319215"/>
                  <a:pt x="101509" y="317866"/>
                  <a:pt x="109758" y="315224"/>
                </a:cubicBezTo>
                <a:cubicBezTo>
                  <a:pt x="139304" y="305902"/>
                  <a:pt x="161288" y="281021"/>
                  <a:pt x="166908" y="250549"/>
                </a:cubicBezTo>
                <a:lnTo>
                  <a:pt x="212056" y="249978"/>
                </a:lnTo>
                <a:cubicBezTo>
                  <a:pt x="212189" y="250949"/>
                  <a:pt x="212409" y="251905"/>
                  <a:pt x="212723" y="252835"/>
                </a:cubicBezTo>
                <a:cubicBezTo>
                  <a:pt x="218171" y="269254"/>
                  <a:pt x="233525" y="280342"/>
                  <a:pt x="250823" y="280362"/>
                </a:cubicBezTo>
                <a:cubicBezTo>
                  <a:pt x="255166" y="280371"/>
                  <a:pt x="259481" y="279663"/>
                  <a:pt x="263586" y="278267"/>
                </a:cubicBezTo>
                <a:cubicBezTo>
                  <a:pt x="267197" y="277035"/>
                  <a:pt x="270597" y="275269"/>
                  <a:pt x="273683" y="273028"/>
                </a:cubicBezTo>
                <a:lnTo>
                  <a:pt x="304544" y="297888"/>
                </a:lnTo>
                <a:cubicBezTo>
                  <a:pt x="302353" y="305673"/>
                  <a:pt x="302553" y="313935"/>
                  <a:pt x="305115" y="321606"/>
                </a:cubicBezTo>
                <a:cubicBezTo>
                  <a:pt x="310592" y="338006"/>
                  <a:pt x="325927" y="349083"/>
                  <a:pt x="343215" y="349133"/>
                </a:cubicBezTo>
                <a:cubicBezTo>
                  <a:pt x="347521" y="349135"/>
                  <a:pt x="351807" y="348427"/>
                  <a:pt x="355884" y="347037"/>
                </a:cubicBezTo>
                <a:cubicBezTo>
                  <a:pt x="377019" y="340091"/>
                  <a:pt x="388526" y="317322"/>
                  <a:pt x="381582" y="296182"/>
                </a:cubicBezTo>
                <a:cubicBezTo>
                  <a:pt x="381468" y="295829"/>
                  <a:pt x="381344" y="295477"/>
                  <a:pt x="381220" y="295126"/>
                </a:cubicBezTo>
                <a:close/>
                <a:moveTo>
                  <a:pt x="145857" y="20616"/>
                </a:moveTo>
                <a:cubicBezTo>
                  <a:pt x="149534" y="19184"/>
                  <a:pt x="153440" y="18441"/>
                  <a:pt x="157383" y="18425"/>
                </a:cubicBezTo>
                <a:cubicBezTo>
                  <a:pt x="170241" y="18423"/>
                  <a:pt x="181795" y="26278"/>
                  <a:pt x="186529" y="38237"/>
                </a:cubicBezTo>
                <a:cubicBezTo>
                  <a:pt x="192654" y="54200"/>
                  <a:pt x="184862" y="72128"/>
                  <a:pt x="169003" y="78528"/>
                </a:cubicBezTo>
                <a:cubicBezTo>
                  <a:pt x="161316" y="81714"/>
                  <a:pt x="152687" y="81714"/>
                  <a:pt x="145000" y="78528"/>
                </a:cubicBezTo>
                <a:cubicBezTo>
                  <a:pt x="137342" y="75239"/>
                  <a:pt x="131313" y="69035"/>
                  <a:pt x="128236" y="61287"/>
                </a:cubicBezTo>
                <a:cubicBezTo>
                  <a:pt x="121921" y="45191"/>
                  <a:pt x="129799" y="27019"/>
                  <a:pt x="145857" y="20616"/>
                </a:cubicBezTo>
                <a:close/>
                <a:moveTo>
                  <a:pt x="322165" y="161776"/>
                </a:moveTo>
                <a:cubicBezTo>
                  <a:pt x="324660" y="156710"/>
                  <a:pt x="329090" y="152863"/>
                  <a:pt x="334452" y="151108"/>
                </a:cubicBezTo>
                <a:cubicBezTo>
                  <a:pt x="336624" y="150352"/>
                  <a:pt x="338910" y="149965"/>
                  <a:pt x="341215" y="149965"/>
                </a:cubicBezTo>
                <a:cubicBezTo>
                  <a:pt x="344530" y="149949"/>
                  <a:pt x="347797" y="150734"/>
                  <a:pt x="350740" y="152251"/>
                </a:cubicBezTo>
                <a:cubicBezTo>
                  <a:pt x="355712" y="154696"/>
                  <a:pt x="359512" y="159012"/>
                  <a:pt x="361313" y="164253"/>
                </a:cubicBezTo>
                <a:cubicBezTo>
                  <a:pt x="363132" y="169583"/>
                  <a:pt x="362723" y="175423"/>
                  <a:pt x="360170" y="180445"/>
                </a:cubicBezTo>
                <a:cubicBezTo>
                  <a:pt x="357703" y="185531"/>
                  <a:pt x="353265" y="189387"/>
                  <a:pt x="347883" y="191113"/>
                </a:cubicBezTo>
                <a:cubicBezTo>
                  <a:pt x="342549" y="192934"/>
                  <a:pt x="336710" y="192522"/>
                  <a:pt x="331690" y="189970"/>
                </a:cubicBezTo>
                <a:cubicBezTo>
                  <a:pt x="326604" y="187505"/>
                  <a:pt x="322746" y="183065"/>
                  <a:pt x="321022" y="177683"/>
                </a:cubicBezTo>
                <a:lnTo>
                  <a:pt x="321022" y="177683"/>
                </a:lnTo>
                <a:cubicBezTo>
                  <a:pt x="319279" y="172438"/>
                  <a:pt x="319689" y="166718"/>
                  <a:pt x="322165" y="161776"/>
                </a:cubicBezTo>
                <a:close/>
                <a:moveTo>
                  <a:pt x="103757" y="296174"/>
                </a:moveTo>
                <a:cubicBezTo>
                  <a:pt x="87374" y="301414"/>
                  <a:pt x="69581" y="299906"/>
                  <a:pt x="54322" y="291983"/>
                </a:cubicBezTo>
                <a:cubicBezTo>
                  <a:pt x="38996" y="284068"/>
                  <a:pt x="27471" y="270348"/>
                  <a:pt x="22318" y="253883"/>
                </a:cubicBezTo>
                <a:cubicBezTo>
                  <a:pt x="11536" y="219827"/>
                  <a:pt x="30310" y="183462"/>
                  <a:pt x="64323" y="172539"/>
                </a:cubicBezTo>
                <a:cubicBezTo>
                  <a:pt x="70667" y="170513"/>
                  <a:pt x="77287" y="169485"/>
                  <a:pt x="83945" y="169491"/>
                </a:cubicBezTo>
                <a:cubicBezTo>
                  <a:pt x="112158" y="169468"/>
                  <a:pt x="137142" y="187682"/>
                  <a:pt x="145762" y="214545"/>
                </a:cubicBezTo>
                <a:cubicBezTo>
                  <a:pt x="156725" y="248651"/>
                  <a:pt x="137961" y="285184"/>
                  <a:pt x="103852" y="296143"/>
                </a:cubicBezTo>
                <a:cubicBezTo>
                  <a:pt x="103823" y="296154"/>
                  <a:pt x="103786" y="296163"/>
                  <a:pt x="103757" y="296174"/>
                </a:cubicBezTo>
                <a:close/>
                <a:moveTo>
                  <a:pt x="257205" y="259503"/>
                </a:moveTo>
                <a:cubicBezTo>
                  <a:pt x="246061" y="263157"/>
                  <a:pt x="234040" y="257172"/>
                  <a:pt x="230249" y="246072"/>
                </a:cubicBezTo>
                <a:lnTo>
                  <a:pt x="230249" y="246072"/>
                </a:lnTo>
                <a:cubicBezTo>
                  <a:pt x="228467" y="240736"/>
                  <a:pt x="228877" y="234913"/>
                  <a:pt x="231392" y="229880"/>
                </a:cubicBezTo>
                <a:cubicBezTo>
                  <a:pt x="233935" y="224853"/>
                  <a:pt x="238345" y="221023"/>
                  <a:pt x="243679" y="219212"/>
                </a:cubicBezTo>
                <a:cubicBezTo>
                  <a:pt x="245861" y="218493"/>
                  <a:pt x="248147" y="218138"/>
                  <a:pt x="250442" y="218164"/>
                </a:cubicBezTo>
                <a:cubicBezTo>
                  <a:pt x="259357" y="218315"/>
                  <a:pt x="267244" y="223966"/>
                  <a:pt x="270254" y="232356"/>
                </a:cubicBezTo>
                <a:cubicBezTo>
                  <a:pt x="272025" y="237725"/>
                  <a:pt x="271616" y="243576"/>
                  <a:pt x="269111" y="248644"/>
                </a:cubicBezTo>
                <a:cubicBezTo>
                  <a:pt x="266701" y="253668"/>
                  <a:pt x="262434" y="257561"/>
                  <a:pt x="257205" y="259503"/>
                </a:cubicBezTo>
                <a:close/>
                <a:moveTo>
                  <a:pt x="349693" y="328178"/>
                </a:moveTo>
                <a:cubicBezTo>
                  <a:pt x="338576" y="331932"/>
                  <a:pt x="326528" y="325965"/>
                  <a:pt x="322775" y="314851"/>
                </a:cubicBezTo>
                <a:cubicBezTo>
                  <a:pt x="322756" y="314817"/>
                  <a:pt x="322746" y="314782"/>
                  <a:pt x="322737" y="314748"/>
                </a:cubicBezTo>
                <a:cubicBezTo>
                  <a:pt x="319213" y="303684"/>
                  <a:pt x="325175" y="291831"/>
                  <a:pt x="336167" y="288078"/>
                </a:cubicBezTo>
                <a:cubicBezTo>
                  <a:pt x="338348" y="287365"/>
                  <a:pt x="340634" y="287011"/>
                  <a:pt x="342930" y="287030"/>
                </a:cubicBezTo>
                <a:cubicBezTo>
                  <a:pt x="352064" y="287035"/>
                  <a:pt x="360189" y="292856"/>
                  <a:pt x="363123" y="301508"/>
                </a:cubicBezTo>
                <a:cubicBezTo>
                  <a:pt x="366638" y="312522"/>
                  <a:pt x="360656" y="324316"/>
                  <a:pt x="349693" y="32798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
        <p:nvSpPr>
          <p:cNvPr id="17" name="Graphic 85">
            <a:extLst>
              <a:ext uri="{FF2B5EF4-FFF2-40B4-BE49-F238E27FC236}">
                <a16:creationId xmlns:a16="http://schemas.microsoft.com/office/drawing/2014/main" id="{2276F121-E953-9C0F-FE2D-AAC78FC4BAA7}"/>
              </a:ext>
            </a:extLst>
          </p:cNvPr>
          <p:cNvSpPr>
            <a:spLocks noChangeAspect="1"/>
          </p:cNvSpPr>
          <p:nvPr userDrawn="1"/>
        </p:nvSpPr>
        <p:spPr>
          <a:xfrm>
            <a:off x="1878753" y="137323"/>
            <a:ext cx="384190" cy="369781"/>
          </a:xfrm>
          <a:custGeom>
            <a:avLst/>
            <a:gdLst>
              <a:gd name="connsiteX0" fmla="*/ 419926 w 419100"/>
              <a:gd name="connsiteY0" fmla="*/ 393821 h 403383"/>
              <a:gd name="connsiteX1" fmla="*/ 410401 w 419100"/>
              <a:gd name="connsiteY1" fmla="*/ 403346 h 403383"/>
              <a:gd name="connsiteX2" fmla="*/ 826 w 419100"/>
              <a:gd name="connsiteY2" fmla="*/ 403346 h 403383"/>
              <a:gd name="connsiteX3" fmla="*/ 826 w 419100"/>
              <a:gd name="connsiteY3" fmla="*/ 9487 h 403383"/>
              <a:gd name="connsiteX4" fmla="*/ 10351 w 419100"/>
              <a:gd name="connsiteY4" fmla="*/ -38 h 403383"/>
              <a:gd name="connsiteX5" fmla="*/ 19876 w 419100"/>
              <a:gd name="connsiteY5" fmla="*/ 9487 h 403383"/>
              <a:gd name="connsiteX6" fmla="*/ 19876 w 419100"/>
              <a:gd name="connsiteY6" fmla="*/ 384296 h 403383"/>
              <a:gd name="connsiteX7" fmla="*/ 410401 w 419100"/>
              <a:gd name="connsiteY7" fmla="*/ 384296 h 403383"/>
              <a:gd name="connsiteX8" fmla="*/ 419926 w 419100"/>
              <a:gd name="connsiteY8" fmla="*/ 393821 h 403383"/>
              <a:gd name="connsiteX9" fmla="*/ 147320 w 419100"/>
              <a:gd name="connsiteY9" fmla="*/ 342195 h 403383"/>
              <a:gd name="connsiteX10" fmla="*/ 147320 w 419100"/>
              <a:gd name="connsiteY10" fmla="*/ 204273 h 403383"/>
              <a:gd name="connsiteX11" fmla="*/ 161608 w 419100"/>
              <a:gd name="connsiteY11" fmla="*/ 189986 h 403383"/>
              <a:gd name="connsiteX12" fmla="*/ 191897 w 419100"/>
              <a:gd name="connsiteY12" fmla="*/ 189986 h 403383"/>
              <a:gd name="connsiteX13" fmla="*/ 206185 w 419100"/>
              <a:gd name="connsiteY13" fmla="*/ 204273 h 403383"/>
              <a:gd name="connsiteX14" fmla="*/ 206185 w 419100"/>
              <a:gd name="connsiteY14" fmla="*/ 342195 h 403383"/>
              <a:gd name="connsiteX15" fmla="*/ 191897 w 419100"/>
              <a:gd name="connsiteY15" fmla="*/ 356483 h 403383"/>
              <a:gd name="connsiteX16" fmla="*/ 161608 w 419100"/>
              <a:gd name="connsiteY16" fmla="*/ 356483 h 403383"/>
              <a:gd name="connsiteX17" fmla="*/ 147320 w 419100"/>
              <a:gd name="connsiteY17" fmla="*/ 342195 h 403383"/>
              <a:gd name="connsiteX18" fmla="*/ 166370 w 419100"/>
              <a:gd name="connsiteY18" fmla="*/ 337433 h 403383"/>
              <a:gd name="connsiteX19" fmla="*/ 187135 w 419100"/>
              <a:gd name="connsiteY19" fmla="*/ 337433 h 403383"/>
              <a:gd name="connsiteX20" fmla="*/ 187135 w 419100"/>
              <a:gd name="connsiteY20" fmla="*/ 209036 h 403383"/>
              <a:gd name="connsiteX21" fmla="*/ 166370 w 419100"/>
              <a:gd name="connsiteY21" fmla="*/ 209036 h 403383"/>
              <a:gd name="connsiteX22" fmla="*/ 65405 w 419100"/>
              <a:gd name="connsiteY22" fmla="*/ 342195 h 403383"/>
              <a:gd name="connsiteX23" fmla="*/ 65405 w 419100"/>
              <a:gd name="connsiteY23" fmla="*/ 264852 h 403383"/>
              <a:gd name="connsiteX24" fmla="*/ 79693 w 419100"/>
              <a:gd name="connsiteY24" fmla="*/ 250565 h 403383"/>
              <a:gd name="connsiteX25" fmla="*/ 109887 w 419100"/>
              <a:gd name="connsiteY25" fmla="*/ 250565 h 403383"/>
              <a:gd name="connsiteX26" fmla="*/ 124174 w 419100"/>
              <a:gd name="connsiteY26" fmla="*/ 264852 h 403383"/>
              <a:gd name="connsiteX27" fmla="*/ 124174 w 419100"/>
              <a:gd name="connsiteY27" fmla="*/ 342195 h 403383"/>
              <a:gd name="connsiteX28" fmla="*/ 109887 w 419100"/>
              <a:gd name="connsiteY28" fmla="*/ 356483 h 403383"/>
              <a:gd name="connsiteX29" fmla="*/ 79693 w 419100"/>
              <a:gd name="connsiteY29" fmla="*/ 356483 h 403383"/>
              <a:gd name="connsiteX30" fmla="*/ 65405 w 419100"/>
              <a:gd name="connsiteY30" fmla="*/ 342195 h 403383"/>
              <a:gd name="connsiteX31" fmla="*/ 84455 w 419100"/>
              <a:gd name="connsiteY31" fmla="*/ 337433 h 403383"/>
              <a:gd name="connsiteX32" fmla="*/ 105124 w 419100"/>
              <a:gd name="connsiteY32" fmla="*/ 337433 h 403383"/>
              <a:gd name="connsiteX33" fmla="*/ 105124 w 419100"/>
              <a:gd name="connsiteY33" fmla="*/ 269615 h 403383"/>
              <a:gd name="connsiteX34" fmla="*/ 84455 w 419100"/>
              <a:gd name="connsiteY34" fmla="*/ 269615 h 403383"/>
              <a:gd name="connsiteX35" fmla="*/ 229330 w 419100"/>
              <a:gd name="connsiteY35" fmla="*/ 342195 h 403383"/>
              <a:gd name="connsiteX36" fmla="*/ 229330 w 419100"/>
              <a:gd name="connsiteY36" fmla="*/ 118072 h 403383"/>
              <a:gd name="connsiteX37" fmla="*/ 243618 w 419100"/>
              <a:gd name="connsiteY37" fmla="*/ 103785 h 403383"/>
              <a:gd name="connsiteX38" fmla="*/ 273812 w 419100"/>
              <a:gd name="connsiteY38" fmla="*/ 103785 h 403383"/>
              <a:gd name="connsiteX39" fmla="*/ 288100 w 419100"/>
              <a:gd name="connsiteY39" fmla="*/ 118072 h 403383"/>
              <a:gd name="connsiteX40" fmla="*/ 288100 w 419100"/>
              <a:gd name="connsiteY40" fmla="*/ 342195 h 403383"/>
              <a:gd name="connsiteX41" fmla="*/ 273812 w 419100"/>
              <a:gd name="connsiteY41" fmla="*/ 356483 h 403383"/>
              <a:gd name="connsiteX42" fmla="*/ 243618 w 419100"/>
              <a:gd name="connsiteY42" fmla="*/ 356483 h 403383"/>
              <a:gd name="connsiteX43" fmla="*/ 229330 w 419100"/>
              <a:gd name="connsiteY43" fmla="*/ 342195 h 403383"/>
              <a:gd name="connsiteX44" fmla="*/ 248380 w 419100"/>
              <a:gd name="connsiteY44" fmla="*/ 337433 h 403383"/>
              <a:gd name="connsiteX45" fmla="*/ 269050 w 419100"/>
              <a:gd name="connsiteY45" fmla="*/ 337433 h 403383"/>
              <a:gd name="connsiteX46" fmla="*/ 269050 w 419100"/>
              <a:gd name="connsiteY46" fmla="*/ 122549 h 403383"/>
              <a:gd name="connsiteX47" fmla="*/ 248380 w 419100"/>
              <a:gd name="connsiteY47" fmla="*/ 122549 h 403383"/>
              <a:gd name="connsiteX48" fmla="*/ 311246 w 419100"/>
              <a:gd name="connsiteY48" fmla="*/ 342195 h 403383"/>
              <a:gd name="connsiteX49" fmla="*/ 311246 w 419100"/>
              <a:gd name="connsiteY49" fmla="*/ 14250 h 403383"/>
              <a:gd name="connsiteX50" fmla="*/ 325533 w 419100"/>
              <a:gd name="connsiteY50" fmla="*/ -38 h 403383"/>
              <a:gd name="connsiteX51" fmla="*/ 355823 w 419100"/>
              <a:gd name="connsiteY51" fmla="*/ -38 h 403383"/>
              <a:gd name="connsiteX52" fmla="*/ 370110 w 419100"/>
              <a:gd name="connsiteY52" fmla="*/ 14250 h 403383"/>
              <a:gd name="connsiteX53" fmla="*/ 370110 w 419100"/>
              <a:gd name="connsiteY53" fmla="*/ 342195 h 403383"/>
              <a:gd name="connsiteX54" fmla="*/ 355823 w 419100"/>
              <a:gd name="connsiteY54" fmla="*/ 356483 h 403383"/>
              <a:gd name="connsiteX55" fmla="*/ 325533 w 419100"/>
              <a:gd name="connsiteY55" fmla="*/ 356483 h 403383"/>
              <a:gd name="connsiteX56" fmla="*/ 311246 w 419100"/>
              <a:gd name="connsiteY56" fmla="*/ 342195 h 403383"/>
              <a:gd name="connsiteX57" fmla="*/ 330296 w 419100"/>
              <a:gd name="connsiteY57" fmla="*/ 337433 h 403383"/>
              <a:gd name="connsiteX58" fmla="*/ 351060 w 419100"/>
              <a:gd name="connsiteY58" fmla="*/ 337433 h 403383"/>
              <a:gd name="connsiteX59" fmla="*/ 351060 w 419100"/>
              <a:gd name="connsiteY59" fmla="*/ 19012 h 403383"/>
              <a:gd name="connsiteX60" fmla="*/ 330296 w 419100"/>
              <a:gd name="connsiteY60" fmla="*/ 19012 h 40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19100" h="403383">
                <a:moveTo>
                  <a:pt x="419926" y="393821"/>
                </a:moveTo>
                <a:cubicBezTo>
                  <a:pt x="419926" y="399079"/>
                  <a:pt x="415658" y="403346"/>
                  <a:pt x="410401" y="403346"/>
                </a:cubicBezTo>
                <a:lnTo>
                  <a:pt x="826" y="403346"/>
                </a:lnTo>
                <a:lnTo>
                  <a:pt x="826" y="9487"/>
                </a:lnTo>
                <a:cubicBezTo>
                  <a:pt x="826" y="4229"/>
                  <a:pt x="5093" y="-38"/>
                  <a:pt x="10351" y="-38"/>
                </a:cubicBezTo>
                <a:cubicBezTo>
                  <a:pt x="15608" y="-38"/>
                  <a:pt x="19876" y="4229"/>
                  <a:pt x="19876" y="9487"/>
                </a:cubicBezTo>
                <a:lnTo>
                  <a:pt x="19876" y="384296"/>
                </a:lnTo>
                <a:lnTo>
                  <a:pt x="410401" y="384296"/>
                </a:lnTo>
                <a:cubicBezTo>
                  <a:pt x="415658" y="384296"/>
                  <a:pt x="419926" y="388563"/>
                  <a:pt x="419926" y="393821"/>
                </a:cubicBezTo>
                <a:close/>
                <a:moveTo>
                  <a:pt x="147320" y="342195"/>
                </a:moveTo>
                <a:lnTo>
                  <a:pt x="147320" y="204273"/>
                </a:lnTo>
                <a:cubicBezTo>
                  <a:pt x="147320" y="196387"/>
                  <a:pt x="153721" y="189986"/>
                  <a:pt x="161608" y="189986"/>
                </a:cubicBezTo>
                <a:lnTo>
                  <a:pt x="191897" y="189986"/>
                </a:lnTo>
                <a:cubicBezTo>
                  <a:pt x="199765" y="190034"/>
                  <a:pt x="206137" y="196406"/>
                  <a:pt x="206185" y="204273"/>
                </a:cubicBezTo>
                <a:lnTo>
                  <a:pt x="206185" y="342195"/>
                </a:lnTo>
                <a:cubicBezTo>
                  <a:pt x="206137" y="350063"/>
                  <a:pt x="199765" y="356435"/>
                  <a:pt x="191897" y="356483"/>
                </a:cubicBezTo>
                <a:lnTo>
                  <a:pt x="161608" y="356483"/>
                </a:lnTo>
                <a:cubicBezTo>
                  <a:pt x="153721" y="356483"/>
                  <a:pt x="147320" y="350082"/>
                  <a:pt x="147320" y="342195"/>
                </a:cubicBezTo>
                <a:close/>
                <a:moveTo>
                  <a:pt x="166370" y="337433"/>
                </a:moveTo>
                <a:lnTo>
                  <a:pt x="187135" y="337433"/>
                </a:lnTo>
                <a:lnTo>
                  <a:pt x="187135" y="209036"/>
                </a:lnTo>
                <a:lnTo>
                  <a:pt x="166370" y="209036"/>
                </a:lnTo>
                <a:close/>
                <a:moveTo>
                  <a:pt x="65405" y="342195"/>
                </a:moveTo>
                <a:lnTo>
                  <a:pt x="65405" y="264852"/>
                </a:lnTo>
                <a:cubicBezTo>
                  <a:pt x="65405" y="256966"/>
                  <a:pt x="71806" y="250565"/>
                  <a:pt x="79693" y="250565"/>
                </a:cubicBezTo>
                <a:lnTo>
                  <a:pt x="109887" y="250565"/>
                </a:lnTo>
                <a:cubicBezTo>
                  <a:pt x="117774" y="250565"/>
                  <a:pt x="124174" y="256966"/>
                  <a:pt x="124174" y="264852"/>
                </a:cubicBezTo>
                <a:lnTo>
                  <a:pt x="124174" y="342195"/>
                </a:lnTo>
                <a:cubicBezTo>
                  <a:pt x="124174" y="350082"/>
                  <a:pt x="117774" y="356483"/>
                  <a:pt x="109887" y="356483"/>
                </a:cubicBezTo>
                <a:lnTo>
                  <a:pt x="79693" y="356483"/>
                </a:lnTo>
                <a:cubicBezTo>
                  <a:pt x="71806" y="356483"/>
                  <a:pt x="65405" y="350082"/>
                  <a:pt x="65405" y="342195"/>
                </a:cubicBezTo>
                <a:close/>
                <a:moveTo>
                  <a:pt x="84455" y="337433"/>
                </a:moveTo>
                <a:lnTo>
                  <a:pt x="105124" y="337433"/>
                </a:lnTo>
                <a:lnTo>
                  <a:pt x="105124" y="269615"/>
                </a:lnTo>
                <a:lnTo>
                  <a:pt x="84455" y="269615"/>
                </a:lnTo>
                <a:close/>
                <a:moveTo>
                  <a:pt x="229330" y="342195"/>
                </a:moveTo>
                <a:lnTo>
                  <a:pt x="229330" y="118072"/>
                </a:lnTo>
                <a:cubicBezTo>
                  <a:pt x="229330" y="110185"/>
                  <a:pt x="235731" y="103785"/>
                  <a:pt x="243618" y="103785"/>
                </a:cubicBezTo>
                <a:lnTo>
                  <a:pt x="273812" y="103785"/>
                </a:lnTo>
                <a:cubicBezTo>
                  <a:pt x="281699" y="103785"/>
                  <a:pt x="288100" y="110185"/>
                  <a:pt x="288100" y="118072"/>
                </a:cubicBezTo>
                <a:lnTo>
                  <a:pt x="288100" y="342195"/>
                </a:lnTo>
                <a:cubicBezTo>
                  <a:pt x="288100" y="350082"/>
                  <a:pt x="281699" y="356483"/>
                  <a:pt x="273812" y="356483"/>
                </a:cubicBezTo>
                <a:lnTo>
                  <a:pt x="243618" y="356483"/>
                </a:lnTo>
                <a:cubicBezTo>
                  <a:pt x="235731" y="356483"/>
                  <a:pt x="229330" y="350082"/>
                  <a:pt x="229330" y="342195"/>
                </a:cubicBezTo>
                <a:close/>
                <a:moveTo>
                  <a:pt x="248380" y="337433"/>
                </a:moveTo>
                <a:lnTo>
                  <a:pt x="269050" y="337433"/>
                </a:lnTo>
                <a:lnTo>
                  <a:pt x="269050" y="122549"/>
                </a:lnTo>
                <a:lnTo>
                  <a:pt x="248380" y="122549"/>
                </a:lnTo>
                <a:close/>
                <a:moveTo>
                  <a:pt x="311246" y="342195"/>
                </a:moveTo>
                <a:lnTo>
                  <a:pt x="311246" y="14250"/>
                </a:lnTo>
                <a:cubicBezTo>
                  <a:pt x="311246" y="6363"/>
                  <a:pt x="317646" y="-38"/>
                  <a:pt x="325533" y="-38"/>
                </a:cubicBezTo>
                <a:lnTo>
                  <a:pt x="355823" y="-38"/>
                </a:lnTo>
                <a:cubicBezTo>
                  <a:pt x="363709" y="-38"/>
                  <a:pt x="370110" y="6363"/>
                  <a:pt x="370110" y="14250"/>
                </a:cubicBezTo>
                <a:lnTo>
                  <a:pt x="370110" y="342195"/>
                </a:lnTo>
                <a:cubicBezTo>
                  <a:pt x="370062" y="350063"/>
                  <a:pt x="363690" y="356435"/>
                  <a:pt x="355823" y="356483"/>
                </a:cubicBezTo>
                <a:lnTo>
                  <a:pt x="325533" y="356483"/>
                </a:lnTo>
                <a:cubicBezTo>
                  <a:pt x="317665" y="356435"/>
                  <a:pt x="311293" y="350063"/>
                  <a:pt x="311246" y="342195"/>
                </a:cubicBezTo>
                <a:close/>
                <a:moveTo>
                  <a:pt x="330296" y="337433"/>
                </a:moveTo>
                <a:lnTo>
                  <a:pt x="351060" y="337433"/>
                </a:lnTo>
                <a:lnTo>
                  <a:pt x="351060" y="19012"/>
                </a:lnTo>
                <a:lnTo>
                  <a:pt x="330296" y="19012"/>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Tree>
    <p:extLst>
      <p:ext uri="{BB962C8B-B14F-4D97-AF65-F5344CB8AC3E}">
        <p14:creationId xmlns:p14="http://schemas.microsoft.com/office/powerpoint/2010/main" val="2950375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D. 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36356" y="2163600"/>
            <a:ext cx="6408844" cy="2379600"/>
          </a:xfrm>
        </p:spPr>
        <p:txBody>
          <a:bodyPr anchor="ctr"/>
          <a:lstStyle>
            <a:lvl1pPr algn="l">
              <a:lnSpc>
                <a:spcPct val="100000"/>
              </a:lnSpc>
              <a:defRPr sz="4400">
                <a:solidFill>
                  <a:schemeClr val="tx2"/>
                </a:solidFill>
              </a:defRPr>
            </a:lvl1pPr>
          </a:lstStyle>
          <a:p>
            <a:r>
              <a:rPr lang="en-US"/>
              <a:t>Click to add title</a:t>
            </a:r>
          </a:p>
        </p:txBody>
      </p:sp>
      <p:sp>
        <p:nvSpPr>
          <p:cNvPr id="28" name="Text Placeholder 9">
            <a:extLst>
              <a:ext uri="{FF2B5EF4-FFF2-40B4-BE49-F238E27FC236}">
                <a16:creationId xmlns:a16="http://schemas.microsoft.com/office/drawing/2014/main" id="{F3DB85B7-7760-4094-B5B7-6A45B6116B99}"/>
              </a:ext>
            </a:extLst>
          </p:cNvPr>
          <p:cNvSpPr>
            <a:spLocks noGrp="1"/>
          </p:cNvSpPr>
          <p:nvPr>
            <p:ph type="body" sz="quarter" idx="14" hasCustomPrompt="1"/>
          </p:nvPr>
        </p:nvSpPr>
        <p:spPr>
          <a:xfrm>
            <a:off x="5136000" y="5799507"/>
            <a:ext cx="1920000" cy="154800"/>
          </a:xfrm>
        </p:spPr>
        <p:txBody>
          <a:bodyPr anchor="b"/>
          <a:lstStyle>
            <a:lvl1pPr marL="0" indent="0">
              <a:buNone/>
              <a:defRPr sz="1000" b="1">
                <a:solidFill>
                  <a:schemeClr val="tx2"/>
                </a:solidFill>
              </a:defRPr>
            </a:lvl1pPr>
          </a:lstStyle>
          <a:p>
            <a:pPr lvl="0"/>
            <a:r>
              <a:rPr lang="en-US"/>
              <a:t>Insert name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5136000" y="6055200"/>
            <a:ext cx="1920001" cy="154800"/>
          </a:xfrm>
        </p:spPr>
        <p:txBody>
          <a:bodyPr/>
          <a:lstStyle>
            <a:lvl1pPr>
              <a:defRPr sz="1000" b="1">
                <a:solidFill>
                  <a:schemeClr val="tx2"/>
                </a:solidFill>
              </a:defRPr>
            </a:lvl1pPr>
          </a:lstStyle>
          <a:p>
            <a:endParaRPr lang="en-US"/>
          </a:p>
        </p:txBody>
      </p:sp>
      <p:sp>
        <p:nvSpPr>
          <p:cNvPr id="5" name="Picture Placeholder 4">
            <a:extLst>
              <a:ext uri="{FF2B5EF4-FFF2-40B4-BE49-F238E27FC236}">
                <a16:creationId xmlns:a16="http://schemas.microsoft.com/office/drawing/2014/main" id="{E7ACB837-D775-4027-8A9A-8A934ABD2C6A}"/>
              </a:ext>
            </a:extLst>
          </p:cNvPr>
          <p:cNvSpPr>
            <a:spLocks noGrp="1"/>
          </p:cNvSpPr>
          <p:nvPr>
            <p:ph type="pic" sz="quarter" idx="18" hasCustomPrompt="1"/>
          </p:nvPr>
        </p:nvSpPr>
        <p:spPr>
          <a:xfrm>
            <a:off x="324000" y="324000"/>
            <a:ext cx="4488000" cy="6210000"/>
          </a:xfrm>
        </p:spPr>
        <p:txBody>
          <a:bodyPr tIns="72000"/>
          <a:lstStyle>
            <a:lvl1pPr marL="0" indent="0" algn="ctr">
              <a:buNone/>
              <a:defRPr sz="1400"/>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US"/>
              <a:t>Click here and insert picture via Templafy</a:t>
            </a:r>
          </a:p>
        </p:txBody>
      </p:sp>
      <p:sp>
        <p:nvSpPr>
          <p:cNvPr id="34" name="Freeform: Shape 33">
            <a:extLst>
              <a:ext uri="{FF2B5EF4-FFF2-40B4-BE49-F238E27FC236}">
                <a16:creationId xmlns:a16="http://schemas.microsoft.com/office/drawing/2014/main" id="{2DB09BC2-598E-40D3-B291-F2AE97681E15}"/>
              </a:ext>
            </a:extLst>
          </p:cNvPr>
          <p:cNvSpPr/>
          <p:nvPr userDrawn="1"/>
        </p:nvSpPr>
        <p:spPr>
          <a:xfrm>
            <a:off x="11172825" y="321618"/>
            <a:ext cx="701251" cy="499913"/>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accent1"/>
          </a:solidFill>
          <a:ln w="8132" cap="flat">
            <a:noFill/>
            <a:prstDash val="solid"/>
            <a:miter/>
          </a:ln>
        </p:spPr>
        <p:txBody>
          <a:bodyPr rtlCol="0" anchor="ctr"/>
          <a:lstStyle/>
          <a:p>
            <a:endParaRPr lang="en-US"/>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US"/>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US" smtClean="0"/>
              <a:pPr/>
              <a:t>‹#›</a:t>
            </a:fld>
            <a:endParaRPr lang="en-US"/>
          </a:p>
        </p:txBody>
      </p:sp>
      <p:sp>
        <p:nvSpPr>
          <p:cNvPr id="3" name="dynamic logo white" descr="{&quot;templafy&quot;:{&quot;type&quot;:&quot;image&quot;,&quot;inheritDimensions&quot;:&quot;inheritNone&quot;,&quot;width&quot;:&quot;7.67 cm&quot;,&quot;binding&quot;:&quot;Form.PLogoChoice.PLogoInsertion&quot;}}" title="Form.PLogoChoice.PLogoInsertion">
            <a:extLst>
              <a:ext uri="{FF2B5EF4-FFF2-40B4-BE49-F238E27FC236}">
                <a16:creationId xmlns:a16="http://schemas.microsoft.com/office/drawing/2014/main" id="{CFCDB02C-C393-45D0-9339-45B1931BD426}"/>
              </a:ext>
            </a:extLst>
          </p:cNvPr>
          <p:cNvSpPr/>
          <p:nvPr userDrawn="1"/>
        </p:nvSpPr>
        <p:spPr>
          <a:xfrm>
            <a:off x="9240653" y="5336922"/>
            <a:ext cx="2760847" cy="1309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 name="dynamic year 100" descr="{&quot;templafy&quot;:{&quot;type&quot;:&quot;image&quot;,&quot;inheritDimensions&quot;:&quot;inheritNone&quot;,&quot;width&quot;:&quot;7.67 cm&quot;,&quot;binding&quot;:&quot;Form.PLogoChoice.PLogoYear&quot;}}" title="Form.PLogoChoice.PLogoInsertion">
            <a:extLst>
              <a:ext uri="{FF2B5EF4-FFF2-40B4-BE49-F238E27FC236}">
                <a16:creationId xmlns:a16="http://schemas.microsoft.com/office/drawing/2014/main" id="{6031507D-6644-A3B6-BBED-4B812C95A402}"/>
              </a:ext>
            </a:extLst>
          </p:cNvPr>
          <p:cNvSpPr/>
          <p:nvPr userDrawn="1"/>
        </p:nvSpPr>
        <p:spPr>
          <a:xfrm>
            <a:off x="9240653" y="5336922"/>
            <a:ext cx="2760847" cy="1309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Tree>
    <p:extLst>
      <p:ext uri="{BB962C8B-B14F-4D97-AF65-F5344CB8AC3E}">
        <p14:creationId xmlns:p14="http://schemas.microsoft.com/office/powerpoint/2010/main" val="9251609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tags" Target="../tags/tag8.xml"/><Relationship Id="rId21" Type="http://schemas.openxmlformats.org/officeDocument/2006/relationships/tags" Target="../tags/tag3.xml"/><Relationship Id="rId42" Type="http://schemas.openxmlformats.org/officeDocument/2006/relationships/tags" Target="../tags/tag24.xml"/><Relationship Id="rId47" Type="http://schemas.openxmlformats.org/officeDocument/2006/relationships/tags" Target="../tags/tag29.xml"/><Relationship Id="rId63" Type="http://schemas.openxmlformats.org/officeDocument/2006/relationships/tags" Target="../tags/tag45.xml"/><Relationship Id="rId68" Type="http://schemas.openxmlformats.org/officeDocument/2006/relationships/tags" Target="../tags/tag50.xml"/><Relationship Id="rId84" Type="http://schemas.openxmlformats.org/officeDocument/2006/relationships/tags" Target="../tags/tag66.xml"/><Relationship Id="rId89" Type="http://schemas.openxmlformats.org/officeDocument/2006/relationships/tags" Target="../tags/tag71.xml"/><Relationship Id="rId16" Type="http://schemas.openxmlformats.org/officeDocument/2006/relationships/slideLayout" Target="../slideLayouts/slideLayout20.xml"/><Relationship Id="rId11" Type="http://schemas.openxmlformats.org/officeDocument/2006/relationships/slideLayout" Target="../slideLayouts/slideLayout15.xml"/><Relationship Id="rId32" Type="http://schemas.openxmlformats.org/officeDocument/2006/relationships/tags" Target="../tags/tag14.xml"/><Relationship Id="rId37" Type="http://schemas.openxmlformats.org/officeDocument/2006/relationships/tags" Target="../tags/tag19.xml"/><Relationship Id="rId53" Type="http://schemas.openxmlformats.org/officeDocument/2006/relationships/tags" Target="../tags/tag35.xml"/><Relationship Id="rId58" Type="http://schemas.openxmlformats.org/officeDocument/2006/relationships/tags" Target="../tags/tag40.xml"/><Relationship Id="rId74" Type="http://schemas.openxmlformats.org/officeDocument/2006/relationships/tags" Target="../tags/tag56.xml"/><Relationship Id="rId79" Type="http://schemas.openxmlformats.org/officeDocument/2006/relationships/tags" Target="../tags/tag61.xml"/><Relationship Id="rId102" Type="http://schemas.openxmlformats.org/officeDocument/2006/relationships/tags" Target="../tags/tag84.xml"/><Relationship Id="rId5" Type="http://schemas.openxmlformats.org/officeDocument/2006/relationships/slideLayout" Target="../slideLayouts/slideLayout9.xml"/><Relationship Id="rId90" Type="http://schemas.openxmlformats.org/officeDocument/2006/relationships/tags" Target="../tags/tag72.xml"/><Relationship Id="rId95" Type="http://schemas.openxmlformats.org/officeDocument/2006/relationships/tags" Target="../tags/tag77.xml"/><Relationship Id="rId22" Type="http://schemas.openxmlformats.org/officeDocument/2006/relationships/tags" Target="../tags/tag4.xml"/><Relationship Id="rId27" Type="http://schemas.openxmlformats.org/officeDocument/2006/relationships/tags" Target="../tags/tag9.xml"/><Relationship Id="rId43" Type="http://schemas.openxmlformats.org/officeDocument/2006/relationships/tags" Target="../tags/tag25.xml"/><Relationship Id="rId48" Type="http://schemas.openxmlformats.org/officeDocument/2006/relationships/tags" Target="../tags/tag30.xml"/><Relationship Id="rId64" Type="http://schemas.openxmlformats.org/officeDocument/2006/relationships/tags" Target="../tags/tag46.xml"/><Relationship Id="rId69" Type="http://schemas.openxmlformats.org/officeDocument/2006/relationships/tags" Target="../tags/tag51.xml"/><Relationship Id="rId80" Type="http://schemas.openxmlformats.org/officeDocument/2006/relationships/tags" Target="../tags/tag62.xml"/><Relationship Id="rId85" Type="http://schemas.openxmlformats.org/officeDocument/2006/relationships/tags" Target="../tags/tag6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33" Type="http://schemas.openxmlformats.org/officeDocument/2006/relationships/tags" Target="../tags/tag15.xml"/><Relationship Id="rId38" Type="http://schemas.openxmlformats.org/officeDocument/2006/relationships/tags" Target="../tags/tag20.xml"/><Relationship Id="rId59" Type="http://schemas.openxmlformats.org/officeDocument/2006/relationships/tags" Target="../tags/tag41.xml"/><Relationship Id="rId103" Type="http://schemas.openxmlformats.org/officeDocument/2006/relationships/tags" Target="../tags/tag85.xml"/><Relationship Id="rId20" Type="http://schemas.openxmlformats.org/officeDocument/2006/relationships/tags" Target="../tags/tag2.xml"/><Relationship Id="rId41" Type="http://schemas.openxmlformats.org/officeDocument/2006/relationships/tags" Target="../tags/tag23.xml"/><Relationship Id="rId54" Type="http://schemas.openxmlformats.org/officeDocument/2006/relationships/tags" Target="../tags/tag36.xml"/><Relationship Id="rId62" Type="http://schemas.openxmlformats.org/officeDocument/2006/relationships/tags" Target="../tags/tag44.xml"/><Relationship Id="rId70" Type="http://schemas.openxmlformats.org/officeDocument/2006/relationships/tags" Target="../tags/tag52.xml"/><Relationship Id="rId75" Type="http://schemas.openxmlformats.org/officeDocument/2006/relationships/tags" Target="../tags/tag57.xml"/><Relationship Id="rId83" Type="http://schemas.openxmlformats.org/officeDocument/2006/relationships/tags" Target="../tags/tag65.xml"/><Relationship Id="rId88" Type="http://schemas.openxmlformats.org/officeDocument/2006/relationships/tags" Target="../tags/tag70.xml"/><Relationship Id="rId91" Type="http://schemas.openxmlformats.org/officeDocument/2006/relationships/tags" Target="../tags/tag73.xml"/><Relationship Id="rId96" Type="http://schemas.openxmlformats.org/officeDocument/2006/relationships/tags" Target="../tags/tag78.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tags" Target="../tags/tag5.xml"/><Relationship Id="rId28" Type="http://schemas.openxmlformats.org/officeDocument/2006/relationships/tags" Target="../tags/tag10.xml"/><Relationship Id="rId36" Type="http://schemas.openxmlformats.org/officeDocument/2006/relationships/tags" Target="../tags/tag18.xml"/><Relationship Id="rId49" Type="http://schemas.openxmlformats.org/officeDocument/2006/relationships/tags" Target="../tags/tag31.xml"/><Relationship Id="rId57" Type="http://schemas.openxmlformats.org/officeDocument/2006/relationships/tags" Target="../tags/tag39.xml"/><Relationship Id="rId106" Type="http://schemas.openxmlformats.org/officeDocument/2006/relationships/tags" Target="../tags/tag88.xml"/><Relationship Id="rId10" Type="http://schemas.openxmlformats.org/officeDocument/2006/relationships/slideLayout" Target="../slideLayouts/slideLayout14.xml"/><Relationship Id="rId31" Type="http://schemas.openxmlformats.org/officeDocument/2006/relationships/tags" Target="../tags/tag13.xml"/><Relationship Id="rId44" Type="http://schemas.openxmlformats.org/officeDocument/2006/relationships/tags" Target="../tags/tag26.xml"/><Relationship Id="rId52" Type="http://schemas.openxmlformats.org/officeDocument/2006/relationships/tags" Target="../tags/tag34.xml"/><Relationship Id="rId60" Type="http://schemas.openxmlformats.org/officeDocument/2006/relationships/tags" Target="../tags/tag42.xml"/><Relationship Id="rId65" Type="http://schemas.openxmlformats.org/officeDocument/2006/relationships/tags" Target="../tags/tag47.xml"/><Relationship Id="rId73" Type="http://schemas.openxmlformats.org/officeDocument/2006/relationships/tags" Target="../tags/tag55.xml"/><Relationship Id="rId78" Type="http://schemas.openxmlformats.org/officeDocument/2006/relationships/tags" Target="../tags/tag60.xml"/><Relationship Id="rId81" Type="http://schemas.openxmlformats.org/officeDocument/2006/relationships/tags" Target="../tags/tag63.xml"/><Relationship Id="rId86" Type="http://schemas.openxmlformats.org/officeDocument/2006/relationships/tags" Target="../tags/tag68.xml"/><Relationship Id="rId94" Type="http://schemas.openxmlformats.org/officeDocument/2006/relationships/tags" Target="../tags/tag76.xml"/><Relationship Id="rId99" Type="http://schemas.openxmlformats.org/officeDocument/2006/relationships/tags" Target="../tags/tag81.xml"/><Relationship Id="rId101" Type="http://schemas.openxmlformats.org/officeDocument/2006/relationships/tags" Target="../tags/tag8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3" Type="http://schemas.openxmlformats.org/officeDocument/2006/relationships/slideLayout" Target="../slideLayouts/slideLayout17.xml"/><Relationship Id="rId18" Type="http://schemas.openxmlformats.org/officeDocument/2006/relationships/theme" Target="../theme/theme2.xml"/><Relationship Id="rId39" Type="http://schemas.openxmlformats.org/officeDocument/2006/relationships/tags" Target="../tags/tag21.xml"/><Relationship Id="rId34" Type="http://schemas.openxmlformats.org/officeDocument/2006/relationships/tags" Target="../tags/tag16.xml"/><Relationship Id="rId50" Type="http://schemas.openxmlformats.org/officeDocument/2006/relationships/tags" Target="../tags/tag32.xml"/><Relationship Id="rId55" Type="http://schemas.openxmlformats.org/officeDocument/2006/relationships/tags" Target="../tags/tag37.xml"/><Relationship Id="rId76" Type="http://schemas.openxmlformats.org/officeDocument/2006/relationships/tags" Target="../tags/tag58.xml"/><Relationship Id="rId97" Type="http://schemas.openxmlformats.org/officeDocument/2006/relationships/tags" Target="../tags/tag79.xml"/><Relationship Id="rId104" Type="http://schemas.openxmlformats.org/officeDocument/2006/relationships/tags" Target="../tags/tag86.xml"/><Relationship Id="rId7" Type="http://schemas.openxmlformats.org/officeDocument/2006/relationships/slideLayout" Target="../slideLayouts/slideLayout11.xml"/><Relationship Id="rId71" Type="http://schemas.openxmlformats.org/officeDocument/2006/relationships/tags" Target="../tags/tag53.xml"/><Relationship Id="rId92" Type="http://schemas.openxmlformats.org/officeDocument/2006/relationships/tags" Target="../tags/tag74.xml"/><Relationship Id="rId2" Type="http://schemas.openxmlformats.org/officeDocument/2006/relationships/slideLayout" Target="../slideLayouts/slideLayout6.xml"/><Relationship Id="rId29" Type="http://schemas.openxmlformats.org/officeDocument/2006/relationships/tags" Target="../tags/tag11.xml"/><Relationship Id="rId24" Type="http://schemas.openxmlformats.org/officeDocument/2006/relationships/tags" Target="../tags/tag6.xml"/><Relationship Id="rId40" Type="http://schemas.openxmlformats.org/officeDocument/2006/relationships/tags" Target="../tags/tag22.xml"/><Relationship Id="rId45" Type="http://schemas.openxmlformats.org/officeDocument/2006/relationships/tags" Target="../tags/tag27.xml"/><Relationship Id="rId66" Type="http://schemas.openxmlformats.org/officeDocument/2006/relationships/tags" Target="../tags/tag48.xml"/><Relationship Id="rId87" Type="http://schemas.openxmlformats.org/officeDocument/2006/relationships/tags" Target="../tags/tag69.xml"/><Relationship Id="rId61" Type="http://schemas.openxmlformats.org/officeDocument/2006/relationships/tags" Target="../tags/tag43.xml"/><Relationship Id="rId82" Type="http://schemas.openxmlformats.org/officeDocument/2006/relationships/tags" Target="../tags/tag64.xml"/><Relationship Id="rId19" Type="http://schemas.openxmlformats.org/officeDocument/2006/relationships/tags" Target="../tags/tag1.xml"/><Relationship Id="rId14" Type="http://schemas.openxmlformats.org/officeDocument/2006/relationships/slideLayout" Target="../slideLayouts/slideLayout18.xml"/><Relationship Id="rId30" Type="http://schemas.openxmlformats.org/officeDocument/2006/relationships/tags" Target="../tags/tag12.xml"/><Relationship Id="rId35" Type="http://schemas.openxmlformats.org/officeDocument/2006/relationships/tags" Target="../tags/tag17.xml"/><Relationship Id="rId56" Type="http://schemas.openxmlformats.org/officeDocument/2006/relationships/tags" Target="../tags/tag38.xml"/><Relationship Id="rId77" Type="http://schemas.openxmlformats.org/officeDocument/2006/relationships/tags" Target="../tags/tag59.xml"/><Relationship Id="rId100" Type="http://schemas.openxmlformats.org/officeDocument/2006/relationships/tags" Target="../tags/tag82.xml"/><Relationship Id="rId105" Type="http://schemas.openxmlformats.org/officeDocument/2006/relationships/tags" Target="../tags/tag87.xml"/><Relationship Id="rId8" Type="http://schemas.openxmlformats.org/officeDocument/2006/relationships/slideLayout" Target="../slideLayouts/slideLayout12.xml"/><Relationship Id="rId51" Type="http://schemas.openxmlformats.org/officeDocument/2006/relationships/tags" Target="../tags/tag33.xml"/><Relationship Id="rId72" Type="http://schemas.openxmlformats.org/officeDocument/2006/relationships/tags" Target="../tags/tag54.xml"/><Relationship Id="rId93" Type="http://schemas.openxmlformats.org/officeDocument/2006/relationships/tags" Target="../tags/tag75.xml"/><Relationship Id="rId98" Type="http://schemas.openxmlformats.org/officeDocument/2006/relationships/tags" Target="../tags/tag80.xml"/><Relationship Id="rId3" Type="http://schemas.openxmlformats.org/officeDocument/2006/relationships/slideLayout" Target="../slideLayouts/slideLayout7.xml"/><Relationship Id="rId25" Type="http://schemas.openxmlformats.org/officeDocument/2006/relationships/tags" Target="../tags/tag7.xml"/><Relationship Id="rId46" Type="http://schemas.openxmlformats.org/officeDocument/2006/relationships/tags" Target="../tags/tag28.xml"/><Relationship Id="rId67" Type="http://schemas.openxmlformats.org/officeDocument/2006/relationships/tags" Target="../tags/tag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8000" y="1944000"/>
            <a:ext cx="10896000" cy="4266000"/>
          </a:xfrm>
          <a:prstGeom prst="rect">
            <a:avLst/>
          </a:prstGeom>
        </p:spPr>
        <p:txBody>
          <a:bodyPr vert="horz" lIns="0" tIns="0" rIns="0" bIns="0" rtlCol="0">
            <a:noAutofit/>
          </a:bodyPr>
          <a:lstStyle/>
          <a:p>
            <a:pPr lvl="0"/>
            <a:r>
              <a:rPr lang="en-GB" noProof="0"/>
              <a:t>Level 1</a:t>
            </a:r>
          </a:p>
          <a:p>
            <a:pPr lvl="1"/>
            <a:r>
              <a:rPr lang="en-GB" noProof="0"/>
              <a:t>Level 2</a:t>
            </a:r>
          </a:p>
          <a:p>
            <a:pPr lvl="2"/>
            <a:r>
              <a:rPr lang="en-GB" noProof="0"/>
              <a:t>Level 3</a:t>
            </a:r>
          </a:p>
          <a:p>
            <a:pPr lvl="3"/>
            <a:r>
              <a:rPr lang="en-GB" noProof="0"/>
              <a:t>Level 4, Header</a:t>
            </a:r>
          </a:p>
          <a:p>
            <a:pPr lvl="4"/>
            <a:r>
              <a:rPr lang="en-GB" noProof="0"/>
              <a:t>Level 5, Body</a:t>
            </a:r>
          </a:p>
          <a:p>
            <a:pPr lvl="5"/>
            <a:r>
              <a:rPr lang="en-GB" noProof="0"/>
              <a:t>Level 6</a:t>
            </a:r>
          </a:p>
          <a:p>
            <a:pPr lvl="6"/>
            <a:r>
              <a:rPr lang="en-GB" noProof="0"/>
              <a:t>Level 7, Small Header</a:t>
            </a:r>
          </a:p>
          <a:p>
            <a:pPr lvl="7"/>
            <a:r>
              <a:rPr lang="en-GB" noProof="0"/>
              <a:t>Level 8, Small Body</a:t>
            </a:r>
          </a:p>
          <a:p>
            <a:pPr lvl="8"/>
            <a:r>
              <a:rPr lang="en-GB" noProof="0"/>
              <a:t>Level 9, Infographic</a:t>
            </a:r>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648000" y="648000"/>
            <a:ext cx="10896000" cy="1296000"/>
          </a:xfrm>
          <a:prstGeom prst="rect">
            <a:avLst/>
          </a:prstGeom>
        </p:spPr>
        <p:txBody>
          <a:bodyPr vert="horz" lIns="0" tIns="0" rIns="0" bIns="0" rtlCol="0" anchor="t" anchorCtr="0">
            <a:noAutofit/>
          </a:bodyPr>
          <a:lstStyle/>
          <a:p>
            <a:r>
              <a:rPr lang="en-GB"/>
              <a:t>Click to edit Master title style</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648000" y="324000"/>
            <a:ext cx="1920000" cy="125850"/>
          </a:xfrm>
          <a:prstGeom prst="rect">
            <a:avLst/>
          </a:prstGeom>
        </p:spPr>
        <p:txBody>
          <a:bodyPr vert="horz" lIns="0" tIns="0" rIns="0" bIns="0" rtlCol="0" anchor="t"/>
          <a:lstStyle>
            <a:lvl1pPr algn="l">
              <a:defRPr sz="700">
                <a:solidFill>
                  <a:schemeClr val="tx2"/>
                </a:solidFill>
              </a:defRPr>
            </a:lvl1pPr>
          </a:lstStyle>
          <a:p>
            <a:endParaRPr lang="en-GB"/>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2892712" y="323850"/>
            <a:ext cx="4162138" cy="126000"/>
          </a:xfrm>
          <a:prstGeom prst="rect">
            <a:avLst/>
          </a:prstGeom>
        </p:spPr>
        <p:txBody>
          <a:bodyPr vert="horz" lIns="0" tIns="0" rIns="0" bIns="0" rtlCol="0" anchor="t"/>
          <a:lstStyle>
            <a:lvl1pPr algn="l">
              <a:defRPr sz="700">
                <a:solidFill>
                  <a:schemeClr val="tx2"/>
                </a:solidFill>
              </a:defRPr>
            </a:lvl1pPr>
          </a:lstStyle>
          <a:p>
            <a:endParaRPr lang="en-GB"/>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324000" y="324000"/>
            <a:ext cx="324000" cy="125850"/>
          </a:xfrm>
          <a:prstGeom prst="rect">
            <a:avLst/>
          </a:prstGeom>
        </p:spPr>
        <p:txBody>
          <a:bodyPr vert="horz" lIns="0" tIns="0" rIns="0" bIns="0" rtlCol="0" anchor="t"/>
          <a:lstStyle>
            <a:lvl1pPr algn="l">
              <a:defRPr sz="700">
                <a:solidFill>
                  <a:schemeClr val="tx2"/>
                </a:solidFill>
              </a:defRPr>
            </a:lvl1pPr>
          </a:lstStyle>
          <a:p>
            <a:fld id="{23AA811B-2EBD-4900-905E-5BE206449611}" type="slidenum">
              <a:rPr lang="en-GB" smtClean="0"/>
              <a:pPr/>
              <a:t>‹#›</a:t>
            </a:fld>
            <a:endParaRPr lang="en-GB"/>
          </a:p>
        </p:txBody>
      </p:sp>
      <p:sp>
        <p:nvSpPr>
          <p:cNvPr id="26" name="TextBox 25">
            <a:extLst>
              <a:ext uri="{FF2B5EF4-FFF2-40B4-BE49-F238E27FC236}">
                <a16:creationId xmlns:a16="http://schemas.microsoft.com/office/drawing/2014/main" id="{278D69B5-2783-4637-A949-A867EE4EFE6B}"/>
              </a:ext>
            </a:extLst>
          </p:cNvPr>
          <p:cNvSpPr txBox="1"/>
          <p:nvPr userDrawn="1"/>
        </p:nvSpPr>
        <p:spPr>
          <a:xfrm>
            <a:off x="11218069" y="324000"/>
            <a:ext cx="648494" cy="107722"/>
          </a:xfrm>
          <a:prstGeom prst="rect">
            <a:avLst/>
          </a:prstGeom>
          <a:noFill/>
        </p:spPr>
        <p:txBody>
          <a:bodyPr wrap="square" lIns="0" tIns="0" rIns="0" bIns="0" rtlCol="0">
            <a:spAutoFit/>
          </a:bodyPr>
          <a:lstStyle/>
          <a:p>
            <a:pPr algn="r"/>
            <a:r>
              <a:rPr lang="en-GB" sz="700">
                <a:solidFill>
                  <a:schemeClr val="tx2"/>
                </a:solidFill>
              </a:rPr>
              <a:t>Novo Nordisk</a:t>
            </a:r>
            <a:r>
              <a:rPr lang="en-GB" sz="700" baseline="30000">
                <a:solidFill>
                  <a:schemeClr val="tx2"/>
                </a:solidFill>
              </a:rPr>
              <a:t>®</a:t>
            </a:r>
          </a:p>
        </p:txBody>
      </p:sp>
      <p:sp>
        <p:nvSpPr>
          <p:cNvPr id="4" name="[WorkArea]" descr="&lt;?xml version=&quot;1.0&quot; encoding=&quot;utf-16&quot;?&gt;&#10;&lt;GridTheme xmlns:xsi=&quot;http://www.w3.org/2001/XMLSchema-instance&quot; xmlns:xsd=&quot;http://www.w3.org/2001/XMLSchema&quot;&gt;&#10;  &lt;GuideLines /&gt;&#10;  &lt;SubGrids&gt;&#10;    &lt;SubGrid&gt;&#10;      &lt;Left&gt;25.51181&lt;/Left&gt;&#10;      &lt;Top&gt;25.51181&lt;/Top&gt;&#10;      &lt;Width&gt;25.51181&lt;/Width&gt;&#10;      &lt;Height&gt;25.51181&lt;/Height&gt;&#10;    &lt;/SubGrid&gt;&#10;    &lt;SubGrid&gt;&#10;      &lt;Left&gt;51.02362&lt;/Left&gt;&#10;      &lt;Top&gt;25.51181&lt;/Top&gt;&#10;      &lt;Width&gt;151.1811&lt;/Width&gt;&#10;      &lt;Height&gt;25.51181&lt;/Height&gt;&#10;    &lt;/SubGrid&gt;&#10;    &lt;SubGrid&gt;&#10;      &lt;Left&gt;202.204727&lt;/Left&gt;&#10;      &lt;Top&gt;25.51181&lt;/Top&gt;&#10;      &lt;Width&gt;25.51181&lt;/Width&gt;&#10;      &lt;Height&gt;25.51181&lt;/Height&gt;&#10;    &lt;/SubGrid&gt;&#10;    &lt;SubGrid&gt;&#10;      &lt;Left&gt;227.716537&lt;/Left&gt;&#10;      &lt;Top&gt;25.51181&lt;/Top&gt;&#10;      &lt;Width&gt;151.1811&lt;/Width&gt;&#10;      &lt;Height&gt;25.51181&lt;/Height&gt;&#10;    &lt;/SubGrid&gt;&#10;    &lt;SubGrid&gt;&#10;      &lt;Left&gt;378.897644&lt;/Left&gt;&#10;      &lt;Top&gt;25.51181&lt;/Top&gt;&#10;      &lt;Width&gt;25.51181&lt;/Width&gt;&#10;      &lt;Height&gt;25.51181&lt;/Height&gt;&#10;    &lt;/SubGrid&gt;&#10;    &lt;SubGrid&gt;&#10;      &lt;Left&gt;404.409454&lt;/Left&gt;&#10;      &lt;Top&gt;25.51181&lt;/Top&gt;&#10;      &lt;Width&gt;151.1811&lt;/Width&gt;&#10;      &lt;Height&gt;25.51181&lt;/Height&gt;&#10;    &lt;/SubGrid&gt;&#10;    &lt;SubGrid&gt;&#10;      &lt;Left&gt;555.5906&lt;/Left&gt;&#10;      &lt;Top&gt;25.51181&lt;/Top&gt;&#10;      &lt;Width&gt;25.51181&lt;/Width&gt;&#10;      &lt;Height&gt;25.51181&lt;/Height&gt;&#10;    &lt;/SubGrid&gt;&#10;    &lt;SubGrid&gt;&#10;      &lt;Left&gt;581.102356&lt;/Left&gt;&#10;      &lt;Top&gt;25.51181&lt;/Top&gt;&#10;      &lt;Width&gt;151.1811&lt;/Width&gt;&#10;      &lt;Height&gt;25.51181&lt;/Height&gt;&#10;    &lt;/SubGrid&gt;&#10;    &lt;SubGrid&gt;&#10;      &lt;Left&gt;732.283447&lt;/Left&gt;&#10;      &lt;Top&gt;25.51181&lt;/Top&gt;&#10;      &lt;Width&gt;25.51181&lt;/Width&gt;&#10;      &lt;Height&gt;25.51181&lt;/Height&gt;&#10;    &lt;/SubGrid&gt;&#10;    &lt;SubGrid&gt;&#10;      &lt;Left&gt;757.7953&lt;/Left&gt;&#10;      &lt;Top&gt;25.51181&lt;/Top&gt;&#10;      &lt;Width&gt;151.1811&lt;/Width&gt;&#10;      &lt;Height&gt;25.51181&lt;/Height&gt;&#10;    &lt;/SubGrid&gt;&#10;    &lt;SubGrid&gt;&#10;      &lt;Left&gt;908.9764&lt;/Left&gt;&#10;      &lt;Top&gt;25.51181&lt;/Top&gt;&#10;      &lt;Width&gt;25.51181&lt;/Width&gt;&#10;      &lt;Height&gt;25.51181&lt;/Height&gt;&#10;    &lt;/SubGrid&gt;&#10;    &lt;SubGrid&gt;&#10;      &lt;Left&gt;25.51181&lt;/Left&gt;&#10;      &lt;Top&gt;218.976379&lt;/Top&gt;&#10;      &lt;Width&gt;25.51181&lt;/Width&gt;&#10;      &lt;Height&gt;25.51181&lt;/Height&gt;&#10;    &lt;/SubGrid&gt;&#10;    &lt;SubGrid&gt;&#10;      &lt;Left&gt;25.51181&lt;/Left&gt;&#10;      &lt;Top&gt;244.48819&lt;/Top&gt;&#10;      &lt;Width&gt;25.51181&lt;/Width&gt;&#10;      &lt;Height&gt;25.51181&lt;/Height&gt;&#10;    &lt;/SubGrid&gt;&#10;    &lt;SubGrid&gt;&#10;      &lt;Left&gt;25.51181&lt;/Left&gt;&#10;      &lt;Top&gt;270&lt;/Top&gt;&#10;      &lt;Width&gt;25.51181&lt;/Width&gt;&#10;      &lt;Height&gt;25.51181&lt;/Height&gt;&#10;    &lt;/SubGrid&gt;&#10;    &lt;SubGrid&gt;&#10;      &lt;Left&gt;25.51181&lt;/Left&gt;&#10;      &lt;Top&gt;295.5118&lt;/Top&gt;&#10;      &lt;Width&gt;25.51181&lt;/Width&gt;&#10;      &lt;Height&gt;25.51181&lt;/Height&gt;&#10;    &lt;/SubGrid&gt;&#10;    &lt;SubGrid&gt;&#10;      &lt;Left&gt;51.02362&lt;/Left&gt;&#10;      &lt;Top&gt;295.5118&lt;/Top&gt;&#10;      &lt;Width&gt;151.1811&lt;/Width&gt;&#10;      &lt;Height&gt;25.51181&lt;/Height&gt;&#10;    &lt;/SubGrid&gt;&#10;    &lt;SubGrid&gt;&#10;      &lt;Left&gt;202.204727&lt;/Left&gt;&#10;      &lt;Top&gt;295.5118&lt;/Top&gt;&#10;      &lt;Width&gt;25.51181&lt;/Width&gt;&#10;      &lt;Height&gt;25.51181&lt;/Height&gt;&#10;    &lt;/SubGrid&gt;&#10;    &lt;SubGrid&gt;&#10;      &lt;Left&gt;51.02362&lt;/Left&gt;&#10;      &lt;Top&gt;270&lt;/Top&gt;&#10;      &lt;Width&gt;151.1811&lt;/Width&gt;&#10;      &lt;Height&gt;25.51181&lt;/Height&gt;&#10;    &lt;/SubGrid&gt;&#10;    &lt;SubGrid&gt;&#10;      &lt;Left&gt;202.204727&lt;/Left&gt;&#10;      &lt;Top&gt;270&lt;/Top&gt;&#10;      &lt;Width&gt;25.51181&lt;/Width&gt;&#10;      &lt;Height&gt;25.51181&lt;/Height&gt;&#10;    &lt;/SubGrid&gt;&#10;    &lt;SubGrid&gt;&#10;      &lt;Left&gt;51.02362&lt;/Left&gt;&#10;      &lt;Top&gt;244.48819&lt;/Top&gt;&#10;      &lt;Width&gt;151.1811&lt;/Width&gt;&#10;      &lt;Height&gt;25.51181&lt;/Height&gt;&#10;    &lt;/SubGrid&gt;&#10;    &lt;SubGrid&gt;&#10;      &lt;Left&gt;202.204727&lt;/Left&gt;&#10;      &lt;Top&gt;244.48819&lt;/Top&gt;&#10;      &lt;Width&gt;25.51181&lt;/Width&gt;&#10;      &lt;Height&gt;25.51181&lt;/Height&gt;&#10;    &lt;/SubGrid&gt;&#10;    &lt;SubGrid&gt;&#10;      &lt;Left&gt;51.02362&lt;/Left&gt;&#10;      &lt;Top&gt;218.976379&lt;/Top&gt;&#10;      &lt;Width&gt;151.1811&lt;/Width&gt;&#10;      &lt;Height&gt;25.51181&lt;/Height&gt;&#10;    &lt;/SubGrid&gt;&#10;    &lt;SubGrid&gt;&#10;      &lt;Left&gt;202.204727&lt;/Left&gt;&#10;      &lt;Top&gt;218.976379&lt;/Top&gt;&#10;      &lt;Width&gt;25.51181&lt;/Width&gt;&#10;      &lt;Height&gt;25.51181&lt;/Height&gt;&#10;    &lt;/SubGrid&gt;&#10;    &lt;SubGrid&gt;&#10;      &lt;Left&gt;25.51181&lt;/Left&gt;&#10;      &lt;Top&gt;488.976379&lt;/Top&gt;&#10;      &lt;Width&gt;25.51181&lt;/Width&gt;&#10;      &lt;Height&gt;25.51181&lt;/Height&gt;&#10;    &lt;/SubGrid&gt;&#10;    &lt;SubGrid&gt;&#10;      &lt;Left&gt;51.02362&lt;/Left&gt;&#10;      &lt;Top&gt;488.976379&lt;/Top&gt;&#10;      &lt;Width&gt;151.1811&lt;/Width&gt;&#10;      &lt;Height&gt;25.51181&lt;/Height&gt;&#10;    &lt;/SubGrid&gt;&#10;    &lt;SubGrid&gt;&#10;      &lt;Left&gt;202.204727&lt;/Left&gt;&#10;      &lt;Top&gt;488.976379&lt;/Top&gt;&#10;      &lt;Width&gt;25.51181&lt;/Width&gt;&#10;      &lt;Height&gt;25.51181&lt;/Height&gt;&#10;    &lt;/SubGrid&gt;&#10;    &lt;SubGrid&gt;&#10;      &lt;Left&gt;227.716537&lt;/Left&gt;&#10;      &lt;Top&gt;488.976379&lt;/Top&gt;&#10;      &lt;Width&gt;151.1811&lt;/Width&gt;&#10;      &lt;Height&gt;25.51181&lt;/Height&gt;&#10;    &lt;/SubGrid&gt;&#10;    &lt;SubGrid&gt;&#10;      &lt;Left&gt;378.897644&lt;/Left&gt;&#10;      &lt;Top&gt;488.976379&lt;/Top&gt;&#10;      &lt;Width&gt;25.51181&lt;/Width&gt;&#10;      &lt;Height&gt;25.51181&lt;/Height&gt;&#10;    &lt;/SubGrid&gt;&#10;    &lt;SubGrid&gt;&#10;      &lt;Left&gt;404.409454&lt;/Left&gt;&#10;      &lt;Top&gt;488.976379&lt;/Top&gt;&#10;      &lt;Width&gt;151.1811&lt;/Width&gt;&#10;      &lt;Height&gt;25.51181&lt;/Height&gt;&#10;    &lt;/SubGrid&gt;&#10;    &lt;SubGrid&gt;&#10;      &lt;Left&gt;555.5906&lt;/Left&gt;&#10;      &lt;Top&gt;488.976379&lt;/Top&gt;&#10;      &lt;Width&gt;25.51181&lt;/Width&gt;&#10;      &lt;Height&gt;25.51181&lt;/Height&gt;&#10;    &lt;/SubGrid&gt;&#10;    &lt;SubGrid&gt;&#10;      &lt;Left&gt;581.102356&lt;/Left&gt;&#10;      &lt;Top&gt;488.976379&lt;/Top&gt;&#10;      &lt;Width&gt;151.1811&lt;/Width&gt;&#10;      &lt;Height&gt;25.51181&lt;/Height&gt;&#10;    &lt;/SubGrid&gt;&#10;    &lt;SubGrid&gt;&#10;      &lt;Left&gt;732.283447&lt;/Left&gt;&#10;      &lt;Top&gt;488.976379&lt;/Top&gt;&#10;      &lt;Width&gt;25.51181&lt;/Width&gt;&#10;      &lt;Height&gt;25.51181&lt;/Height&gt;&#10;    &lt;/SubGrid&gt;&#10;    &lt;SubGrid&gt;&#10;      &lt;Left&gt;757.7953&lt;/Left&gt;&#10;      &lt;Top&gt;488.976379&lt;/Top&gt;&#10;      &lt;Width&gt;151.1811&lt;/Width&gt;&#10;      &lt;Height&gt;25.51181&lt;/Height&gt;&#10;    &lt;/SubGrid&gt;&#10;    &lt;SubGrid&gt;&#10;      &lt;Left&gt;908.9764&lt;/Left&gt;&#10;      &lt;Top&gt;488.976379&lt;/Top&gt;&#10;      &lt;Width&gt;25.51181&lt;/Width&gt;&#10;      &lt;Height&gt;25.51181&lt;/Height&gt;&#10;    &lt;/SubGrid&gt;&#10;    &lt;SubGrid&gt;&#10;      &lt;Left&gt;227.716537&lt;/Left&gt;&#10;      &lt;Top&gt;295.5118&lt;/Top&gt;&#10;      &lt;Width&gt;151.1811&lt;/Width&gt;&#10;      &lt;Height&gt;25.51181&lt;/Height&gt;&#10;    &lt;/SubGrid&gt;&#10;    &lt;SubGrid&gt;&#10;      &lt;Left&gt;378.897644&lt;/Left&gt;&#10;      &lt;Top&gt;295.5118&lt;/Top&gt;&#10;      &lt;Width&gt;25.51181&lt;/Width&gt;&#10;      &lt;Height&gt;25.51181&lt;/Height&gt;&#10;    &lt;/SubGrid&gt;&#10;    &lt;SubGrid&gt;&#10;      &lt;Left&gt;227.716537&lt;/Left&gt;&#10;      &lt;Top&gt;270&lt;/Top&gt;&#10;      &lt;Width&gt;151.1811&lt;/Width&gt;&#10;      &lt;Height&gt;25.51181&lt;/Height&gt;&#10;    &lt;/SubGrid&gt;&#10;    &lt;SubGrid&gt;&#10;      &lt;Left&gt;378.897644&lt;/Left&gt;&#10;      &lt;Top&gt;270&lt;/Top&gt;&#10;      &lt;Width&gt;25.51181&lt;/Width&gt;&#10;      &lt;Height&gt;25.51181&lt;/Height&gt;&#10;    &lt;/SubGrid&gt;&#10;    &lt;SubGrid&gt;&#10;      &lt;Left&gt;227.716537&lt;/Left&gt;&#10;      &lt;Top&gt;244.48819&lt;/Top&gt;&#10;      &lt;Width&gt;151.1811&lt;/Width&gt;&#10;      &lt;Height&gt;25.51181&lt;/Height&gt;&#10;    &lt;/SubGrid&gt;&#10;    &lt;SubGrid&gt;&#10;      &lt;Left&gt;378.897644&lt;/Left&gt;&#10;      &lt;Top&gt;244.48819&lt;/Top&gt;&#10;      &lt;Width&gt;25.51181&lt;/Width&gt;&#10;      &lt;Height&gt;25.51181&lt;/Height&gt;&#10;    &lt;/SubGrid&gt;&#10;    &lt;SubGrid&gt;&#10;      &lt;Left&gt;227.716537&lt;/Left&gt;&#10;      &lt;Top&gt;218.976379&lt;/Top&gt;&#10;      &lt;Width&gt;151.1811&lt;/Width&gt;&#10;      &lt;Height&gt;25.51181&lt;/Height&gt;&#10;    &lt;/SubGrid&gt;&#10;    &lt;SubGrid&gt;&#10;      &lt;Left&gt;378.897644&lt;/Left&gt;&#10;      &lt;Top&gt;218.976379&lt;/Top&gt;&#10;      &lt;Width&gt;25.51181&lt;/Width&gt;&#10;      &lt;Height&gt;25.51181&lt;/Height&gt;&#10;    &lt;/SubGrid&gt;&#10;    &lt;SubGrid&gt;&#10;      &lt;Left&gt;404.409454&lt;/Left&gt;&#10;      &lt;Top&gt;295.5118&lt;/Top&gt;&#10;      &lt;Width&gt;151.1811&lt;/Width&gt;&#10;      &lt;Height&gt;25.51181&lt;/Height&gt;&#10;    &lt;/SubGrid&gt;&#10;    &lt;SubGrid&gt;&#10;      &lt;Left&gt;555.5906&lt;/Left&gt;&#10;      &lt;Top&gt;295.5118&lt;/Top&gt;&#10;      &lt;Width&gt;25.51181&lt;/Width&gt;&#10;      &lt;Height&gt;25.51181&lt;/Height&gt;&#10;    &lt;/SubGrid&gt;&#10;    &lt;SubGrid&gt;&#10;      &lt;Left&gt;404.409454&lt;/Left&gt;&#10;      &lt;Top&gt;270&lt;/Top&gt;&#10;      &lt;Width&gt;151.1811&lt;/Width&gt;&#10;      &lt;Height&gt;25.51181&lt;/Height&gt;&#10;    &lt;/SubGrid&gt;&#10;    &lt;SubGrid&gt;&#10;      &lt;Left&gt;555.5906&lt;/Left&gt;&#10;      &lt;Top&gt;270&lt;/Top&gt;&#10;      &lt;Width&gt;25.51181&lt;/Width&gt;&#10;      &lt;Height&gt;25.51181&lt;/Height&gt;&#10;    &lt;/SubGrid&gt;&#10;    &lt;SubGrid&gt;&#10;      &lt;Left&gt;404.409454&lt;/Left&gt;&#10;      &lt;Top&gt;244.48819&lt;/Top&gt;&#10;      &lt;Width&gt;151.1811&lt;/Width&gt;&#10;      &lt;Height&gt;25.51181&lt;/Height&gt;&#10;    &lt;/SubGrid&gt;&#10;    &lt;SubGrid&gt;&#10;      &lt;Left&gt;555.5906&lt;/Left&gt;&#10;      &lt;Top&gt;244.48819&lt;/Top&gt;&#10;      &lt;Width&gt;25.51181&lt;/Width&gt;&#10;      &lt;Height&gt;25.51181&lt;/Height&gt;&#10;    &lt;/SubGrid&gt;&#10;    &lt;SubGrid&gt;&#10;      &lt;Left&gt;404.409454&lt;/Left&gt;&#10;      &lt;Top&gt;218.976379&lt;/Top&gt;&#10;      &lt;Width&gt;151.1811&lt;/Width&gt;&#10;      &lt;Height&gt;25.51181&lt;/Height&gt;&#10;    &lt;/SubGrid&gt;&#10;    &lt;SubGrid&gt;&#10;      &lt;Left&gt;555.5906&lt;/Left&gt;&#10;      &lt;Top&gt;218.976379&lt;/Top&gt;&#10;      &lt;Width&gt;25.51181&lt;/Width&gt;&#10;      &lt;Height&gt;25.51181&lt;/Height&gt;&#10;    &lt;/SubGrid&gt;&#10;    &lt;SubGrid&gt;&#10;      &lt;Left&gt;581.102356&lt;/Left&gt;&#10;      &lt;Top&gt;295.5118&lt;/Top&gt;&#10;      &lt;Width&gt;151.1811&lt;/Width&gt;&#10;      &lt;Height&gt;25.51181&lt;/Height&gt;&#10;    &lt;/SubGrid&gt;&#10;    &lt;SubGrid&gt;&#10;      &lt;Left&gt;732.283447&lt;/Left&gt;&#10;      &lt;Top&gt;295.5118&lt;/Top&gt;&#10;      &lt;Width&gt;25.51181&lt;/Width&gt;&#10;      &lt;Height&gt;25.51181&lt;/Height&gt;&#10;    &lt;/SubGrid&gt;&#10;    &lt;SubGrid&gt;&#10;      &lt;Left&gt;581.102356&lt;/Left&gt;&#10;      &lt;Top&gt;270&lt;/Top&gt;&#10;      &lt;Width&gt;151.1811&lt;/Width&gt;&#10;      &lt;Height&gt;25.51181&lt;/Height&gt;&#10;    &lt;/SubGrid&gt;&#10;    &lt;SubGrid&gt;&#10;      &lt;Left&gt;732.283447&lt;/Left&gt;&#10;      &lt;Top&gt;270&lt;/Top&gt;&#10;      &lt;Width&gt;25.51181&lt;/Width&gt;&#10;      &lt;Height&gt;25.51181&lt;/Height&gt;&#10;    &lt;/SubGrid&gt;&#10;    &lt;SubGrid&gt;&#10;      &lt;Left&gt;581.102356&lt;/Left&gt;&#10;      &lt;Top&gt;244.48819&lt;/Top&gt;&#10;      &lt;Width&gt;151.1811&lt;/Width&gt;&#10;      &lt;Height&gt;25.51181&lt;/Height&gt;&#10;    &lt;/SubGrid&gt;&#10;    &lt;SubGrid&gt;&#10;      &lt;Left&gt;732.283447&lt;/Left&gt;&#10;      &lt;Top&gt;244.48819&lt;/Top&gt;&#10;      &lt;Width&gt;25.51181&lt;/Width&gt;&#10;      &lt;Height&gt;25.51181&lt;/Height&gt;&#10;    &lt;/SubGrid&gt;&#10;    &lt;SubGrid&gt;&#10;      &lt;Left&gt;581.102356&lt;/Left&gt;&#10;      &lt;Top&gt;218.976379&lt;/Top&gt;&#10;      &lt;Width&gt;151.1811&lt;/Width&gt;&#10;      &lt;Height&gt;25.51181&lt;/Height&gt;&#10;    &lt;/SubGrid&gt;&#10;    &lt;SubGrid&gt;&#10;      &lt;Left&gt;732.283447&lt;/Left&gt;&#10;      &lt;Top&gt;218.976379&lt;/Top&gt;&#10;      &lt;Width&gt;25.51181&lt;/Width&gt;&#10;      &lt;Height&gt;25.51181&lt;/Height&gt;&#10;    &lt;/SubGrid&gt;&#10;    &lt;SubGrid&gt;&#10;      &lt;Left&gt;757.7953&lt;/Left&gt;&#10;      &lt;Top&gt;295.5118&lt;/Top&gt;&#10;      &lt;Width&gt;151.1811&lt;/Width&gt;&#10;      &lt;Height&gt;25.51181&lt;/Height&gt;&#10;    &lt;/SubGrid&gt;&#10;    &lt;SubGrid&gt;&#10;      &lt;Left&gt;908.9764&lt;/Left&gt;&#10;      &lt;Top&gt;295.5118&lt;/Top&gt;&#10;      &lt;Width&gt;25.51181&lt;/Width&gt;&#10;      &lt;Height&gt;25.51181&lt;/Height&gt;&#10;    &lt;/SubGrid&gt;&#10;    &lt;SubGrid&gt;&#10;      &lt;Left&gt;757.7953&lt;/Left&gt;&#10;      &lt;Top&gt;270&lt;/Top&gt;&#10;      &lt;Width&gt;151.1811&lt;/Width&gt;&#10;      &lt;Height&gt;25.51181&lt;/Height&gt;&#10;    &lt;/SubGrid&gt;&#10;    &lt;SubGrid&gt;&#10;      &lt;Left&gt;908.9764&lt;/Left&gt;&#10;      &lt;Top&gt;270&lt;/Top&gt;&#10;      &lt;Width&gt;25.51181&lt;/Width&gt;&#10;      &lt;Height&gt;25.51181&lt;/Height&gt;&#10;    &lt;/SubGrid&gt;&#10;    &lt;SubGrid&gt;&#10;      &lt;Left&gt;757.7953&lt;/Left&gt;&#10;      &lt;Top&gt;244.48819&lt;/Top&gt;&#10;      &lt;Width&gt;151.1811&lt;/Width&gt;&#10;      &lt;Height&gt;25.51181&lt;/Height&gt;&#10;    &lt;/SubGrid&gt;&#10;    &lt;SubGrid&gt;&#10;      &lt;Left&gt;908.9764&lt;/Left&gt;&#10;      &lt;Top&gt;244.48819&lt;/Top&gt;&#10;      &lt;Width&gt;25.51181&lt;/Width&gt;&#10;      &lt;Height&gt;25.51181&lt;/Height&gt;&#10;    &lt;/SubGrid&gt;&#10;    &lt;SubGrid&gt;&#10;      &lt;Left&gt;757.7953&lt;/Left&gt;&#10;      &lt;Top&gt;218.976379&lt;/Top&gt;&#10;      &lt;Width&gt;151.1811&lt;/Width&gt;&#10;      &lt;Height&gt;25.51181&lt;/Height&gt;&#10;    &lt;/SubGrid&gt;&#10;    &lt;SubGrid&gt;&#10;      &lt;Left&gt;908.9764&lt;/Left&gt;&#10;      &lt;Top&gt;218.976379&lt;/Top&gt;&#10;      &lt;Width&gt;25.51181&lt;/Width&gt;&#10;      &lt;Height&gt;25.51181&lt;/Height&gt;&#10;    &lt;/SubGrid&gt;&#10;    &lt;SubGrid&gt;&#10;      &lt;Left&gt;25.51181&lt;/Left&gt;&#10;      &lt;Top&gt;51.02362&lt;/Top&gt;&#10;      &lt;Width&gt;25.51181&lt;/Width&gt;&#10;      &lt;Height&gt;167.952759&lt;/Height&gt;&#10;    &lt;/SubGrid&gt;&#10;    &lt;SubGrid&gt;&#10;      &lt;Left&gt;202.204727&lt;/Left&gt;&#10;      &lt;Top&gt;51.02362&lt;/Top&gt;&#10;      &lt;Width&gt;25.51181&lt;/Width&gt;&#10;      &lt;Height&gt;167.952759&lt;/Height&gt;&#10;    &lt;/SubGrid&gt;&#10;    &lt;SubGrid&gt;&#10;      &lt;Left&gt;378.897644&lt;/Left&gt;&#10;      &lt;Top&gt;51.02362&lt;/Top&gt;&#10;      &lt;Width&gt;25.51181&lt;/Width&gt;&#10;      &lt;Height&gt;167.952759&lt;/Height&gt;&#10;    &lt;/SubGrid&gt;&#10;    &lt;SubGrid&gt;&#10;      &lt;Left&gt;555.5906&lt;/Left&gt;&#10;      &lt;Top&gt;51.02362&lt;/Top&gt;&#10;      &lt;Width&gt;25.51181&lt;/Width&gt;&#10;      &lt;Height&gt;167.952759&lt;/Height&gt;&#10;    &lt;/SubGrid&gt;&#10;    &lt;SubGrid&gt;&#10;      &lt;Left&gt;732.283447&lt;/Left&gt;&#10;      &lt;Top&gt;51.02362&lt;/Top&gt;&#10;      &lt;Width&gt;25.51181&lt;/Width&gt;&#10;      &lt;Height&gt;167.952759&lt;/Height&gt;&#10;    &lt;/SubGrid&gt;&#10;    &lt;SubGrid&gt;&#10;      &lt;Left&gt;908.9764&lt;/Left&gt;&#10;      &lt;Top&gt;51.02362&lt;/Top&gt;&#10;      &lt;Width&gt;25.51181&lt;/Width&gt;&#10;      &lt;Height&gt;167.952759&lt;/Height&gt;&#10;    &lt;/SubGrid&gt;&#10;    &lt;SubGrid&gt;&#10;      &lt;Left&gt;25.51181&lt;/Left&gt;&#10;      &lt;Top&gt;321.023621&lt;/Top&gt;&#10;      &lt;Width&gt;25.51181&lt;/Width&gt;&#10;      &lt;Height&gt;167.952759&lt;/Height&gt;&#10;    &lt;/SubGrid&gt;&#10;    &lt;SubGrid&gt;&#10;      &lt;Left&gt;202.204727&lt;/Left&gt;&#10;      &lt;Top&gt;321.023621&lt;/Top&gt;&#10;      &lt;Width&gt;25.51181&lt;/Width&gt;&#10;      &lt;Height&gt;167.952759&lt;/Height&gt;&#10;    &lt;/SubGrid&gt;&#10;    &lt;SubGrid&gt;&#10;      &lt;Left&gt;378.897644&lt;/Left&gt;&#10;      &lt;Top&gt;321.023621&lt;/Top&gt;&#10;      &lt;Width&gt;25.51181&lt;/Width&gt;&#10;      &lt;Height&gt;167.952759&lt;/Height&gt;&#10;    &lt;/SubGrid&gt;&#10;    &lt;SubGrid&gt;&#10;      &lt;Left&gt;555.5906&lt;/Left&gt;&#10;      &lt;Top&gt;321.023621&lt;/Top&gt;&#10;      &lt;Width&gt;25.51181&lt;/Width&gt;&#10;      &lt;Height&gt;167.952759&lt;/Height&gt;&#10;    &lt;/SubGrid&gt;&#10;    &lt;SubGrid&gt;&#10;      &lt;Left&gt;732.283447&lt;/Left&gt;&#10;      &lt;Top&gt;321.023621&lt;/Top&gt;&#10;      &lt;Width&gt;25.51181&lt;/Width&gt;&#10;      &lt;Height&gt;167.952759&lt;/Height&gt;&#10;    &lt;/SubGrid&gt;&#10;    &lt;SubGrid&gt;&#10;      &lt;Left&gt;908.9764&lt;/Left&gt;&#10;      &lt;Top&gt;321.023621&lt;/Top&gt;&#10;      &lt;Width&gt;25.51181&lt;/Width&gt;&#10;      &lt;Height&gt;167.952759&lt;/Height&gt;&#10;    &lt;/SubGrid&gt;&#10;    &lt;SubGrid&gt;&#10;      &lt;Left&gt;51.02362&lt;/Left&gt;&#10;      &lt;Top&gt;51.02362&lt;/Top&gt;&#10;      &lt;Width&gt;151.1811&lt;/Width&gt;&#10;      &lt;Height&gt;167.952759&lt;/Height&gt;&#10;    &lt;/SubGrid&gt;&#10;    &lt;SubGrid&gt;&#10;      &lt;Left&gt;227.716537&lt;/Left&gt;&#10;      &lt;Top&gt;51.02362&lt;/Top&gt;&#10;      &lt;Width&gt;151.1811&lt;/Width&gt;&#10;      &lt;Height&gt;167.952759&lt;/Height&gt;&#10;    &lt;/SubGrid&gt;&#10;    &lt;SubGrid&gt;&#10;      &lt;Left&gt;404.409454&lt;/Left&gt;&#10;      &lt;Top&gt;51.02362&lt;/Top&gt;&#10;      &lt;Width&gt;151.1811&lt;/Width&gt;&#10;      &lt;Height&gt;167.952759&lt;/Height&gt;&#10;    &lt;/SubGrid&gt;&#10;    &lt;SubGrid&gt;&#10;      &lt;Left&gt;581.102356&lt;/Left&gt;&#10;      &lt;Top&gt;51.02362&lt;/Top&gt;&#10;      &lt;Width&gt;151.1811&lt;/Width&gt;&#10;      &lt;Height&gt;167.952759&lt;/Height&gt;&#10;    &lt;/SubGrid&gt;&#10;    &lt;SubGrid&gt;&#10;      &lt;Left&gt;757.7953&lt;/Left&gt;&#10;      &lt;Top&gt;51.02362&lt;/Top&gt;&#10;      &lt;Width&gt;151.1811&lt;/Width&gt;&#10;      &lt;Height&gt;167.952759&lt;/Height&gt;&#10;    &lt;/SubGrid&gt;&#10;    &lt;SubGrid&gt;&#10;      &lt;Left&gt;51.02362&lt;/Left&gt;&#10;      &lt;Top&gt;321.023621&lt;/Top&gt;&#10;      &lt;Width&gt;151.1811&lt;/Width&gt;&#10;      &lt;Height&gt;167.952759&lt;/Height&gt;&#10;    &lt;/SubGrid&gt;&#10;    &lt;SubGrid&gt;&#10;      &lt;Left&gt;227.716537&lt;/Left&gt;&#10;      &lt;Top&gt;321.023621&lt;/Top&gt;&#10;      &lt;Width&gt;151.1811&lt;/Width&gt;&#10;      &lt;Height&gt;167.952759&lt;/Height&gt;&#10;    &lt;/SubGrid&gt;&#10;    &lt;SubGrid&gt;&#10;      &lt;Left&gt;404.409454&lt;/Left&gt;&#10;      &lt;Top&gt;321.023621&lt;/Top&gt;&#10;      &lt;Width&gt;151.1811&lt;/Width&gt;&#10;      &lt;Height&gt;167.952759&lt;/Height&gt;&#10;    &lt;/SubGrid&gt;&#10;    &lt;SubGrid&gt;&#10;      &lt;Left&gt;581.102356&lt;/Left&gt;&#10;      &lt;Top&gt;321.023621&lt;/Top&gt;&#10;      &lt;Width&gt;151.1811&lt;/Width&gt;&#10;      &lt;Height&gt;167.952759&lt;/Height&gt;&#10;    &lt;/SubGrid&gt;&#10;    &lt;SubGrid&gt;&#10;      &lt;Left&gt;757.7953&lt;/Left&gt;&#10;      &lt;Top&gt;321.023621&lt;/Top&gt;&#10;      &lt;Width&gt;151.1811&lt;/Width&gt;&#10;      &lt;Height&gt;167.952759&lt;/Height&gt;&#10;    &lt;/SubGrid&gt;&#10;  &lt;/SubGrids&gt;&#10;  &lt;WorkArea&gt;&#10;    &lt;Top&gt;25.51181&lt;/Top&gt;&#10;    &lt;Left&gt;25.51181&lt;/Left&gt;&#10;    &lt;Width&gt;908.9764&lt;/Width&gt;&#10;    &lt;Height&gt;488.976379&lt;/Height&gt;&#10;  &lt;/WorkArea&gt;&#10;  &lt;AspectW&gt;-1&lt;/AspectW&gt;&#10;  &lt;AspectH&gt;-1&lt;/AspectH&gt;&#10;  &lt;Width&gt;960&lt;/Width&gt;&#10;  &lt;Height&gt;540&lt;/Height&gt;&#10;  &lt;HGap&gt;5&lt;/HGap&gt;&#10;  &lt;VGap&gt;5&lt;/VGap&gt;&#10;  &lt;OfficeVersion&gt;-1&lt;/OfficeVersion&gt;&#10;&lt;/GridTheme&gt;" hidden="1">
            <a:extLst>
              <a:ext uri="{FF2B5EF4-FFF2-40B4-BE49-F238E27FC236}">
                <a16:creationId xmlns:a16="http://schemas.microsoft.com/office/drawing/2014/main" id="{F5F0A4E1-4330-49F4-88F5-A83195F8511C}"/>
              </a:ext>
            </a:extLst>
          </p:cNvPr>
          <p:cNvSpPr/>
          <p:nvPr userDrawn="1"/>
        </p:nvSpPr>
        <p:spPr>
          <a:xfrm>
            <a:off x="324000" y="324000"/>
            <a:ext cx="11544000" cy="6210000"/>
          </a:xfrm>
          <a:prstGeom prst="rect">
            <a:avLst/>
          </a:prstGeom>
          <a:solidFill>
            <a:srgbClr val="E6E6E6"/>
          </a:solidFill>
          <a:ln w="317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 name="Rectangle 4" hidden="1">
            <a:extLst>
              <a:ext uri="{FF2B5EF4-FFF2-40B4-BE49-F238E27FC236}">
                <a16:creationId xmlns:a16="http://schemas.microsoft.com/office/drawing/2014/main" id="{F30BD45F-E3FD-4877-8E01-D258D6C49ED2}"/>
              </a:ext>
            </a:extLst>
          </p:cNvPr>
          <p:cNvSpPr/>
          <p:nvPr userDrawn="1">
            <p:custDataLst>
              <p:tags r:id="rId19"/>
            </p:custDataLst>
          </p:nvPr>
        </p:nvSpPr>
        <p:spPr>
          <a:xfrm>
            <a:off x="324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 name="Rectangle 5" hidden="1">
            <a:extLst>
              <a:ext uri="{FF2B5EF4-FFF2-40B4-BE49-F238E27FC236}">
                <a16:creationId xmlns:a16="http://schemas.microsoft.com/office/drawing/2014/main" id="{61F8F4EB-98F9-49C6-AD23-0434FEEA7DAD}"/>
              </a:ext>
            </a:extLst>
          </p:cNvPr>
          <p:cNvSpPr/>
          <p:nvPr userDrawn="1">
            <p:custDataLst>
              <p:tags r:id="rId20"/>
            </p:custDataLst>
          </p:nvPr>
        </p:nvSpPr>
        <p:spPr>
          <a:xfrm>
            <a:off x="648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 name="Rectangle 9" hidden="1">
            <a:extLst>
              <a:ext uri="{FF2B5EF4-FFF2-40B4-BE49-F238E27FC236}">
                <a16:creationId xmlns:a16="http://schemas.microsoft.com/office/drawing/2014/main" id="{5461F43A-D29F-4117-83B4-78ECC6A90694}"/>
              </a:ext>
            </a:extLst>
          </p:cNvPr>
          <p:cNvSpPr/>
          <p:nvPr userDrawn="1">
            <p:custDataLst>
              <p:tags r:id="rId21"/>
            </p:custDataLst>
          </p:nvPr>
        </p:nvSpPr>
        <p:spPr>
          <a:xfrm>
            <a:off x="2568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 name="Rectangle 10" hidden="1">
            <a:extLst>
              <a:ext uri="{FF2B5EF4-FFF2-40B4-BE49-F238E27FC236}">
                <a16:creationId xmlns:a16="http://schemas.microsoft.com/office/drawing/2014/main" id="{3885B838-2022-4A1F-A84B-BB1127E2EE43}"/>
              </a:ext>
            </a:extLst>
          </p:cNvPr>
          <p:cNvSpPr/>
          <p:nvPr userDrawn="1">
            <p:custDataLst>
              <p:tags r:id="rId22"/>
            </p:custDataLst>
          </p:nvPr>
        </p:nvSpPr>
        <p:spPr>
          <a:xfrm>
            <a:off x="2892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2" name="Rectangle 11" hidden="1">
            <a:extLst>
              <a:ext uri="{FF2B5EF4-FFF2-40B4-BE49-F238E27FC236}">
                <a16:creationId xmlns:a16="http://schemas.microsoft.com/office/drawing/2014/main" id="{AC6417FB-6B96-4CAA-9A61-CE3C85379335}"/>
              </a:ext>
            </a:extLst>
          </p:cNvPr>
          <p:cNvSpPr/>
          <p:nvPr userDrawn="1">
            <p:custDataLst>
              <p:tags r:id="rId23"/>
            </p:custDataLst>
          </p:nvPr>
        </p:nvSpPr>
        <p:spPr>
          <a:xfrm>
            <a:off x="4812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3" name="Rectangle 12" hidden="1">
            <a:extLst>
              <a:ext uri="{FF2B5EF4-FFF2-40B4-BE49-F238E27FC236}">
                <a16:creationId xmlns:a16="http://schemas.microsoft.com/office/drawing/2014/main" id="{88F2338E-050E-4997-B5FD-16609E6B05AC}"/>
              </a:ext>
            </a:extLst>
          </p:cNvPr>
          <p:cNvSpPr/>
          <p:nvPr userDrawn="1">
            <p:custDataLst>
              <p:tags r:id="rId24"/>
            </p:custDataLst>
          </p:nvPr>
        </p:nvSpPr>
        <p:spPr>
          <a:xfrm>
            <a:off x="5136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4" name="Rectangle 13" hidden="1">
            <a:extLst>
              <a:ext uri="{FF2B5EF4-FFF2-40B4-BE49-F238E27FC236}">
                <a16:creationId xmlns:a16="http://schemas.microsoft.com/office/drawing/2014/main" id="{65330914-84C1-4EFF-8088-9FF9153B21A3}"/>
              </a:ext>
            </a:extLst>
          </p:cNvPr>
          <p:cNvSpPr/>
          <p:nvPr userDrawn="1">
            <p:custDataLst>
              <p:tags r:id="rId25"/>
            </p:custDataLst>
          </p:nvPr>
        </p:nvSpPr>
        <p:spPr>
          <a:xfrm>
            <a:off x="7056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5" name="Rectangle 14" hidden="1">
            <a:extLst>
              <a:ext uri="{FF2B5EF4-FFF2-40B4-BE49-F238E27FC236}">
                <a16:creationId xmlns:a16="http://schemas.microsoft.com/office/drawing/2014/main" id="{0D9F1F0C-68CC-4F13-A58D-7D5850D6BABB}"/>
              </a:ext>
            </a:extLst>
          </p:cNvPr>
          <p:cNvSpPr/>
          <p:nvPr userDrawn="1">
            <p:custDataLst>
              <p:tags r:id="rId26"/>
            </p:custDataLst>
          </p:nvPr>
        </p:nvSpPr>
        <p:spPr>
          <a:xfrm>
            <a:off x="7380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6" name="Rectangle 15" hidden="1">
            <a:extLst>
              <a:ext uri="{FF2B5EF4-FFF2-40B4-BE49-F238E27FC236}">
                <a16:creationId xmlns:a16="http://schemas.microsoft.com/office/drawing/2014/main" id="{FCD1A103-17AC-4A34-8A1D-92E20B67C019}"/>
              </a:ext>
            </a:extLst>
          </p:cNvPr>
          <p:cNvSpPr/>
          <p:nvPr userDrawn="1">
            <p:custDataLst>
              <p:tags r:id="rId27"/>
            </p:custDataLst>
          </p:nvPr>
        </p:nvSpPr>
        <p:spPr>
          <a:xfrm>
            <a:off x="9300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7" name="Rectangle 16" hidden="1">
            <a:extLst>
              <a:ext uri="{FF2B5EF4-FFF2-40B4-BE49-F238E27FC236}">
                <a16:creationId xmlns:a16="http://schemas.microsoft.com/office/drawing/2014/main" id="{6D17E478-3C99-48E5-91A4-253FD970A082}"/>
              </a:ext>
            </a:extLst>
          </p:cNvPr>
          <p:cNvSpPr/>
          <p:nvPr userDrawn="1">
            <p:custDataLst>
              <p:tags r:id="rId28"/>
            </p:custDataLst>
          </p:nvPr>
        </p:nvSpPr>
        <p:spPr>
          <a:xfrm>
            <a:off x="9624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8" name="Rectangle 17" hidden="1">
            <a:extLst>
              <a:ext uri="{FF2B5EF4-FFF2-40B4-BE49-F238E27FC236}">
                <a16:creationId xmlns:a16="http://schemas.microsoft.com/office/drawing/2014/main" id="{ACBDE3FC-87C8-4EA6-8040-812BA3745D76}"/>
              </a:ext>
            </a:extLst>
          </p:cNvPr>
          <p:cNvSpPr/>
          <p:nvPr userDrawn="1">
            <p:custDataLst>
              <p:tags r:id="rId29"/>
            </p:custDataLst>
          </p:nvPr>
        </p:nvSpPr>
        <p:spPr>
          <a:xfrm>
            <a:off x="11544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9" name="Rectangle 18" hidden="1">
            <a:extLst>
              <a:ext uri="{FF2B5EF4-FFF2-40B4-BE49-F238E27FC236}">
                <a16:creationId xmlns:a16="http://schemas.microsoft.com/office/drawing/2014/main" id="{994EE5B0-B3FC-43D9-8B31-B03CA4819265}"/>
              </a:ext>
            </a:extLst>
          </p:cNvPr>
          <p:cNvSpPr/>
          <p:nvPr userDrawn="1">
            <p:custDataLst>
              <p:tags r:id="rId30"/>
            </p:custDataLst>
          </p:nvPr>
        </p:nvSpPr>
        <p:spPr>
          <a:xfrm>
            <a:off x="324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0" name="Rectangle 19" hidden="1">
            <a:extLst>
              <a:ext uri="{FF2B5EF4-FFF2-40B4-BE49-F238E27FC236}">
                <a16:creationId xmlns:a16="http://schemas.microsoft.com/office/drawing/2014/main" id="{71B943CE-F983-40CB-852B-B348DA0EECF9}"/>
              </a:ext>
            </a:extLst>
          </p:cNvPr>
          <p:cNvSpPr/>
          <p:nvPr userDrawn="1">
            <p:custDataLst>
              <p:tags r:id="rId31"/>
            </p:custDataLst>
          </p:nvPr>
        </p:nvSpPr>
        <p:spPr>
          <a:xfrm>
            <a:off x="324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1" name="Rectangle 20" hidden="1">
            <a:extLst>
              <a:ext uri="{FF2B5EF4-FFF2-40B4-BE49-F238E27FC236}">
                <a16:creationId xmlns:a16="http://schemas.microsoft.com/office/drawing/2014/main" id="{195AE9FF-57B5-4B28-95BD-65EB616F8339}"/>
              </a:ext>
            </a:extLst>
          </p:cNvPr>
          <p:cNvSpPr/>
          <p:nvPr userDrawn="1">
            <p:custDataLst>
              <p:tags r:id="rId32"/>
            </p:custDataLst>
          </p:nvPr>
        </p:nvSpPr>
        <p:spPr>
          <a:xfrm>
            <a:off x="324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2" name="Rectangle 21" hidden="1">
            <a:extLst>
              <a:ext uri="{FF2B5EF4-FFF2-40B4-BE49-F238E27FC236}">
                <a16:creationId xmlns:a16="http://schemas.microsoft.com/office/drawing/2014/main" id="{09C4273C-D9B3-4E1C-BECF-E403BC0FED81}"/>
              </a:ext>
            </a:extLst>
          </p:cNvPr>
          <p:cNvSpPr/>
          <p:nvPr userDrawn="1">
            <p:custDataLst>
              <p:tags r:id="rId33"/>
            </p:custDataLst>
          </p:nvPr>
        </p:nvSpPr>
        <p:spPr>
          <a:xfrm>
            <a:off x="324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3" name="Rectangle 22" hidden="1">
            <a:extLst>
              <a:ext uri="{FF2B5EF4-FFF2-40B4-BE49-F238E27FC236}">
                <a16:creationId xmlns:a16="http://schemas.microsoft.com/office/drawing/2014/main" id="{D61A9C98-DFAC-4C93-9FC3-FA4B7268AFD4}"/>
              </a:ext>
            </a:extLst>
          </p:cNvPr>
          <p:cNvSpPr/>
          <p:nvPr userDrawn="1">
            <p:custDataLst>
              <p:tags r:id="rId34"/>
            </p:custDataLst>
          </p:nvPr>
        </p:nvSpPr>
        <p:spPr>
          <a:xfrm>
            <a:off x="648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4" name="Rectangle 23" hidden="1">
            <a:extLst>
              <a:ext uri="{FF2B5EF4-FFF2-40B4-BE49-F238E27FC236}">
                <a16:creationId xmlns:a16="http://schemas.microsoft.com/office/drawing/2014/main" id="{2738953D-847C-44BC-BB1D-3E35D57608D4}"/>
              </a:ext>
            </a:extLst>
          </p:cNvPr>
          <p:cNvSpPr/>
          <p:nvPr userDrawn="1">
            <p:custDataLst>
              <p:tags r:id="rId35"/>
            </p:custDataLst>
          </p:nvPr>
        </p:nvSpPr>
        <p:spPr>
          <a:xfrm>
            <a:off x="2568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5" name="Rectangle 24" hidden="1">
            <a:extLst>
              <a:ext uri="{FF2B5EF4-FFF2-40B4-BE49-F238E27FC236}">
                <a16:creationId xmlns:a16="http://schemas.microsoft.com/office/drawing/2014/main" id="{A85DD5C0-07B7-493F-ACD2-090488BDD5B6}"/>
              </a:ext>
            </a:extLst>
          </p:cNvPr>
          <p:cNvSpPr/>
          <p:nvPr userDrawn="1">
            <p:custDataLst>
              <p:tags r:id="rId36"/>
            </p:custDataLst>
          </p:nvPr>
        </p:nvSpPr>
        <p:spPr>
          <a:xfrm>
            <a:off x="648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37" name="Rectangle 36" hidden="1">
            <a:extLst>
              <a:ext uri="{FF2B5EF4-FFF2-40B4-BE49-F238E27FC236}">
                <a16:creationId xmlns:a16="http://schemas.microsoft.com/office/drawing/2014/main" id="{2D03EC4E-106A-492D-9392-E8DAE462F1BE}"/>
              </a:ext>
            </a:extLst>
          </p:cNvPr>
          <p:cNvSpPr/>
          <p:nvPr userDrawn="1">
            <p:custDataLst>
              <p:tags r:id="rId37"/>
            </p:custDataLst>
          </p:nvPr>
        </p:nvSpPr>
        <p:spPr>
          <a:xfrm>
            <a:off x="2568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5" name="Rectangle 44" hidden="1">
            <a:extLst>
              <a:ext uri="{FF2B5EF4-FFF2-40B4-BE49-F238E27FC236}">
                <a16:creationId xmlns:a16="http://schemas.microsoft.com/office/drawing/2014/main" id="{20022031-21E7-4D6F-92EB-D2DDACC3013D}"/>
              </a:ext>
            </a:extLst>
          </p:cNvPr>
          <p:cNvSpPr/>
          <p:nvPr userDrawn="1">
            <p:custDataLst>
              <p:tags r:id="rId38"/>
            </p:custDataLst>
          </p:nvPr>
        </p:nvSpPr>
        <p:spPr>
          <a:xfrm>
            <a:off x="648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6" name="Rectangle 45" hidden="1">
            <a:extLst>
              <a:ext uri="{FF2B5EF4-FFF2-40B4-BE49-F238E27FC236}">
                <a16:creationId xmlns:a16="http://schemas.microsoft.com/office/drawing/2014/main" id="{0D8C0033-6DD1-44FA-8D1E-C266A6CB5E58}"/>
              </a:ext>
            </a:extLst>
          </p:cNvPr>
          <p:cNvSpPr/>
          <p:nvPr userDrawn="1">
            <p:custDataLst>
              <p:tags r:id="rId39"/>
            </p:custDataLst>
          </p:nvPr>
        </p:nvSpPr>
        <p:spPr>
          <a:xfrm>
            <a:off x="2568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7" name="Rectangle 46" hidden="1">
            <a:extLst>
              <a:ext uri="{FF2B5EF4-FFF2-40B4-BE49-F238E27FC236}">
                <a16:creationId xmlns:a16="http://schemas.microsoft.com/office/drawing/2014/main" id="{5405C511-8E76-4F70-B418-D42EFC88B59C}"/>
              </a:ext>
            </a:extLst>
          </p:cNvPr>
          <p:cNvSpPr/>
          <p:nvPr userDrawn="1">
            <p:custDataLst>
              <p:tags r:id="rId40"/>
            </p:custDataLst>
          </p:nvPr>
        </p:nvSpPr>
        <p:spPr>
          <a:xfrm>
            <a:off x="648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8" name="Rectangle 47" hidden="1">
            <a:extLst>
              <a:ext uri="{FF2B5EF4-FFF2-40B4-BE49-F238E27FC236}">
                <a16:creationId xmlns:a16="http://schemas.microsoft.com/office/drawing/2014/main" id="{3A318B50-011A-4077-B856-5AA6365091AC}"/>
              </a:ext>
            </a:extLst>
          </p:cNvPr>
          <p:cNvSpPr/>
          <p:nvPr userDrawn="1">
            <p:custDataLst>
              <p:tags r:id="rId41"/>
            </p:custDataLst>
          </p:nvPr>
        </p:nvSpPr>
        <p:spPr>
          <a:xfrm>
            <a:off x="2568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9" name="Rectangle 48" hidden="1">
            <a:extLst>
              <a:ext uri="{FF2B5EF4-FFF2-40B4-BE49-F238E27FC236}">
                <a16:creationId xmlns:a16="http://schemas.microsoft.com/office/drawing/2014/main" id="{6A2BCA5B-FE07-43B1-A4B7-31BD6164A6E4}"/>
              </a:ext>
            </a:extLst>
          </p:cNvPr>
          <p:cNvSpPr/>
          <p:nvPr userDrawn="1">
            <p:custDataLst>
              <p:tags r:id="rId42"/>
            </p:custDataLst>
          </p:nvPr>
        </p:nvSpPr>
        <p:spPr>
          <a:xfrm>
            <a:off x="324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0" name="Rectangle 49" hidden="1">
            <a:extLst>
              <a:ext uri="{FF2B5EF4-FFF2-40B4-BE49-F238E27FC236}">
                <a16:creationId xmlns:a16="http://schemas.microsoft.com/office/drawing/2014/main" id="{5C40FFBD-7783-45AC-8A2B-097F0420F8BE}"/>
              </a:ext>
            </a:extLst>
          </p:cNvPr>
          <p:cNvSpPr/>
          <p:nvPr userDrawn="1">
            <p:custDataLst>
              <p:tags r:id="rId43"/>
            </p:custDataLst>
          </p:nvPr>
        </p:nvSpPr>
        <p:spPr>
          <a:xfrm>
            <a:off x="648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1" name="Rectangle 50" hidden="1">
            <a:extLst>
              <a:ext uri="{FF2B5EF4-FFF2-40B4-BE49-F238E27FC236}">
                <a16:creationId xmlns:a16="http://schemas.microsoft.com/office/drawing/2014/main" id="{4CEBE773-5EE2-48C7-957B-8390AB5ACC07}"/>
              </a:ext>
            </a:extLst>
          </p:cNvPr>
          <p:cNvSpPr/>
          <p:nvPr userDrawn="1">
            <p:custDataLst>
              <p:tags r:id="rId44"/>
            </p:custDataLst>
          </p:nvPr>
        </p:nvSpPr>
        <p:spPr>
          <a:xfrm>
            <a:off x="2568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2" name="Rectangle 51" hidden="1">
            <a:extLst>
              <a:ext uri="{FF2B5EF4-FFF2-40B4-BE49-F238E27FC236}">
                <a16:creationId xmlns:a16="http://schemas.microsoft.com/office/drawing/2014/main" id="{A88B1085-4452-48B2-ABE2-B39A1F2C8B5C}"/>
              </a:ext>
            </a:extLst>
          </p:cNvPr>
          <p:cNvSpPr/>
          <p:nvPr userDrawn="1">
            <p:custDataLst>
              <p:tags r:id="rId45"/>
            </p:custDataLst>
          </p:nvPr>
        </p:nvSpPr>
        <p:spPr>
          <a:xfrm>
            <a:off x="2892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3" name="Rectangle 52" hidden="1">
            <a:extLst>
              <a:ext uri="{FF2B5EF4-FFF2-40B4-BE49-F238E27FC236}">
                <a16:creationId xmlns:a16="http://schemas.microsoft.com/office/drawing/2014/main" id="{35677462-D07F-483C-9C29-E04937D96970}"/>
              </a:ext>
            </a:extLst>
          </p:cNvPr>
          <p:cNvSpPr/>
          <p:nvPr userDrawn="1">
            <p:custDataLst>
              <p:tags r:id="rId46"/>
            </p:custDataLst>
          </p:nvPr>
        </p:nvSpPr>
        <p:spPr>
          <a:xfrm>
            <a:off x="4812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4" name="Rectangle 53" hidden="1">
            <a:extLst>
              <a:ext uri="{FF2B5EF4-FFF2-40B4-BE49-F238E27FC236}">
                <a16:creationId xmlns:a16="http://schemas.microsoft.com/office/drawing/2014/main" id="{719982BD-DEFC-4091-A576-C424DBA3C4DD}"/>
              </a:ext>
            </a:extLst>
          </p:cNvPr>
          <p:cNvSpPr/>
          <p:nvPr userDrawn="1">
            <p:custDataLst>
              <p:tags r:id="rId47"/>
            </p:custDataLst>
          </p:nvPr>
        </p:nvSpPr>
        <p:spPr>
          <a:xfrm>
            <a:off x="5136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5" name="Rectangle 54" hidden="1">
            <a:extLst>
              <a:ext uri="{FF2B5EF4-FFF2-40B4-BE49-F238E27FC236}">
                <a16:creationId xmlns:a16="http://schemas.microsoft.com/office/drawing/2014/main" id="{09DABF0B-9E1E-4C4B-B44A-B858D0F51253}"/>
              </a:ext>
            </a:extLst>
          </p:cNvPr>
          <p:cNvSpPr/>
          <p:nvPr userDrawn="1">
            <p:custDataLst>
              <p:tags r:id="rId48"/>
            </p:custDataLst>
          </p:nvPr>
        </p:nvSpPr>
        <p:spPr>
          <a:xfrm>
            <a:off x="7056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6" name="Rectangle 55" hidden="1">
            <a:extLst>
              <a:ext uri="{FF2B5EF4-FFF2-40B4-BE49-F238E27FC236}">
                <a16:creationId xmlns:a16="http://schemas.microsoft.com/office/drawing/2014/main" id="{4C2D3A6A-66FD-4AEE-8C1E-B6E5EECF6AC4}"/>
              </a:ext>
            </a:extLst>
          </p:cNvPr>
          <p:cNvSpPr/>
          <p:nvPr userDrawn="1">
            <p:custDataLst>
              <p:tags r:id="rId49"/>
            </p:custDataLst>
          </p:nvPr>
        </p:nvSpPr>
        <p:spPr>
          <a:xfrm>
            <a:off x="7380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7" name="Rectangle 56" hidden="1">
            <a:extLst>
              <a:ext uri="{FF2B5EF4-FFF2-40B4-BE49-F238E27FC236}">
                <a16:creationId xmlns:a16="http://schemas.microsoft.com/office/drawing/2014/main" id="{2D1F338B-CF9E-4B33-946A-4DB709760AF6}"/>
              </a:ext>
            </a:extLst>
          </p:cNvPr>
          <p:cNvSpPr/>
          <p:nvPr userDrawn="1">
            <p:custDataLst>
              <p:tags r:id="rId50"/>
            </p:custDataLst>
          </p:nvPr>
        </p:nvSpPr>
        <p:spPr>
          <a:xfrm>
            <a:off x="9300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8" name="Rectangle 57" hidden="1">
            <a:extLst>
              <a:ext uri="{FF2B5EF4-FFF2-40B4-BE49-F238E27FC236}">
                <a16:creationId xmlns:a16="http://schemas.microsoft.com/office/drawing/2014/main" id="{C62DDC7A-A75D-47D1-8199-CF07F2BDFB07}"/>
              </a:ext>
            </a:extLst>
          </p:cNvPr>
          <p:cNvSpPr/>
          <p:nvPr userDrawn="1">
            <p:custDataLst>
              <p:tags r:id="rId51"/>
            </p:custDataLst>
          </p:nvPr>
        </p:nvSpPr>
        <p:spPr>
          <a:xfrm>
            <a:off x="9624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9" name="Rectangle 58" hidden="1">
            <a:extLst>
              <a:ext uri="{FF2B5EF4-FFF2-40B4-BE49-F238E27FC236}">
                <a16:creationId xmlns:a16="http://schemas.microsoft.com/office/drawing/2014/main" id="{58B5BE77-B2A7-4D7F-8E0B-C3E954ED65B5}"/>
              </a:ext>
            </a:extLst>
          </p:cNvPr>
          <p:cNvSpPr/>
          <p:nvPr userDrawn="1">
            <p:custDataLst>
              <p:tags r:id="rId52"/>
            </p:custDataLst>
          </p:nvPr>
        </p:nvSpPr>
        <p:spPr>
          <a:xfrm>
            <a:off x="11544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0" name="Rectangle 59" hidden="1">
            <a:extLst>
              <a:ext uri="{FF2B5EF4-FFF2-40B4-BE49-F238E27FC236}">
                <a16:creationId xmlns:a16="http://schemas.microsoft.com/office/drawing/2014/main" id="{FCFBBBC3-8FB6-4FAC-ADAD-D2D96E64A22C}"/>
              </a:ext>
            </a:extLst>
          </p:cNvPr>
          <p:cNvSpPr/>
          <p:nvPr userDrawn="1">
            <p:custDataLst>
              <p:tags r:id="rId53"/>
            </p:custDataLst>
          </p:nvPr>
        </p:nvSpPr>
        <p:spPr>
          <a:xfrm>
            <a:off x="2892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1" name="Rectangle 60" hidden="1">
            <a:extLst>
              <a:ext uri="{FF2B5EF4-FFF2-40B4-BE49-F238E27FC236}">
                <a16:creationId xmlns:a16="http://schemas.microsoft.com/office/drawing/2014/main" id="{2C5A7DD2-B5CE-413A-9B54-583BA9EBCDFF}"/>
              </a:ext>
            </a:extLst>
          </p:cNvPr>
          <p:cNvSpPr/>
          <p:nvPr userDrawn="1">
            <p:custDataLst>
              <p:tags r:id="rId54"/>
            </p:custDataLst>
          </p:nvPr>
        </p:nvSpPr>
        <p:spPr>
          <a:xfrm>
            <a:off x="4812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2" name="Rectangle 61" hidden="1">
            <a:extLst>
              <a:ext uri="{FF2B5EF4-FFF2-40B4-BE49-F238E27FC236}">
                <a16:creationId xmlns:a16="http://schemas.microsoft.com/office/drawing/2014/main" id="{D9461BA4-4B7F-4140-AC43-136B90730752}"/>
              </a:ext>
            </a:extLst>
          </p:cNvPr>
          <p:cNvSpPr/>
          <p:nvPr userDrawn="1">
            <p:custDataLst>
              <p:tags r:id="rId55"/>
            </p:custDataLst>
          </p:nvPr>
        </p:nvSpPr>
        <p:spPr>
          <a:xfrm>
            <a:off x="2892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3" name="Rectangle 62" hidden="1">
            <a:extLst>
              <a:ext uri="{FF2B5EF4-FFF2-40B4-BE49-F238E27FC236}">
                <a16:creationId xmlns:a16="http://schemas.microsoft.com/office/drawing/2014/main" id="{DEB946CF-96A1-4659-9385-72D850C9C025}"/>
              </a:ext>
            </a:extLst>
          </p:cNvPr>
          <p:cNvSpPr/>
          <p:nvPr userDrawn="1">
            <p:custDataLst>
              <p:tags r:id="rId56"/>
            </p:custDataLst>
          </p:nvPr>
        </p:nvSpPr>
        <p:spPr>
          <a:xfrm>
            <a:off x="4812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4" name="Rectangle 63" hidden="1">
            <a:extLst>
              <a:ext uri="{FF2B5EF4-FFF2-40B4-BE49-F238E27FC236}">
                <a16:creationId xmlns:a16="http://schemas.microsoft.com/office/drawing/2014/main" id="{742C5205-4F49-47AB-B503-BC7F63858642}"/>
              </a:ext>
            </a:extLst>
          </p:cNvPr>
          <p:cNvSpPr/>
          <p:nvPr userDrawn="1">
            <p:custDataLst>
              <p:tags r:id="rId57"/>
            </p:custDataLst>
          </p:nvPr>
        </p:nvSpPr>
        <p:spPr>
          <a:xfrm>
            <a:off x="2892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5" name="Rectangle 64" hidden="1">
            <a:extLst>
              <a:ext uri="{FF2B5EF4-FFF2-40B4-BE49-F238E27FC236}">
                <a16:creationId xmlns:a16="http://schemas.microsoft.com/office/drawing/2014/main" id="{5B2DC920-B604-43E9-ADC1-B26167353D44}"/>
              </a:ext>
            </a:extLst>
          </p:cNvPr>
          <p:cNvSpPr/>
          <p:nvPr userDrawn="1">
            <p:custDataLst>
              <p:tags r:id="rId58"/>
            </p:custDataLst>
          </p:nvPr>
        </p:nvSpPr>
        <p:spPr>
          <a:xfrm>
            <a:off x="4812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6" name="Rectangle 65" hidden="1">
            <a:extLst>
              <a:ext uri="{FF2B5EF4-FFF2-40B4-BE49-F238E27FC236}">
                <a16:creationId xmlns:a16="http://schemas.microsoft.com/office/drawing/2014/main" id="{419CE6B2-B4FC-4BBD-937B-2FAF2EC436EB}"/>
              </a:ext>
            </a:extLst>
          </p:cNvPr>
          <p:cNvSpPr/>
          <p:nvPr userDrawn="1">
            <p:custDataLst>
              <p:tags r:id="rId59"/>
            </p:custDataLst>
          </p:nvPr>
        </p:nvSpPr>
        <p:spPr>
          <a:xfrm>
            <a:off x="2892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7" name="Rectangle 66" hidden="1">
            <a:extLst>
              <a:ext uri="{FF2B5EF4-FFF2-40B4-BE49-F238E27FC236}">
                <a16:creationId xmlns:a16="http://schemas.microsoft.com/office/drawing/2014/main" id="{24F744BF-7A2A-44A1-99AF-BF4D80F50B40}"/>
              </a:ext>
            </a:extLst>
          </p:cNvPr>
          <p:cNvSpPr/>
          <p:nvPr userDrawn="1">
            <p:custDataLst>
              <p:tags r:id="rId60"/>
            </p:custDataLst>
          </p:nvPr>
        </p:nvSpPr>
        <p:spPr>
          <a:xfrm>
            <a:off x="4812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8" name="Rectangle 67" hidden="1">
            <a:extLst>
              <a:ext uri="{FF2B5EF4-FFF2-40B4-BE49-F238E27FC236}">
                <a16:creationId xmlns:a16="http://schemas.microsoft.com/office/drawing/2014/main" id="{4A561C12-BD2C-4ABE-9ACE-047842A9B253}"/>
              </a:ext>
            </a:extLst>
          </p:cNvPr>
          <p:cNvSpPr/>
          <p:nvPr userDrawn="1">
            <p:custDataLst>
              <p:tags r:id="rId61"/>
            </p:custDataLst>
          </p:nvPr>
        </p:nvSpPr>
        <p:spPr>
          <a:xfrm>
            <a:off x="5136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9" name="Rectangle 68" hidden="1">
            <a:extLst>
              <a:ext uri="{FF2B5EF4-FFF2-40B4-BE49-F238E27FC236}">
                <a16:creationId xmlns:a16="http://schemas.microsoft.com/office/drawing/2014/main" id="{1F79B3EE-7015-44C0-B98B-D7976E3CC6C0}"/>
              </a:ext>
            </a:extLst>
          </p:cNvPr>
          <p:cNvSpPr/>
          <p:nvPr userDrawn="1">
            <p:custDataLst>
              <p:tags r:id="rId62"/>
            </p:custDataLst>
          </p:nvPr>
        </p:nvSpPr>
        <p:spPr>
          <a:xfrm>
            <a:off x="7056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0" name="Rectangle 69" hidden="1">
            <a:extLst>
              <a:ext uri="{FF2B5EF4-FFF2-40B4-BE49-F238E27FC236}">
                <a16:creationId xmlns:a16="http://schemas.microsoft.com/office/drawing/2014/main" id="{55195DF3-05B5-49EC-8E2A-6D131BFB07E4}"/>
              </a:ext>
            </a:extLst>
          </p:cNvPr>
          <p:cNvSpPr/>
          <p:nvPr userDrawn="1">
            <p:custDataLst>
              <p:tags r:id="rId63"/>
            </p:custDataLst>
          </p:nvPr>
        </p:nvSpPr>
        <p:spPr>
          <a:xfrm>
            <a:off x="5136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1" name="Rectangle 70" hidden="1">
            <a:extLst>
              <a:ext uri="{FF2B5EF4-FFF2-40B4-BE49-F238E27FC236}">
                <a16:creationId xmlns:a16="http://schemas.microsoft.com/office/drawing/2014/main" id="{6C7ACCBF-3785-451F-8D26-06EB8169ED29}"/>
              </a:ext>
            </a:extLst>
          </p:cNvPr>
          <p:cNvSpPr/>
          <p:nvPr userDrawn="1">
            <p:custDataLst>
              <p:tags r:id="rId64"/>
            </p:custDataLst>
          </p:nvPr>
        </p:nvSpPr>
        <p:spPr>
          <a:xfrm>
            <a:off x="7056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2" name="Rectangle 71" hidden="1">
            <a:extLst>
              <a:ext uri="{FF2B5EF4-FFF2-40B4-BE49-F238E27FC236}">
                <a16:creationId xmlns:a16="http://schemas.microsoft.com/office/drawing/2014/main" id="{0DB1FB36-F0B8-4569-B24C-A7FE882E3A0D}"/>
              </a:ext>
            </a:extLst>
          </p:cNvPr>
          <p:cNvSpPr/>
          <p:nvPr userDrawn="1">
            <p:custDataLst>
              <p:tags r:id="rId65"/>
            </p:custDataLst>
          </p:nvPr>
        </p:nvSpPr>
        <p:spPr>
          <a:xfrm>
            <a:off x="5136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3" name="Rectangle 72" hidden="1">
            <a:extLst>
              <a:ext uri="{FF2B5EF4-FFF2-40B4-BE49-F238E27FC236}">
                <a16:creationId xmlns:a16="http://schemas.microsoft.com/office/drawing/2014/main" id="{A16BF7E9-5EB1-4763-B3B3-B9BDDFCE9368}"/>
              </a:ext>
            </a:extLst>
          </p:cNvPr>
          <p:cNvSpPr/>
          <p:nvPr userDrawn="1">
            <p:custDataLst>
              <p:tags r:id="rId66"/>
            </p:custDataLst>
          </p:nvPr>
        </p:nvSpPr>
        <p:spPr>
          <a:xfrm>
            <a:off x="7056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4" name="Rectangle 73" hidden="1">
            <a:extLst>
              <a:ext uri="{FF2B5EF4-FFF2-40B4-BE49-F238E27FC236}">
                <a16:creationId xmlns:a16="http://schemas.microsoft.com/office/drawing/2014/main" id="{B859330A-8EF0-4EC1-8579-E436CA633192}"/>
              </a:ext>
            </a:extLst>
          </p:cNvPr>
          <p:cNvSpPr/>
          <p:nvPr userDrawn="1">
            <p:custDataLst>
              <p:tags r:id="rId67"/>
            </p:custDataLst>
          </p:nvPr>
        </p:nvSpPr>
        <p:spPr>
          <a:xfrm>
            <a:off x="5136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5" name="Rectangle 74" hidden="1">
            <a:extLst>
              <a:ext uri="{FF2B5EF4-FFF2-40B4-BE49-F238E27FC236}">
                <a16:creationId xmlns:a16="http://schemas.microsoft.com/office/drawing/2014/main" id="{28ADAA1F-5B13-4CA7-92F6-B9BD284DD1E1}"/>
              </a:ext>
            </a:extLst>
          </p:cNvPr>
          <p:cNvSpPr/>
          <p:nvPr userDrawn="1">
            <p:custDataLst>
              <p:tags r:id="rId68"/>
            </p:custDataLst>
          </p:nvPr>
        </p:nvSpPr>
        <p:spPr>
          <a:xfrm>
            <a:off x="7056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6" name="Rectangle 75" hidden="1">
            <a:extLst>
              <a:ext uri="{FF2B5EF4-FFF2-40B4-BE49-F238E27FC236}">
                <a16:creationId xmlns:a16="http://schemas.microsoft.com/office/drawing/2014/main" id="{D063FCBC-0F82-4BF7-A4F3-63086372BCA1}"/>
              </a:ext>
            </a:extLst>
          </p:cNvPr>
          <p:cNvSpPr/>
          <p:nvPr userDrawn="1">
            <p:custDataLst>
              <p:tags r:id="rId69"/>
            </p:custDataLst>
          </p:nvPr>
        </p:nvSpPr>
        <p:spPr>
          <a:xfrm>
            <a:off x="7380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7" name="Rectangle 76" hidden="1">
            <a:extLst>
              <a:ext uri="{FF2B5EF4-FFF2-40B4-BE49-F238E27FC236}">
                <a16:creationId xmlns:a16="http://schemas.microsoft.com/office/drawing/2014/main" id="{CE645546-D2AC-47E6-9FEE-B872688AACBC}"/>
              </a:ext>
            </a:extLst>
          </p:cNvPr>
          <p:cNvSpPr/>
          <p:nvPr userDrawn="1">
            <p:custDataLst>
              <p:tags r:id="rId70"/>
            </p:custDataLst>
          </p:nvPr>
        </p:nvSpPr>
        <p:spPr>
          <a:xfrm>
            <a:off x="9300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8" name="Rectangle 77" hidden="1">
            <a:extLst>
              <a:ext uri="{FF2B5EF4-FFF2-40B4-BE49-F238E27FC236}">
                <a16:creationId xmlns:a16="http://schemas.microsoft.com/office/drawing/2014/main" id="{67D40869-4909-44AB-ADF7-F7E881C8F368}"/>
              </a:ext>
            </a:extLst>
          </p:cNvPr>
          <p:cNvSpPr/>
          <p:nvPr userDrawn="1">
            <p:custDataLst>
              <p:tags r:id="rId71"/>
            </p:custDataLst>
          </p:nvPr>
        </p:nvSpPr>
        <p:spPr>
          <a:xfrm>
            <a:off x="7380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9" name="Rectangle 78" hidden="1">
            <a:extLst>
              <a:ext uri="{FF2B5EF4-FFF2-40B4-BE49-F238E27FC236}">
                <a16:creationId xmlns:a16="http://schemas.microsoft.com/office/drawing/2014/main" id="{135A9F82-A30E-49D6-85D5-F27123AF0F10}"/>
              </a:ext>
            </a:extLst>
          </p:cNvPr>
          <p:cNvSpPr/>
          <p:nvPr userDrawn="1">
            <p:custDataLst>
              <p:tags r:id="rId72"/>
            </p:custDataLst>
          </p:nvPr>
        </p:nvSpPr>
        <p:spPr>
          <a:xfrm>
            <a:off x="9300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0" name="Rectangle 79" hidden="1">
            <a:extLst>
              <a:ext uri="{FF2B5EF4-FFF2-40B4-BE49-F238E27FC236}">
                <a16:creationId xmlns:a16="http://schemas.microsoft.com/office/drawing/2014/main" id="{95983F4E-3EE6-4BD7-AD35-C47ED01C5ED4}"/>
              </a:ext>
            </a:extLst>
          </p:cNvPr>
          <p:cNvSpPr/>
          <p:nvPr userDrawn="1">
            <p:custDataLst>
              <p:tags r:id="rId73"/>
            </p:custDataLst>
          </p:nvPr>
        </p:nvSpPr>
        <p:spPr>
          <a:xfrm>
            <a:off x="7380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1" name="Rectangle 80" hidden="1">
            <a:extLst>
              <a:ext uri="{FF2B5EF4-FFF2-40B4-BE49-F238E27FC236}">
                <a16:creationId xmlns:a16="http://schemas.microsoft.com/office/drawing/2014/main" id="{F717EFA4-0ED4-4A46-9AFD-0F0A6E65D253}"/>
              </a:ext>
            </a:extLst>
          </p:cNvPr>
          <p:cNvSpPr/>
          <p:nvPr userDrawn="1">
            <p:custDataLst>
              <p:tags r:id="rId74"/>
            </p:custDataLst>
          </p:nvPr>
        </p:nvSpPr>
        <p:spPr>
          <a:xfrm>
            <a:off x="9300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2" name="Rectangle 81" hidden="1">
            <a:extLst>
              <a:ext uri="{FF2B5EF4-FFF2-40B4-BE49-F238E27FC236}">
                <a16:creationId xmlns:a16="http://schemas.microsoft.com/office/drawing/2014/main" id="{6E85224F-39CC-4044-9201-BDF5309E2509}"/>
              </a:ext>
            </a:extLst>
          </p:cNvPr>
          <p:cNvSpPr/>
          <p:nvPr userDrawn="1">
            <p:custDataLst>
              <p:tags r:id="rId75"/>
            </p:custDataLst>
          </p:nvPr>
        </p:nvSpPr>
        <p:spPr>
          <a:xfrm>
            <a:off x="7380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3" name="Rectangle 82" hidden="1">
            <a:extLst>
              <a:ext uri="{FF2B5EF4-FFF2-40B4-BE49-F238E27FC236}">
                <a16:creationId xmlns:a16="http://schemas.microsoft.com/office/drawing/2014/main" id="{C5FFBE79-1CFF-48A7-9FA3-6763881AA963}"/>
              </a:ext>
            </a:extLst>
          </p:cNvPr>
          <p:cNvSpPr/>
          <p:nvPr userDrawn="1">
            <p:custDataLst>
              <p:tags r:id="rId76"/>
            </p:custDataLst>
          </p:nvPr>
        </p:nvSpPr>
        <p:spPr>
          <a:xfrm>
            <a:off x="9300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4" name="Rectangle 83" hidden="1">
            <a:extLst>
              <a:ext uri="{FF2B5EF4-FFF2-40B4-BE49-F238E27FC236}">
                <a16:creationId xmlns:a16="http://schemas.microsoft.com/office/drawing/2014/main" id="{C7039B6D-AC56-40A5-858D-599754E1E0AD}"/>
              </a:ext>
            </a:extLst>
          </p:cNvPr>
          <p:cNvSpPr/>
          <p:nvPr userDrawn="1">
            <p:custDataLst>
              <p:tags r:id="rId77"/>
            </p:custDataLst>
          </p:nvPr>
        </p:nvSpPr>
        <p:spPr>
          <a:xfrm>
            <a:off x="9624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5" name="Rectangle 84" hidden="1">
            <a:extLst>
              <a:ext uri="{FF2B5EF4-FFF2-40B4-BE49-F238E27FC236}">
                <a16:creationId xmlns:a16="http://schemas.microsoft.com/office/drawing/2014/main" id="{71018EC8-1FEE-415C-B1E0-DAFC251C6F4F}"/>
              </a:ext>
            </a:extLst>
          </p:cNvPr>
          <p:cNvSpPr/>
          <p:nvPr userDrawn="1">
            <p:custDataLst>
              <p:tags r:id="rId78"/>
            </p:custDataLst>
          </p:nvPr>
        </p:nvSpPr>
        <p:spPr>
          <a:xfrm>
            <a:off x="11544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6" name="Rectangle 85" hidden="1">
            <a:extLst>
              <a:ext uri="{FF2B5EF4-FFF2-40B4-BE49-F238E27FC236}">
                <a16:creationId xmlns:a16="http://schemas.microsoft.com/office/drawing/2014/main" id="{33D0B803-F928-4AB8-9FA8-7A2550C65926}"/>
              </a:ext>
            </a:extLst>
          </p:cNvPr>
          <p:cNvSpPr/>
          <p:nvPr userDrawn="1">
            <p:custDataLst>
              <p:tags r:id="rId79"/>
            </p:custDataLst>
          </p:nvPr>
        </p:nvSpPr>
        <p:spPr>
          <a:xfrm>
            <a:off x="9624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7" name="Rectangle 86" hidden="1">
            <a:extLst>
              <a:ext uri="{FF2B5EF4-FFF2-40B4-BE49-F238E27FC236}">
                <a16:creationId xmlns:a16="http://schemas.microsoft.com/office/drawing/2014/main" id="{A74BCB38-7D1D-4BB9-94CE-ADBDC5DAB010}"/>
              </a:ext>
            </a:extLst>
          </p:cNvPr>
          <p:cNvSpPr/>
          <p:nvPr userDrawn="1">
            <p:custDataLst>
              <p:tags r:id="rId80"/>
            </p:custDataLst>
          </p:nvPr>
        </p:nvSpPr>
        <p:spPr>
          <a:xfrm>
            <a:off x="11544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8" name="Rectangle 87" hidden="1">
            <a:extLst>
              <a:ext uri="{FF2B5EF4-FFF2-40B4-BE49-F238E27FC236}">
                <a16:creationId xmlns:a16="http://schemas.microsoft.com/office/drawing/2014/main" id="{6E6BC775-1DC0-42CB-BA95-EB6F78CFD0FE}"/>
              </a:ext>
            </a:extLst>
          </p:cNvPr>
          <p:cNvSpPr/>
          <p:nvPr userDrawn="1">
            <p:custDataLst>
              <p:tags r:id="rId81"/>
            </p:custDataLst>
          </p:nvPr>
        </p:nvSpPr>
        <p:spPr>
          <a:xfrm>
            <a:off x="9624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9" name="Rectangle 88" hidden="1">
            <a:extLst>
              <a:ext uri="{FF2B5EF4-FFF2-40B4-BE49-F238E27FC236}">
                <a16:creationId xmlns:a16="http://schemas.microsoft.com/office/drawing/2014/main" id="{95792BBB-2B34-4739-8C69-B66E64F8A279}"/>
              </a:ext>
            </a:extLst>
          </p:cNvPr>
          <p:cNvSpPr/>
          <p:nvPr userDrawn="1">
            <p:custDataLst>
              <p:tags r:id="rId82"/>
            </p:custDataLst>
          </p:nvPr>
        </p:nvSpPr>
        <p:spPr>
          <a:xfrm>
            <a:off x="11544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0" name="Rectangle 89" hidden="1">
            <a:extLst>
              <a:ext uri="{FF2B5EF4-FFF2-40B4-BE49-F238E27FC236}">
                <a16:creationId xmlns:a16="http://schemas.microsoft.com/office/drawing/2014/main" id="{E8FDD868-6922-48B4-976C-6F9677663DAF}"/>
              </a:ext>
            </a:extLst>
          </p:cNvPr>
          <p:cNvSpPr/>
          <p:nvPr userDrawn="1">
            <p:custDataLst>
              <p:tags r:id="rId83"/>
            </p:custDataLst>
          </p:nvPr>
        </p:nvSpPr>
        <p:spPr>
          <a:xfrm>
            <a:off x="9624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1" name="Rectangle 90" hidden="1">
            <a:extLst>
              <a:ext uri="{FF2B5EF4-FFF2-40B4-BE49-F238E27FC236}">
                <a16:creationId xmlns:a16="http://schemas.microsoft.com/office/drawing/2014/main" id="{E3A8AF86-B9FD-4654-82BA-248AF9D72F7C}"/>
              </a:ext>
            </a:extLst>
          </p:cNvPr>
          <p:cNvSpPr/>
          <p:nvPr userDrawn="1">
            <p:custDataLst>
              <p:tags r:id="rId84"/>
            </p:custDataLst>
          </p:nvPr>
        </p:nvSpPr>
        <p:spPr>
          <a:xfrm>
            <a:off x="11544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2" name="Rectangle 91" hidden="1">
            <a:extLst>
              <a:ext uri="{FF2B5EF4-FFF2-40B4-BE49-F238E27FC236}">
                <a16:creationId xmlns:a16="http://schemas.microsoft.com/office/drawing/2014/main" id="{F1579785-2978-4428-A96D-6D6718940F9D}"/>
              </a:ext>
            </a:extLst>
          </p:cNvPr>
          <p:cNvSpPr/>
          <p:nvPr userDrawn="1">
            <p:custDataLst>
              <p:tags r:id="rId85"/>
            </p:custDataLst>
          </p:nvPr>
        </p:nvSpPr>
        <p:spPr>
          <a:xfrm>
            <a:off x="324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3" name="Rectangle 92" hidden="1">
            <a:extLst>
              <a:ext uri="{FF2B5EF4-FFF2-40B4-BE49-F238E27FC236}">
                <a16:creationId xmlns:a16="http://schemas.microsoft.com/office/drawing/2014/main" id="{0584FA97-4AB6-4A5E-91FB-95E9E602EA26}"/>
              </a:ext>
            </a:extLst>
          </p:cNvPr>
          <p:cNvSpPr/>
          <p:nvPr userDrawn="1">
            <p:custDataLst>
              <p:tags r:id="rId86"/>
            </p:custDataLst>
          </p:nvPr>
        </p:nvSpPr>
        <p:spPr>
          <a:xfrm>
            <a:off x="2568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4" name="Rectangle 93" hidden="1">
            <a:extLst>
              <a:ext uri="{FF2B5EF4-FFF2-40B4-BE49-F238E27FC236}">
                <a16:creationId xmlns:a16="http://schemas.microsoft.com/office/drawing/2014/main" id="{A48EE25C-475F-4316-B6A2-011BEE3BCD92}"/>
              </a:ext>
            </a:extLst>
          </p:cNvPr>
          <p:cNvSpPr/>
          <p:nvPr userDrawn="1">
            <p:custDataLst>
              <p:tags r:id="rId87"/>
            </p:custDataLst>
          </p:nvPr>
        </p:nvSpPr>
        <p:spPr>
          <a:xfrm>
            <a:off x="4812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5" name="Rectangle 94" hidden="1">
            <a:extLst>
              <a:ext uri="{FF2B5EF4-FFF2-40B4-BE49-F238E27FC236}">
                <a16:creationId xmlns:a16="http://schemas.microsoft.com/office/drawing/2014/main" id="{7E857FE4-C9A3-45B7-B041-66EE09495EEC}"/>
              </a:ext>
            </a:extLst>
          </p:cNvPr>
          <p:cNvSpPr/>
          <p:nvPr userDrawn="1">
            <p:custDataLst>
              <p:tags r:id="rId88"/>
            </p:custDataLst>
          </p:nvPr>
        </p:nvSpPr>
        <p:spPr>
          <a:xfrm>
            <a:off x="7056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6" name="Rectangle 95" hidden="1">
            <a:extLst>
              <a:ext uri="{FF2B5EF4-FFF2-40B4-BE49-F238E27FC236}">
                <a16:creationId xmlns:a16="http://schemas.microsoft.com/office/drawing/2014/main" id="{9B5A1CBD-EB02-4B45-AF38-AAD0F53B4AD5}"/>
              </a:ext>
            </a:extLst>
          </p:cNvPr>
          <p:cNvSpPr/>
          <p:nvPr userDrawn="1">
            <p:custDataLst>
              <p:tags r:id="rId89"/>
            </p:custDataLst>
          </p:nvPr>
        </p:nvSpPr>
        <p:spPr>
          <a:xfrm>
            <a:off x="9300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7" name="Rectangle 96" hidden="1">
            <a:extLst>
              <a:ext uri="{FF2B5EF4-FFF2-40B4-BE49-F238E27FC236}">
                <a16:creationId xmlns:a16="http://schemas.microsoft.com/office/drawing/2014/main" id="{B80B4760-EF40-4F2E-9A91-131FFC1E37B4}"/>
              </a:ext>
            </a:extLst>
          </p:cNvPr>
          <p:cNvSpPr/>
          <p:nvPr userDrawn="1">
            <p:custDataLst>
              <p:tags r:id="rId90"/>
            </p:custDataLst>
          </p:nvPr>
        </p:nvSpPr>
        <p:spPr>
          <a:xfrm>
            <a:off x="11544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8" name="Rectangle 97" hidden="1">
            <a:extLst>
              <a:ext uri="{FF2B5EF4-FFF2-40B4-BE49-F238E27FC236}">
                <a16:creationId xmlns:a16="http://schemas.microsoft.com/office/drawing/2014/main" id="{8E8A7F77-3721-4815-B970-1D077CD2DA75}"/>
              </a:ext>
            </a:extLst>
          </p:cNvPr>
          <p:cNvSpPr/>
          <p:nvPr userDrawn="1">
            <p:custDataLst>
              <p:tags r:id="rId91"/>
            </p:custDataLst>
          </p:nvPr>
        </p:nvSpPr>
        <p:spPr>
          <a:xfrm>
            <a:off x="324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9" name="Rectangle 98" hidden="1">
            <a:extLst>
              <a:ext uri="{FF2B5EF4-FFF2-40B4-BE49-F238E27FC236}">
                <a16:creationId xmlns:a16="http://schemas.microsoft.com/office/drawing/2014/main" id="{55C42CA1-292D-4FB8-8399-74D1AD374EBE}"/>
              </a:ext>
            </a:extLst>
          </p:cNvPr>
          <p:cNvSpPr/>
          <p:nvPr userDrawn="1">
            <p:custDataLst>
              <p:tags r:id="rId92"/>
            </p:custDataLst>
          </p:nvPr>
        </p:nvSpPr>
        <p:spPr>
          <a:xfrm>
            <a:off x="2568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0" name="Rectangle 99" hidden="1">
            <a:extLst>
              <a:ext uri="{FF2B5EF4-FFF2-40B4-BE49-F238E27FC236}">
                <a16:creationId xmlns:a16="http://schemas.microsoft.com/office/drawing/2014/main" id="{76F4910F-0223-4A58-B2B3-CC1032CA6A96}"/>
              </a:ext>
            </a:extLst>
          </p:cNvPr>
          <p:cNvSpPr/>
          <p:nvPr userDrawn="1">
            <p:custDataLst>
              <p:tags r:id="rId93"/>
            </p:custDataLst>
          </p:nvPr>
        </p:nvSpPr>
        <p:spPr>
          <a:xfrm>
            <a:off x="4812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1" name="Rectangle 100" hidden="1">
            <a:extLst>
              <a:ext uri="{FF2B5EF4-FFF2-40B4-BE49-F238E27FC236}">
                <a16:creationId xmlns:a16="http://schemas.microsoft.com/office/drawing/2014/main" id="{309CA6FE-3AA4-4E04-82CE-33A9467E0E6A}"/>
              </a:ext>
            </a:extLst>
          </p:cNvPr>
          <p:cNvSpPr/>
          <p:nvPr userDrawn="1">
            <p:custDataLst>
              <p:tags r:id="rId94"/>
            </p:custDataLst>
          </p:nvPr>
        </p:nvSpPr>
        <p:spPr>
          <a:xfrm>
            <a:off x="7056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2" name="Rectangle 101" hidden="1">
            <a:extLst>
              <a:ext uri="{FF2B5EF4-FFF2-40B4-BE49-F238E27FC236}">
                <a16:creationId xmlns:a16="http://schemas.microsoft.com/office/drawing/2014/main" id="{D3FAE458-E122-4E17-A2BB-860390DB639B}"/>
              </a:ext>
            </a:extLst>
          </p:cNvPr>
          <p:cNvSpPr/>
          <p:nvPr userDrawn="1">
            <p:custDataLst>
              <p:tags r:id="rId95"/>
            </p:custDataLst>
          </p:nvPr>
        </p:nvSpPr>
        <p:spPr>
          <a:xfrm>
            <a:off x="9300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3" name="Rectangle 102" hidden="1">
            <a:extLst>
              <a:ext uri="{FF2B5EF4-FFF2-40B4-BE49-F238E27FC236}">
                <a16:creationId xmlns:a16="http://schemas.microsoft.com/office/drawing/2014/main" id="{09CCF6D6-3C14-49F1-9CCF-BB2BB02BA463}"/>
              </a:ext>
            </a:extLst>
          </p:cNvPr>
          <p:cNvSpPr/>
          <p:nvPr userDrawn="1">
            <p:custDataLst>
              <p:tags r:id="rId96"/>
            </p:custDataLst>
          </p:nvPr>
        </p:nvSpPr>
        <p:spPr>
          <a:xfrm>
            <a:off x="11544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4" name="Rectangle 103" hidden="1">
            <a:extLst>
              <a:ext uri="{FF2B5EF4-FFF2-40B4-BE49-F238E27FC236}">
                <a16:creationId xmlns:a16="http://schemas.microsoft.com/office/drawing/2014/main" id="{89199ED3-108C-4CB1-85A2-7274AF6D76B6}"/>
              </a:ext>
            </a:extLst>
          </p:cNvPr>
          <p:cNvSpPr/>
          <p:nvPr userDrawn="1">
            <p:custDataLst>
              <p:tags r:id="rId97"/>
            </p:custDataLst>
          </p:nvPr>
        </p:nvSpPr>
        <p:spPr>
          <a:xfrm>
            <a:off x="648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5" name="Rectangle 104" hidden="1">
            <a:extLst>
              <a:ext uri="{FF2B5EF4-FFF2-40B4-BE49-F238E27FC236}">
                <a16:creationId xmlns:a16="http://schemas.microsoft.com/office/drawing/2014/main" id="{F4889CBE-7887-46C6-99BA-4A154FF96016}"/>
              </a:ext>
            </a:extLst>
          </p:cNvPr>
          <p:cNvSpPr/>
          <p:nvPr userDrawn="1">
            <p:custDataLst>
              <p:tags r:id="rId98"/>
            </p:custDataLst>
          </p:nvPr>
        </p:nvSpPr>
        <p:spPr>
          <a:xfrm>
            <a:off x="2892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6" name="Rectangle 105" hidden="1">
            <a:extLst>
              <a:ext uri="{FF2B5EF4-FFF2-40B4-BE49-F238E27FC236}">
                <a16:creationId xmlns:a16="http://schemas.microsoft.com/office/drawing/2014/main" id="{2714EDDA-63CD-4C57-BF1D-55D84EF7DA1C}"/>
              </a:ext>
            </a:extLst>
          </p:cNvPr>
          <p:cNvSpPr/>
          <p:nvPr userDrawn="1">
            <p:custDataLst>
              <p:tags r:id="rId99"/>
            </p:custDataLst>
          </p:nvPr>
        </p:nvSpPr>
        <p:spPr>
          <a:xfrm>
            <a:off x="5136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7" name="Rectangle 106" hidden="1">
            <a:extLst>
              <a:ext uri="{FF2B5EF4-FFF2-40B4-BE49-F238E27FC236}">
                <a16:creationId xmlns:a16="http://schemas.microsoft.com/office/drawing/2014/main" id="{5A4A540B-AB24-4508-BDE2-193816CE6C2F}"/>
              </a:ext>
            </a:extLst>
          </p:cNvPr>
          <p:cNvSpPr/>
          <p:nvPr userDrawn="1">
            <p:custDataLst>
              <p:tags r:id="rId100"/>
            </p:custDataLst>
          </p:nvPr>
        </p:nvSpPr>
        <p:spPr>
          <a:xfrm>
            <a:off x="7380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8" name="Rectangle 107" hidden="1">
            <a:extLst>
              <a:ext uri="{FF2B5EF4-FFF2-40B4-BE49-F238E27FC236}">
                <a16:creationId xmlns:a16="http://schemas.microsoft.com/office/drawing/2014/main" id="{2E588317-42FC-4AFD-BF07-4EEAEA17B0FB}"/>
              </a:ext>
            </a:extLst>
          </p:cNvPr>
          <p:cNvSpPr/>
          <p:nvPr userDrawn="1">
            <p:custDataLst>
              <p:tags r:id="rId101"/>
            </p:custDataLst>
          </p:nvPr>
        </p:nvSpPr>
        <p:spPr>
          <a:xfrm>
            <a:off x="9624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9" name="Rectangle 108" hidden="1">
            <a:extLst>
              <a:ext uri="{FF2B5EF4-FFF2-40B4-BE49-F238E27FC236}">
                <a16:creationId xmlns:a16="http://schemas.microsoft.com/office/drawing/2014/main" id="{409B9FF3-D5DB-4C25-942C-75E24E0BD588}"/>
              </a:ext>
            </a:extLst>
          </p:cNvPr>
          <p:cNvSpPr/>
          <p:nvPr userDrawn="1">
            <p:custDataLst>
              <p:tags r:id="rId102"/>
            </p:custDataLst>
          </p:nvPr>
        </p:nvSpPr>
        <p:spPr>
          <a:xfrm>
            <a:off x="648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0" name="Rectangle 109" hidden="1">
            <a:extLst>
              <a:ext uri="{FF2B5EF4-FFF2-40B4-BE49-F238E27FC236}">
                <a16:creationId xmlns:a16="http://schemas.microsoft.com/office/drawing/2014/main" id="{B34EB183-B95A-4A10-93F6-B2E688291320}"/>
              </a:ext>
            </a:extLst>
          </p:cNvPr>
          <p:cNvSpPr/>
          <p:nvPr userDrawn="1">
            <p:custDataLst>
              <p:tags r:id="rId103"/>
            </p:custDataLst>
          </p:nvPr>
        </p:nvSpPr>
        <p:spPr>
          <a:xfrm>
            <a:off x="2892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1" name="Rectangle 110" hidden="1">
            <a:extLst>
              <a:ext uri="{FF2B5EF4-FFF2-40B4-BE49-F238E27FC236}">
                <a16:creationId xmlns:a16="http://schemas.microsoft.com/office/drawing/2014/main" id="{9445802B-D13B-4448-BCCA-EAC068866CD3}"/>
              </a:ext>
            </a:extLst>
          </p:cNvPr>
          <p:cNvSpPr/>
          <p:nvPr userDrawn="1">
            <p:custDataLst>
              <p:tags r:id="rId104"/>
            </p:custDataLst>
          </p:nvPr>
        </p:nvSpPr>
        <p:spPr>
          <a:xfrm>
            <a:off x="5136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2" name="Rectangle 111" hidden="1">
            <a:extLst>
              <a:ext uri="{FF2B5EF4-FFF2-40B4-BE49-F238E27FC236}">
                <a16:creationId xmlns:a16="http://schemas.microsoft.com/office/drawing/2014/main" id="{C10B3B33-18E6-4256-821F-887D5B33BF81}"/>
              </a:ext>
            </a:extLst>
          </p:cNvPr>
          <p:cNvSpPr/>
          <p:nvPr userDrawn="1">
            <p:custDataLst>
              <p:tags r:id="rId105"/>
            </p:custDataLst>
          </p:nvPr>
        </p:nvSpPr>
        <p:spPr>
          <a:xfrm>
            <a:off x="7380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3" name="Rectangle 112">
            <a:extLst>
              <a:ext uri="{FF2B5EF4-FFF2-40B4-BE49-F238E27FC236}">
                <a16:creationId xmlns:a16="http://schemas.microsoft.com/office/drawing/2014/main" id="{C76950B1-616E-4DAB-A1C9-C18FEC9C31D4}"/>
              </a:ext>
            </a:extLst>
          </p:cNvPr>
          <p:cNvSpPr/>
          <p:nvPr userDrawn="1">
            <p:custDataLst>
              <p:tags r:id="rId106"/>
            </p:custDataLst>
          </p:nvPr>
        </p:nvSpPr>
        <p:spPr>
          <a:xfrm>
            <a:off x="9624000" y="4077000"/>
            <a:ext cx="1920000" cy="2133000"/>
          </a:xfrm>
          <a:prstGeom prst="rect">
            <a:avLst/>
          </a:prstGeom>
          <a:noFill/>
          <a:ln w="317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Tree>
    <p:extLst>
      <p:ext uri="{BB962C8B-B14F-4D97-AF65-F5344CB8AC3E}">
        <p14:creationId xmlns:p14="http://schemas.microsoft.com/office/powerpoint/2010/main" val="1404894496"/>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Lst>
  <p:hf hdr="0"/>
  <p:txStyles>
    <p:titleStyle>
      <a:lvl1pPr algn="l" defTabSz="914400" rtl="0" eaLnBrk="1" latinLnBrk="0" hangingPunct="1">
        <a:lnSpc>
          <a:spcPct val="100000"/>
        </a:lnSpc>
        <a:spcBef>
          <a:spcPct val="0"/>
        </a:spcBef>
        <a:buNone/>
        <a:defRPr sz="3600" kern="1200">
          <a:solidFill>
            <a:schemeClr val="tx2"/>
          </a:solidFill>
          <a:latin typeface="+mj-lt"/>
          <a:ea typeface="+mj-ea"/>
          <a:cs typeface="+mj-cs"/>
        </a:defRPr>
      </a:lvl1pPr>
    </p:titleStyle>
    <p:bodyStyle>
      <a:lvl1pPr marL="27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1pPr>
      <a:lvl2pPr marL="54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2pPr>
      <a:lvl3pPr marL="81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3pPr>
      <a:lvl4pPr marL="0" indent="0" algn="l" defTabSz="914400" rtl="0" eaLnBrk="1" latinLnBrk="0" hangingPunct="1">
        <a:lnSpc>
          <a:spcPct val="100000"/>
        </a:lnSpc>
        <a:spcBef>
          <a:spcPts val="1200"/>
        </a:spcBef>
        <a:spcAft>
          <a:spcPts val="12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2000" kern="1200">
          <a:solidFill>
            <a:schemeClr val="tx2"/>
          </a:solidFill>
          <a:latin typeface="+mn-lt"/>
          <a:ea typeface="+mn-ea"/>
          <a:cs typeface="+mn-cs"/>
        </a:defRPr>
      </a:lvl5pPr>
      <a:lvl6pPr marL="0" indent="0" algn="l" defTabSz="914400" rtl="0" eaLnBrk="1" latinLnBrk="0" hangingPunct="1">
        <a:lnSpc>
          <a:spcPct val="100000"/>
        </a:lnSpc>
        <a:spcBef>
          <a:spcPts val="1200"/>
        </a:spcBef>
        <a:spcAft>
          <a:spcPts val="1200"/>
        </a:spcAft>
        <a:buFont typeface="Arial" panose="020B0604020202020204" pitchFamily="34" charset="0"/>
        <a:buChar char="​"/>
        <a:defRPr sz="1000" b="1" kern="1200">
          <a:solidFill>
            <a:schemeClr val="tx2"/>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0" kern="1200" baseline="0">
          <a:solidFill>
            <a:schemeClr val="tx2"/>
          </a:solidFill>
          <a:latin typeface="+mn-lt"/>
          <a:ea typeface="+mn-ea"/>
          <a:cs typeface="+mn-cs"/>
        </a:defRPr>
      </a:lvl7pPr>
      <a:lvl8pPr marL="180000" indent="-18000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2"/>
          </a:solidFill>
          <a:latin typeface="+mn-lt"/>
          <a:ea typeface="+mn-ea"/>
          <a:cs typeface="+mn-cs"/>
        </a:defRPr>
      </a:lvl8pPr>
      <a:lvl9pPr marL="0" indent="0" algn="l" defTabSz="914400" rtl="0" eaLnBrk="1" latinLnBrk="0" hangingPunct="1">
        <a:lnSpc>
          <a:spcPct val="100000"/>
        </a:lnSpc>
        <a:spcBef>
          <a:spcPts val="0"/>
        </a:spcBef>
        <a:spcAft>
          <a:spcPts val="1200"/>
        </a:spcAft>
        <a:buFont typeface="Arial" panose="020B0604020202020204" pitchFamily="34" charset="0"/>
        <a:buChar char="​"/>
        <a:defRPr sz="4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p15:clr>
            <a:srgbClr val="A4A3A4"/>
          </p15:clr>
        </p15:guide>
        <p15:guide id="2" pos="1617">
          <p15:clr>
            <a:srgbClr val="A4A3A4"/>
          </p15:clr>
        </p15:guide>
        <p15:guide id="5" pos="3031">
          <p15:clr>
            <a:srgbClr val="A4A3A4"/>
          </p15:clr>
        </p15:guide>
        <p15:guide id="6" pos="3235">
          <p15:clr>
            <a:srgbClr val="A4A3A4"/>
          </p15:clr>
        </p15:guide>
        <p15:guide id="7" orient="horz" pos="3911">
          <p15:clr>
            <a:srgbClr val="A4A3A4"/>
          </p15:clr>
        </p15:guide>
        <p15:guide id="8" orient="horz" pos="4115">
          <p15:clr>
            <a:srgbClr val="A4A3A4"/>
          </p15:clr>
        </p15:guide>
        <p15:guide id="9" pos="6063">
          <p15:clr>
            <a:srgbClr val="A4A3A4"/>
          </p15:clr>
        </p15:guide>
        <p15:guide id="10" pos="7272">
          <p15:clr>
            <a:srgbClr val="A4A3A4"/>
          </p15:clr>
        </p15:guide>
        <p15:guide id="12" pos="4444">
          <p15:clr>
            <a:srgbClr val="A4A3A4"/>
          </p15:clr>
        </p15:guide>
        <p15:guide id="13" pos="4648">
          <p15:clr>
            <a:srgbClr val="A4A3A4"/>
          </p15:clr>
        </p15:guide>
        <p15:guide id="14" orient="horz" pos="204">
          <p15:clr>
            <a:srgbClr val="A4A3A4"/>
          </p15:clr>
        </p15:guide>
        <p15:guide id="15" orient="horz" pos="408">
          <p15:clr>
            <a:srgbClr val="A4A3A4"/>
          </p15:clr>
        </p15:guide>
        <p15:guide id="16" pos="1821">
          <p15:clr>
            <a:srgbClr val="A4A3A4"/>
          </p15:clr>
        </p15:guide>
        <p15:guide id="18" pos="5859">
          <p15:clr>
            <a:srgbClr val="A4A3A4"/>
          </p15:clr>
        </p15:guide>
        <p15:guide id="20" pos="7476">
          <p15:clr>
            <a:srgbClr val="A4A3A4"/>
          </p15:clr>
        </p15:guide>
        <p15:guide id="21" pos="204">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5.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53.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5.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customXml" Target="../../customXml/item2.xml"/><Relationship Id="rId1" Type="http://schemas.openxmlformats.org/officeDocument/2006/relationships/customXml" Target="../../customXml/item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61320" y="320040"/>
            <a:ext cx="1078992" cy="886968"/>
          </a:xfrm>
          <a:prstGeom prst="rect">
            <a:avLst/>
          </a:prstGeom>
        </p:spPr>
      </p:pic>
      <p:pic>
        <p:nvPicPr>
          <p:cNvPr id="3" name="Image 1" descr="/tmp/claude-0/-home-claude/83ba285b-7ef1-5a4f-9afe-ea04c4b9d63d/scratchpad/assets/hero.jp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8640" y="1325880"/>
            <a:ext cx="6126480" cy="3351276"/>
          </a:xfrm>
          <a:prstGeom prst="rect">
            <a:avLst/>
          </a:prstGeom>
          <a:effectLst>
            <a:outerShdw blurRad="228600" dist="76200" dir="5400000" algn="bl" rotWithShape="0">
              <a:srgbClr val="000000">
                <a:alpha val="35000"/>
              </a:srgbClr>
            </a:outerShdw>
          </a:effectLst>
        </p:spPr>
      </p:pic>
      <p:sp>
        <p:nvSpPr>
          <p:cNvPr id="4" name="Shape 0"/>
          <p:cNvSpPr/>
          <p:nvPr/>
        </p:nvSpPr>
        <p:spPr>
          <a:xfrm>
            <a:off x="548640" y="4677156"/>
            <a:ext cx="6126480" cy="54864"/>
          </a:xfrm>
          <a:prstGeom prst="rect">
            <a:avLst/>
          </a:prstGeom>
          <a:solidFill>
            <a:srgbClr val="9CC4EE"/>
          </a:solidFill>
          <a:ln/>
        </p:spPr>
        <p:txBody>
          <a:bodyPr/>
          <a:lstStyle/>
          <a:p>
            <a:endParaRPr lang="he-IL"/>
          </a:p>
        </p:txBody>
      </p:sp>
      <p:sp>
        <p:nvSpPr>
          <p:cNvPr id="5" name="Text 1"/>
          <p:cNvSpPr txBox="1"/>
          <p:nvPr/>
        </p:nvSpPr>
        <p:spPr>
          <a:xfrm>
            <a:off x="7086600" y="1600200"/>
            <a:ext cx="4553712" cy="365760"/>
          </a:xfrm>
          <a:prstGeom prst="rect">
            <a:avLst/>
          </a:prstGeom>
          <a:noFill/>
          <a:ln/>
        </p:spPr>
        <p:txBody>
          <a:bodyPr wrap="square" lIns="0" tIns="0" rIns="0" bIns="0" rtlCol="0" anchor="t"/>
          <a:lstStyle/>
          <a:p>
            <a:pPr marL="0" indent="0" algn="r">
              <a:buNone/>
            </a:pPr>
            <a:r>
              <a:rPr lang="en-US" altLang="en-US" sz="1400" b="1" kern="0" spc="200" dirty="0">
                <a:solidFill>
                  <a:srgbClr val="9CC4EE"/>
                </a:solidFill>
                <a:latin typeface="Arial" pitchFamily="34" charset="0"/>
                <a:ea typeface="Arial" pitchFamily="34" charset="-122"/>
                <a:cs typeface="Arial" pitchFamily="34" charset="-120"/>
              </a:rPr>
              <a:t>TIFERET ELIAV • Diabetes &amp; AI</a:t>
            </a:r>
            <a:endParaRPr lang="en-US" sz="1400" dirty="0"/>
          </a:p>
        </p:txBody>
      </p:sp>
      <p:sp>
        <p:nvSpPr>
          <p:cNvPr id="6" name="Text 2"/>
          <p:cNvSpPr txBox="1"/>
          <p:nvPr/>
        </p:nvSpPr>
        <p:spPr>
          <a:xfrm>
            <a:off x="7086600" y="2011680"/>
            <a:ext cx="4553712" cy="2011680"/>
          </a:xfrm>
          <a:prstGeom prst="rect">
            <a:avLst/>
          </a:prstGeom>
          <a:noFill/>
          <a:ln/>
        </p:spPr>
        <p:txBody>
          <a:bodyPr wrap="square" lIns="0" tIns="0" rIns="0" bIns="0" rtlCol="0" anchor="t"/>
          <a:lstStyle/>
          <a:p>
            <a:pPr marL="0" indent="0" algn="r" rtl="1">
              <a:buNone/>
            </a:pPr>
            <a:r>
              <a:rPr lang="he-IL" altLang="en-US" sz="3000" b="1" dirty="0">
                <a:solidFill>
                  <a:srgbClr val="FFFFFF"/>
                </a:solidFill>
                <a:latin typeface="Arial" pitchFamily="34" charset="0"/>
                <a:ea typeface="Arial" pitchFamily="34" charset="-122"/>
                <a:cs typeface="Arial" pitchFamily="34" charset="-120"/>
              </a:rPr>
              <a:t>סימולציית טיפול ב-</a:t>
            </a:r>
            <a:r>
              <a:rPr lang="en-US" altLang="en-US" sz="3000" b="1" dirty="0">
                <a:solidFill>
                  <a:srgbClr val="FFFFFF"/>
                </a:solidFill>
                <a:latin typeface="Arial" pitchFamily="34" charset="0"/>
                <a:ea typeface="Arial" pitchFamily="34" charset="-122"/>
                <a:cs typeface="Arial" pitchFamily="34" charset="-120"/>
              </a:rPr>
              <a:t>GLP1RA</a:t>
            </a:r>
            <a:r>
              <a:rPr lang="he-IL" altLang="en-US" sz="3000" b="1" dirty="0">
                <a:solidFill>
                  <a:srgbClr val="FFFFFF"/>
                </a:solidFill>
                <a:latin typeface="Arial" pitchFamily="34" charset="0"/>
                <a:ea typeface="Arial" pitchFamily="34" charset="-122"/>
                <a:cs typeface="Arial" pitchFamily="34" charset="-120"/>
              </a:rPr>
              <a:t> במטופל הסובל מסוכרת והשמנה וסיבוכים נילווים</a:t>
            </a:r>
            <a:endParaRPr lang="he-IL" sz="3000" dirty="0"/>
          </a:p>
        </p:txBody>
      </p:sp>
      <p:sp>
        <p:nvSpPr>
          <p:cNvPr id="7" name="Text 3"/>
          <p:cNvSpPr txBox="1"/>
          <p:nvPr/>
        </p:nvSpPr>
        <p:spPr>
          <a:xfrm>
            <a:off x="7086600" y="4069080"/>
            <a:ext cx="4553712" cy="868680"/>
          </a:xfrm>
          <a:prstGeom prst="rect">
            <a:avLst/>
          </a:prstGeom>
          <a:noFill/>
          <a:ln/>
        </p:spPr>
        <p:txBody>
          <a:bodyPr wrap="square" lIns="0" tIns="0" rIns="0" bIns="0" rtlCol="0" anchor="t"/>
          <a:lstStyle/>
          <a:p>
            <a:pPr marL="0" indent="0" algn="r" rtl="1">
              <a:buNone/>
            </a:pPr>
            <a:r>
              <a:rPr lang="he-IL" altLang="en-US" sz="1500" dirty="0">
                <a:solidFill>
                  <a:srgbClr val="D6D0F0"/>
                </a:solidFill>
                <a:latin typeface="Arial" pitchFamily="34" charset="0"/>
                <a:ea typeface="Arial" pitchFamily="34" charset="-122"/>
                <a:cs typeface="Arial" pitchFamily="34" charset="-120"/>
              </a:rPr>
              <a:t>עזרו ליעקב (בן 67) שסובל מסוכרת, השמנה וריבוי סיבוכים למצוא את האיזון והדרך המתאימה להצלחה</a:t>
            </a:r>
            <a:endParaRPr lang="he-IL" sz="1500" dirty="0"/>
          </a:p>
        </p:txBody>
      </p:sp>
      <p:sp>
        <p:nvSpPr>
          <p:cNvPr id="8" name="Shape 4"/>
          <p:cNvSpPr/>
          <p:nvPr/>
        </p:nvSpPr>
        <p:spPr>
          <a:xfrm>
            <a:off x="9445752" y="5074920"/>
            <a:ext cx="2194560" cy="411480"/>
          </a:xfrm>
          <a:prstGeom prst="roundRect">
            <a:avLst>
              <a:gd name="adj" fmla="val 48889"/>
            </a:avLst>
          </a:prstGeom>
          <a:solidFill>
            <a:srgbClr val="3A3377"/>
          </a:solidFill>
          <a:ln/>
        </p:spPr>
        <p:txBody>
          <a:bodyPr/>
          <a:lstStyle/>
          <a:p>
            <a:endParaRPr lang="he-IL"/>
          </a:p>
        </p:txBody>
      </p:sp>
      <p:sp>
        <p:nvSpPr>
          <p:cNvPr id="9" name="Text 5"/>
          <p:cNvSpPr txBox="1"/>
          <p:nvPr/>
        </p:nvSpPr>
        <p:spPr>
          <a:xfrm>
            <a:off x="9445752" y="5074920"/>
            <a:ext cx="2194560" cy="411480"/>
          </a:xfrm>
          <a:prstGeom prst="rect">
            <a:avLst/>
          </a:prstGeom>
          <a:noFill/>
          <a:ln/>
        </p:spPr>
        <p:txBody>
          <a:bodyPr wrap="square" lIns="0" tIns="0" rIns="0" bIns="0" rtlCol="0" anchor="ctr"/>
          <a:lstStyle/>
          <a:p>
            <a:pPr marL="0" indent="0" algn="ctr" rtl="1">
              <a:buNone/>
            </a:pPr>
            <a:r>
              <a:rPr lang="he-IL" altLang="en-US" sz="1250" b="1" dirty="0">
                <a:solidFill>
                  <a:srgbClr val="9CC4EE"/>
                </a:solidFill>
                <a:latin typeface="Arial" pitchFamily="34" charset="0"/>
                <a:ea typeface="Arial" pitchFamily="34" charset="-122"/>
                <a:cs typeface="Arial" pitchFamily="34" charset="-120"/>
              </a:rPr>
              <a:t>סימולציה קלינית מתקדמת</a:t>
            </a:r>
            <a:endParaRPr lang="he-IL" sz="1250" dirty="0"/>
          </a:p>
        </p:txBody>
      </p:sp>
      <p:pic>
        <p:nvPicPr>
          <p:cNvPr id="13" name="Picture 12">
            <a:extLst>
              <a:ext uri="{FF2B5EF4-FFF2-40B4-BE49-F238E27FC236}">
                <a16:creationId xmlns:a16="http://schemas.microsoft.com/office/drawing/2014/main" id="{3C0FFAD3-6719-A478-D4F8-DA70AD85B8B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48640" y="5689753"/>
            <a:ext cx="2263571" cy="981627"/>
          </a:xfrm>
          <a:prstGeom prst="rect">
            <a:avLst/>
          </a:prstGeom>
        </p:spPr>
      </p:pic>
      <p:sp>
        <p:nvSpPr>
          <p:cNvPr id="15" name="TextBox 14">
            <a:extLst>
              <a:ext uri="{FF2B5EF4-FFF2-40B4-BE49-F238E27FC236}">
                <a16:creationId xmlns:a16="http://schemas.microsoft.com/office/drawing/2014/main" id="{398AEEB9-C411-88E8-AA7B-57D36590F2EB}"/>
              </a:ext>
            </a:extLst>
          </p:cNvPr>
          <p:cNvSpPr txBox="1"/>
          <p:nvPr/>
        </p:nvSpPr>
        <p:spPr>
          <a:xfrm>
            <a:off x="580558" y="1271818"/>
            <a:ext cx="6094562" cy="215444"/>
          </a:xfrm>
          <a:prstGeom prst="rect">
            <a:avLst/>
          </a:prstGeom>
          <a:noFill/>
        </p:spPr>
        <p:txBody>
          <a:bodyPr wrap="square">
            <a:spAutoFit/>
          </a:bodyPr>
          <a:lstStyle/>
          <a:p>
            <a:r>
              <a:rPr lang="da-DK" sz="800" dirty="0"/>
              <a:t>Image generated using AI</a:t>
            </a:r>
            <a:endParaRPr lang="he-IL"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פתיחה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מפגש קליני מורכב</a:t>
            </a:r>
            <a:endParaRPr lang="he-IL" sz="2600" dirty="0"/>
          </a:p>
        </p:txBody>
      </p:sp>
      <p:sp>
        <p:nvSpPr>
          <p:cNvPr id="5" name="Shape 3"/>
          <p:cNvSpPr/>
          <p:nvPr/>
        </p:nvSpPr>
        <p:spPr>
          <a:xfrm>
            <a:off x="6233008" y="1645920"/>
            <a:ext cx="5410048" cy="2377440"/>
          </a:xfrm>
          <a:prstGeom prst="roundRect">
            <a:avLst>
              <a:gd name="adj" fmla="val 461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8436499" y="1897380"/>
            <a:ext cx="1003065" cy="86868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738235" y="2131924"/>
            <a:ext cx="399593" cy="399593"/>
          </a:xfrm>
          <a:prstGeom prst="rect">
            <a:avLst/>
          </a:prstGeom>
        </p:spPr>
      </p:pic>
      <p:sp>
        <p:nvSpPr>
          <p:cNvPr id="8" name="Text 5"/>
          <p:cNvSpPr txBox="1"/>
          <p:nvPr/>
        </p:nvSpPr>
        <p:spPr>
          <a:xfrm>
            <a:off x="6415888" y="2907792"/>
            <a:ext cx="5044288"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המטופל</a:t>
            </a:r>
            <a:endParaRPr lang="he-IL" sz="1400" dirty="0"/>
          </a:p>
        </p:txBody>
      </p:sp>
      <p:sp>
        <p:nvSpPr>
          <p:cNvPr id="9" name="Text 6"/>
          <p:cNvSpPr txBox="1"/>
          <p:nvPr/>
        </p:nvSpPr>
        <p:spPr>
          <a:xfrm>
            <a:off x="6461608" y="3246120"/>
            <a:ext cx="4952848" cy="640080"/>
          </a:xfrm>
          <a:prstGeom prst="rect">
            <a:avLst/>
          </a:prstGeom>
          <a:noFill/>
          <a:ln/>
        </p:spPr>
        <p:txBody>
          <a:bodyPr wrap="square" lIns="0" tIns="0" rIns="0" bIns="0" rtlCol="0" anchor="ctr"/>
          <a:lstStyle/>
          <a:p>
            <a:pPr marL="0" indent="0" algn="ctr" rtl="1">
              <a:buNone/>
            </a:pPr>
            <a:r>
              <a:rPr lang="he-IL" altLang="en-US" sz="2200" b="1" dirty="0">
                <a:solidFill>
                  <a:srgbClr val="2B2560"/>
                </a:solidFill>
                <a:latin typeface="Arial" pitchFamily="34" charset="0"/>
                <a:ea typeface="Arial" pitchFamily="34" charset="-122"/>
                <a:cs typeface="Arial" pitchFamily="34" charset="-120"/>
              </a:rPr>
              <a:t>יעקב (בן 67) (BMI 36.1)</a:t>
            </a:r>
            <a:endParaRPr lang="he-IL" sz="2200" dirty="0"/>
          </a:p>
        </p:txBody>
      </p:sp>
      <p:sp>
        <p:nvSpPr>
          <p:cNvPr id="10" name="Shape 7"/>
          <p:cNvSpPr/>
          <p:nvPr/>
        </p:nvSpPr>
        <p:spPr>
          <a:xfrm>
            <a:off x="548640" y="1645920"/>
            <a:ext cx="5410048" cy="2377440"/>
          </a:xfrm>
          <a:prstGeom prst="roundRect">
            <a:avLst>
              <a:gd name="adj" fmla="val 461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2752131" y="1897380"/>
            <a:ext cx="1003065" cy="868680"/>
          </a:xfrm>
          <a:prstGeom prst="hexagon">
            <a:avLst/>
          </a:prstGeom>
          <a:solidFill>
            <a:srgbClr val="6E4494"/>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053867" y="2131924"/>
            <a:ext cx="399593" cy="399593"/>
          </a:xfrm>
          <a:prstGeom prst="rect">
            <a:avLst/>
          </a:prstGeom>
        </p:spPr>
      </p:pic>
      <p:sp>
        <p:nvSpPr>
          <p:cNvPr id="13" name="Text 9"/>
          <p:cNvSpPr txBox="1"/>
          <p:nvPr/>
        </p:nvSpPr>
        <p:spPr>
          <a:xfrm>
            <a:off x="731520" y="2907792"/>
            <a:ext cx="5044288"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רקע</a:t>
            </a:r>
            <a:endParaRPr lang="he-IL" sz="1400" dirty="0"/>
          </a:p>
        </p:txBody>
      </p:sp>
      <p:sp>
        <p:nvSpPr>
          <p:cNvPr id="14" name="Text 10"/>
          <p:cNvSpPr txBox="1"/>
          <p:nvPr/>
        </p:nvSpPr>
        <p:spPr>
          <a:xfrm>
            <a:off x="777240" y="3246120"/>
            <a:ext cx="4952848" cy="640080"/>
          </a:xfrm>
          <a:prstGeom prst="rect">
            <a:avLst/>
          </a:prstGeom>
          <a:noFill/>
          <a:ln/>
        </p:spPr>
        <p:txBody>
          <a:bodyPr wrap="square" lIns="0" tIns="0" rIns="0" bIns="0" rtlCol="0" anchor="ctr"/>
          <a:lstStyle/>
          <a:p>
            <a:pPr marL="0" indent="0" algn="ctr" rtl="1">
              <a:buNone/>
            </a:pPr>
            <a:r>
              <a:rPr lang="he-IL" altLang="en-US" sz="2200" b="1" dirty="0">
                <a:solidFill>
                  <a:srgbClr val="2B2560"/>
                </a:solidFill>
                <a:latin typeface="Arial" pitchFamily="34" charset="0"/>
                <a:ea typeface="Arial" pitchFamily="34" charset="-122"/>
                <a:cs typeface="Arial" pitchFamily="34" charset="-120"/>
              </a:rPr>
              <a:t>רקע CVA 2023 ו-IHD</a:t>
            </a:r>
            <a:endParaRPr lang="he-IL" sz="2200" dirty="0"/>
          </a:p>
        </p:txBody>
      </p:sp>
      <p:sp>
        <p:nvSpPr>
          <p:cNvPr id="15" name="Shape 11"/>
          <p:cNvSpPr/>
          <p:nvPr/>
        </p:nvSpPr>
        <p:spPr>
          <a:xfrm>
            <a:off x="548640" y="4343400"/>
            <a:ext cx="11094415" cy="1691640"/>
          </a:xfrm>
          <a:prstGeom prst="roundRect">
            <a:avLst>
              <a:gd name="adj" fmla="val 6486"/>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16" name="Shape 12"/>
          <p:cNvSpPr/>
          <p:nvPr/>
        </p:nvSpPr>
        <p:spPr>
          <a:xfrm rot="5400000">
            <a:off x="10554236" y="4800600"/>
            <a:ext cx="897479" cy="777240"/>
          </a:xfrm>
          <a:prstGeom prst="hexagon">
            <a:avLst/>
          </a:prstGeom>
          <a:solidFill>
            <a:srgbClr val="FFFFFF"/>
          </a:solidFill>
          <a:ln/>
        </p:spPr>
        <p:txBody>
          <a:bodyPr/>
          <a:lstStyle/>
          <a:p>
            <a:endParaRPr lang="he-IL"/>
          </a:p>
        </p:txBody>
      </p:sp>
      <p:pic>
        <p:nvPicPr>
          <p:cNvPr id="1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24210" y="5010455"/>
            <a:ext cx="357530" cy="357530"/>
          </a:xfrm>
          <a:prstGeom prst="rect">
            <a:avLst/>
          </a:prstGeom>
        </p:spPr>
      </p:pic>
      <p:sp>
        <p:nvSpPr>
          <p:cNvPr id="18" name="Text 13"/>
          <p:cNvSpPr txBox="1"/>
          <p:nvPr/>
        </p:nvSpPr>
        <p:spPr>
          <a:xfrm>
            <a:off x="868680" y="4434840"/>
            <a:ext cx="9402775" cy="1508760"/>
          </a:xfrm>
          <a:prstGeom prst="rect">
            <a:avLst/>
          </a:prstGeom>
          <a:noFill/>
          <a:ln/>
        </p:spPr>
        <p:txBody>
          <a:bodyPr wrap="square" lIns="0" tIns="0" rIns="0" bIns="0" rtlCol="0" anchor="ctr"/>
          <a:lstStyle/>
          <a:p>
            <a:pPr marL="0" indent="0" algn="r" rtl="1">
              <a:spcAft>
                <a:spcPts val="600"/>
              </a:spcAft>
              <a:buNone/>
            </a:pPr>
            <a:r>
              <a:rPr lang="he-IL" altLang="en-US" sz="1500" b="1" dirty="0">
                <a:solidFill>
                  <a:srgbClr val="9CC4EE"/>
                </a:solidFill>
                <a:latin typeface="Arial" pitchFamily="34" charset="0"/>
                <a:ea typeface="Arial" pitchFamily="34" charset="-122"/>
                <a:cs typeface="Arial" pitchFamily="34" charset="-120"/>
              </a:rPr>
              <a:t>ניהול הטיפול</a:t>
            </a:r>
            <a:endParaRPr lang="he-IL" sz="1400" dirty="0"/>
          </a:p>
          <a:p>
            <a:pPr marL="0" indent="0" algn="r" rtl="1">
              <a:spcAft>
                <a:spcPts val="600"/>
              </a:spcAft>
              <a:buNone/>
            </a:pPr>
            <a:r>
              <a:rPr lang="he-IL" altLang="en-US" sz="2000" b="1" dirty="0">
                <a:solidFill>
                  <a:srgbClr val="FFFFFF"/>
                </a:solidFill>
                <a:latin typeface="Arial" pitchFamily="34" charset="0"/>
                <a:ea typeface="Arial" pitchFamily="34" charset="-122"/>
                <a:cs typeface="Arial" pitchFamily="34" charset="-120"/>
              </a:rPr>
              <a:t>ניהול טיפול מתקדם, טיטרציית Wegovy</a:t>
            </a:r>
            <a:r>
              <a:rPr lang="en-US" altLang="en-US" sz="2000" b="1" dirty="0">
                <a:solidFill>
                  <a:srgbClr val="FFFFFF"/>
                </a:solidFill>
                <a:latin typeface="Arial" pitchFamily="34" charset="0"/>
                <a:ea typeface="Arial" pitchFamily="34" charset="-122"/>
                <a:cs typeface="Arial" pitchFamily="34" charset="-120"/>
              </a:rPr>
              <a:t> (Semaglutide 2.4mg) </a:t>
            </a:r>
            <a:r>
              <a:rPr lang="he-IL" altLang="en-US" sz="2000" b="1" dirty="0">
                <a:solidFill>
                  <a:srgbClr val="FFFFFF"/>
                </a:solidFill>
                <a:latin typeface="Arial" pitchFamily="34" charset="0"/>
                <a:ea typeface="Arial" pitchFamily="34" charset="-122"/>
                <a:cs typeface="Arial" pitchFamily="34" charset="-120"/>
              </a:rPr>
              <a:t>, התאמת מינוני אינסולין וניטור רציף ב-Libre 2</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סקירה כללית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המקרה במבט אחד</a:t>
            </a:r>
            <a:endParaRPr lang="he-IL" sz="2600" dirty="0"/>
          </a:p>
        </p:txBody>
      </p:sp>
      <p:sp>
        <p:nvSpPr>
          <p:cNvPr id="5" name="Shape 3"/>
          <p:cNvSpPr/>
          <p:nvPr/>
        </p:nvSpPr>
        <p:spPr>
          <a:xfrm>
            <a:off x="8127797"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304704" y="1874520"/>
            <a:ext cx="1161443" cy="100584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54083" y="2146097"/>
            <a:ext cx="462686" cy="462686"/>
          </a:xfrm>
          <a:prstGeom prst="rect">
            <a:avLst/>
          </a:prstGeom>
        </p:spPr>
      </p:pic>
      <p:sp>
        <p:nvSpPr>
          <p:cNvPr id="8" name="Text 5"/>
          <p:cNvSpPr txBox="1"/>
          <p:nvPr/>
        </p:nvSpPr>
        <p:spPr>
          <a:xfrm>
            <a:off x="8402117"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פרופיל מטופל מורכב</a:t>
            </a:r>
            <a:endParaRPr lang="he-IL" sz="2000" dirty="0"/>
          </a:p>
        </p:txBody>
      </p:sp>
      <p:sp>
        <p:nvSpPr>
          <p:cNvPr id="9" name="Text 6"/>
          <p:cNvSpPr txBox="1"/>
          <p:nvPr/>
        </p:nvSpPr>
        <p:spPr>
          <a:xfrm>
            <a:off x="8447837"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שילוב סוכרת, השמנה (BMI 36.1), רקע מוחי CVA, צנתור IHD, דום נשימה וכיב ברגל</a:t>
            </a:r>
            <a:endParaRPr lang="he-IL" sz="1700" dirty="0"/>
          </a:p>
        </p:txBody>
      </p:sp>
      <p:sp>
        <p:nvSpPr>
          <p:cNvPr id="10" name="Shape 7"/>
          <p:cNvSpPr/>
          <p:nvPr/>
        </p:nvSpPr>
        <p:spPr>
          <a:xfrm>
            <a:off x="8584997" y="5120640"/>
            <a:ext cx="2600858" cy="594360"/>
          </a:xfrm>
          <a:prstGeom prst="roundRect">
            <a:avLst>
              <a:gd name="adj" fmla="val 46154"/>
            </a:avLst>
          </a:prstGeom>
          <a:solidFill>
            <a:srgbClr val="F3F0FA"/>
          </a:solidFill>
          <a:ln/>
        </p:spPr>
        <p:txBody>
          <a:bodyPr/>
          <a:lstStyle/>
          <a:p>
            <a:endParaRPr lang="he-IL"/>
          </a:p>
        </p:txBody>
      </p:sp>
      <p:sp>
        <p:nvSpPr>
          <p:cNvPr id="11" name="Text 8"/>
          <p:cNvSpPr txBox="1"/>
          <p:nvPr/>
        </p:nvSpPr>
        <p:spPr>
          <a:xfrm>
            <a:off x="8584997"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4A90D0"/>
                </a:solidFill>
                <a:latin typeface="Arial" pitchFamily="34" charset="0"/>
                <a:ea typeface="Arial" pitchFamily="34" charset="-122"/>
                <a:cs typeface="Arial" pitchFamily="34" charset="-120"/>
              </a:rPr>
              <a:t>BMI 36.1</a:t>
            </a:r>
            <a:endParaRPr lang="en-US" sz="1800" dirty="0"/>
          </a:p>
        </p:txBody>
      </p:sp>
      <p:sp>
        <p:nvSpPr>
          <p:cNvPr id="12" name="Shape 9"/>
          <p:cNvSpPr/>
          <p:nvPr/>
        </p:nvSpPr>
        <p:spPr>
          <a:xfrm>
            <a:off x="4338218"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0"/>
          <p:cNvSpPr/>
          <p:nvPr/>
        </p:nvSpPr>
        <p:spPr>
          <a:xfrm rot="5400000">
            <a:off x="5515126" y="1874520"/>
            <a:ext cx="1161443" cy="1005840"/>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864504" y="2146097"/>
            <a:ext cx="462686" cy="462686"/>
          </a:xfrm>
          <a:prstGeom prst="rect">
            <a:avLst/>
          </a:prstGeom>
        </p:spPr>
      </p:pic>
      <p:sp>
        <p:nvSpPr>
          <p:cNvPr id="15" name="Text 11"/>
          <p:cNvSpPr txBox="1"/>
          <p:nvPr/>
        </p:nvSpPr>
        <p:spPr>
          <a:xfrm>
            <a:off x="4612538"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התאמת טיפול וטיטרציה</a:t>
            </a:r>
            <a:endParaRPr lang="he-IL" sz="2000" dirty="0"/>
          </a:p>
        </p:txBody>
      </p:sp>
      <p:sp>
        <p:nvSpPr>
          <p:cNvPr id="16" name="Text 12"/>
          <p:cNvSpPr txBox="1"/>
          <p:nvPr/>
        </p:nvSpPr>
        <p:spPr>
          <a:xfrm>
            <a:off x="4658258"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טיטרציית </a:t>
            </a:r>
            <a:r>
              <a:rPr lang="en-US" altLang="en-US" sz="1700" dirty="0">
                <a:solidFill>
                  <a:srgbClr val="2E2A47"/>
                </a:solidFill>
                <a:latin typeface="Arial" pitchFamily="34" charset="0"/>
                <a:ea typeface="Arial" pitchFamily="34" charset="-122"/>
                <a:cs typeface="Arial" pitchFamily="34" charset="-120"/>
              </a:rPr>
              <a:t> (Semaglutide) </a:t>
            </a:r>
            <a:r>
              <a:rPr lang="he-IL" altLang="en-US" sz="1700" dirty="0">
                <a:solidFill>
                  <a:srgbClr val="2E2A47"/>
                </a:solidFill>
                <a:latin typeface="Arial" pitchFamily="34" charset="0"/>
                <a:ea typeface="Arial" pitchFamily="34" charset="-122"/>
                <a:cs typeface="Arial" pitchFamily="34" charset="-120"/>
              </a:rPr>
              <a:t>Wegovy עד 2.4mg, הפחתת אינסולין בולוס מ-12 ל-8 יחידות לארוחה והורדת בזאלי מ-40 ל-36 יחידות</a:t>
            </a:r>
            <a:endParaRPr lang="he-IL" sz="1700" dirty="0"/>
          </a:p>
        </p:txBody>
      </p:sp>
      <p:sp>
        <p:nvSpPr>
          <p:cNvPr id="17" name="Shape 13"/>
          <p:cNvSpPr/>
          <p:nvPr/>
        </p:nvSpPr>
        <p:spPr>
          <a:xfrm>
            <a:off x="4795418" y="5120640"/>
            <a:ext cx="2600858" cy="594360"/>
          </a:xfrm>
          <a:prstGeom prst="roundRect">
            <a:avLst>
              <a:gd name="adj" fmla="val 46154"/>
            </a:avLst>
          </a:prstGeom>
          <a:solidFill>
            <a:srgbClr val="F3F0FA"/>
          </a:solidFill>
          <a:ln/>
        </p:spPr>
        <p:txBody>
          <a:bodyPr/>
          <a:lstStyle/>
          <a:p>
            <a:endParaRPr lang="he-IL"/>
          </a:p>
        </p:txBody>
      </p:sp>
      <p:sp>
        <p:nvSpPr>
          <p:cNvPr id="18" name="Text 14"/>
          <p:cNvSpPr txBox="1"/>
          <p:nvPr/>
        </p:nvSpPr>
        <p:spPr>
          <a:xfrm>
            <a:off x="4795418"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5B6BB5"/>
                </a:solidFill>
                <a:latin typeface="Arial" pitchFamily="34" charset="0"/>
                <a:ea typeface="Arial" pitchFamily="34" charset="-122"/>
                <a:cs typeface="Arial" pitchFamily="34" charset="-120"/>
              </a:rPr>
              <a:t>Wegovy 2.4mg</a:t>
            </a:r>
            <a:endParaRPr lang="en-US" sz="1800" dirty="0"/>
          </a:p>
        </p:txBody>
      </p:sp>
      <p:sp>
        <p:nvSpPr>
          <p:cNvPr id="19" name="Shape 15"/>
          <p:cNvSpPr/>
          <p:nvPr/>
        </p:nvSpPr>
        <p:spPr>
          <a:xfrm>
            <a:off x="548640"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6"/>
          <p:cNvSpPr/>
          <p:nvPr/>
        </p:nvSpPr>
        <p:spPr>
          <a:xfrm rot="5400000">
            <a:off x="1725547" y="1874520"/>
            <a:ext cx="1161443" cy="1005840"/>
          </a:xfrm>
          <a:prstGeom prst="hexagon">
            <a:avLst/>
          </a:prstGeom>
          <a:solidFill>
            <a:srgbClr val="6E4494"/>
          </a:solidFill>
          <a:ln/>
        </p:spPr>
        <p:txBody>
          <a:bodyPr/>
          <a:lstStyle/>
          <a:p>
            <a:endParaRPr lang="he-IL"/>
          </a:p>
        </p:txBody>
      </p:sp>
      <p:pic>
        <p:nvPicPr>
          <p:cNvPr id="21"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074926" y="2146097"/>
            <a:ext cx="462686" cy="462686"/>
          </a:xfrm>
          <a:prstGeom prst="rect">
            <a:avLst/>
          </a:prstGeom>
        </p:spPr>
      </p:pic>
      <p:sp>
        <p:nvSpPr>
          <p:cNvPr id="22" name="Text 17"/>
          <p:cNvSpPr txBox="1"/>
          <p:nvPr/>
        </p:nvSpPr>
        <p:spPr>
          <a:xfrm>
            <a:off x="822960"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הישגי חיישן Libre 2</a:t>
            </a:r>
            <a:endParaRPr lang="he-IL" sz="2000" dirty="0"/>
          </a:p>
        </p:txBody>
      </p:sp>
      <p:sp>
        <p:nvSpPr>
          <p:cNvPr id="23" name="Text 18"/>
          <p:cNvSpPr txBox="1"/>
          <p:nvPr/>
        </p:nvSpPr>
        <p:spPr>
          <a:xfrm>
            <a:off x="868680"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זינוק ב-TIR מ-30% ל-79%, סוכר ממוצע 116 mg/dL, GMI 6.1% וירידה של 11 ק"ג</a:t>
            </a:r>
            <a:endParaRPr lang="he-IL" sz="1700" dirty="0"/>
          </a:p>
        </p:txBody>
      </p:sp>
      <p:sp>
        <p:nvSpPr>
          <p:cNvPr id="24" name="Shape 19"/>
          <p:cNvSpPr/>
          <p:nvPr/>
        </p:nvSpPr>
        <p:spPr>
          <a:xfrm>
            <a:off x="1005840" y="5120640"/>
            <a:ext cx="2600858" cy="594360"/>
          </a:xfrm>
          <a:prstGeom prst="roundRect">
            <a:avLst>
              <a:gd name="adj" fmla="val 46154"/>
            </a:avLst>
          </a:prstGeom>
          <a:solidFill>
            <a:srgbClr val="F3F0FA"/>
          </a:solidFill>
          <a:ln/>
        </p:spPr>
        <p:txBody>
          <a:bodyPr/>
          <a:lstStyle/>
          <a:p>
            <a:endParaRPr lang="he-IL"/>
          </a:p>
        </p:txBody>
      </p:sp>
      <p:sp>
        <p:nvSpPr>
          <p:cNvPr id="25" name="Text 20"/>
          <p:cNvSpPr txBox="1"/>
          <p:nvPr/>
        </p:nvSpPr>
        <p:spPr>
          <a:xfrm>
            <a:off x="1005840"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6E4494"/>
                </a:solidFill>
                <a:latin typeface="Arial" pitchFamily="34" charset="0"/>
                <a:ea typeface="Arial" pitchFamily="34" charset="-122"/>
                <a:cs typeface="Arial" pitchFamily="34" charset="-120"/>
              </a:rPr>
              <a:t>TIR 79%</a:t>
            </a:r>
            <a:endParaRPr lang="en-US" sz="180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מבנה הלומדה ומסלול הטיפול במטופל</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מפת הדרך הקלינית</a:t>
            </a:r>
            <a:endParaRPr lang="he-IL" sz="2600" dirty="0"/>
          </a:p>
        </p:txBody>
      </p:sp>
      <p:sp>
        <p:nvSpPr>
          <p:cNvPr id="5" name="Shape 3"/>
          <p:cNvSpPr/>
          <p:nvPr/>
        </p:nvSpPr>
        <p:spPr>
          <a:xfrm>
            <a:off x="1577614" y="2057400"/>
            <a:ext cx="9036467" cy="0"/>
          </a:xfrm>
          <a:prstGeom prst="line">
            <a:avLst/>
          </a:prstGeom>
          <a:noFill/>
          <a:ln w="25400">
            <a:solidFill>
              <a:srgbClr val="C9C2E3"/>
            </a:solidFill>
            <a:prstDash val="dash"/>
          </a:ln>
        </p:spPr>
        <p:txBody>
          <a:bodyPr/>
          <a:lstStyle/>
          <a:p>
            <a:endParaRPr lang="he-IL"/>
          </a:p>
        </p:txBody>
      </p:sp>
      <p:sp>
        <p:nvSpPr>
          <p:cNvPr id="6" name="Shape 4"/>
          <p:cNvSpPr/>
          <p:nvPr/>
        </p:nvSpPr>
        <p:spPr>
          <a:xfrm>
            <a:off x="9585107" y="2514600"/>
            <a:ext cx="2057949" cy="3520440"/>
          </a:xfrm>
          <a:prstGeom prst="roundRect">
            <a:avLst>
              <a:gd name="adj" fmla="val 5332"/>
            </a:avLst>
          </a:prstGeom>
          <a:solidFill>
            <a:srgbClr val="F3F0FA"/>
          </a:solidFill>
          <a:ln/>
        </p:spPr>
        <p:txBody>
          <a:bodyPr/>
          <a:lstStyle/>
          <a:p>
            <a:endParaRPr lang="he-IL"/>
          </a:p>
        </p:txBody>
      </p:sp>
      <p:sp>
        <p:nvSpPr>
          <p:cNvPr id="7" name="Shape 5"/>
          <p:cNvSpPr/>
          <p:nvPr/>
        </p:nvSpPr>
        <p:spPr>
          <a:xfrm rot="5400000">
            <a:off x="10112548" y="1623060"/>
            <a:ext cx="1003065" cy="868680"/>
          </a:xfrm>
          <a:prstGeom prst="hexagon">
            <a:avLst/>
          </a:prstGeom>
          <a:solidFill>
            <a:srgbClr val="4A90D0"/>
          </a:solidFill>
          <a:ln/>
        </p:spPr>
        <p:txBody>
          <a:bodyPr/>
          <a:lstStyle/>
          <a:p>
            <a:endParaRPr lang="he-IL"/>
          </a:p>
        </p:txBody>
      </p:sp>
      <p:sp>
        <p:nvSpPr>
          <p:cNvPr id="8" name="Text 6"/>
          <p:cNvSpPr txBox="1"/>
          <p:nvPr/>
        </p:nvSpPr>
        <p:spPr>
          <a:xfrm>
            <a:off x="10179741"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txBox="1"/>
          <p:nvPr/>
        </p:nvSpPr>
        <p:spPr>
          <a:xfrm>
            <a:off x="9722267"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4A90D0"/>
                </a:solidFill>
                <a:latin typeface="Arial" pitchFamily="34" charset="0"/>
                <a:ea typeface="Arial" pitchFamily="34" charset="-122"/>
                <a:cs typeface="Arial" pitchFamily="34" charset="-120"/>
              </a:rPr>
              <a:t>שלב 1</a:t>
            </a:r>
            <a:endParaRPr lang="he-IL" sz="1300" dirty="0"/>
          </a:p>
        </p:txBody>
      </p:sp>
      <p:sp>
        <p:nvSpPr>
          <p:cNvPr id="10" name="Text 8"/>
          <p:cNvSpPr txBox="1"/>
          <p:nvPr/>
        </p:nvSpPr>
        <p:spPr>
          <a:xfrm>
            <a:off x="9722267"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ביקור ראשון (חלק א')</a:t>
            </a:r>
            <a:endParaRPr lang="he-IL" sz="1600" dirty="0"/>
          </a:p>
        </p:txBody>
      </p:sp>
      <p:sp>
        <p:nvSpPr>
          <p:cNvPr id="11" name="Text 9"/>
          <p:cNvSpPr txBox="1"/>
          <p:nvPr/>
        </p:nvSpPr>
        <p:spPr>
          <a:xfrm>
            <a:off x="9722267"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קבלת המטופל והערכה ראשונית: אנמנזה, תקשורת מקרבת, מחלות רקע, מעבדה ובדיקה גופנית</a:t>
            </a:r>
            <a:endParaRPr lang="he-IL" sz="1350" dirty="0"/>
          </a:p>
        </p:txBody>
      </p:sp>
      <p:sp>
        <p:nvSpPr>
          <p:cNvPr id="12" name="Shape 10"/>
          <p:cNvSpPr/>
          <p:nvPr/>
        </p:nvSpPr>
        <p:spPr>
          <a:xfrm>
            <a:off x="7325990" y="2514600"/>
            <a:ext cx="2057949" cy="3520440"/>
          </a:xfrm>
          <a:prstGeom prst="roundRect">
            <a:avLst>
              <a:gd name="adj" fmla="val 5332"/>
            </a:avLst>
          </a:prstGeom>
          <a:solidFill>
            <a:srgbClr val="F3F0FA"/>
          </a:solidFill>
          <a:ln/>
        </p:spPr>
        <p:txBody>
          <a:bodyPr/>
          <a:lstStyle/>
          <a:p>
            <a:endParaRPr lang="he-IL"/>
          </a:p>
        </p:txBody>
      </p:sp>
      <p:sp>
        <p:nvSpPr>
          <p:cNvPr id="13" name="Shape 11"/>
          <p:cNvSpPr/>
          <p:nvPr/>
        </p:nvSpPr>
        <p:spPr>
          <a:xfrm rot="5400000">
            <a:off x="7853432" y="1623060"/>
            <a:ext cx="1003065" cy="868680"/>
          </a:xfrm>
          <a:prstGeom prst="hexagon">
            <a:avLst/>
          </a:prstGeom>
          <a:solidFill>
            <a:srgbClr val="5280C8"/>
          </a:solidFill>
          <a:ln/>
        </p:spPr>
        <p:txBody>
          <a:bodyPr/>
          <a:lstStyle/>
          <a:p>
            <a:endParaRPr lang="he-IL"/>
          </a:p>
        </p:txBody>
      </p:sp>
      <p:sp>
        <p:nvSpPr>
          <p:cNvPr id="14" name="Text 12"/>
          <p:cNvSpPr txBox="1"/>
          <p:nvPr/>
        </p:nvSpPr>
        <p:spPr>
          <a:xfrm>
            <a:off x="7920624"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5" name="Text 13"/>
          <p:cNvSpPr txBox="1"/>
          <p:nvPr/>
        </p:nvSpPr>
        <p:spPr>
          <a:xfrm>
            <a:off x="7463150"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5280C8"/>
                </a:solidFill>
                <a:latin typeface="Arial" pitchFamily="34" charset="0"/>
                <a:ea typeface="Arial" pitchFamily="34" charset="-122"/>
                <a:cs typeface="Arial" pitchFamily="34" charset="-120"/>
              </a:rPr>
              <a:t>שלב 2</a:t>
            </a:r>
            <a:endParaRPr lang="he-IL" sz="1300" dirty="0"/>
          </a:p>
        </p:txBody>
      </p:sp>
      <p:sp>
        <p:nvSpPr>
          <p:cNvPr id="16" name="Text 14"/>
          <p:cNvSpPr txBox="1"/>
          <p:nvPr/>
        </p:nvSpPr>
        <p:spPr>
          <a:xfrm>
            <a:off x="7463150"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ביקור ראשון (חלק ב')</a:t>
            </a:r>
            <a:endParaRPr lang="he-IL" sz="1600" dirty="0"/>
          </a:p>
        </p:txBody>
      </p:sp>
      <p:sp>
        <p:nvSpPr>
          <p:cNvPr id="17" name="Text 15"/>
          <p:cNvSpPr txBox="1"/>
          <p:nvPr/>
        </p:nvSpPr>
        <p:spPr>
          <a:xfrm>
            <a:off x="7463150"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החלטה על אינסולין קצר טווח, פריקת Libre, בדיקת הזרקות, ראיות מחקריות (STEP, SELECT, שב"ן)</a:t>
            </a:r>
            <a:endParaRPr lang="he-IL" sz="1350" dirty="0"/>
          </a:p>
        </p:txBody>
      </p:sp>
      <p:sp>
        <p:nvSpPr>
          <p:cNvPr id="18" name="Shape 16"/>
          <p:cNvSpPr/>
          <p:nvPr/>
        </p:nvSpPr>
        <p:spPr>
          <a:xfrm>
            <a:off x="5066873" y="2514600"/>
            <a:ext cx="2057949" cy="3520440"/>
          </a:xfrm>
          <a:prstGeom prst="roundRect">
            <a:avLst>
              <a:gd name="adj" fmla="val 5332"/>
            </a:avLst>
          </a:prstGeom>
          <a:solidFill>
            <a:srgbClr val="F3F0FA"/>
          </a:solidFill>
          <a:ln/>
        </p:spPr>
        <p:txBody>
          <a:bodyPr/>
          <a:lstStyle/>
          <a:p>
            <a:endParaRPr lang="he-IL"/>
          </a:p>
        </p:txBody>
      </p:sp>
      <p:sp>
        <p:nvSpPr>
          <p:cNvPr id="19" name="Shape 17"/>
          <p:cNvSpPr/>
          <p:nvPr/>
        </p:nvSpPr>
        <p:spPr>
          <a:xfrm rot="5400000">
            <a:off x="5594315" y="1623060"/>
            <a:ext cx="1003065" cy="868680"/>
          </a:xfrm>
          <a:prstGeom prst="hexagon">
            <a:avLst/>
          </a:prstGeom>
          <a:solidFill>
            <a:srgbClr val="5B6BB5"/>
          </a:solidFill>
          <a:ln/>
        </p:spPr>
        <p:txBody>
          <a:bodyPr/>
          <a:lstStyle/>
          <a:p>
            <a:endParaRPr lang="he-IL"/>
          </a:p>
        </p:txBody>
      </p:sp>
      <p:sp>
        <p:nvSpPr>
          <p:cNvPr id="20" name="Text 18"/>
          <p:cNvSpPr txBox="1"/>
          <p:nvPr/>
        </p:nvSpPr>
        <p:spPr>
          <a:xfrm>
            <a:off x="5661508"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1" name="Text 19"/>
          <p:cNvSpPr txBox="1"/>
          <p:nvPr/>
        </p:nvSpPr>
        <p:spPr>
          <a:xfrm>
            <a:off x="5204033"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5B6BB5"/>
                </a:solidFill>
                <a:latin typeface="Arial" pitchFamily="34" charset="0"/>
                <a:ea typeface="Arial" pitchFamily="34" charset="-122"/>
                <a:cs typeface="Arial" pitchFamily="34" charset="-120"/>
              </a:rPr>
              <a:t>שלב 3</a:t>
            </a:r>
            <a:endParaRPr lang="he-IL" sz="1300" dirty="0"/>
          </a:p>
        </p:txBody>
      </p:sp>
      <p:sp>
        <p:nvSpPr>
          <p:cNvPr id="22" name="Text 20"/>
          <p:cNvSpPr txBox="1"/>
          <p:nvPr/>
        </p:nvSpPr>
        <p:spPr>
          <a:xfrm>
            <a:off x="5204033"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מעקב וויגובי (סמגלוטייד 2.4 מ"ג)</a:t>
            </a:r>
            <a:endParaRPr lang="he-IL" sz="1600" dirty="0"/>
          </a:p>
        </p:txBody>
      </p:sp>
      <p:sp>
        <p:nvSpPr>
          <p:cNvPr id="23" name="Text 21"/>
          <p:cNvSpPr txBox="1"/>
          <p:nvPr/>
        </p:nvSpPr>
        <p:spPr>
          <a:xfrm>
            <a:off x="5204033"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סולם מינוני Wegovy, הורדת בולוס מ-12 ל-8 יחידות, הורדת בזאלי מ-40 ל-36 ומניעת היפוגליקמיה</a:t>
            </a:r>
            <a:endParaRPr lang="he-IL" sz="1350" dirty="0"/>
          </a:p>
        </p:txBody>
      </p:sp>
      <p:sp>
        <p:nvSpPr>
          <p:cNvPr id="24" name="Shape 22"/>
          <p:cNvSpPr/>
          <p:nvPr/>
        </p:nvSpPr>
        <p:spPr>
          <a:xfrm>
            <a:off x="2807757" y="2514600"/>
            <a:ext cx="2057949" cy="3520440"/>
          </a:xfrm>
          <a:prstGeom prst="roundRect">
            <a:avLst>
              <a:gd name="adj" fmla="val 5332"/>
            </a:avLst>
          </a:prstGeom>
          <a:solidFill>
            <a:srgbClr val="F3F0FA"/>
          </a:solidFill>
          <a:ln/>
        </p:spPr>
        <p:txBody>
          <a:bodyPr/>
          <a:lstStyle/>
          <a:p>
            <a:endParaRPr lang="he-IL"/>
          </a:p>
        </p:txBody>
      </p:sp>
      <p:sp>
        <p:nvSpPr>
          <p:cNvPr id="25" name="Shape 23"/>
          <p:cNvSpPr/>
          <p:nvPr/>
        </p:nvSpPr>
        <p:spPr>
          <a:xfrm rot="5400000">
            <a:off x="3335199" y="1623060"/>
            <a:ext cx="1003065" cy="868680"/>
          </a:xfrm>
          <a:prstGeom prst="hexagon">
            <a:avLst/>
          </a:prstGeom>
          <a:solidFill>
            <a:srgbClr val="6658A6"/>
          </a:solidFill>
          <a:ln/>
        </p:spPr>
        <p:txBody>
          <a:bodyPr/>
          <a:lstStyle/>
          <a:p>
            <a:endParaRPr lang="he-IL"/>
          </a:p>
        </p:txBody>
      </p:sp>
      <p:sp>
        <p:nvSpPr>
          <p:cNvPr id="26" name="Text 24"/>
          <p:cNvSpPr txBox="1"/>
          <p:nvPr/>
        </p:nvSpPr>
        <p:spPr>
          <a:xfrm>
            <a:off x="3402391"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5"/>
          <p:cNvSpPr txBox="1"/>
          <p:nvPr/>
        </p:nvSpPr>
        <p:spPr>
          <a:xfrm>
            <a:off x="2944917"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6658A6"/>
                </a:solidFill>
                <a:latin typeface="Arial" pitchFamily="34" charset="0"/>
                <a:ea typeface="Arial" pitchFamily="34" charset="-122"/>
                <a:cs typeface="Arial" pitchFamily="34" charset="-120"/>
              </a:rPr>
              <a:t>שלב 4</a:t>
            </a:r>
            <a:endParaRPr lang="he-IL" sz="1300" dirty="0"/>
          </a:p>
        </p:txBody>
      </p:sp>
      <p:sp>
        <p:nvSpPr>
          <p:cNvPr id="28" name="Text 26"/>
          <p:cNvSpPr txBox="1"/>
          <p:nvPr/>
        </p:nvSpPr>
        <p:spPr>
          <a:xfrm>
            <a:off x="2944917"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מעקב ספטמבר 2026</a:t>
            </a:r>
            <a:endParaRPr lang="he-IL" sz="1600" dirty="0"/>
          </a:p>
        </p:txBody>
      </p:sp>
      <p:sp>
        <p:nvSpPr>
          <p:cNvPr id="29" name="Text 27"/>
          <p:cNvSpPr txBox="1"/>
          <p:nvPr/>
        </p:nvSpPr>
        <p:spPr>
          <a:xfrm>
            <a:off x="2944917"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ניתוח מדדי חיישן Libre 2 / AGP: זינוק ב-TIR מ-30% ל-79%, סוכר ממוצע 116 mg/dL, GMI 6.1% וניתוח פרופיל יממתי מלא</a:t>
            </a:r>
            <a:endParaRPr lang="he-IL" sz="1350" dirty="0"/>
          </a:p>
        </p:txBody>
      </p:sp>
      <p:sp>
        <p:nvSpPr>
          <p:cNvPr id="30" name="Shape 28"/>
          <p:cNvSpPr/>
          <p:nvPr/>
        </p:nvSpPr>
        <p:spPr>
          <a:xfrm>
            <a:off x="548640" y="2514600"/>
            <a:ext cx="2057949" cy="3520440"/>
          </a:xfrm>
          <a:prstGeom prst="roundRect">
            <a:avLst>
              <a:gd name="adj" fmla="val 5332"/>
            </a:avLst>
          </a:prstGeom>
          <a:solidFill>
            <a:srgbClr val="F3F0FA"/>
          </a:solidFill>
          <a:ln/>
        </p:spPr>
        <p:txBody>
          <a:bodyPr/>
          <a:lstStyle/>
          <a:p>
            <a:endParaRPr lang="he-IL"/>
          </a:p>
        </p:txBody>
      </p:sp>
      <p:sp>
        <p:nvSpPr>
          <p:cNvPr id="31" name="Shape 29"/>
          <p:cNvSpPr/>
          <p:nvPr/>
        </p:nvSpPr>
        <p:spPr>
          <a:xfrm rot="5400000">
            <a:off x="1076082" y="1623060"/>
            <a:ext cx="1003065" cy="868680"/>
          </a:xfrm>
          <a:prstGeom prst="hexagon">
            <a:avLst/>
          </a:prstGeom>
          <a:solidFill>
            <a:srgbClr val="6E4494"/>
          </a:solidFill>
          <a:ln/>
        </p:spPr>
        <p:txBody>
          <a:bodyPr/>
          <a:lstStyle/>
          <a:p>
            <a:endParaRPr lang="he-IL"/>
          </a:p>
        </p:txBody>
      </p:sp>
      <p:sp>
        <p:nvSpPr>
          <p:cNvPr id="32" name="Text 30"/>
          <p:cNvSpPr txBox="1"/>
          <p:nvPr/>
        </p:nvSpPr>
        <p:spPr>
          <a:xfrm>
            <a:off x="1143274"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33" name="Text 31"/>
          <p:cNvSpPr txBox="1"/>
          <p:nvPr/>
        </p:nvSpPr>
        <p:spPr>
          <a:xfrm>
            <a:off x="685800"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6E4494"/>
                </a:solidFill>
                <a:latin typeface="Arial" pitchFamily="34" charset="0"/>
                <a:ea typeface="Arial" pitchFamily="34" charset="-122"/>
                <a:cs typeface="Arial" pitchFamily="34" charset="-120"/>
              </a:rPr>
              <a:t>שלב 5</a:t>
            </a:r>
            <a:endParaRPr lang="he-IL" sz="1300" dirty="0"/>
          </a:p>
        </p:txBody>
      </p:sp>
      <p:sp>
        <p:nvSpPr>
          <p:cNvPr id="34" name="Text 32"/>
          <p:cNvSpPr txBox="1"/>
          <p:nvPr/>
        </p:nvSpPr>
        <p:spPr>
          <a:xfrm>
            <a:off x="685800"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סיכום מקרה</a:t>
            </a:r>
            <a:endParaRPr lang="he-IL" sz="1600" dirty="0"/>
          </a:p>
        </p:txBody>
      </p:sp>
      <p:sp>
        <p:nvSpPr>
          <p:cNvPr id="35" name="Text 33"/>
          <p:cNvSpPr txBox="1"/>
          <p:nvPr/>
        </p:nvSpPr>
        <p:spPr>
          <a:xfrm>
            <a:off x="685800"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הטבה במשקל, בשינה ובפצע כף הרגל, הפחתת סיכון טרשתי ועקרונות לפרקטיקה</a:t>
            </a:r>
            <a:endParaRPr lang="he-IL" sz="135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01</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1  |  ביקור ראשון (חלק א') • ינואר 2026</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קבלת המטופל והערכה ראשונית</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מפגש ראשון במרפאה - אבחנה דיפרנציאלית והערכת בסיס</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קבלת המטופל – תיאור המטופל ורקע משפחתי</a:t>
            </a:r>
            <a:endParaRPr lang="he-IL" sz="2600" dirty="0"/>
          </a:p>
        </p:txBody>
      </p:sp>
      <p:pic>
        <p:nvPicPr>
          <p:cNvPr id="5" name="Image 0" descr="/tmp/claude-0/-home-claude/83ba285b-7ef1-5a4f-9afe-ea04c4b9d63d/scratchpad/src/ppt/media/image-3-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600200"/>
            <a:ext cx="5486400" cy="365760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5440680"/>
            <a:ext cx="5486400" cy="640080"/>
          </a:xfrm>
          <a:prstGeom prst="roundRect">
            <a:avLst>
              <a:gd name="adj" fmla="val 17143"/>
            </a:avLst>
          </a:prstGeom>
          <a:solidFill>
            <a:srgbClr val="ECF4FC"/>
          </a:solidFill>
          <a:ln/>
        </p:spPr>
        <p:txBody>
          <a:bodyPr/>
          <a:lstStyle/>
          <a:p>
            <a:endParaRPr lang="he-IL"/>
          </a:p>
        </p:txBody>
      </p:sp>
      <p:sp>
        <p:nvSpPr>
          <p:cNvPr id="7" name="Text 4"/>
          <p:cNvSpPr txBox="1"/>
          <p:nvPr/>
        </p:nvSpPr>
        <p:spPr>
          <a:xfrm>
            <a:off x="731520" y="5440680"/>
            <a:ext cx="5120640" cy="640080"/>
          </a:xfrm>
          <a:prstGeom prst="rect">
            <a:avLst/>
          </a:prstGeom>
          <a:noFill/>
          <a:ln/>
        </p:spPr>
        <p:txBody>
          <a:bodyPr wrap="square" lIns="0" tIns="0" rIns="0" bIns="0" rtlCol="0" anchor="ctr"/>
          <a:lstStyle/>
          <a:p>
            <a:pPr marL="0" indent="0" algn="ctr" rtl="1">
              <a:buNone/>
            </a:pPr>
            <a:r>
              <a:rPr lang="he-IL" altLang="en-US" sz="1500" b="1" dirty="0">
                <a:solidFill>
                  <a:srgbClr val="6B6785"/>
                </a:solidFill>
                <a:latin typeface="Arial" pitchFamily="34" charset="0"/>
                <a:ea typeface="Arial" pitchFamily="34" charset="-122"/>
                <a:cs typeface="Arial" pitchFamily="34" charset="-120"/>
              </a:rPr>
              <a:t>סטטוס קליני:  </a:t>
            </a:r>
            <a:r>
              <a:rPr lang="he-IL" altLang="en-US" sz="1800" b="1" dirty="0">
                <a:solidFill>
                  <a:srgbClr val="4A90D0"/>
                </a:solidFill>
                <a:latin typeface="Arial" pitchFamily="34" charset="0"/>
                <a:ea typeface="Arial" pitchFamily="34" charset="-122"/>
                <a:cs typeface="Arial" pitchFamily="34" charset="-120"/>
              </a:rPr>
              <a:t>סוכרת והשמנה</a:t>
            </a:r>
            <a:endParaRPr lang="he-IL" sz="1500" dirty="0"/>
          </a:p>
        </p:txBody>
      </p:sp>
      <p:sp>
        <p:nvSpPr>
          <p:cNvPr id="8" name="Text 5"/>
          <p:cNvSpPr txBox="1"/>
          <p:nvPr/>
        </p:nvSpPr>
        <p:spPr>
          <a:xfrm>
            <a:off x="6400800" y="1463040"/>
            <a:ext cx="5239512" cy="411480"/>
          </a:xfrm>
          <a:prstGeom prst="rect">
            <a:avLst/>
          </a:prstGeom>
          <a:noFill/>
          <a:ln/>
        </p:spPr>
        <p:txBody>
          <a:bodyPr wrap="square" lIns="0" tIns="0" rIns="0" bIns="0" rtlCol="0" anchor="t"/>
          <a:lstStyle/>
          <a:p>
            <a:pPr marL="0" indent="0" algn="r" rtl="1">
              <a:buNone/>
            </a:pPr>
            <a:r>
              <a:rPr lang="he-IL" altLang="en-US" sz="1900" b="1" dirty="0">
                <a:solidFill>
                  <a:srgbClr val="6E4494"/>
                </a:solidFill>
                <a:latin typeface="Arial" pitchFamily="34" charset="0"/>
                <a:ea typeface="Arial" pitchFamily="34" charset="-122"/>
                <a:cs typeface="Arial" pitchFamily="34" charset="-120"/>
              </a:rPr>
              <a:t>תיאור המטופל והרקע המשפחתי:</a:t>
            </a:r>
            <a:endParaRPr lang="he-IL" sz="1900" dirty="0"/>
          </a:p>
        </p:txBody>
      </p:sp>
      <p:sp>
        <p:nvSpPr>
          <p:cNvPr id="9" name="Shape 6"/>
          <p:cNvSpPr/>
          <p:nvPr/>
        </p:nvSpPr>
        <p:spPr>
          <a:xfrm>
            <a:off x="6400800" y="196596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0" name="Shape 7"/>
          <p:cNvSpPr/>
          <p:nvPr/>
        </p:nvSpPr>
        <p:spPr>
          <a:xfrm rot="5400000">
            <a:off x="11002479" y="2080260"/>
            <a:ext cx="580722" cy="502920"/>
          </a:xfrm>
          <a:prstGeom prst="hexagon">
            <a:avLst/>
          </a:prstGeom>
          <a:solidFill>
            <a:srgbClr val="4A90D0"/>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77168" y="2216048"/>
            <a:ext cx="231343" cy="231343"/>
          </a:xfrm>
          <a:prstGeom prst="rect">
            <a:avLst/>
          </a:prstGeom>
        </p:spPr>
      </p:pic>
      <p:sp>
        <p:nvSpPr>
          <p:cNvPr id="12" name="Text 8"/>
          <p:cNvSpPr txBox="1"/>
          <p:nvPr/>
        </p:nvSpPr>
        <p:spPr>
          <a:xfrm>
            <a:off x="6583680" y="203911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שם וגיל:</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יעקב, בן 67</a:t>
            </a:r>
            <a:endParaRPr lang="he-IL" sz="1400" dirty="0"/>
          </a:p>
        </p:txBody>
      </p:sp>
      <p:sp>
        <p:nvSpPr>
          <p:cNvPr id="13" name="Shape 9"/>
          <p:cNvSpPr/>
          <p:nvPr/>
        </p:nvSpPr>
        <p:spPr>
          <a:xfrm>
            <a:off x="6400800" y="278892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4" name="Shape 10"/>
          <p:cNvSpPr/>
          <p:nvPr/>
        </p:nvSpPr>
        <p:spPr>
          <a:xfrm rot="5400000">
            <a:off x="11002479" y="2903220"/>
            <a:ext cx="580722" cy="502920"/>
          </a:xfrm>
          <a:prstGeom prst="hexagon">
            <a:avLst/>
          </a:prstGeom>
          <a:solidFill>
            <a:srgbClr val="5280C8"/>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77168" y="3039008"/>
            <a:ext cx="231343" cy="231343"/>
          </a:xfrm>
          <a:prstGeom prst="rect">
            <a:avLst/>
          </a:prstGeom>
        </p:spPr>
      </p:pic>
      <p:sp>
        <p:nvSpPr>
          <p:cNvPr id="16" name="Text 11"/>
          <p:cNvSpPr txBox="1"/>
          <p:nvPr/>
        </p:nvSpPr>
        <p:spPr>
          <a:xfrm>
            <a:off x="6583680" y="286207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מצב משפחתי:</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נשוי + 8 ילדים</a:t>
            </a:r>
            <a:endParaRPr lang="he-IL" sz="1400" dirty="0"/>
          </a:p>
        </p:txBody>
      </p:sp>
      <p:sp>
        <p:nvSpPr>
          <p:cNvPr id="17" name="Shape 12"/>
          <p:cNvSpPr/>
          <p:nvPr/>
        </p:nvSpPr>
        <p:spPr>
          <a:xfrm>
            <a:off x="6400800" y="361188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8" name="Shape 13"/>
          <p:cNvSpPr/>
          <p:nvPr/>
        </p:nvSpPr>
        <p:spPr>
          <a:xfrm rot="5400000">
            <a:off x="11002479" y="3726180"/>
            <a:ext cx="580722" cy="502920"/>
          </a:xfrm>
          <a:prstGeom prst="hexagon">
            <a:avLst/>
          </a:prstGeom>
          <a:solidFill>
            <a:srgbClr val="5B6BB5"/>
          </a:solidFill>
          <a:ln/>
        </p:spPr>
        <p:txBody>
          <a:bodyPr/>
          <a:lstStyle/>
          <a:p>
            <a:endParaRPr lang="he-IL"/>
          </a:p>
        </p:txBody>
      </p:sp>
      <p:pic>
        <p:nvPicPr>
          <p:cNvPr id="19"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177168" y="3861968"/>
            <a:ext cx="231343" cy="231343"/>
          </a:xfrm>
          <a:prstGeom prst="rect">
            <a:avLst/>
          </a:prstGeom>
        </p:spPr>
      </p:pic>
      <p:sp>
        <p:nvSpPr>
          <p:cNvPr id="20" name="Text 14"/>
          <p:cNvSpPr txBox="1"/>
          <p:nvPr/>
        </p:nvSpPr>
        <p:spPr>
          <a:xfrm>
            <a:off x="6583680" y="368503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תעסוקה ורקע:</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עובד בישיבה</a:t>
            </a:r>
            <a:endParaRPr lang="he-IL" sz="1400" dirty="0"/>
          </a:p>
        </p:txBody>
      </p:sp>
      <p:sp>
        <p:nvSpPr>
          <p:cNvPr id="21" name="Shape 15"/>
          <p:cNvSpPr/>
          <p:nvPr/>
        </p:nvSpPr>
        <p:spPr>
          <a:xfrm>
            <a:off x="6400800" y="443484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22" name="Shape 16"/>
          <p:cNvSpPr/>
          <p:nvPr/>
        </p:nvSpPr>
        <p:spPr>
          <a:xfrm rot="5400000">
            <a:off x="11002479" y="4549140"/>
            <a:ext cx="580722" cy="502920"/>
          </a:xfrm>
          <a:prstGeom prst="hexagon">
            <a:avLst/>
          </a:prstGeom>
          <a:solidFill>
            <a:srgbClr val="6658A6"/>
          </a:solidFill>
          <a:ln/>
        </p:spPr>
        <p:txBody>
          <a:bodyPr/>
          <a:lstStyle/>
          <a:p>
            <a:endParaRPr lang="he-IL"/>
          </a:p>
        </p:txBody>
      </p:sp>
      <p:pic>
        <p:nvPicPr>
          <p:cNvPr id="23"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177168" y="4684928"/>
            <a:ext cx="231343" cy="231343"/>
          </a:xfrm>
          <a:prstGeom prst="rect">
            <a:avLst/>
          </a:prstGeom>
        </p:spPr>
      </p:pic>
      <p:sp>
        <p:nvSpPr>
          <p:cNvPr id="24" name="Text 17"/>
          <p:cNvSpPr txBox="1"/>
          <p:nvPr/>
        </p:nvSpPr>
        <p:spPr>
          <a:xfrm>
            <a:off x="6583680" y="450799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היסטוריית סוכרת:</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סוכרת מאובחנת משנת 2011 (כ-15 שנים)</a:t>
            </a:r>
            <a:endParaRPr lang="he-IL" sz="1400" dirty="0"/>
          </a:p>
        </p:txBody>
      </p:sp>
      <p:sp>
        <p:nvSpPr>
          <p:cNvPr id="25" name="Shape 18"/>
          <p:cNvSpPr/>
          <p:nvPr/>
        </p:nvSpPr>
        <p:spPr>
          <a:xfrm>
            <a:off x="6400800" y="525780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26" name="Shape 19"/>
          <p:cNvSpPr/>
          <p:nvPr/>
        </p:nvSpPr>
        <p:spPr>
          <a:xfrm rot="5400000">
            <a:off x="11002479" y="5372100"/>
            <a:ext cx="580722" cy="502920"/>
          </a:xfrm>
          <a:prstGeom prst="hexagon">
            <a:avLst/>
          </a:prstGeom>
          <a:solidFill>
            <a:srgbClr val="6E4494"/>
          </a:solidFill>
          <a:ln/>
        </p:spPr>
        <p:txBody>
          <a:bodyPr/>
          <a:lstStyle/>
          <a:p>
            <a:endParaRPr lang="he-IL"/>
          </a:p>
        </p:txBody>
      </p:sp>
      <p:pic>
        <p:nvPicPr>
          <p:cNvPr id="27"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1177168" y="5507888"/>
            <a:ext cx="231343" cy="231343"/>
          </a:xfrm>
          <a:prstGeom prst="rect">
            <a:avLst/>
          </a:prstGeom>
        </p:spPr>
      </p:pic>
      <p:sp>
        <p:nvSpPr>
          <p:cNvPr id="28" name="Text 20"/>
          <p:cNvSpPr txBox="1"/>
          <p:nvPr/>
        </p:nvSpPr>
        <p:spPr>
          <a:xfrm>
            <a:off x="6583680" y="533095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סיפור משפחתי:</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סוכרת ידועה במשפחה</a:t>
            </a:r>
            <a:endParaRPr lang="he-IL" sz="14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6</a:t>
            </a:fld>
            <a:endParaRPr lang="en-US"/>
          </a:p>
        </p:txBody>
      </p:sp>
      <p:sp>
        <p:nvSpPr>
          <p:cNvPr id="31" name="TextBox 30">
            <a:extLst>
              <a:ext uri="{FF2B5EF4-FFF2-40B4-BE49-F238E27FC236}">
                <a16:creationId xmlns:a16="http://schemas.microsoft.com/office/drawing/2014/main" id="{164F8ADF-A15A-3E24-16D4-FDE77E70BF9D}"/>
              </a:ext>
            </a:extLst>
          </p:cNvPr>
          <p:cNvSpPr txBox="1"/>
          <p:nvPr/>
        </p:nvSpPr>
        <p:spPr>
          <a:xfrm>
            <a:off x="548640" y="1599640"/>
            <a:ext cx="6094562" cy="215444"/>
          </a:xfrm>
          <a:prstGeom prst="rect">
            <a:avLst/>
          </a:prstGeom>
          <a:noFill/>
        </p:spPr>
        <p:txBody>
          <a:bodyPr wrap="square">
            <a:spAutoFit/>
          </a:bodyPr>
          <a:lstStyle/>
          <a:p>
            <a:r>
              <a:rPr lang="da-DK" sz="800" dirty="0"/>
              <a:t>Image generated using AI</a:t>
            </a:r>
            <a:endParaRPr lang="he-IL"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קבלת המטופל – רקע רפואי ונתוני פתיחה קריטיים</a:t>
            </a:r>
            <a:endParaRPr lang="he-IL" sz="2600" dirty="0"/>
          </a:p>
        </p:txBody>
      </p:sp>
      <p:sp>
        <p:nvSpPr>
          <p:cNvPr id="5" name="Shape 3"/>
          <p:cNvSpPr/>
          <p:nvPr/>
        </p:nvSpPr>
        <p:spPr>
          <a:xfrm>
            <a:off x="6263640" y="1600200"/>
            <a:ext cx="5376672" cy="1600200"/>
          </a:xfrm>
          <a:prstGeom prst="roundRect">
            <a:avLst>
              <a:gd name="adj" fmla="val 685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19804" y="2116836"/>
            <a:ext cx="654632" cy="566928"/>
          </a:xfrm>
          <a:prstGeom prst="hexagon">
            <a:avLst/>
          </a:prstGeom>
          <a:solidFill>
            <a:srgbClr val="C2486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16727" y="2269907"/>
            <a:ext cx="260787" cy="260787"/>
          </a:xfrm>
          <a:prstGeom prst="rect">
            <a:avLst/>
          </a:prstGeom>
        </p:spPr>
      </p:pic>
      <p:sp>
        <p:nvSpPr>
          <p:cNvPr id="8" name="Text 5"/>
          <p:cNvSpPr txBox="1"/>
          <p:nvPr/>
        </p:nvSpPr>
        <p:spPr>
          <a:xfrm>
            <a:off x="6446520" y="1709928"/>
            <a:ext cx="4389120" cy="138074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C24863"/>
                </a:solidFill>
                <a:latin typeface="Arial" pitchFamily="34" charset="0"/>
                <a:ea typeface="Arial" pitchFamily="34" charset="-122"/>
                <a:cs typeface="Arial" pitchFamily="34" charset="-120"/>
              </a:rPr>
              <a:t>רקע וסקולרי וקרדיווסקולרי:</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אירוע מוחי CVA (2023) עם שארית קושי בדיבור ואי יציבות, מחלת לב איסכמית IHD לאחר צנתור (חסימות 40%-50%)</a:t>
            </a:r>
            <a:endParaRPr lang="he-IL" sz="1450" dirty="0"/>
          </a:p>
        </p:txBody>
      </p:sp>
      <p:sp>
        <p:nvSpPr>
          <p:cNvPr id="9" name="Shape 6"/>
          <p:cNvSpPr/>
          <p:nvPr/>
        </p:nvSpPr>
        <p:spPr>
          <a:xfrm>
            <a:off x="6263640" y="3383280"/>
            <a:ext cx="5376672" cy="1188720"/>
          </a:xfrm>
          <a:prstGeom prst="roundRect">
            <a:avLst>
              <a:gd name="adj" fmla="val 923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10919804" y="3694176"/>
            <a:ext cx="654632" cy="566928"/>
          </a:xfrm>
          <a:prstGeom prst="hexagon">
            <a:avLst/>
          </a:prstGeom>
          <a:solidFill>
            <a:srgbClr val="5B6BB5"/>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16727" y="3847247"/>
            <a:ext cx="260787" cy="260787"/>
          </a:xfrm>
          <a:prstGeom prst="rect">
            <a:avLst/>
          </a:prstGeom>
        </p:spPr>
      </p:pic>
      <p:sp>
        <p:nvSpPr>
          <p:cNvPr id="12" name="Text 8"/>
          <p:cNvSpPr txBox="1"/>
          <p:nvPr/>
        </p:nvSpPr>
        <p:spPr>
          <a:xfrm>
            <a:off x="6446520" y="3493008"/>
            <a:ext cx="4389120" cy="96926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5B6BB5"/>
                </a:solidFill>
                <a:latin typeface="Arial" pitchFamily="34" charset="0"/>
                <a:ea typeface="Arial" pitchFamily="34" charset="-122"/>
                <a:cs typeface="Arial" pitchFamily="34" charset="-120"/>
              </a:rPr>
              <a:t>תסמונת דום נשימה בשינה (Severe Sleep Apnea):</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מאובחנת משנת 2024</a:t>
            </a:r>
            <a:endParaRPr lang="he-IL" sz="1450" dirty="0"/>
          </a:p>
        </p:txBody>
      </p:sp>
      <p:sp>
        <p:nvSpPr>
          <p:cNvPr id="13" name="Shape 9"/>
          <p:cNvSpPr/>
          <p:nvPr/>
        </p:nvSpPr>
        <p:spPr>
          <a:xfrm>
            <a:off x="6263640" y="4754880"/>
            <a:ext cx="5376672" cy="1188720"/>
          </a:xfrm>
          <a:prstGeom prst="roundRect">
            <a:avLst>
              <a:gd name="adj" fmla="val 923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4" name="Shape 10"/>
          <p:cNvSpPr/>
          <p:nvPr/>
        </p:nvSpPr>
        <p:spPr>
          <a:xfrm rot="5400000">
            <a:off x="10919804" y="5065776"/>
            <a:ext cx="654632" cy="566928"/>
          </a:xfrm>
          <a:prstGeom prst="hexagon">
            <a:avLst/>
          </a:prstGeom>
          <a:solidFill>
            <a:srgbClr val="B8741A"/>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16727" y="5218847"/>
            <a:ext cx="260787" cy="260787"/>
          </a:xfrm>
          <a:prstGeom prst="rect">
            <a:avLst/>
          </a:prstGeom>
        </p:spPr>
      </p:pic>
      <p:sp>
        <p:nvSpPr>
          <p:cNvPr id="16" name="Text 11"/>
          <p:cNvSpPr txBox="1"/>
          <p:nvPr/>
        </p:nvSpPr>
        <p:spPr>
          <a:xfrm>
            <a:off x="6446520" y="4864608"/>
            <a:ext cx="4389120" cy="96926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B8741A"/>
                </a:solidFill>
                <a:latin typeface="Arial" pitchFamily="34" charset="0"/>
                <a:ea typeface="Arial" pitchFamily="34" charset="-122"/>
                <a:cs typeface="Arial" pitchFamily="34" charset="-120"/>
              </a:rPr>
              <a:t>כבד שומני (Fatty Liver):</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מאובחן משנת 1994 (למעלה מ-30 שנה)</a:t>
            </a:r>
            <a:endParaRPr lang="he-IL" sz="1450" dirty="0"/>
          </a:p>
        </p:txBody>
      </p:sp>
      <p:sp>
        <p:nvSpPr>
          <p:cNvPr id="17" name="Text 12"/>
          <p:cNvSpPr txBox="1"/>
          <p:nvPr/>
        </p:nvSpPr>
        <p:spPr>
          <a:xfrm>
            <a:off x="548640" y="1554480"/>
            <a:ext cx="5394960"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נתוני פתיחה קריטיים:</a:t>
            </a:r>
            <a:endParaRPr lang="he-IL" sz="1800" dirty="0"/>
          </a:p>
        </p:txBody>
      </p:sp>
      <p:sp>
        <p:nvSpPr>
          <p:cNvPr id="18" name="Shape 13"/>
          <p:cNvSpPr/>
          <p:nvPr/>
        </p:nvSpPr>
        <p:spPr>
          <a:xfrm>
            <a:off x="548640" y="2057400"/>
            <a:ext cx="5394960" cy="1207008"/>
          </a:xfrm>
          <a:prstGeom prst="roundRect">
            <a:avLst>
              <a:gd name="adj" fmla="val 9091"/>
            </a:avLst>
          </a:prstGeom>
          <a:solidFill>
            <a:srgbClr val="F3F0FA"/>
          </a:solidFill>
          <a:ln/>
        </p:spPr>
        <p:txBody>
          <a:bodyPr/>
          <a:lstStyle/>
          <a:p>
            <a:endParaRPr lang="he-IL"/>
          </a:p>
        </p:txBody>
      </p:sp>
      <p:sp>
        <p:nvSpPr>
          <p:cNvPr id="19" name="Text 14"/>
          <p:cNvSpPr txBox="1"/>
          <p:nvPr/>
        </p:nvSpPr>
        <p:spPr>
          <a:xfrm>
            <a:off x="3063240" y="2258568"/>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A1C בסיס</a:t>
            </a:r>
            <a:endParaRPr lang="he-IL" sz="1600" dirty="0"/>
          </a:p>
        </p:txBody>
      </p:sp>
      <p:sp>
        <p:nvSpPr>
          <p:cNvPr id="20" name="Text 15"/>
          <p:cNvSpPr txBox="1"/>
          <p:nvPr/>
        </p:nvSpPr>
        <p:spPr>
          <a:xfrm>
            <a:off x="3063240" y="2660904"/>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(לא מאוזן באופן קיצוני)</a:t>
            </a:r>
            <a:endParaRPr lang="he-IL" sz="1300" dirty="0"/>
          </a:p>
        </p:txBody>
      </p:sp>
      <p:sp>
        <p:nvSpPr>
          <p:cNvPr id="21" name="Text 16"/>
          <p:cNvSpPr txBox="1"/>
          <p:nvPr/>
        </p:nvSpPr>
        <p:spPr>
          <a:xfrm>
            <a:off x="731520" y="2203704"/>
            <a:ext cx="2194560" cy="914400"/>
          </a:xfrm>
          <a:prstGeom prst="rect">
            <a:avLst/>
          </a:prstGeom>
          <a:noFill/>
          <a:ln/>
        </p:spPr>
        <p:txBody>
          <a:bodyPr wrap="square" lIns="0" tIns="0" rIns="0" bIns="0" rtlCol="0" anchor="ctr"/>
          <a:lstStyle/>
          <a:p>
            <a:pPr marL="0" indent="0" algn="l">
              <a:buNone/>
            </a:pPr>
            <a:r>
              <a:rPr lang="en-US" altLang="en-US" sz="3600" b="1" dirty="0">
                <a:solidFill>
                  <a:srgbClr val="C24863"/>
                </a:solidFill>
                <a:latin typeface="Arial" pitchFamily="34" charset="0"/>
                <a:ea typeface="Arial" pitchFamily="34" charset="-122"/>
                <a:cs typeface="Arial" pitchFamily="34" charset="-120"/>
              </a:rPr>
              <a:t>13.4%</a:t>
            </a:r>
            <a:endParaRPr lang="en-US" sz="3600" dirty="0"/>
          </a:p>
        </p:txBody>
      </p:sp>
      <p:sp>
        <p:nvSpPr>
          <p:cNvPr id="22" name="Shape 17"/>
          <p:cNvSpPr/>
          <p:nvPr/>
        </p:nvSpPr>
        <p:spPr>
          <a:xfrm>
            <a:off x="548640" y="3401568"/>
            <a:ext cx="5394960" cy="1207008"/>
          </a:xfrm>
          <a:prstGeom prst="roundRect">
            <a:avLst>
              <a:gd name="adj" fmla="val 9091"/>
            </a:avLst>
          </a:prstGeom>
          <a:solidFill>
            <a:srgbClr val="F3F0FA"/>
          </a:solidFill>
          <a:ln/>
        </p:spPr>
        <p:txBody>
          <a:bodyPr/>
          <a:lstStyle/>
          <a:p>
            <a:endParaRPr lang="he-IL"/>
          </a:p>
        </p:txBody>
      </p:sp>
      <p:sp>
        <p:nvSpPr>
          <p:cNvPr id="23" name="Text 18"/>
          <p:cNvSpPr txBox="1"/>
          <p:nvPr/>
        </p:nvSpPr>
        <p:spPr>
          <a:xfrm>
            <a:off x="3063240" y="3602736"/>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משקל בסיס</a:t>
            </a:r>
            <a:endParaRPr lang="he-IL" sz="1600" dirty="0"/>
          </a:p>
        </p:txBody>
      </p:sp>
      <p:sp>
        <p:nvSpPr>
          <p:cNvPr id="24" name="Text 19"/>
          <p:cNvSpPr txBox="1"/>
          <p:nvPr/>
        </p:nvSpPr>
        <p:spPr>
          <a:xfrm>
            <a:off x="3063240" y="4005072"/>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גובה: 163 ס"מ</a:t>
            </a:r>
            <a:endParaRPr lang="he-IL" sz="1300" dirty="0"/>
          </a:p>
        </p:txBody>
      </p:sp>
      <p:sp>
        <p:nvSpPr>
          <p:cNvPr id="25" name="Text 20"/>
          <p:cNvSpPr txBox="1"/>
          <p:nvPr/>
        </p:nvSpPr>
        <p:spPr>
          <a:xfrm>
            <a:off x="731520" y="3547872"/>
            <a:ext cx="2194560" cy="914400"/>
          </a:xfrm>
          <a:prstGeom prst="rect">
            <a:avLst/>
          </a:prstGeom>
          <a:noFill/>
          <a:ln/>
        </p:spPr>
        <p:txBody>
          <a:bodyPr wrap="square" lIns="0" tIns="0" rIns="0" bIns="0" rtlCol="0" anchor="ctr"/>
          <a:lstStyle/>
          <a:p>
            <a:pPr marL="0" indent="0" algn="l" rtl="1">
              <a:buNone/>
            </a:pPr>
            <a:r>
              <a:rPr lang="he-IL" altLang="en-US" sz="3600" b="1" dirty="0">
                <a:solidFill>
                  <a:srgbClr val="4A90D0"/>
                </a:solidFill>
                <a:latin typeface="Arial" pitchFamily="34" charset="0"/>
                <a:ea typeface="Arial" pitchFamily="34" charset="-122"/>
                <a:cs typeface="Arial" pitchFamily="34" charset="-120"/>
              </a:rPr>
              <a:t>96 ק"ג</a:t>
            </a:r>
            <a:endParaRPr lang="he-IL" sz="3600" dirty="0"/>
          </a:p>
        </p:txBody>
      </p:sp>
      <p:sp>
        <p:nvSpPr>
          <p:cNvPr id="26" name="Shape 21"/>
          <p:cNvSpPr/>
          <p:nvPr/>
        </p:nvSpPr>
        <p:spPr>
          <a:xfrm>
            <a:off x="548640" y="4745736"/>
            <a:ext cx="5394960" cy="1207008"/>
          </a:xfrm>
          <a:prstGeom prst="roundRect">
            <a:avLst>
              <a:gd name="adj" fmla="val 9091"/>
            </a:avLst>
          </a:prstGeom>
          <a:solidFill>
            <a:srgbClr val="F3F0FA"/>
          </a:solidFill>
          <a:ln/>
        </p:spPr>
        <p:txBody>
          <a:bodyPr/>
          <a:lstStyle/>
          <a:p>
            <a:endParaRPr lang="he-IL"/>
          </a:p>
        </p:txBody>
      </p:sp>
      <p:sp>
        <p:nvSpPr>
          <p:cNvPr id="27" name="Text 22"/>
          <p:cNvSpPr txBox="1"/>
          <p:nvPr/>
        </p:nvSpPr>
        <p:spPr>
          <a:xfrm>
            <a:off x="3063240" y="4946904"/>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BMI התחלתי</a:t>
            </a:r>
            <a:endParaRPr lang="he-IL" sz="1600" dirty="0"/>
          </a:p>
        </p:txBody>
      </p:sp>
      <p:sp>
        <p:nvSpPr>
          <p:cNvPr id="28" name="Text 23"/>
          <p:cNvSpPr txBox="1"/>
          <p:nvPr/>
        </p:nvSpPr>
        <p:spPr>
          <a:xfrm>
            <a:off x="3063240" y="5349240"/>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(השמנה דרגה 2)</a:t>
            </a:r>
            <a:endParaRPr lang="he-IL" sz="1300" dirty="0"/>
          </a:p>
        </p:txBody>
      </p:sp>
      <p:sp>
        <p:nvSpPr>
          <p:cNvPr id="29" name="Text 24"/>
          <p:cNvSpPr txBox="1"/>
          <p:nvPr/>
        </p:nvSpPr>
        <p:spPr>
          <a:xfrm>
            <a:off x="731520" y="4892040"/>
            <a:ext cx="2194560" cy="914400"/>
          </a:xfrm>
          <a:prstGeom prst="rect">
            <a:avLst/>
          </a:prstGeom>
          <a:noFill/>
          <a:ln/>
        </p:spPr>
        <p:txBody>
          <a:bodyPr wrap="square" lIns="0" tIns="0" rIns="0" bIns="0" rtlCol="0" anchor="ctr"/>
          <a:lstStyle/>
          <a:p>
            <a:pPr marL="0" indent="0" algn="l">
              <a:buNone/>
            </a:pPr>
            <a:r>
              <a:rPr lang="en-US" altLang="en-US" sz="3600" b="1" dirty="0">
                <a:solidFill>
                  <a:srgbClr val="5B6BB5"/>
                </a:solidFill>
                <a:latin typeface="Arial" pitchFamily="34" charset="0"/>
                <a:ea typeface="Arial" pitchFamily="34" charset="-122"/>
                <a:cs typeface="Arial" pitchFamily="34" charset="-120"/>
              </a:rPr>
              <a:t>36.1</a:t>
            </a:r>
            <a:endParaRPr lang="en-US" sz="3600" dirty="0"/>
          </a:p>
        </p:txBody>
      </p:sp>
      <p:sp>
        <p:nvSpPr>
          <p:cNvPr id="30"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מחלות רקע של המטופל (Past Medical History)</a:t>
            </a:r>
            <a:endParaRPr lang="he-IL" sz="2600" dirty="0"/>
          </a:p>
        </p:txBody>
      </p:sp>
      <p:sp>
        <p:nvSpPr>
          <p:cNvPr id="5" name="Text 3"/>
          <p:cNvSpPr txBox="1"/>
          <p:nvPr/>
        </p:nvSpPr>
        <p:spPr>
          <a:xfrm>
            <a:off x="1371600" y="1207008"/>
            <a:ext cx="10268712" cy="320040"/>
          </a:xfrm>
          <a:prstGeom prst="rect">
            <a:avLst/>
          </a:prstGeom>
          <a:noFill/>
          <a:ln/>
        </p:spPr>
        <p:txBody>
          <a:bodyPr wrap="square" lIns="0" tIns="0" rIns="0" bIns="0" rtlCol="0" anchor="t"/>
          <a:lstStyle/>
          <a:p>
            <a:pPr marL="0" indent="0" algn="r" rtl="1">
              <a:buNone/>
            </a:pPr>
            <a:r>
              <a:rPr lang="he-IL" altLang="en-US" sz="1500" dirty="0">
                <a:solidFill>
                  <a:srgbClr val="6B6785"/>
                </a:solidFill>
                <a:latin typeface="Arial" pitchFamily="34" charset="0"/>
                <a:ea typeface="Arial" pitchFamily="34" charset="-122"/>
                <a:cs typeface="Arial" pitchFamily="34" charset="-120"/>
              </a:rPr>
              <a:t>רשימת מחלות רקע ואבחנות מתועדות בתיק הרפואי</a:t>
            </a:r>
            <a:endParaRPr lang="he-IL" sz="1500" dirty="0"/>
          </a:p>
        </p:txBody>
      </p:sp>
      <p:sp>
        <p:nvSpPr>
          <p:cNvPr id="6" name="Shape 4"/>
          <p:cNvSpPr/>
          <p:nvPr/>
        </p:nvSpPr>
        <p:spPr>
          <a:xfrm>
            <a:off x="9006611"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7" name="Shape 5"/>
          <p:cNvSpPr/>
          <p:nvPr/>
        </p:nvSpPr>
        <p:spPr>
          <a:xfrm>
            <a:off x="10042855" y="1819656"/>
            <a:ext cx="1463040" cy="329184"/>
          </a:xfrm>
          <a:prstGeom prst="roundRect">
            <a:avLst>
              <a:gd name="adj" fmla="val 50000"/>
            </a:avLst>
          </a:prstGeom>
          <a:solidFill>
            <a:srgbClr val="4A90D0"/>
          </a:solidFill>
          <a:ln/>
        </p:spPr>
        <p:txBody>
          <a:bodyPr/>
          <a:lstStyle/>
          <a:p>
            <a:endParaRPr lang="he-IL"/>
          </a:p>
        </p:txBody>
      </p:sp>
      <p:sp>
        <p:nvSpPr>
          <p:cNvPr id="8" name="Text 6"/>
          <p:cNvSpPr txBox="1"/>
          <p:nvPr/>
        </p:nvSpPr>
        <p:spPr>
          <a:xfrm>
            <a:off x="10042855"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1992</a:t>
            </a:r>
            <a:endParaRPr lang="en-US" sz="1200" dirty="0"/>
          </a:p>
        </p:txBody>
      </p:sp>
      <p:sp>
        <p:nvSpPr>
          <p:cNvPr id="9" name="Text 7"/>
          <p:cNvSpPr txBox="1"/>
          <p:nvPr/>
        </p:nvSpPr>
        <p:spPr>
          <a:xfrm>
            <a:off x="9143771"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HYPERLIPIDEMIA UNSPECIFIED</a:t>
            </a:r>
            <a:endParaRPr lang="en-US" sz="1200" dirty="0"/>
          </a:p>
        </p:txBody>
      </p:sp>
      <p:sp>
        <p:nvSpPr>
          <p:cNvPr id="10" name="Text 8"/>
          <p:cNvSpPr txBox="1"/>
          <p:nvPr/>
        </p:nvSpPr>
        <p:spPr>
          <a:xfrm>
            <a:off x="9143771"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(יתר שומנים בדם)</a:t>
            </a:r>
            <a:endParaRPr lang="he-IL" sz="1200" dirty="0"/>
          </a:p>
        </p:txBody>
      </p:sp>
      <p:sp>
        <p:nvSpPr>
          <p:cNvPr id="11" name="Shape 9"/>
          <p:cNvSpPr/>
          <p:nvPr/>
        </p:nvSpPr>
        <p:spPr>
          <a:xfrm>
            <a:off x="6187288"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12" name="Shape 10"/>
          <p:cNvSpPr/>
          <p:nvPr/>
        </p:nvSpPr>
        <p:spPr>
          <a:xfrm>
            <a:off x="7223531" y="1819656"/>
            <a:ext cx="1463040" cy="329184"/>
          </a:xfrm>
          <a:prstGeom prst="roundRect">
            <a:avLst>
              <a:gd name="adj" fmla="val 50000"/>
            </a:avLst>
          </a:prstGeom>
          <a:solidFill>
            <a:srgbClr val="4A90D0"/>
          </a:solidFill>
          <a:ln/>
        </p:spPr>
        <p:txBody>
          <a:bodyPr/>
          <a:lstStyle/>
          <a:p>
            <a:endParaRPr lang="he-IL"/>
          </a:p>
        </p:txBody>
      </p:sp>
      <p:sp>
        <p:nvSpPr>
          <p:cNvPr id="13" name="Text 11"/>
          <p:cNvSpPr txBox="1"/>
          <p:nvPr/>
        </p:nvSpPr>
        <p:spPr>
          <a:xfrm>
            <a:off x="7223531"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1994</a:t>
            </a:r>
            <a:endParaRPr lang="en-US" sz="1200" dirty="0"/>
          </a:p>
        </p:txBody>
      </p:sp>
      <p:sp>
        <p:nvSpPr>
          <p:cNvPr id="14" name="Text 12"/>
          <p:cNvSpPr txBox="1"/>
          <p:nvPr/>
        </p:nvSpPr>
        <p:spPr>
          <a:xfrm>
            <a:off x="6324448"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FATTY LIVER</a:t>
            </a:r>
            <a:endParaRPr lang="en-US" sz="1200" dirty="0"/>
          </a:p>
        </p:txBody>
      </p:sp>
      <p:sp>
        <p:nvSpPr>
          <p:cNvPr id="15" name="Text 13"/>
          <p:cNvSpPr txBox="1"/>
          <p:nvPr/>
        </p:nvSpPr>
        <p:spPr>
          <a:xfrm>
            <a:off x="6324448"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(כבד שומני)</a:t>
            </a:r>
            <a:endParaRPr lang="he-IL" sz="1200" dirty="0"/>
          </a:p>
        </p:txBody>
      </p:sp>
      <p:sp>
        <p:nvSpPr>
          <p:cNvPr id="16" name="Shape 14"/>
          <p:cNvSpPr/>
          <p:nvPr/>
        </p:nvSpPr>
        <p:spPr>
          <a:xfrm>
            <a:off x="3367964"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17" name="Shape 15"/>
          <p:cNvSpPr/>
          <p:nvPr/>
        </p:nvSpPr>
        <p:spPr>
          <a:xfrm>
            <a:off x="4404208" y="1819656"/>
            <a:ext cx="1463040" cy="329184"/>
          </a:xfrm>
          <a:prstGeom prst="roundRect">
            <a:avLst>
              <a:gd name="adj" fmla="val 50000"/>
            </a:avLst>
          </a:prstGeom>
          <a:solidFill>
            <a:srgbClr val="4A90D0"/>
          </a:solidFill>
          <a:ln/>
        </p:spPr>
        <p:txBody>
          <a:bodyPr/>
          <a:lstStyle/>
          <a:p>
            <a:endParaRPr lang="he-IL"/>
          </a:p>
        </p:txBody>
      </p:sp>
      <p:sp>
        <p:nvSpPr>
          <p:cNvPr id="18" name="Text 16"/>
          <p:cNvSpPr txBox="1"/>
          <p:nvPr/>
        </p:nvSpPr>
        <p:spPr>
          <a:xfrm>
            <a:off x="4404208" y="1819656"/>
            <a:ext cx="1463040" cy="329184"/>
          </a:xfrm>
          <a:prstGeom prst="rect">
            <a:avLst/>
          </a:prstGeom>
          <a:noFill/>
          <a:ln/>
        </p:spPr>
        <p:txBody>
          <a:bodyPr wrap="square" lIns="0" tIns="0" rIns="0" bIns="0" rtlCol="0" anchor="ctr"/>
          <a:lstStyle/>
          <a:p>
            <a:pPr marL="0" indent="0" algn="ctr" rtl="1">
              <a:buNone/>
            </a:pPr>
            <a:r>
              <a:rPr lang="he-IL" altLang="en-US" sz="1200" b="1" dirty="0">
                <a:solidFill>
                  <a:srgbClr val="FFFFFF"/>
                </a:solidFill>
                <a:latin typeface="Arial" pitchFamily="34" charset="0"/>
                <a:ea typeface="Arial" pitchFamily="34" charset="-122"/>
                <a:cs typeface="Arial" pitchFamily="34" charset="-120"/>
              </a:rPr>
              <a:t>2004 (מאובחן 2011)</a:t>
            </a:r>
            <a:endParaRPr lang="he-IL" sz="1200" dirty="0"/>
          </a:p>
        </p:txBody>
      </p:sp>
      <p:sp>
        <p:nvSpPr>
          <p:cNvPr id="19" name="Text 17"/>
          <p:cNvSpPr txBox="1"/>
          <p:nvPr/>
        </p:nvSpPr>
        <p:spPr>
          <a:xfrm>
            <a:off x="3505124"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DIABETES MELLITUS NON-INSULIN DEPENDENT</a:t>
            </a:r>
            <a:endParaRPr lang="en-US" sz="1200" dirty="0"/>
          </a:p>
        </p:txBody>
      </p:sp>
      <p:sp>
        <p:nvSpPr>
          <p:cNvPr id="20" name="Shape 18"/>
          <p:cNvSpPr/>
          <p:nvPr/>
        </p:nvSpPr>
        <p:spPr>
          <a:xfrm>
            <a:off x="548640"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21" name="Shape 19"/>
          <p:cNvSpPr/>
          <p:nvPr/>
        </p:nvSpPr>
        <p:spPr>
          <a:xfrm>
            <a:off x="1584884" y="1819656"/>
            <a:ext cx="1463040" cy="329184"/>
          </a:xfrm>
          <a:prstGeom prst="roundRect">
            <a:avLst>
              <a:gd name="adj" fmla="val 50000"/>
            </a:avLst>
          </a:prstGeom>
          <a:solidFill>
            <a:srgbClr val="5280C8"/>
          </a:solidFill>
          <a:ln/>
        </p:spPr>
        <p:txBody>
          <a:bodyPr/>
          <a:lstStyle/>
          <a:p>
            <a:endParaRPr lang="he-IL"/>
          </a:p>
        </p:txBody>
      </p:sp>
      <p:sp>
        <p:nvSpPr>
          <p:cNvPr id="22" name="Text 20"/>
          <p:cNvSpPr txBox="1"/>
          <p:nvPr/>
        </p:nvSpPr>
        <p:spPr>
          <a:xfrm>
            <a:off x="1584884"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2004</a:t>
            </a:r>
            <a:endParaRPr lang="en-US" sz="1200" dirty="0"/>
          </a:p>
        </p:txBody>
      </p:sp>
      <p:sp>
        <p:nvSpPr>
          <p:cNvPr id="23" name="Text 21"/>
          <p:cNvSpPr txBox="1"/>
          <p:nvPr/>
        </p:nvSpPr>
        <p:spPr>
          <a:xfrm>
            <a:off x="685800"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DISCITIS LUMBAR REGION</a:t>
            </a:r>
            <a:endParaRPr lang="en-US" sz="1200" dirty="0"/>
          </a:p>
        </p:txBody>
      </p:sp>
      <p:sp>
        <p:nvSpPr>
          <p:cNvPr id="24" name="Text 22"/>
          <p:cNvSpPr txBox="1"/>
          <p:nvPr/>
        </p:nvSpPr>
        <p:spPr>
          <a:xfrm>
            <a:off x="685800"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(L5-L3-S1)</a:t>
            </a:r>
            <a:endParaRPr lang="he-IL" sz="1200" dirty="0"/>
          </a:p>
        </p:txBody>
      </p:sp>
      <p:sp>
        <p:nvSpPr>
          <p:cNvPr id="25" name="Shape 23"/>
          <p:cNvSpPr/>
          <p:nvPr/>
        </p:nvSpPr>
        <p:spPr>
          <a:xfrm>
            <a:off x="9006611"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26" name="Shape 24"/>
          <p:cNvSpPr/>
          <p:nvPr/>
        </p:nvSpPr>
        <p:spPr>
          <a:xfrm>
            <a:off x="10042855" y="3282696"/>
            <a:ext cx="1463040" cy="329184"/>
          </a:xfrm>
          <a:prstGeom prst="roundRect">
            <a:avLst>
              <a:gd name="adj" fmla="val 50000"/>
            </a:avLst>
          </a:prstGeom>
          <a:solidFill>
            <a:srgbClr val="5280C8"/>
          </a:solidFill>
          <a:ln/>
        </p:spPr>
        <p:txBody>
          <a:bodyPr/>
          <a:lstStyle/>
          <a:p>
            <a:endParaRPr lang="he-IL"/>
          </a:p>
        </p:txBody>
      </p:sp>
      <p:sp>
        <p:nvSpPr>
          <p:cNvPr id="27" name="Text 25"/>
          <p:cNvSpPr txBox="1"/>
          <p:nvPr/>
        </p:nvSpPr>
        <p:spPr>
          <a:xfrm>
            <a:off x="10042855"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2012</a:t>
            </a:r>
            <a:endParaRPr lang="en-US" sz="1200" dirty="0"/>
          </a:p>
        </p:txBody>
      </p:sp>
      <p:sp>
        <p:nvSpPr>
          <p:cNvPr id="28" name="Text 26"/>
          <p:cNvSpPr txBox="1"/>
          <p:nvPr/>
        </p:nvSpPr>
        <p:spPr>
          <a:xfrm>
            <a:off x="9143771"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OBESITY</a:t>
            </a:r>
            <a:endParaRPr lang="en-US" sz="1200" dirty="0"/>
          </a:p>
        </p:txBody>
      </p:sp>
      <p:sp>
        <p:nvSpPr>
          <p:cNvPr id="29" name="Text 27"/>
          <p:cNvSpPr txBox="1"/>
          <p:nvPr/>
        </p:nvSpPr>
        <p:spPr>
          <a:xfrm>
            <a:off x="9143771"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(BMI 36.1, משקל 96 ק"ג)</a:t>
            </a:r>
            <a:endParaRPr lang="he-IL" sz="1200" dirty="0"/>
          </a:p>
        </p:txBody>
      </p:sp>
      <p:sp>
        <p:nvSpPr>
          <p:cNvPr id="30" name="Shape 28"/>
          <p:cNvSpPr/>
          <p:nvPr/>
        </p:nvSpPr>
        <p:spPr>
          <a:xfrm>
            <a:off x="6187288"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31" name="Shape 29"/>
          <p:cNvSpPr/>
          <p:nvPr/>
        </p:nvSpPr>
        <p:spPr>
          <a:xfrm>
            <a:off x="7223531" y="3282696"/>
            <a:ext cx="1463040" cy="329184"/>
          </a:xfrm>
          <a:prstGeom prst="roundRect">
            <a:avLst>
              <a:gd name="adj" fmla="val 50000"/>
            </a:avLst>
          </a:prstGeom>
          <a:solidFill>
            <a:srgbClr val="5B6BB5"/>
          </a:solidFill>
          <a:ln/>
        </p:spPr>
        <p:txBody>
          <a:bodyPr/>
          <a:lstStyle/>
          <a:p>
            <a:endParaRPr lang="he-IL"/>
          </a:p>
        </p:txBody>
      </p:sp>
      <p:sp>
        <p:nvSpPr>
          <p:cNvPr id="32" name="Text 30"/>
          <p:cNvSpPr txBox="1"/>
          <p:nvPr/>
        </p:nvSpPr>
        <p:spPr>
          <a:xfrm>
            <a:off x="7223531"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3" name="Text 31"/>
          <p:cNvSpPr txBox="1"/>
          <p:nvPr/>
        </p:nvSpPr>
        <p:spPr>
          <a:xfrm>
            <a:off x="6324448"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RIGHT HEART CARDIAC CATHETERIZATION</a:t>
            </a:r>
            <a:endParaRPr lang="en-US" sz="1200" dirty="0"/>
          </a:p>
        </p:txBody>
      </p:sp>
      <p:sp>
        <p:nvSpPr>
          <p:cNvPr id="34" name="Text 32"/>
          <p:cNvSpPr txBox="1"/>
          <p:nvPr/>
        </p:nvSpPr>
        <p:spPr>
          <a:xfrm>
            <a:off x="6324448"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(צנתור LAD 50%, RCA 40%)</a:t>
            </a:r>
            <a:endParaRPr lang="he-IL" sz="1200" dirty="0"/>
          </a:p>
        </p:txBody>
      </p:sp>
      <p:sp>
        <p:nvSpPr>
          <p:cNvPr id="35" name="Shape 33"/>
          <p:cNvSpPr/>
          <p:nvPr/>
        </p:nvSpPr>
        <p:spPr>
          <a:xfrm>
            <a:off x="3367964"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36" name="Shape 34"/>
          <p:cNvSpPr/>
          <p:nvPr/>
        </p:nvSpPr>
        <p:spPr>
          <a:xfrm>
            <a:off x="4404208" y="3282696"/>
            <a:ext cx="1463040" cy="329184"/>
          </a:xfrm>
          <a:prstGeom prst="roundRect">
            <a:avLst>
              <a:gd name="adj" fmla="val 50000"/>
            </a:avLst>
          </a:prstGeom>
          <a:solidFill>
            <a:srgbClr val="5B6BB5"/>
          </a:solidFill>
          <a:ln/>
        </p:spPr>
        <p:txBody>
          <a:bodyPr/>
          <a:lstStyle/>
          <a:p>
            <a:endParaRPr lang="he-IL"/>
          </a:p>
        </p:txBody>
      </p:sp>
      <p:sp>
        <p:nvSpPr>
          <p:cNvPr id="37" name="Text 35"/>
          <p:cNvSpPr txBox="1"/>
          <p:nvPr/>
        </p:nvSpPr>
        <p:spPr>
          <a:xfrm>
            <a:off x="4404208"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8" name="Text 36"/>
          <p:cNvSpPr txBox="1"/>
          <p:nvPr/>
        </p:nvSpPr>
        <p:spPr>
          <a:xfrm>
            <a:off x="3505124"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ISCHEMIC HEART DISEASE</a:t>
            </a:r>
            <a:endParaRPr lang="en-US" sz="1200" dirty="0"/>
          </a:p>
        </p:txBody>
      </p:sp>
      <p:sp>
        <p:nvSpPr>
          <p:cNvPr id="39" name="Text 37"/>
          <p:cNvSpPr txBox="1"/>
          <p:nvPr/>
        </p:nvSpPr>
        <p:spPr>
          <a:xfrm>
            <a:off x="3505124"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(IHD - מחלת לב כלילית)</a:t>
            </a:r>
            <a:endParaRPr lang="he-IL" sz="1200" dirty="0"/>
          </a:p>
        </p:txBody>
      </p:sp>
      <p:sp>
        <p:nvSpPr>
          <p:cNvPr id="40" name="Shape 38"/>
          <p:cNvSpPr/>
          <p:nvPr/>
        </p:nvSpPr>
        <p:spPr>
          <a:xfrm>
            <a:off x="548640"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41" name="Shape 39"/>
          <p:cNvSpPr/>
          <p:nvPr/>
        </p:nvSpPr>
        <p:spPr>
          <a:xfrm>
            <a:off x="1584884" y="3282696"/>
            <a:ext cx="1463040" cy="329184"/>
          </a:xfrm>
          <a:prstGeom prst="roundRect">
            <a:avLst>
              <a:gd name="adj" fmla="val 50000"/>
            </a:avLst>
          </a:prstGeom>
          <a:solidFill>
            <a:srgbClr val="5B6BB5"/>
          </a:solidFill>
          <a:ln/>
        </p:spPr>
        <p:txBody>
          <a:bodyPr/>
          <a:lstStyle/>
          <a:p>
            <a:endParaRPr lang="he-IL"/>
          </a:p>
        </p:txBody>
      </p:sp>
      <p:sp>
        <p:nvSpPr>
          <p:cNvPr id="42" name="Text 40"/>
          <p:cNvSpPr txBox="1"/>
          <p:nvPr/>
        </p:nvSpPr>
        <p:spPr>
          <a:xfrm>
            <a:off x="1584884"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3" name="Text 41"/>
          <p:cNvSpPr txBox="1"/>
          <p:nvPr/>
        </p:nvSpPr>
        <p:spPr>
          <a:xfrm>
            <a:off x="685800"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CORONARY ATHEROSCLEROSIS</a:t>
            </a:r>
            <a:endParaRPr lang="en-US" sz="1200" dirty="0"/>
          </a:p>
        </p:txBody>
      </p:sp>
      <p:sp>
        <p:nvSpPr>
          <p:cNvPr id="44" name="Text 42"/>
          <p:cNvSpPr txBox="1"/>
          <p:nvPr/>
        </p:nvSpPr>
        <p:spPr>
          <a:xfrm>
            <a:off x="685800"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(טרשת עורקים כלילית)</a:t>
            </a:r>
            <a:endParaRPr lang="he-IL" sz="1200" dirty="0"/>
          </a:p>
        </p:txBody>
      </p:sp>
      <p:sp>
        <p:nvSpPr>
          <p:cNvPr id="45" name="Shape 43"/>
          <p:cNvSpPr/>
          <p:nvPr/>
        </p:nvSpPr>
        <p:spPr>
          <a:xfrm>
            <a:off x="9006611"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46" name="Shape 44"/>
          <p:cNvSpPr/>
          <p:nvPr/>
        </p:nvSpPr>
        <p:spPr>
          <a:xfrm>
            <a:off x="10042855" y="4745736"/>
            <a:ext cx="1463040" cy="329184"/>
          </a:xfrm>
          <a:prstGeom prst="roundRect">
            <a:avLst>
              <a:gd name="adj" fmla="val 50000"/>
            </a:avLst>
          </a:prstGeom>
          <a:solidFill>
            <a:srgbClr val="6658A6"/>
          </a:solidFill>
          <a:ln/>
        </p:spPr>
        <p:txBody>
          <a:bodyPr/>
          <a:lstStyle/>
          <a:p>
            <a:endParaRPr lang="he-IL"/>
          </a:p>
        </p:txBody>
      </p:sp>
      <p:sp>
        <p:nvSpPr>
          <p:cNvPr id="47" name="Text 45"/>
          <p:cNvSpPr txBox="1"/>
          <p:nvPr/>
        </p:nvSpPr>
        <p:spPr>
          <a:xfrm>
            <a:off x="10042855"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8" name="Text 46"/>
          <p:cNvSpPr txBox="1"/>
          <p:nvPr/>
        </p:nvSpPr>
        <p:spPr>
          <a:xfrm>
            <a:off x="9143771"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HYPERURICEMIA</a:t>
            </a:r>
            <a:endParaRPr lang="en-US" sz="1200" dirty="0"/>
          </a:p>
        </p:txBody>
      </p:sp>
      <p:sp>
        <p:nvSpPr>
          <p:cNvPr id="49" name="Text 47"/>
          <p:cNvSpPr txBox="1"/>
          <p:nvPr/>
        </p:nvSpPr>
        <p:spPr>
          <a:xfrm>
            <a:off x="9143771"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(עודף חומצת שתן בדם)</a:t>
            </a:r>
            <a:endParaRPr lang="he-IL" sz="1200" dirty="0"/>
          </a:p>
        </p:txBody>
      </p:sp>
      <p:sp>
        <p:nvSpPr>
          <p:cNvPr id="50" name="Shape 48"/>
          <p:cNvSpPr/>
          <p:nvPr/>
        </p:nvSpPr>
        <p:spPr>
          <a:xfrm>
            <a:off x="6187288"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51" name="Shape 49"/>
          <p:cNvSpPr/>
          <p:nvPr/>
        </p:nvSpPr>
        <p:spPr>
          <a:xfrm>
            <a:off x="7223531" y="4745736"/>
            <a:ext cx="1463040" cy="329184"/>
          </a:xfrm>
          <a:prstGeom prst="roundRect">
            <a:avLst>
              <a:gd name="adj" fmla="val 50000"/>
            </a:avLst>
          </a:prstGeom>
          <a:solidFill>
            <a:srgbClr val="6658A6"/>
          </a:solidFill>
          <a:ln/>
        </p:spPr>
        <p:txBody>
          <a:bodyPr/>
          <a:lstStyle/>
          <a:p>
            <a:endParaRPr lang="he-IL"/>
          </a:p>
        </p:txBody>
      </p:sp>
      <p:sp>
        <p:nvSpPr>
          <p:cNvPr id="52" name="Text 50"/>
          <p:cNvSpPr txBox="1"/>
          <p:nvPr/>
        </p:nvSpPr>
        <p:spPr>
          <a:xfrm>
            <a:off x="7223531"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2023</a:t>
            </a:r>
            <a:endParaRPr lang="en-US" sz="1200" dirty="0"/>
          </a:p>
        </p:txBody>
      </p:sp>
      <p:sp>
        <p:nvSpPr>
          <p:cNvPr id="53" name="Text 51"/>
          <p:cNvSpPr txBox="1"/>
          <p:nvPr/>
        </p:nvSpPr>
        <p:spPr>
          <a:xfrm>
            <a:off x="6324448"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CEREBROVASCULAR ACCIDENT - CVA</a:t>
            </a:r>
            <a:endParaRPr lang="en-US" sz="1200" dirty="0"/>
          </a:p>
        </p:txBody>
      </p:sp>
      <p:sp>
        <p:nvSpPr>
          <p:cNvPr id="54" name="Text 52"/>
          <p:cNvSpPr txBox="1"/>
          <p:nvPr/>
        </p:nvSpPr>
        <p:spPr>
          <a:xfrm>
            <a:off x="6324448"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(אירוע מוחי)</a:t>
            </a:r>
            <a:endParaRPr lang="he-IL" sz="1200" dirty="0"/>
          </a:p>
        </p:txBody>
      </p:sp>
      <p:sp>
        <p:nvSpPr>
          <p:cNvPr id="55" name="Shape 53"/>
          <p:cNvSpPr/>
          <p:nvPr/>
        </p:nvSpPr>
        <p:spPr>
          <a:xfrm>
            <a:off x="3367964"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56" name="Shape 54"/>
          <p:cNvSpPr/>
          <p:nvPr/>
        </p:nvSpPr>
        <p:spPr>
          <a:xfrm>
            <a:off x="4404208" y="4745736"/>
            <a:ext cx="1463040" cy="329184"/>
          </a:xfrm>
          <a:prstGeom prst="roundRect">
            <a:avLst>
              <a:gd name="adj" fmla="val 50000"/>
            </a:avLst>
          </a:prstGeom>
          <a:solidFill>
            <a:srgbClr val="6E4494"/>
          </a:solidFill>
          <a:ln/>
        </p:spPr>
        <p:txBody>
          <a:bodyPr/>
          <a:lstStyle/>
          <a:p>
            <a:endParaRPr lang="he-IL"/>
          </a:p>
        </p:txBody>
      </p:sp>
      <p:sp>
        <p:nvSpPr>
          <p:cNvPr id="57" name="Text 55"/>
          <p:cNvSpPr txBox="1"/>
          <p:nvPr/>
        </p:nvSpPr>
        <p:spPr>
          <a:xfrm>
            <a:off x="4404208"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2024</a:t>
            </a:r>
            <a:endParaRPr lang="en-US" sz="1200" dirty="0"/>
          </a:p>
        </p:txBody>
      </p:sp>
      <p:sp>
        <p:nvSpPr>
          <p:cNvPr id="58" name="Text 56"/>
          <p:cNvSpPr txBox="1"/>
          <p:nvPr/>
        </p:nvSpPr>
        <p:spPr>
          <a:xfrm>
            <a:off x="3505124"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SLEEP APNEA SEVERE</a:t>
            </a:r>
            <a:endParaRPr lang="en-US" sz="1200" dirty="0"/>
          </a:p>
        </p:txBody>
      </p:sp>
      <p:sp>
        <p:nvSpPr>
          <p:cNvPr id="59" name="Text 57"/>
          <p:cNvSpPr txBox="1"/>
          <p:nvPr/>
        </p:nvSpPr>
        <p:spPr>
          <a:xfrm>
            <a:off x="3505124"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(דום נשימה בשינה חמור)</a:t>
            </a:r>
            <a:endParaRPr lang="he-IL" sz="1200" dirty="0"/>
          </a:p>
        </p:txBody>
      </p:sp>
      <p:sp>
        <p:nvSpPr>
          <p:cNvPr id="60" name="Shape 58"/>
          <p:cNvSpPr/>
          <p:nvPr/>
        </p:nvSpPr>
        <p:spPr>
          <a:xfrm>
            <a:off x="548640"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61" name="Shape 59"/>
          <p:cNvSpPr/>
          <p:nvPr/>
        </p:nvSpPr>
        <p:spPr>
          <a:xfrm>
            <a:off x="1584884" y="4745736"/>
            <a:ext cx="1463040" cy="329184"/>
          </a:xfrm>
          <a:prstGeom prst="roundRect">
            <a:avLst>
              <a:gd name="adj" fmla="val 50000"/>
            </a:avLst>
          </a:prstGeom>
          <a:solidFill>
            <a:srgbClr val="6E4494"/>
          </a:solidFill>
          <a:ln/>
        </p:spPr>
        <p:txBody>
          <a:bodyPr/>
          <a:lstStyle/>
          <a:p>
            <a:endParaRPr lang="he-IL"/>
          </a:p>
        </p:txBody>
      </p:sp>
      <p:sp>
        <p:nvSpPr>
          <p:cNvPr id="62" name="Text 60"/>
          <p:cNvSpPr txBox="1"/>
          <p:nvPr/>
        </p:nvSpPr>
        <p:spPr>
          <a:xfrm>
            <a:off x="1584884"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1977-2012</a:t>
            </a:r>
            <a:endParaRPr lang="en-US" sz="1200" dirty="0"/>
          </a:p>
        </p:txBody>
      </p:sp>
      <p:sp>
        <p:nvSpPr>
          <p:cNvPr id="63" name="Text 61"/>
          <p:cNvSpPr txBox="1"/>
          <p:nvPr/>
        </p:nvSpPr>
        <p:spPr>
          <a:xfrm>
            <a:off x="685800"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PAST SMOKER</a:t>
            </a:r>
            <a:endParaRPr lang="en-US" sz="1200" dirty="0"/>
          </a:p>
        </p:txBody>
      </p:sp>
      <p:sp>
        <p:nvSpPr>
          <p:cNvPr id="64" name="Text 62"/>
          <p:cNvSpPr txBox="1"/>
          <p:nvPr/>
        </p:nvSpPr>
        <p:spPr>
          <a:xfrm>
            <a:off x="685800"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(עישן בעבר, הפסיק ב-2012)</a:t>
            </a:r>
            <a:endParaRPr lang="he-IL" sz="1200" dirty="0"/>
          </a:p>
        </p:txBody>
      </p:sp>
      <p:sp>
        <p:nvSpPr>
          <p:cNvPr id="6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מחלות רקע – תיעוד מהתיק הרפואי</a:t>
            </a:r>
            <a:endParaRPr lang="he-IL" sz="2600" dirty="0"/>
          </a:p>
        </p:txBody>
      </p:sp>
      <p:pic>
        <p:nvPicPr>
          <p:cNvPr id="5" name="Image 0" descr="/tmp/claude-0/-home-claude/83ba285b-7ef1-5a4f-9afe-ea04c4b9d63d/scratchpad/src/ppt/media/image-4-2.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48640" y="1690776"/>
            <a:ext cx="5852160" cy="4252823"/>
          </a:xfrm>
          <a:prstGeom prst="rect">
            <a:avLst/>
          </a:prstGeom>
          <a:effectLst>
            <a:outerShdw blurRad="127000" dist="38100" dir="5400000" algn="bl" rotWithShape="0">
              <a:srgbClr val="2B2560">
                <a:alpha val="10000"/>
              </a:srgbClr>
            </a:outerShdw>
          </a:effectLst>
        </p:spPr>
      </p:pic>
      <p:sp>
        <p:nvSpPr>
          <p:cNvPr id="6" name="Shape 3"/>
          <p:cNvSpPr/>
          <p:nvPr/>
        </p:nvSpPr>
        <p:spPr>
          <a:xfrm>
            <a:off x="6766560" y="2011680"/>
            <a:ext cx="4873752" cy="3474720"/>
          </a:xfrm>
          <a:prstGeom prst="roundRect">
            <a:avLst>
              <a:gd name="adj" fmla="val 3158"/>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7" name="Shape 4"/>
          <p:cNvSpPr/>
          <p:nvPr/>
        </p:nvSpPr>
        <p:spPr>
          <a:xfrm rot="5400000">
            <a:off x="8728300" y="2286000"/>
            <a:ext cx="950272" cy="822960"/>
          </a:xfrm>
          <a:prstGeom prst="hexagon">
            <a:avLst/>
          </a:prstGeom>
          <a:solidFill>
            <a:srgbClr val="FFFFFF"/>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14155" y="2508199"/>
            <a:ext cx="378562" cy="378562"/>
          </a:xfrm>
          <a:prstGeom prst="rect">
            <a:avLst/>
          </a:prstGeom>
        </p:spPr>
      </p:pic>
      <p:sp>
        <p:nvSpPr>
          <p:cNvPr id="9" name="Text 5"/>
          <p:cNvSpPr txBox="1"/>
          <p:nvPr/>
        </p:nvSpPr>
        <p:spPr>
          <a:xfrm>
            <a:off x="7040880" y="3246120"/>
            <a:ext cx="4325112" cy="411480"/>
          </a:xfrm>
          <a:prstGeom prst="rect">
            <a:avLst/>
          </a:prstGeom>
          <a:noFill/>
          <a:ln/>
        </p:spPr>
        <p:txBody>
          <a:bodyPr wrap="square" lIns="0" tIns="0" rIns="0" bIns="0" rtlCol="0" anchor="t"/>
          <a:lstStyle/>
          <a:p>
            <a:pPr marL="0" indent="0" algn="ctr" rtl="1">
              <a:buNone/>
            </a:pPr>
            <a:r>
              <a:rPr lang="he-IL" altLang="en-US" sz="2000" b="1" dirty="0">
                <a:solidFill>
                  <a:srgbClr val="9CC4EE"/>
                </a:solidFill>
                <a:latin typeface="Arial" pitchFamily="34" charset="0"/>
                <a:ea typeface="Arial" pitchFamily="34" charset="-122"/>
                <a:cs typeface="Arial" pitchFamily="34" charset="-120"/>
              </a:rPr>
              <a:t>משמעות קלינית:</a:t>
            </a:r>
            <a:endParaRPr lang="he-IL" sz="2000" dirty="0"/>
          </a:p>
        </p:txBody>
      </p:sp>
      <p:sp>
        <p:nvSpPr>
          <p:cNvPr id="10" name="Text 6"/>
          <p:cNvSpPr txBox="1"/>
          <p:nvPr/>
        </p:nvSpPr>
        <p:spPr>
          <a:xfrm>
            <a:off x="7040880" y="3703320"/>
            <a:ext cx="4325112" cy="1645920"/>
          </a:xfrm>
          <a:prstGeom prst="rect">
            <a:avLst/>
          </a:prstGeom>
          <a:noFill/>
          <a:ln/>
        </p:spPr>
        <p:txBody>
          <a:bodyPr wrap="square" lIns="0" tIns="0" rIns="0" bIns="0" rtlCol="0" anchor="t"/>
          <a:lstStyle/>
          <a:p>
            <a:pPr marL="0" indent="0" algn="ctr" rtl="1">
              <a:buNone/>
            </a:pPr>
            <a:r>
              <a:rPr lang="he-IL" altLang="en-US" sz="1600" dirty="0">
                <a:solidFill>
                  <a:srgbClr val="FFFFFF"/>
                </a:solidFill>
                <a:latin typeface="Arial" pitchFamily="34" charset="0"/>
                <a:ea typeface="Arial" pitchFamily="34" charset="-122"/>
                <a:cs typeface="Arial" pitchFamily="34" charset="-120"/>
              </a:rPr>
              <a:t>ריבוי תחלואה טרשתית (CVA, IHD, צנתור), השמנה משמעותית וכבד שומני מעמידים את המטופל בסיכון קרדיווסקולרי ומוחי גבוה במיוחד ומחייבים הגנה וסקולרית ממוקדת.</a:t>
            </a:r>
            <a:endParaRPr lang="he-IL" sz="16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בדיקה גופנית ומדדי סימנים חיוניים</a:t>
            </a:r>
            <a:endParaRPr lang="he-IL" sz="2600" dirty="0"/>
          </a:p>
        </p:txBody>
      </p:sp>
      <p:sp>
        <p:nvSpPr>
          <p:cNvPr id="5" name="Shape 3"/>
          <p:cNvSpPr/>
          <p:nvPr/>
        </p:nvSpPr>
        <p:spPr>
          <a:xfrm>
            <a:off x="8127797"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858539" y="1773936"/>
            <a:ext cx="654632" cy="566928"/>
          </a:xfrm>
          <a:prstGeom prst="hexagon">
            <a:avLst/>
          </a:prstGeom>
          <a:solidFill>
            <a:srgbClr val="C2486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5462" y="1927007"/>
            <a:ext cx="260787" cy="260787"/>
          </a:xfrm>
          <a:prstGeom prst="rect">
            <a:avLst/>
          </a:prstGeom>
        </p:spPr>
      </p:pic>
      <p:sp>
        <p:nvSpPr>
          <p:cNvPr id="8" name="Text 5"/>
          <p:cNvSpPr txBox="1"/>
          <p:nvPr/>
        </p:nvSpPr>
        <p:spPr>
          <a:xfrm>
            <a:off x="8310677"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לחץ דם</a:t>
            </a:r>
            <a:endParaRPr lang="he-IL" sz="1400" dirty="0"/>
          </a:p>
        </p:txBody>
      </p:sp>
      <p:sp>
        <p:nvSpPr>
          <p:cNvPr id="9" name="Text 6"/>
          <p:cNvSpPr txBox="1"/>
          <p:nvPr/>
        </p:nvSpPr>
        <p:spPr>
          <a:xfrm>
            <a:off x="8310677" y="20574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158/72 mmHg</a:t>
            </a:r>
            <a:endParaRPr lang="en-US" sz="2300" dirty="0"/>
          </a:p>
        </p:txBody>
      </p:sp>
      <p:sp>
        <p:nvSpPr>
          <p:cNvPr id="10" name="Text 7"/>
          <p:cNvSpPr txBox="1"/>
          <p:nvPr/>
        </p:nvSpPr>
        <p:spPr>
          <a:xfrm>
            <a:off x="8310677"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לחץ דם סיסטולי</a:t>
            </a:r>
            <a:endParaRPr lang="he-IL" sz="1300" dirty="0"/>
          </a:p>
        </p:txBody>
      </p:sp>
      <p:sp>
        <p:nvSpPr>
          <p:cNvPr id="11" name="Shape 8"/>
          <p:cNvSpPr/>
          <p:nvPr/>
        </p:nvSpPr>
        <p:spPr>
          <a:xfrm>
            <a:off x="4338218"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7068961" y="1773936"/>
            <a:ext cx="654632" cy="566928"/>
          </a:xfrm>
          <a:prstGeom prst="hexagon">
            <a:avLst/>
          </a:prstGeom>
          <a:solidFill>
            <a:srgbClr val="4A90D0"/>
          </a:solidFill>
          <a:ln/>
        </p:spPr>
        <p:txBody>
          <a:bodyPr/>
          <a:lstStyle/>
          <a:p>
            <a:endParaRPr lang="he-IL"/>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65883" y="1927007"/>
            <a:ext cx="260787" cy="260787"/>
          </a:xfrm>
          <a:prstGeom prst="rect">
            <a:avLst/>
          </a:prstGeom>
        </p:spPr>
      </p:pic>
      <p:sp>
        <p:nvSpPr>
          <p:cNvPr id="14" name="Text 10"/>
          <p:cNvSpPr txBox="1"/>
          <p:nvPr/>
        </p:nvSpPr>
        <p:spPr>
          <a:xfrm>
            <a:off x="4521098"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דופק</a:t>
            </a:r>
            <a:endParaRPr lang="he-IL" sz="1400" dirty="0"/>
          </a:p>
        </p:txBody>
      </p:sp>
      <p:sp>
        <p:nvSpPr>
          <p:cNvPr id="15" name="Text 11"/>
          <p:cNvSpPr txBox="1"/>
          <p:nvPr/>
        </p:nvSpPr>
        <p:spPr>
          <a:xfrm>
            <a:off x="4521098" y="20574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80 פעימות לדקה</a:t>
            </a:r>
            <a:endParaRPr lang="he-IL" sz="2300" dirty="0"/>
          </a:p>
        </p:txBody>
      </p:sp>
      <p:sp>
        <p:nvSpPr>
          <p:cNvPr id="16" name="Text 12"/>
          <p:cNvSpPr txBox="1"/>
          <p:nvPr/>
        </p:nvSpPr>
        <p:spPr>
          <a:xfrm>
            <a:off x="4521098"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(סדיר)</a:t>
            </a:r>
            <a:endParaRPr lang="he-IL" sz="1300" dirty="0"/>
          </a:p>
        </p:txBody>
      </p:sp>
      <p:sp>
        <p:nvSpPr>
          <p:cNvPr id="17" name="Shape 13"/>
          <p:cNvSpPr/>
          <p:nvPr/>
        </p:nvSpPr>
        <p:spPr>
          <a:xfrm>
            <a:off x="548640"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3279383" y="1773936"/>
            <a:ext cx="654632" cy="566928"/>
          </a:xfrm>
          <a:prstGeom prst="hexagon">
            <a:avLst/>
          </a:prstGeom>
          <a:solidFill>
            <a:srgbClr val="5B6BB5"/>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476305" y="1927007"/>
            <a:ext cx="260787" cy="260787"/>
          </a:xfrm>
          <a:prstGeom prst="rect">
            <a:avLst/>
          </a:prstGeom>
        </p:spPr>
      </p:pic>
      <p:sp>
        <p:nvSpPr>
          <p:cNvPr id="20" name="Text 15"/>
          <p:cNvSpPr txBox="1"/>
          <p:nvPr/>
        </p:nvSpPr>
        <p:spPr>
          <a:xfrm>
            <a:off x="731520"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משקל וגובה</a:t>
            </a:r>
            <a:endParaRPr lang="he-IL" sz="1400" dirty="0"/>
          </a:p>
        </p:txBody>
      </p:sp>
      <p:sp>
        <p:nvSpPr>
          <p:cNvPr id="21" name="Text 16"/>
          <p:cNvSpPr txBox="1"/>
          <p:nvPr/>
        </p:nvSpPr>
        <p:spPr>
          <a:xfrm>
            <a:off x="731520" y="20574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96 ק"ג | 163 ס"מ</a:t>
            </a:r>
            <a:endParaRPr lang="he-IL" sz="2300" dirty="0"/>
          </a:p>
        </p:txBody>
      </p:sp>
      <p:sp>
        <p:nvSpPr>
          <p:cNvPr id="22" name="Text 17"/>
          <p:cNvSpPr txBox="1"/>
          <p:nvPr/>
        </p:nvSpPr>
        <p:spPr>
          <a:xfrm>
            <a:off x="731520"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משקל בביקור ראשון</a:t>
            </a:r>
            <a:endParaRPr lang="he-IL" sz="1300" dirty="0"/>
          </a:p>
        </p:txBody>
      </p:sp>
      <p:sp>
        <p:nvSpPr>
          <p:cNvPr id="23" name="Shape 18"/>
          <p:cNvSpPr/>
          <p:nvPr/>
        </p:nvSpPr>
        <p:spPr>
          <a:xfrm>
            <a:off x="8127797"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Shape 19"/>
          <p:cNvSpPr/>
          <p:nvPr/>
        </p:nvSpPr>
        <p:spPr>
          <a:xfrm rot="5400000">
            <a:off x="10858539" y="3374136"/>
            <a:ext cx="654632" cy="566928"/>
          </a:xfrm>
          <a:prstGeom prst="hexagon">
            <a:avLst/>
          </a:prstGeom>
          <a:solidFill>
            <a:srgbClr val="6E4494"/>
          </a:solidFill>
          <a:ln/>
        </p:spPr>
        <p:txBody>
          <a:bodyPr/>
          <a:lstStyle/>
          <a:p>
            <a:endParaRPr lang="he-IL"/>
          </a:p>
        </p:txBody>
      </p:sp>
      <p:pic>
        <p:nvPicPr>
          <p:cNvPr id="25"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055462" y="3527207"/>
            <a:ext cx="260787" cy="260787"/>
          </a:xfrm>
          <a:prstGeom prst="rect">
            <a:avLst/>
          </a:prstGeom>
        </p:spPr>
      </p:pic>
      <p:sp>
        <p:nvSpPr>
          <p:cNvPr id="26" name="Text 20"/>
          <p:cNvSpPr txBox="1"/>
          <p:nvPr/>
        </p:nvSpPr>
        <p:spPr>
          <a:xfrm>
            <a:off x="8310677"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BMI (מדד מסת גוף)</a:t>
            </a:r>
            <a:endParaRPr lang="he-IL" sz="1400" dirty="0"/>
          </a:p>
        </p:txBody>
      </p:sp>
      <p:sp>
        <p:nvSpPr>
          <p:cNvPr id="27" name="Text 21"/>
          <p:cNvSpPr txBox="1"/>
          <p:nvPr/>
        </p:nvSpPr>
        <p:spPr>
          <a:xfrm>
            <a:off x="8310677" y="36576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36.1</a:t>
            </a:r>
            <a:endParaRPr lang="en-US" sz="2300" dirty="0"/>
          </a:p>
        </p:txBody>
      </p:sp>
      <p:sp>
        <p:nvSpPr>
          <p:cNvPr id="28" name="Text 22"/>
          <p:cNvSpPr txBox="1"/>
          <p:nvPr/>
        </p:nvSpPr>
        <p:spPr>
          <a:xfrm>
            <a:off x="8310677"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היקף מותניים: 98 ס"מ</a:t>
            </a:r>
            <a:endParaRPr lang="he-IL" sz="1300" dirty="0"/>
          </a:p>
        </p:txBody>
      </p:sp>
      <p:sp>
        <p:nvSpPr>
          <p:cNvPr id="29" name="Shape 23"/>
          <p:cNvSpPr/>
          <p:nvPr/>
        </p:nvSpPr>
        <p:spPr>
          <a:xfrm>
            <a:off x="4338218"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0" name="Shape 24"/>
          <p:cNvSpPr/>
          <p:nvPr/>
        </p:nvSpPr>
        <p:spPr>
          <a:xfrm rot="5400000">
            <a:off x="7068961" y="3374136"/>
            <a:ext cx="654632" cy="566928"/>
          </a:xfrm>
          <a:prstGeom prst="hexagon">
            <a:avLst/>
          </a:prstGeom>
          <a:solidFill>
            <a:srgbClr val="5B6BB5"/>
          </a:solidFill>
          <a:ln/>
        </p:spPr>
        <p:txBody>
          <a:bodyPr/>
          <a:lstStyle/>
          <a:p>
            <a:endParaRPr lang="he-IL"/>
          </a:p>
        </p:txBody>
      </p:sp>
      <p:pic>
        <p:nvPicPr>
          <p:cNvPr id="31"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265883" y="3527207"/>
            <a:ext cx="260787" cy="260787"/>
          </a:xfrm>
          <a:prstGeom prst="rect">
            <a:avLst/>
          </a:prstGeom>
        </p:spPr>
      </p:pic>
      <p:sp>
        <p:nvSpPr>
          <p:cNvPr id="32" name="Text 25"/>
          <p:cNvSpPr txBox="1"/>
          <p:nvPr/>
        </p:nvSpPr>
        <p:spPr>
          <a:xfrm>
            <a:off x="4521098"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הרגל עישון</a:t>
            </a:r>
            <a:endParaRPr lang="he-IL" sz="1400" dirty="0"/>
          </a:p>
        </p:txBody>
      </p:sp>
      <p:sp>
        <p:nvSpPr>
          <p:cNvPr id="33" name="Text 26"/>
          <p:cNvSpPr txBox="1"/>
          <p:nvPr/>
        </p:nvSpPr>
        <p:spPr>
          <a:xfrm>
            <a:off x="4521098" y="36576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מעשן בעבר</a:t>
            </a:r>
            <a:endParaRPr lang="he-IL" sz="2300" dirty="0"/>
          </a:p>
        </p:txBody>
      </p:sp>
      <p:sp>
        <p:nvSpPr>
          <p:cNvPr id="34" name="Text 27"/>
          <p:cNvSpPr txBox="1"/>
          <p:nvPr/>
        </p:nvSpPr>
        <p:spPr>
          <a:xfrm>
            <a:off x="4521098"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(הפסיק ב-2012)</a:t>
            </a:r>
            <a:endParaRPr lang="he-IL" sz="1300" dirty="0"/>
          </a:p>
        </p:txBody>
      </p:sp>
      <p:sp>
        <p:nvSpPr>
          <p:cNvPr id="35" name="Shape 28"/>
          <p:cNvSpPr/>
          <p:nvPr/>
        </p:nvSpPr>
        <p:spPr>
          <a:xfrm>
            <a:off x="548640"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6" name="Shape 29"/>
          <p:cNvSpPr/>
          <p:nvPr/>
        </p:nvSpPr>
        <p:spPr>
          <a:xfrm rot="5400000">
            <a:off x="3279383" y="3374136"/>
            <a:ext cx="654632" cy="566928"/>
          </a:xfrm>
          <a:prstGeom prst="hexagon">
            <a:avLst/>
          </a:prstGeom>
          <a:solidFill>
            <a:srgbClr val="1F8F83"/>
          </a:solidFill>
          <a:ln/>
        </p:spPr>
        <p:txBody>
          <a:bodyPr/>
          <a:lstStyle/>
          <a:p>
            <a:endParaRPr lang="he-IL"/>
          </a:p>
        </p:txBody>
      </p:sp>
      <p:pic>
        <p:nvPicPr>
          <p:cNvPr id="37"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76305" y="3527207"/>
            <a:ext cx="260787" cy="260787"/>
          </a:xfrm>
          <a:prstGeom prst="rect">
            <a:avLst/>
          </a:prstGeom>
        </p:spPr>
      </p:pic>
      <p:sp>
        <p:nvSpPr>
          <p:cNvPr id="38" name="Text 30"/>
          <p:cNvSpPr txBox="1"/>
          <p:nvPr/>
        </p:nvSpPr>
        <p:spPr>
          <a:xfrm>
            <a:off x="731520"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בדיקת עיניים (רטינה)</a:t>
            </a:r>
            <a:endParaRPr lang="he-IL" sz="1400" dirty="0"/>
          </a:p>
        </p:txBody>
      </p:sp>
      <p:sp>
        <p:nvSpPr>
          <p:cNvPr id="39" name="Text 31"/>
          <p:cNvSpPr txBox="1"/>
          <p:nvPr/>
        </p:nvSpPr>
        <p:spPr>
          <a:xfrm>
            <a:off x="731520" y="36576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NODR</a:t>
            </a:r>
            <a:endParaRPr lang="en-US" sz="2300" dirty="0"/>
          </a:p>
        </p:txBody>
      </p:sp>
      <p:sp>
        <p:nvSpPr>
          <p:cNvPr id="40" name="Text 32"/>
          <p:cNvSpPr txBox="1"/>
          <p:nvPr/>
        </p:nvSpPr>
        <p:spPr>
          <a:xfrm>
            <a:off x="731520"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(ללא רטינופתיה סוכרתית)</a:t>
            </a:r>
            <a:endParaRPr lang="he-IL" sz="1300" dirty="0"/>
          </a:p>
        </p:txBody>
      </p:sp>
      <p:sp>
        <p:nvSpPr>
          <p:cNvPr id="41" name="Shape 33"/>
          <p:cNvSpPr/>
          <p:nvPr/>
        </p:nvSpPr>
        <p:spPr>
          <a:xfrm>
            <a:off x="548640" y="4846320"/>
            <a:ext cx="11094415" cy="1234440"/>
          </a:xfrm>
          <a:prstGeom prst="roundRect">
            <a:avLst>
              <a:gd name="adj" fmla="val 8889"/>
            </a:avLst>
          </a:prstGeom>
          <a:solidFill>
            <a:srgbClr val="FBECEF"/>
          </a:solidFill>
          <a:ln/>
        </p:spPr>
        <p:txBody>
          <a:bodyPr/>
          <a:lstStyle/>
          <a:p>
            <a:endParaRPr lang="he-IL"/>
          </a:p>
        </p:txBody>
      </p:sp>
      <p:sp>
        <p:nvSpPr>
          <p:cNvPr id="42" name="Shape 34"/>
          <p:cNvSpPr/>
          <p:nvPr/>
        </p:nvSpPr>
        <p:spPr>
          <a:xfrm rot="5400000">
            <a:off x="10803675" y="5180076"/>
            <a:ext cx="654632" cy="566928"/>
          </a:xfrm>
          <a:prstGeom prst="hexagon">
            <a:avLst/>
          </a:prstGeom>
          <a:solidFill>
            <a:srgbClr val="C24863"/>
          </a:solidFill>
          <a:ln/>
        </p:spPr>
        <p:txBody>
          <a:bodyPr/>
          <a:lstStyle/>
          <a:p>
            <a:endParaRPr lang="he-IL"/>
          </a:p>
        </p:txBody>
      </p:sp>
      <p:pic>
        <p:nvPicPr>
          <p:cNvPr id="43" name="Image 6" descr="preencoded.png"/>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000598" y="5333147"/>
            <a:ext cx="260787" cy="260787"/>
          </a:xfrm>
          <a:prstGeom prst="rect">
            <a:avLst/>
          </a:prstGeom>
        </p:spPr>
      </p:pic>
      <p:sp>
        <p:nvSpPr>
          <p:cNvPr id="44" name="Text 35"/>
          <p:cNvSpPr txBox="1"/>
          <p:nvPr/>
        </p:nvSpPr>
        <p:spPr>
          <a:xfrm>
            <a:off x="777240" y="4983480"/>
            <a:ext cx="9978847" cy="96012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C24863"/>
                </a:solidFill>
                <a:latin typeface="Arial" pitchFamily="34" charset="0"/>
                <a:ea typeface="Arial" pitchFamily="34" charset="-122"/>
                <a:cs typeface="Arial" pitchFamily="34" charset="-120"/>
              </a:rPr>
              <a:t>בדיקת כפות רגליים:</a:t>
            </a:r>
            <a:endParaRPr lang="he-IL" sz="1400" dirty="0"/>
          </a:p>
          <a:p>
            <a:pPr marL="0" indent="0" algn="r" rtl="1">
              <a:spcAft>
                <a:spcPts val="400"/>
              </a:spcAft>
              <a:buNone/>
            </a:pPr>
            <a:r>
              <a:rPr lang="he-IL" altLang="en-US" sz="1400" dirty="0">
                <a:solidFill>
                  <a:srgbClr val="2E2A47"/>
                </a:solidFill>
                <a:latin typeface="Arial" pitchFamily="34" charset="0"/>
                <a:ea typeface="Arial" pitchFamily="34" charset="-122"/>
                <a:cs typeface="Arial" pitchFamily="34" charset="-120"/>
              </a:rPr>
              <a:t>דופק טיבאלי חלש ברגל ימין עם נוכחות של כיב פעיל מטופל במרפאת פצע</a:t>
            </a:r>
            <a:endParaRPr lang="he-IL" sz="1400" dirty="0"/>
          </a:p>
        </p:txBody>
      </p:sp>
      <p:sp>
        <p:nvSpPr>
          <p:cNvPr id="4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בדיקות מעבדה בסיסיות (Baseline Laboratory)</a:t>
            </a:r>
            <a:endParaRPr lang="he-IL" sz="2600" dirty="0"/>
          </a:p>
        </p:txBody>
      </p:sp>
      <p:sp>
        <p:nvSpPr>
          <p:cNvPr id="5" name="Shape 3"/>
          <p:cNvSpPr/>
          <p:nvPr/>
        </p:nvSpPr>
        <p:spPr>
          <a:xfrm>
            <a:off x="8097317"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1154078" y="1755648"/>
            <a:ext cx="337874" cy="292608"/>
          </a:xfrm>
          <a:prstGeom prst="hexagon">
            <a:avLst/>
          </a:prstGeom>
          <a:solidFill>
            <a:srgbClr val="C24863"/>
          </a:solidFill>
          <a:ln/>
        </p:spPr>
        <p:txBody>
          <a:bodyPr/>
          <a:lstStyle/>
          <a:p>
            <a:endParaRPr lang="he-IL"/>
          </a:p>
        </p:txBody>
      </p:sp>
      <p:sp>
        <p:nvSpPr>
          <p:cNvPr id="7" name="Text 5"/>
          <p:cNvSpPr txBox="1"/>
          <p:nvPr/>
        </p:nvSpPr>
        <p:spPr>
          <a:xfrm>
            <a:off x="8280197"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HbA1C בסיס</a:t>
            </a:r>
            <a:endParaRPr lang="he-IL" sz="1500" dirty="0"/>
          </a:p>
        </p:txBody>
      </p:sp>
      <p:sp>
        <p:nvSpPr>
          <p:cNvPr id="8" name="Text 6"/>
          <p:cNvSpPr txBox="1"/>
          <p:nvPr/>
        </p:nvSpPr>
        <p:spPr>
          <a:xfrm>
            <a:off x="8280197"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C24863"/>
                </a:solidFill>
                <a:latin typeface="Arial" pitchFamily="34" charset="0"/>
                <a:ea typeface="Arial" pitchFamily="34" charset="-122"/>
                <a:cs typeface="Arial" pitchFamily="34" charset="-120"/>
              </a:rPr>
              <a:t>13.4%</a:t>
            </a:r>
            <a:endParaRPr lang="en-US" sz="3000" dirty="0"/>
          </a:p>
        </p:txBody>
      </p:sp>
      <p:sp>
        <p:nvSpPr>
          <p:cNvPr id="9" name="Text 7"/>
          <p:cNvSpPr txBox="1"/>
          <p:nvPr/>
        </p:nvSpPr>
        <p:spPr>
          <a:xfrm>
            <a:off x="8280197" y="2926080"/>
            <a:ext cx="3179978"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(דצמבר 2025)</a:t>
            </a:r>
            <a:endParaRPr lang="he-IL" sz="1300" dirty="0"/>
          </a:p>
        </p:txBody>
      </p:sp>
      <p:sp>
        <p:nvSpPr>
          <p:cNvPr id="10" name="Shape 8"/>
          <p:cNvSpPr/>
          <p:nvPr/>
        </p:nvSpPr>
        <p:spPr>
          <a:xfrm>
            <a:off x="4322978"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9"/>
          <p:cNvSpPr/>
          <p:nvPr/>
        </p:nvSpPr>
        <p:spPr>
          <a:xfrm rot="5400000">
            <a:off x="7379740" y="1755648"/>
            <a:ext cx="337874" cy="292608"/>
          </a:xfrm>
          <a:prstGeom prst="hexagon">
            <a:avLst/>
          </a:prstGeom>
          <a:solidFill>
            <a:srgbClr val="C24863"/>
          </a:solidFill>
          <a:ln/>
        </p:spPr>
        <p:txBody>
          <a:bodyPr/>
          <a:lstStyle/>
          <a:p>
            <a:endParaRPr lang="he-IL"/>
          </a:p>
        </p:txBody>
      </p:sp>
      <p:sp>
        <p:nvSpPr>
          <p:cNvPr id="12" name="Text 10"/>
          <p:cNvSpPr txBox="1"/>
          <p:nvPr/>
        </p:nvSpPr>
        <p:spPr>
          <a:xfrm>
            <a:off x="4505858"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גלוקוז בצום</a:t>
            </a:r>
            <a:endParaRPr lang="he-IL" sz="1500" dirty="0"/>
          </a:p>
        </p:txBody>
      </p:sp>
      <p:sp>
        <p:nvSpPr>
          <p:cNvPr id="13" name="Text 11"/>
          <p:cNvSpPr txBox="1"/>
          <p:nvPr/>
        </p:nvSpPr>
        <p:spPr>
          <a:xfrm>
            <a:off x="4505858"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C24863"/>
                </a:solidFill>
                <a:latin typeface="Arial" pitchFamily="34" charset="0"/>
                <a:ea typeface="Arial" pitchFamily="34" charset="-122"/>
                <a:cs typeface="Arial" pitchFamily="34" charset="-120"/>
              </a:rPr>
              <a:t>220 mg/dL</a:t>
            </a:r>
            <a:endParaRPr lang="en-US" sz="3000" dirty="0"/>
          </a:p>
        </p:txBody>
      </p:sp>
      <p:sp>
        <p:nvSpPr>
          <p:cNvPr id="14" name="Text 12"/>
          <p:cNvSpPr txBox="1"/>
          <p:nvPr/>
        </p:nvSpPr>
        <p:spPr>
          <a:xfrm>
            <a:off x="4505858" y="2926080"/>
            <a:ext cx="3179978"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תוצאת מעבדה (H)</a:t>
            </a:r>
            <a:endParaRPr lang="he-IL" sz="1300" dirty="0"/>
          </a:p>
        </p:txBody>
      </p:sp>
      <p:sp>
        <p:nvSpPr>
          <p:cNvPr id="15" name="Shape 13"/>
          <p:cNvSpPr/>
          <p:nvPr/>
        </p:nvSpPr>
        <p:spPr>
          <a:xfrm>
            <a:off x="548640"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4"/>
          <p:cNvSpPr/>
          <p:nvPr/>
        </p:nvSpPr>
        <p:spPr>
          <a:xfrm rot="5400000">
            <a:off x="3605401" y="1755648"/>
            <a:ext cx="337874" cy="292608"/>
          </a:xfrm>
          <a:prstGeom prst="hexagon">
            <a:avLst/>
          </a:prstGeom>
          <a:solidFill>
            <a:srgbClr val="B8741A"/>
          </a:solidFill>
          <a:ln/>
        </p:spPr>
        <p:txBody>
          <a:bodyPr/>
          <a:lstStyle/>
          <a:p>
            <a:endParaRPr lang="he-IL"/>
          </a:p>
        </p:txBody>
      </p:sp>
      <p:sp>
        <p:nvSpPr>
          <p:cNvPr id="17" name="Text 15"/>
          <p:cNvSpPr txBox="1"/>
          <p:nvPr/>
        </p:nvSpPr>
        <p:spPr>
          <a:xfrm>
            <a:off x="731520"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LDL-Cholesterol</a:t>
            </a:r>
            <a:endParaRPr lang="he-IL" sz="1500" dirty="0"/>
          </a:p>
        </p:txBody>
      </p:sp>
      <p:sp>
        <p:nvSpPr>
          <p:cNvPr id="18" name="Text 16"/>
          <p:cNvSpPr txBox="1"/>
          <p:nvPr/>
        </p:nvSpPr>
        <p:spPr>
          <a:xfrm>
            <a:off x="731520"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B8741A"/>
                </a:solidFill>
                <a:latin typeface="Arial" pitchFamily="34" charset="0"/>
                <a:ea typeface="Arial" pitchFamily="34" charset="-122"/>
                <a:cs typeface="Arial" pitchFamily="34" charset="-120"/>
              </a:rPr>
              <a:t>121 mg/dL</a:t>
            </a:r>
            <a:endParaRPr lang="en-US" sz="3000" dirty="0"/>
          </a:p>
        </p:txBody>
      </p:sp>
      <p:sp>
        <p:nvSpPr>
          <p:cNvPr id="19" name="Shape 17"/>
          <p:cNvSpPr/>
          <p:nvPr/>
        </p:nvSpPr>
        <p:spPr>
          <a:xfrm>
            <a:off x="6208776" y="3886200"/>
            <a:ext cx="3602736"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8"/>
          <p:cNvSpPr/>
          <p:nvPr/>
        </p:nvSpPr>
        <p:spPr>
          <a:xfrm rot="5400000">
            <a:off x="9322535" y="4087368"/>
            <a:ext cx="337874" cy="292608"/>
          </a:xfrm>
          <a:prstGeom prst="hexagon">
            <a:avLst/>
          </a:prstGeom>
          <a:solidFill>
            <a:srgbClr val="B8741A"/>
          </a:solidFill>
          <a:ln/>
        </p:spPr>
        <p:txBody>
          <a:bodyPr/>
          <a:lstStyle/>
          <a:p>
            <a:endParaRPr lang="he-IL"/>
          </a:p>
        </p:txBody>
      </p:sp>
      <p:sp>
        <p:nvSpPr>
          <p:cNvPr id="21" name="Text 19"/>
          <p:cNvSpPr txBox="1"/>
          <p:nvPr/>
        </p:nvSpPr>
        <p:spPr>
          <a:xfrm>
            <a:off x="6391656" y="4069080"/>
            <a:ext cx="2916936"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ACR (חלבון בשתן)</a:t>
            </a:r>
            <a:endParaRPr lang="he-IL" sz="1500" dirty="0"/>
          </a:p>
        </p:txBody>
      </p:sp>
      <p:sp>
        <p:nvSpPr>
          <p:cNvPr id="22" name="Text 20"/>
          <p:cNvSpPr txBox="1"/>
          <p:nvPr/>
        </p:nvSpPr>
        <p:spPr>
          <a:xfrm>
            <a:off x="6391656" y="4526280"/>
            <a:ext cx="3236976" cy="640080"/>
          </a:xfrm>
          <a:prstGeom prst="rect">
            <a:avLst/>
          </a:prstGeom>
          <a:noFill/>
          <a:ln/>
        </p:spPr>
        <p:txBody>
          <a:bodyPr wrap="square" lIns="0" tIns="0" rIns="0" bIns="0" rtlCol="0" anchor="ctr"/>
          <a:lstStyle/>
          <a:p>
            <a:pPr marL="0" indent="0" algn="r">
              <a:buNone/>
            </a:pPr>
            <a:r>
              <a:rPr lang="en-US" altLang="en-US" sz="3000" b="1" dirty="0">
                <a:solidFill>
                  <a:srgbClr val="B8741A"/>
                </a:solidFill>
                <a:latin typeface="Arial" pitchFamily="34" charset="0"/>
                <a:ea typeface="Arial" pitchFamily="34" charset="-122"/>
                <a:cs typeface="Arial" pitchFamily="34" charset="-120"/>
              </a:rPr>
              <a:t>180 mg/g</a:t>
            </a:r>
            <a:endParaRPr lang="en-US" sz="3000" dirty="0"/>
          </a:p>
        </p:txBody>
      </p:sp>
      <p:sp>
        <p:nvSpPr>
          <p:cNvPr id="23" name="Text 21"/>
          <p:cNvSpPr txBox="1"/>
          <p:nvPr/>
        </p:nvSpPr>
        <p:spPr>
          <a:xfrm>
            <a:off x="6391656" y="5257800"/>
            <a:ext cx="3236976"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(מיקרואלבומינוריה)</a:t>
            </a:r>
            <a:endParaRPr lang="he-IL" sz="1300" dirty="0"/>
          </a:p>
        </p:txBody>
      </p:sp>
      <p:sp>
        <p:nvSpPr>
          <p:cNvPr id="24" name="Shape 22"/>
          <p:cNvSpPr/>
          <p:nvPr/>
        </p:nvSpPr>
        <p:spPr>
          <a:xfrm>
            <a:off x="2377440" y="3886200"/>
            <a:ext cx="3602736"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3"/>
          <p:cNvSpPr/>
          <p:nvPr/>
        </p:nvSpPr>
        <p:spPr>
          <a:xfrm rot="5400000">
            <a:off x="5491199" y="4087368"/>
            <a:ext cx="337874" cy="292608"/>
          </a:xfrm>
          <a:prstGeom prst="hexagon">
            <a:avLst/>
          </a:prstGeom>
          <a:solidFill>
            <a:srgbClr val="1F8F83"/>
          </a:solidFill>
          <a:ln/>
        </p:spPr>
        <p:txBody>
          <a:bodyPr/>
          <a:lstStyle/>
          <a:p>
            <a:endParaRPr lang="he-IL"/>
          </a:p>
        </p:txBody>
      </p:sp>
      <p:sp>
        <p:nvSpPr>
          <p:cNvPr id="26" name="Text 24"/>
          <p:cNvSpPr txBox="1"/>
          <p:nvPr/>
        </p:nvSpPr>
        <p:spPr>
          <a:xfrm>
            <a:off x="2560320" y="4069080"/>
            <a:ext cx="2916936"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eGFR (תפקוד כליות)</a:t>
            </a:r>
            <a:endParaRPr lang="he-IL" sz="1500" dirty="0"/>
          </a:p>
        </p:txBody>
      </p:sp>
      <p:sp>
        <p:nvSpPr>
          <p:cNvPr id="27" name="Text 25"/>
          <p:cNvSpPr txBox="1"/>
          <p:nvPr/>
        </p:nvSpPr>
        <p:spPr>
          <a:xfrm>
            <a:off x="2560320" y="4526280"/>
            <a:ext cx="3236976" cy="640080"/>
          </a:xfrm>
          <a:prstGeom prst="rect">
            <a:avLst/>
          </a:prstGeom>
          <a:noFill/>
          <a:ln/>
        </p:spPr>
        <p:txBody>
          <a:bodyPr wrap="square" lIns="0" tIns="0" rIns="0" bIns="0" rtlCol="0" anchor="ctr"/>
          <a:lstStyle/>
          <a:p>
            <a:pPr marL="0" indent="0" algn="r">
              <a:buNone/>
            </a:pPr>
            <a:r>
              <a:rPr lang="en-US" altLang="en-US" sz="3000" b="1" dirty="0">
                <a:solidFill>
                  <a:srgbClr val="1F8F83"/>
                </a:solidFill>
                <a:latin typeface="Arial" pitchFamily="34" charset="0"/>
                <a:ea typeface="Arial" pitchFamily="34" charset="-122"/>
                <a:cs typeface="Arial" pitchFamily="34" charset="-120"/>
              </a:rPr>
              <a:t>75 mL/min</a:t>
            </a:r>
            <a:endParaRPr lang="en-US" sz="3000" dirty="0"/>
          </a:p>
        </p:txBody>
      </p:sp>
      <p:sp>
        <p:nvSpPr>
          <p:cNvPr id="28"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טיפול תרופתי נוכחי בביקור הראשון</a:t>
            </a:r>
            <a:endParaRPr lang="he-IL" sz="2600" dirty="0"/>
          </a:p>
        </p:txBody>
      </p:sp>
      <p:sp>
        <p:nvSpPr>
          <p:cNvPr id="5" name="Shape 3"/>
          <p:cNvSpPr/>
          <p:nvPr/>
        </p:nvSpPr>
        <p:spPr>
          <a:xfrm>
            <a:off x="8127797"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25376" y="1700784"/>
            <a:ext cx="612397" cy="530352"/>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09594" y="1843979"/>
            <a:ext cx="243962" cy="243962"/>
          </a:xfrm>
          <a:prstGeom prst="rect">
            <a:avLst/>
          </a:prstGeom>
        </p:spPr>
      </p:pic>
      <p:sp>
        <p:nvSpPr>
          <p:cNvPr id="8" name="Text 5"/>
          <p:cNvSpPr txBox="1"/>
          <p:nvPr/>
        </p:nvSpPr>
        <p:spPr>
          <a:xfrm>
            <a:off x="8292389"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INS DEGLUDEC 100U/1ML (טרגלודק)</a:t>
            </a:r>
            <a:endParaRPr lang="en-US" sz="1100" dirty="0"/>
          </a:p>
        </p:txBody>
      </p:sp>
      <p:sp>
        <p:nvSpPr>
          <p:cNvPr id="9" name="Text 6"/>
          <p:cNvSpPr txBox="1"/>
          <p:nvPr/>
        </p:nvSpPr>
        <p:spPr>
          <a:xfrm>
            <a:off x="8292389"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40 יחידות פעם ביום</a:t>
            </a:r>
            <a:endParaRPr lang="he-IL" sz="1400" dirty="0"/>
          </a:p>
        </p:txBody>
      </p:sp>
      <p:sp>
        <p:nvSpPr>
          <p:cNvPr id="10" name="Text 7"/>
          <p:cNvSpPr txBox="1"/>
          <p:nvPr/>
        </p:nvSpPr>
        <p:spPr>
          <a:xfrm>
            <a:off x="8292389"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אינסולין בזאלי פעם ביום</a:t>
            </a:r>
            <a:endParaRPr lang="he-IL" sz="1200" dirty="0"/>
          </a:p>
        </p:txBody>
      </p:sp>
      <p:sp>
        <p:nvSpPr>
          <p:cNvPr id="11" name="Shape 8"/>
          <p:cNvSpPr/>
          <p:nvPr/>
        </p:nvSpPr>
        <p:spPr>
          <a:xfrm>
            <a:off x="4338218"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7135798" y="1700784"/>
            <a:ext cx="612397" cy="530352"/>
          </a:xfrm>
          <a:prstGeom prst="hexagon">
            <a:avLst/>
          </a:prstGeom>
          <a:solidFill>
            <a:srgbClr val="4A90D0"/>
          </a:solidFill>
          <a:ln/>
        </p:spPr>
        <p:txBody>
          <a:bodyPr/>
          <a:lstStyle/>
          <a:p>
            <a:endParaRPr lang="he-IL"/>
          </a:p>
        </p:txBody>
      </p:sp>
      <p:pic>
        <p:nvPicPr>
          <p:cNvPr id="13"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20016" y="1843979"/>
            <a:ext cx="243962" cy="243962"/>
          </a:xfrm>
          <a:prstGeom prst="rect">
            <a:avLst/>
          </a:prstGeom>
        </p:spPr>
      </p:pic>
      <p:sp>
        <p:nvSpPr>
          <p:cNvPr id="14" name="Text 10"/>
          <p:cNvSpPr txBox="1"/>
          <p:nvPr/>
        </p:nvSpPr>
        <p:spPr>
          <a:xfrm>
            <a:off x="4502810"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SEMAGLUTIDE 1MG (סמגלוטייד 1 מ"ג - אוזמפיק)</a:t>
            </a:r>
            <a:endParaRPr lang="en-US" sz="1100" dirty="0"/>
          </a:p>
        </p:txBody>
      </p:sp>
      <p:sp>
        <p:nvSpPr>
          <p:cNvPr id="15" name="Text 11"/>
          <p:cNvSpPr txBox="1"/>
          <p:nvPr/>
        </p:nvSpPr>
        <p:spPr>
          <a:xfrm>
            <a:off x="4502810"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1 מ"ג פעם בשבוע</a:t>
            </a:r>
            <a:endParaRPr lang="he-IL" sz="1400" dirty="0"/>
          </a:p>
        </p:txBody>
      </p:sp>
      <p:sp>
        <p:nvSpPr>
          <p:cNvPr id="16" name="Text 12"/>
          <p:cNvSpPr txBox="1"/>
          <p:nvPr/>
        </p:nvSpPr>
        <p:spPr>
          <a:xfrm>
            <a:off x="4502810"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ב-GLP-1 RA</a:t>
            </a:r>
            <a:endParaRPr lang="he-IL" sz="1200" dirty="0"/>
          </a:p>
        </p:txBody>
      </p:sp>
      <p:sp>
        <p:nvSpPr>
          <p:cNvPr id="17" name="Shape 13"/>
          <p:cNvSpPr/>
          <p:nvPr/>
        </p:nvSpPr>
        <p:spPr>
          <a:xfrm>
            <a:off x="548640"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3346220" y="1700784"/>
            <a:ext cx="612397" cy="530352"/>
          </a:xfrm>
          <a:prstGeom prst="hexagon">
            <a:avLst/>
          </a:prstGeom>
          <a:solidFill>
            <a:srgbClr val="4A90D0"/>
          </a:solidFill>
          <a:ln/>
        </p:spPr>
        <p:txBody>
          <a:bodyPr/>
          <a:lstStyle/>
          <a:p>
            <a:endParaRPr lang="he-IL"/>
          </a:p>
        </p:txBody>
      </p:sp>
      <p:pic>
        <p:nvPicPr>
          <p:cNvPr id="19"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30437" y="1843979"/>
            <a:ext cx="243962" cy="243962"/>
          </a:xfrm>
          <a:prstGeom prst="rect">
            <a:avLst/>
          </a:prstGeom>
        </p:spPr>
      </p:pic>
      <p:sp>
        <p:nvSpPr>
          <p:cNvPr id="20" name="Text 15"/>
          <p:cNvSpPr txBox="1"/>
          <p:nvPr/>
        </p:nvSpPr>
        <p:spPr>
          <a:xfrm>
            <a:off x="713232"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JARDIANCE DUO 12.5MG/850MG</a:t>
            </a:r>
            <a:endParaRPr lang="en-US" sz="1100" dirty="0"/>
          </a:p>
        </p:txBody>
      </p:sp>
      <p:sp>
        <p:nvSpPr>
          <p:cNvPr id="21" name="Text 16"/>
          <p:cNvSpPr txBox="1"/>
          <p:nvPr/>
        </p:nvSpPr>
        <p:spPr>
          <a:xfrm>
            <a:off x="713232"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1 טבליה X 2 ביום</a:t>
            </a:r>
            <a:endParaRPr lang="he-IL" sz="1400" dirty="0"/>
          </a:p>
        </p:txBody>
      </p:sp>
      <p:sp>
        <p:nvSpPr>
          <p:cNvPr id="22" name="Text 17"/>
          <p:cNvSpPr txBox="1"/>
          <p:nvPr/>
        </p:nvSpPr>
        <p:spPr>
          <a:xfrm>
            <a:off x="713232"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איזון גלוקוז משולב (Empagliflozin + Metformin)</a:t>
            </a:r>
            <a:endParaRPr lang="he-IL" sz="1200" dirty="0"/>
          </a:p>
        </p:txBody>
      </p:sp>
      <p:sp>
        <p:nvSpPr>
          <p:cNvPr id="23" name="Shape 18"/>
          <p:cNvSpPr/>
          <p:nvPr/>
        </p:nvSpPr>
        <p:spPr>
          <a:xfrm>
            <a:off x="8127797"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Shape 19"/>
          <p:cNvSpPr/>
          <p:nvPr/>
        </p:nvSpPr>
        <p:spPr>
          <a:xfrm rot="5400000">
            <a:off x="10925376" y="3236976"/>
            <a:ext cx="612397" cy="530352"/>
          </a:xfrm>
          <a:prstGeom prst="hexagon">
            <a:avLst/>
          </a:prstGeom>
          <a:solidFill>
            <a:srgbClr val="6E4494"/>
          </a:solidFill>
          <a:ln/>
        </p:spPr>
        <p:txBody>
          <a:bodyPr/>
          <a:lstStyle/>
          <a:p>
            <a:endParaRPr lang="he-IL"/>
          </a:p>
        </p:txBody>
      </p:sp>
      <p:pic>
        <p:nvPicPr>
          <p:cNvPr id="25"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09594" y="3380171"/>
            <a:ext cx="243962" cy="243962"/>
          </a:xfrm>
          <a:prstGeom prst="rect">
            <a:avLst/>
          </a:prstGeom>
        </p:spPr>
      </p:pic>
      <p:sp>
        <p:nvSpPr>
          <p:cNvPr id="26" name="Text 20"/>
          <p:cNvSpPr txBox="1"/>
          <p:nvPr/>
        </p:nvSpPr>
        <p:spPr>
          <a:xfrm>
            <a:off x="8292389"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ATORVASTATIN TAB 80MG</a:t>
            </a:r>
            <a:endParaRPr lang="en-US" sz="1100" dirty="0"/>
          </a:p>
        </p:txBody>
      </p:sp>
      <p:sp>
        <p:nvSpPr>
          <p:cNvPr id="27" name="Text 21"/>
          <p:cNvSpPr txBox="1"/>
          <p:nvPr/>
        </p:nvSpPr>
        <p:spPr>
          <a:xfrm>
            <a:off x="8292389"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28" name="Text 22"/>
          <p:cNvSpPr txBox="1"/>
          <p:nvPr/>
        </p:nvSpPr>
        <p:spPr>
          <a:xfrm>
            <a:off x="8292389"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הורדת שומנים בדם וכולסטרול (LDL)</a:t>
            </a:r>
            <a:endParaRPr lang="he-IL" sz="1200" dirty="0"/>
          </a:p>
        </p:txBody>
      </p:sp>
      <p:sp>
        <p:nvSpPr>
          <p:cNvPr id="29" name="Shape 23"/>
          <p:cNvSpPr/>
          <p:nvPr/>
        </p:nvSpPr>
        <p:spPr>
          <a:xfrm>
            <a:off x="4338218"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0" name="Shape 24"/>
          <p:cNvSpPr/>
          <p:nvPr/>
        </p:nvSpPr>
        <p:spPr>
          <a:xfrm rot="5400000">
            <a:off x="7135798" y="3236976"/>
            <a:ext cx="612397" cy="530352"/>
          </a:xfrm>
          <a:prstGeom prst="hexagon">
            <a:avLst/>
          </a:prstGeom>
          <a:solidFill>
            <a:srgbClr val="6E4494"/>
          </a:solidFill>
          <a:ln/>
        </p:spPr>
        <p:txBody>
          <a:bodyPr/>
          <a:lstStyle/>
          <a:p>
            <a:endParaRPr lang="he-IL"/>
          </a:p>
        </p:txBody>
      </p:sp>
      <p:pic>
        <p:nvPicPr>
          <p:cNvPr id="31" name="Image 4"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320016" y="3380171"/>
            <a:ext cx="243962" cy="243962"/>
          </a:xfrm>
          <a:prstGeom prst="rect">
            <a:avLst/>
          </a:prstGeom>
        </p:spPr>
      </p:pic>
      <p:sp>
        <p:nvSpPr>
          <p:cNvPr id="32" name="Text 25"/>
          <p:cNvSpPr txBox="1"/>
          <p:nvPr/>
        </p:nvSpPr>
        <p:spPr>
          <a:xfrm>
            <a:off x="4502810"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CARTIA TAB 100MG (אספירין/דילול דם)</a:t>
            </a:r>
            <a:endParaRPr lang="en-US" sz="1100" dirty="0"/>
          </a:p>
        </p:txBody>
      </p:sp>
      <p:sp>
        <p:nvSpPr>
          <p:cNvPr id="33" name="Text 26"/>
          <p:cNvSpPr txBox="1"/>
          <p:nvPr/>
        </p:nvSpPr>
        <p:spPr>
          <a:xfrm>
            <a:off x="4502810"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34" name="Text 27"/>
          <p:cNvSpPr txBox="1"/>
          <p:nvPr/>
        </p:nvSpPr>
        <p:spPr>
          <a:xfrm>
            <a:off x="4502810"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מניעת אירועים קרדיווסקולריים ומוחיים (CVA)</a:t>
            </a:r>
            <a:endParaRPr lang="he-IL" sz="1200" dirty="0"/>
          </a:p>
        </p:txBody>
      </p:sp>
      <p:sp>
        <p:nvSpPr>
          <p:cNvPr id="35" name="Shape 28"/>
          <p:cNvSpPr/>
          <p:nvPr/>
        </p:nvSpPr>
        <p:spPr>
          <a:xfrm>
            <a:off x="548640"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6" name="Shape 29"/>
          <p:cNvSpPr/>
          <p:nvPr/>
        </p:nvSpPr>
        <p:spPr>
          <a:xfrm rot="5400000">
            <a:off x="3346220" y="3236976"/>
            <a:ext cx="612397" cy="530352"/>
          </a:xfrm>
          <a:prstGeom prst="hexagon">
            <a:avLst/>
          </a:prstGeom>
          <a:solidFill>
            <a:srgbClr val="5B6BB5"/>
          </a:solidFill>
          <a:ln/>
        </p:spPr>
        <p:txBody>
          <a:bodyPr/>
          <a:lstStyle/>
          <a:p>
            <a:endParaRPr lang="he-IL"/>
          </a:p>
        </p:txBody>
      </p:sp>
      <p:pic>
        <p:nvPicPr>
          <p:cNvPr id="37" name="Image 5"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530437" y="3380171"/>
            <a:ext cx="243962" cy="243962"/>
          </a:xfrm>
          <a:prstGeom prst="rect">
            <a:avLst/>
          </a:prstGeom>
        </p:spPr>
      </p:pic>
      <p:sp>
        <p:nvSpPr>
          <p:cNvPr id="38" name="Text 30"/>
          <p:cNvSpPr txBox="1"/>
          <p:nvPr/>
        </p:nvSpPr>
        <p:spPr>
          <a:xfrm>
            <a:off x="713232"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OMEPRADEX (omeprazole) 20MG CAP</a:t>
            </a:r>
            <a:endParaRPr lang="en-US" sz="1100" dirty="0"/>
          </a:p>
        </p:txBody>
      </p:sp>
      <p:sp>
        <p:nvSpPr>
          <p:cNvPr id="39" name="Text 31"/>
          <p:cNvSpPr txBox="1"/>
          <p:nvPr/>
        </p:nvSpPr>
        <p:spPr>
          <a:xfrm>
            <a:off x="713232"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קפסולה ביום</a:t>
            </a:r>
            <a:endParaRPr lang="he-IL" sz="1400" dirty="0"/>
          </a:p>
        </p:txBody>
      </p:sp>
      <p:sp>
        <p:nvSpPr>
          <p:cNvPr id="40" name="Text 32"/>
          <p:cNvSpPr txBox="1"/>
          <p:nvPr/>
        </p:nvSpPr>
        <p:spPr>
          <a:xfrm>
            <a:off x="713232"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הגנה על רירית הקיבה</a:t>
            </a:r>
          </a:p>
          <a:p>
            <a:pPr marL="0" indent="0" algn="r" rtl="1">
              <a:buNone/>
            </a:pPr>
            <a:endParaRPr lang="he-IL" sz="1200" dirty="0"/>
          </a:p>
        </p:txBody>
      </p:sp>
      <p:sp>
        <p:nvSpPr>
          <p:cNvPr id="41" name="Shape 33"/>
          <p:cNvSpPr/>
          <p:nvPr/>
        </p:nvSpPr>
        <p:spPr>
          <a:xfrm>
            <a:off x="8127797"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2" name="Shape 34"/>
          <p:cNvSpPr/>
          <p:nvPr/>
        </p:nvSpPr>
        <p:spPr>
          <a:xfrm rot="5400000">
            <a:off x="10925376" y="4773168"/>
            <a:ext cx="612397" cy="530352"/>
          </a:xfrm>
          <a:prstGeom prst="hexagon">
            <a:avLst/>
          </a:prstGeom>
          <a:solidFill>
            <a:srgbClr val="5B6BB5"/>
          </a:solidFill>
          <a:ln/>
        </p:spPr>
        <p:txBody>
          <a:bodyPr/>
          <a:lstStyle/>
          <a:p>
            <a:endParaRPr lang="he-IL"/>
          </a:p>
        </p:txBody>
      </p:sp>
      <p:pic>
        <p:nvPicPr>
          <p:cNvPr id="43" name="Image 6"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09594" y="4916363"/>
            <a:ext cx="243962" cy="243962"/>
          </a:xfrm>
          <a:prstGeom prst="rect">
            <a:avLst/>
          </a:prstGeom>
        </p:spPr>
      </p:pic>
      <p:sp>
        <p:nvSpPr>
          <p:cNvPr id="44" name="Text 35"/>
          <p:cNvSpPr txBox="1"/>
          <p:nvPr/>
        </p:nvSpPr>
        <p:spPr>
          <a:xfrm>
            <a:off x="8127797" y="4672584"/>
            <a:ext cx="2811170"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BETMIGA PR (Mirabegron) 25MG TAB</a:t>
            </a:r>
            <a:endParaRPr lang="en-US" sz="1100" dirty="0"/>
          </a:p>
        </p:txBody>
      </p:sp>
      <p:sp>
        <p:nvSpPr>
          <p:cNvPr id="45" name="Text 36"/>
          <p:cNvSpPr txBox="1"/>
          <p:nvPr/>
        </p:nvSpPr>
        <p:spPr>
          <a:xfrm>
            <a:off x="8292389"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46" name="Text 37"/>
          <p:cNvSpPr txBox="1"/>
          <p:nvPr/>
        </p:nvSpPr>
        <p:spPr>
          <a:xfrm>
            <a:off x="8292389"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בשלפוחית השתן</a:t>
            </a:r>
            <a:endParaRPr lang="he-IL" sz="1200" dirty="0"/>
          </a:p>
        </p:txBody>
      </p:sp>
      <p:sp>
        <p:nvSpPr>
          <p:cNvPr id="47" name="Shape 38"/>
          <p:cNvSpPr/>
          <p:nvPr/>
        </p:nvSpPr>
        <p:spPr>
          <a:xfrm>
            <a:off x="4338218"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8" name="Shape 39"/>
          <p:cNvSpPr/>
          <p:nvPr/>
        </p:nvSpPr>
        <p:spPr>
          <a:xfrm rot="5400000">
            <a:off x="7135798" y="4773168"/>
            <a:ext cx="612397" cy="530352"/>
          </a:xfrm>
          <a:prstGeom prst="hexagon">
            <a:avLst/>
          </a:prstGeom>
          <a:solidFill>
            <a:srgbClr val="5B6BB5"/>
          </a:solidFill>
          <a:ln/>
        </p:spPr>
        <p:txBody>
          <a:bodyPr/>
          <a:lstStyle/>
          <a:p>
            <a:endParaRPr lang="he-IL"/>
          </a:p>
        </p:txBody>
      </p:sp>
      <p:pic>
        <p:nvPicPr>
          <p:cNvPr id="49" name="Image 7"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320016" y="4916363"/>
            <a:ext cx="243962" cy="243962"/>
          </a:xfrm>
          <a:prstGeom prst="rect">
            <a:avLst/>
          </a:prstGeom>
        </p:spPr>
      </p:pic>
      <p:sp>
        <p:nvSpPr>
          <p:cNvPr id="50" name="Text 40"/>
          <p:cNvSpPr txBox="1"/>
          <p:nvPr/>
        </p:nvSpPr>
        <p:spPr>
          <a:xfrm>
            <a:off x="4502810" y="4672584"/>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OMNIC (Tamsulosin)  CAP 0.4MG</a:t>
            </a:r>
            <a:endParaRPr lang="en-US" sz="1100" dirty="0"/>
          </a:p>
        </p:txBody>
      </p:sp>
      <p:sp>
        <p:nvSpPr>
          <p:cNvPr id="51" name="Text 41"/>
          <p:cNvSpPr txBox="1"/>
          <p:nvPr/>
        </p:nvSpPr>
        <p:spPr>
          <a:xfrm>
            <a:off x="4502810"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כמוסה ביום</a:t>
            </a:r>
            <a:endParaRPr lang="he-IL" sz="1400" dirty="0"/>
          </a:p>
        </p:txBody>
      </p:sp>
      <p:sp>
        <p:nvSpPr>
          <p:cNvPr id="52" name="Text 42"/>
          <p:cNvSpPr txBox="1"/>
          <p:nvPr/>
        </p:nvSpPr>
        <p:spPr>
          <a:xfrm>
            <a:off x="4502810"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במערכת השתן</a:t>
            </a:r>
            <a:endParaRPr lang="he-IL" sz="1200" dirty="0"/>
          </a:p>
        </p:txBody>
      </p:sp>
      <p:sp>
        <p:nvSpPr>
          <p:cNvPr id="53" name="Shape 43"/>
          <p:cNvSpPr/>
          <p:nvPr/>
        </p:nvSpPr>
        <p:spPr>
          <a:xfrm>
            <a:off x="548640"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54" name="Shape 44"/>
          <p:cNvSpPr/>
          <p:nvPr/>
        </p:nvSpPr>
        <p:spPr>
          <a:xfrm rot="5400000">
            <a:off x="3346220" y="4773168"/>
            <a:ext cx="612397" cy="530352"/>
          </a:xfrm>
          <a:prstGeom prst="hexagon">
            <a:avLst/>
          </a:prstGeom>
          <a:solidFill>
            <a:srgbClr val="5B6BB5"/>
          </a:solidFill>
          <a:ln/>
        </p:spPr>
        <p:txBody>
          <a:bodyPr/>
          <a:lstStyle/>
          <a:p>
            <a:endParaRPr lang="he-IL"/>
          </a:p>
        </p:txBody>
      </p:sp>
      <p:pic>
        <p:nvPicPr>
          <p:cNvPr id="55" name="Image 8"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530437" y="4916363"/>
            <a:ext cx="243962" cy="243962"/>
          </a:xfrm>
          <a:prstGeom prst="rect">
            <a:avLst/>
          </a:prstGeom>
        </p:spPr>
      </p:pic>
      <p:sp>
        <p:nvSpPr>
          <p:cNvPr id="56" name="Text 45"/>
          <p:cNvSpPr txBox="1"/>
          <p:nvPr/>
        </p:nvSpPr>
        <p:spPr>
          <a:xfrm>
            <a:off x="713232" y="4672584"/>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SERTRALINE 100MG TAB</a:t>
            </a:r>
            <a:endParaRPr lang="en-US" sz="1100" dirty="0"/>
          </a:p>
        </p:txBody>
      </p:sp>
      <p:sp>
        <p:nvSpPr>
          <p:cNvPr id="57" name="Text 46"/>
          <p:cNvSpPr txBox="1"/>
          <p:nvPr/>
        </p:nvSpPr>
        <p:spPr>
          <a:xfrm>
            <a:off x="713232"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58" name="Text 47"/>
          <p:cNvSpPr txBox="1"/>
          <p:nvPr/>
        </p:nvSpPr>
        <p:spPr>
          <a:xfrm>
            <a:off x="713232"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איזון נפשי ורגשי</a:t>
            </a:r>
            <a:endParaRPr lang="he-IL" sz="1200" dirty="0"/>
          </a:p>
        </p:txBody>
      </p:sp>
      <p:sp>
        <p:nvSpPr>
          <p:cNvPr id="5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1: תזכורת – סיבוכי מחלת ההשמנה (Obesity Complications)</a:t>
            </a:r>
            <a:endParaRPr lang="he-IL" sz="2300" dirty="0"/>
          </a:p>
        </p:txBody>
      </p:sp>
      <p:pic>
        <p:nvPicPr>
          <p:cNvPr id="5" name="Image 0" descr="/tmp/claude-0/-home-claude/83ba285b-7ef1-5a4f-9afe-ea04c4b9d63d/scratchpad/src/ppt/media/image-9-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463040"/>
            <a:ext cx="3108960" cy="4663440"/>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4023360" y="1554480"/>
            <a:ext cx="7616952" cy="457200"/>
          </a:xfrm>
          <a:prstGeom prst="rect">
            <a:avLst/>
          </a:prstGeom>
          <a:noFill/>
          <a:ln/>
        </p:spPr>
        <p:txBody>
          <a:bodyPr wrap="square" lIns="0" tIns="0" rIns="0" bIns="0" rtlCol="0" anchor="t"/>
          <a:lstStyle/>
          <a:p>
            <a:pPr marL="0" indent="0" algn="r" rtl="1">
              <a:buNone/>
            </a:pPr>
            <a:r>
              <a:rPr lang="he-IL" altLang="en-US" sz="2200" b="1" dirty="0">
                <a:solidFill>
                  <a:srgbClr val="6E4494"/>
                </a:solidFill>
                <a:latin typeface="Arial" pitchFamily="34" charset="0"/>
                <a:ea typeface="Arial" pitchFamily="34" charset="-122"/>
                <a:cs typeface="Arial" pitchFamily="34" charset="-120"/>
              </a:rPr>
              <a:t>ההשמנה כמחלה כרונית רב-מערכתית</a:t>
            </a:r>
            <a:endParaRPr lang="he-IL" sz="2200" dirty="0"/>
          </a:p>
        </p:txBody>
      </p:sp>
      <p:sp>
        <p:nvSpPr>
          <p:cNvPr id="7" name="Shape 4"/>
          <p:cNvSpPr/>
          <p:nvPr/>
        </p:nvSpPr>
        <p:spPr>
          <a:xfrm>
            <a:off x="4023360" y="2148840"/>
            <a:ext cx="7616952" cy="1371600"/>
          </a:xfrm>
          <a:prstGeom prst="roundRect">
            <a:avLst>
              <a:gd name="adj" fmla="val 8000"/>
            </a:avLst>
          </a:prstGeom>
          <a:solidFill>
            <a:srgbClr val="F3F0FA"/>
          </a:solidFill>
          <a:ln/>
        </p:spPr>
        <p:txBody>
          <a:bodyPr/>
          <a:lstStyle/>
          <a:p>
            <a:endParaRPr lang="he-IL"/>
          </a:p>
        </p:txBody>
      </p:sp>
      <p:sp>
        <p:nvSpPr>
          <p:cNvPr id="8" name="Text 5"/>
          <p:cNvSpPr txBox="1"/>
          <p:nvPr/>
        </p:nvSpPr>
        <p:spPr>
          <a:xfrm>
            <a:off x="4297680" y="2240280"/>
            <a:ext cx="7068312" cy="1188720"/>
          </a:xfrm>
          <a:prstGeom prst="rect">
            <a:avLst/>
          </a:prstGeom>
          <a:noFill/>
          <a:ln/>
        </p:spPr>
        <p:txBody>
          <a:bodyPr wrap="square" lIns="0" tIns="0" rIns="0" bIns="0" rtlCol="0" anchor="ctr"/>
          <a:lstStyle/>
          <a:p>
            <a:pPr marL="0" indent="0" algn="r" rtl="1">
              <a:buNone/>
            </a:pPr>
            <a:r>
              <a:rPr lang="he-IL" altLang="en-US" sz="1600" b="1" dirty="0">
                <a:solidFill>
                  <a:srgbClr val="6E4494"/>
                </a:solidFill>
                <a:latin typeface="Arial" pitchFamily="34" charset="0"/>
                <a:ea typeface="Arial" pitchFamily="34" charset="-122"/>
                <a:cs typeface="Arial" pitchFamily="34" charset="-120"/>
              </a:rPr>
              <a:t>מחלת ההשמנה הינה מחלה כרונית רב-מערכתית</a:t>
            </a:r>
            <a:r>
              <a:rPr lang="he-IL" altLang="en-US" sz="1600" dirty="0">
                <a:solidFill>
                  <a:srgbClr val="2B2560"/>
                </a:solidFill>
                <a:latin typeface="Arial" pitchFamily="34" charset="0"/>
                <a:ea typeface="Arial" pitchFamily="34" charset="-122"/>
                <a:cs typeface="Arial" pitchFamily="34" charset="-120"/>
              </a:rPr>
              <a:t> הפוגעת כמעט בכל איבר ותפקוד בגוף, וכוללת סיבוכים מטבוליים (סוכרת, מחלות לב, כבד שומני, דיסליפידמיה) וסיבוכים מכניים (דום נשימה בשינה, שחיקת מפרקים, בעיות בכפות הרגליים ועוד).</a:t>
            </a:r>
            <a:endParaRPr lang="he-IL" sz="1600" dirty="0"/>
          </a:p>
        </p:txBody>
      </p:sp>
      <p:sp>
        <p:nvSpPr>
          <p:cNvPr id="9" name="Shape 6"/>
          <p:cNvSpPr/>
          <p:nvPr/>
        </p:nvSpPr>
        <p:spPr>
          <a:xfrm>
            <a:off x="7923276" y="3703320"/>
            <a:ext cx="3717036" cy="868680"/>
          </a:xfrm>
          <a:prstGeom prst="roundRect">
            <a:avLst>
              <a:gd name="adj" fmla="val 12632"/>
            </a:avLst>
          </a:prstGeom>
          <a:solidFill>
            <a:srgbClr val="FFFFFF"/>
          </a:solidFill>
          <a:ln w="9525">
            <a:solidFill>
              <a:srgbClr val="E3DFF0"/>
            </a:solidFill>
            <a:prstDash val="solid"/>
          </a:ln>
        </p:spPr>
        <p:txBody>
          <a:bodyPr/>
          <a:lstStyle/>
          <a:p>
            <a:endParaRPr lang="he-IL"/>
          </a:p>
        </p:txBody>
      </p:sp>
      <p:sp>
        <p:nvSpPr>
          <p:cNvPr id="10" name="Shape 7"/>
          <p:cNvSpPr/>
          <p:nvPr/>
        </p:nvSpPr>
        <p:spPr>
          <a:xfrm rot="5400000">
            <a:off x="10965903" y="3886200"/>
            <a:ext cx="580722" cy="502920"/>
          </a:xfrm>
          <a:prstGeom prst="hexagon">
            <a:avLst/>
          </a:prstGeom>
          <a:solidFill>
            <a:srgbClr val="4A90D0"/>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40592" y="4021988"/>
            <a:ext cx="231343" cy="231343"/>
          </a:xfrm>
          <a:prstGeom prst="rect">
            <a:avLst/>
          </a:prstGeom>
        </p:spPr>
      </p:pic>
      <p:sp>
        <p:nvSpPr>
          <p:cNvPr id="12" name="Text 8"/>
          <p:cNvSpPr txBox="1"/>
          <p:nvPr/>
        </p:nvSpPr>
        <p:spPr>
          <a:xfrm>
            <a:off x="8060436" y="3749040"/>
            <a:ext cx="2894076" cy="777240"/>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סיבוכים מטבוליים</a:t>
            </a:r>
            <a:endParaRPr lang="he-IL" sz="1400" dirty="0"/>
          </a:p>
        </p:txBody>
      </p:sp>
      <p:sp>
        <p:nvSpPr>
          <p:cNvPr id="13" name="Shape 9"/>
          <p:cNvSpPr/>
          <p:nvPr/>
        </p:nvSpPr>
        <p:spPr>
          <a:xfrm>
            <a:off x="4023360" y="3703320"/>
            <a:ext cx="3717036" cy="868680"/>
          </a:xfrm>
          <a:prstGeom prst="roundRect">
            <a:avLst>
              <a:gd name="adj" fmla="val 12632"/>
            </a:avLst>
          </a:prstGeom>
          <a:solidFill>
            <a:srgbClr val="FFFFFF"/>
          </a:solidFill>
          <a:ln w="9525">
            <a:solidFill>
              <a:srgbClr val="E3DFF0"/>
            </a:solidFill>
            <a:prstDash val="solid"/>
          </a:ln>
        </p:spPr>
        <p:txBody>
          <a:bodyPr/>
          <a:lstStyle/>
          <a:p>
            <a:endParaRPr lang="he-IL"/>
          </a:p>
        </p:txBody>
      </p:sp>
      <p:sp>
        <p:nvSpPr>
          <p:cNvPr id="14" name="Shape 10"/>
          <p:cNvSpPr/>
          <p:nvPr/>
        </p:nvSpPr>
        <p:spPr>
          <a:xfrm rot="5400000">
            <a:off x="7065987" y="3886200"/>
            <a:ext cx="580722" cy="502920"/>
          </a:xfrm>
          <a:prstGeom prst="hexagon">
            <a:avLst/>
          </a:prstGeom>
          <a:solidFill>
            <a:srgbClr val="6E4494"/>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40676" y="4021988"/>
            <a:ext cx="231343" cy="231343"/>
          </a:xfrm>
          <a:prstGeom prst="rect">
            <a:avLst/>
          </a:prstGeom>
        </p:spPr>
      </p:pic>
      <p:sp>
        <p:nvSpPr>
          <p:cNvPr id="16" name="Text 11"/>
          <p:cNvSpPr txBox="1"/>
          <p:nvPr/>
        </p:nvSpPr>
        <p:spPr>
          <a:xfrm>
            <a:off x="4160520" y="3749040"/>
            <a:ext cx="2894076" cy="777240"/>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סיבוכים מכניים</a:t>
            </a:r>
            <a:endParaRPr lang="he-IL" sz="1400" dirty="0"/>
          </a:p>
        </p:txBody>
      </p:sp>
      <p:sp>
        <p:nvSpPr>
          <p:cNvPr id="17" name="Shape 12"/>
          <p:cNvSpPr/>
          <p:nvPr/>
        </p:nvSpPr>
        <p:spPr>
          <a:xfrm>
            <a:off x="4023360" y="4754880"/>
            <a:ext cx="7616952" cy="1325880"/>
          </a:xfrm>
          <a:prstGeom prst="roundRect">
            <a:avLst>
              <a:gd name="adj" fmla="val 8276"/>
            </a:avLst>
          </a:prstGeom>
          <a:solidFill>
            <a:srgbClr val="E5F4F2"/>
          </a:solidFill>
          <a:ln/>
        </p:spPr>
        <p:txBody>
          <a:bodyPr/>
          <a:lstStyle/>
          <a:p>
            <a:endParaRPr lang="he-IL"/>
          </a:p>
        </p:txBody>
      </p:sp>
      <p:sp>
        <p:nvSpPr>
          <p:cNvPr id="18" name="Shape 13"/>
          <p:cNvSpPr/>
          <p:nvPr/>
        </p:nvSpPr>
        <p:spPr>
          <a:xfrm rot="5400000">
            <a:off x="10800932" y="5134356"/>
            <a:ext cx="654632" cy="566928"/>
          </a:xfrm>
          <a:prstGeom prst="hexagon">
            <a:avLst/>
          </a:prstGeom>
          <a:solidFill>
            <a:srgbClr val="1F8F83"/>
          </a:solidFill>
          <a:ln/>
        </p:spPr>
        <p:txBody>
          <a:bodyPr/>
          <a:lstStyle/>
          <a:p>
            <a:endParaRPr lang="he-IL"/>
          </a:p>
        </p:txBody>
      </p:sp>
      <p:pic>
        <p:nvPicPr>
          <p:cNvPr id="19"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997855" y="5287427"/>
            <a:ext cx="260787" cy="260787"/>
          </a:xfrm>
          <a:prstGeom prst="rect">
            <a:avLst/>
          </a:prstGeom>
        </p:spPr>
      </p:pic>
      <p:sp>
        <p:nvSpPr>
          <p:cNvPr id="20" name="Text 14"/>
          <p:cNvSpPr txBox="1"/>
          <p:nvPr/>
        </p:nvSpPr>
        <p:spPr>
          <a:xfrm>
            <a:off x="4251960" y="4892040"/>
            <a:ext cx="6501384" cy="105156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1F8F83"/>
                </a:solidFill>
                <a:latin typeface="Arial" pitchFamily="34" charset="0"/>
                <a:ea typeface="Arial" pitchFamily="34" charset="-122"/>
                <a:cs typeface="Arial" pitchFamily="34" charset="-120"/>
              </a:rPr>
              <a:t>מסקנה טיפולית:</a:t>
            </a:r>
            <a:endParaRPr lang="he-IL" sz="1400" dirty="0"/>
          </a:p>
          <a:p>
            <a:pPr marL="0" indent="0" algn="r" rtl="1">
              <a:spcAft>
                <a:spcPts val="400"/>
              </a:spcAft>
              <a:buNone/>
            </a:pPr>
            <a:r>
              <a:rPr lang="he-IL" altLang="en-US" sz="1700" dirty="0">
                <a:solidFill>
                  <a:srgbClr val="2E2A47"/>
                </a:solidFill>
                <a:latin typeface="Arial" pitchFamily="34" charset="0"/>
                <a:ea typeface="Arial" pitchFamily="34" charset="-122"/>
                <a:cs typeface="Arial" pitchFamily="34" charset="-120"/>
              </a:rPr>
              <a:t>טיפול בהשמנה באמצעות </a:t>
            </a:r>
            <a:r>
              <a:rPr lang="da-DK" altLang="en-US" sz="1700" dirty="0">
                <a:solidFill>
                  <a:srgbClr val="2E2A47"/>
                </a:solidFill>
                <a:latin typeface="Arial" pitchFamily="34" charset="0"/>
                <a:ea typeface="Arial" pitchFamily="34" charset="-122"/>
                <a:cs typeface="Arial" pitchFamily="34" charset="-120"/>
              </a:rPr>
              <a:t>GLP-1RA </a:t>
            </a:r>
            <a:r>
              <a:rPr lang="he-IL" altLang="en-US" sz="1700" dirty="0">
                <a:solidFill>
                  <a:srgbClr val="2E2A47"/>
                </a:solidFill>
                <a:latin typeface="Arial" pitchFamily="34" charset="0"/>
                <a:ea typeface="Arial" pitchFamily="34" charset="-122"/>
                <a:cs typeface="Arial" pitchFamily="34" charset="-120"/>
              </a:rPr>
              <a:t> עשוי, בהתאם לטיפול ולאוכלוסייה הנחקרת, להיות מלווה בשיפור במספר תוצאים הקשורים להשמנה</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13</a:t>
            </a:fld>
            <a:endParaRPr lang="en-US"/>
          </a:p>
        </p:txBody>
      </p:sp>
      <p:sp>
        <p:nvSpPr>
          <p:cNvPr id="90" name="AI image note"/>
          <p:cNvSpPr txBox="1"/>
          <p:nvPr/>
        </p:nvSpPr>
        <p:spPr>
          <a:xfrm>
            <a:off x="548640" y="6135000"/>
            <a:ext cx="3108960" cy="215444"/>
          </a:xfrm>
          <a:prstGeom prst="rect">
            <a:avLst/>
          </a:prstGeom>
          <a:noFill/>
        </p:spPr>
        <p:txBody>
          <a:bodyPr wrap="square">
            <a:spAutoFit/>
          </a:bodyPr>
          <a:lstStyle/>
          <a:p>
            <a:r>
              <a:rPr lang="en-US" sz="800" dirty="0"/>
              <a:t>Image generated using AI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תזכורת – סיבוכי מחלת ההשמנה לפי מערכות</a:t>
            </a:r>
            <a:endParaRPr lang="he-IL" sz="2600" dirty="0"/>
          </a:p>
        </p:txBody>
      </p:sp>
      <p:sp>
        <p:nvSpPr>
          <p:cNvPr id="5" name="Shape 3"/>
          <p:cNvSpPr/>
          <p:nvPr/>
        </p:nvSpPr>
        <p:spPr>
          <a:xfrm>
            <a:off x="6233008" y="1508760"/>
            <a:ext cx="5410048" cy="4526280"/>
          </a:xfrm>
          <a:prstGeom prst="roundRect">
            <a:avLst>
              <a:gd name="adj" fmla="val 242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72072" y="1737360"/>
            <a:ext cx="844686" cy="73152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1934870"/>
            <a:ext cx="336499" cy="336499"/>
          </a:xfrm>
          <a:prstGeom prst="rect">
            <a:avLst/>
          </a:prstGeom>
        </p:spPr>
      </p:pic>
      <p:sp>
        <p:nvSpPr>
          <p:cNvPr id="8" name="Text 5"/>
          <p:cNvSpPr txBox="1"/>
          <p:nvPr/>
        </p:nvSpPr>
        <p:spPr>
          <a:xfrm>
            <a:off x="6507328" y="1737360"/>
            <a:ext cx="3947008" cy="411480"/>
          </a:xfrm>
          <a:prstGeom prst="rect">
            <a:avLst/>
          </a:prstGeom>
          <a:noFill/>
          <a:ln/>
        </p:spPr>
        <p:txBody>
          <a:bodyPr wrap="square" lIns="0" tIns="0" rIns="0" bIns="0" rtlCol="0" anchor="t"/>
          <a:lstStyle/>
          <a:p>
            <a:pPr marL="0" indent="0" algn="r" rtl="1">
              <a:buNone/>
            </a:pPr>
            <a:r>
              <a:rPr lang="he-IL" altLang="en-US" sz="2000" b="1" dirty="0">
                <a:solidFill>
                  <a:srgbClr val="4A90D0"/>
                </a:solidFill>
                <a:latin typeface="Arial" pitchFamily="34" charset="0"/>
                <a:ea typeface="Arial" pitchFamily="34" charset="-122"/>
                <a:cs typeface="Arial" pitchFamily="34" charset="-120"/>
              </a:rPr>
              <a:t>סיבוכים מטבוליים</a:t>
            </a:r>
            <a:endParaRPr lang="he-IL" sz="2000" dirty="0"/>
          </a:p>
        </p:txBody>
      </p:sp>
      <p:sp>
        <p:nvSpPr>
          <p:cNvPr id="9" name="Text 6"/>
          <p:cNvSpPr txBox="1"/>
          <p:nvPr/>
        </p:nvSpPr>
        <p:spPr>
          <a:xfrm>
            <a:off x="6507328" y="2148840"/>
            <a:ext cx="3947008" cy="32004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השפעה על מערכות פיזיות והתהליכים המטבוליים</a:t>
            </a:r>
            <a:endParaRPr lang="he-IL" sz="1300" dirty="0"/>
          </a:p>
        </p:txBody>
      </p:sp>
      <p:sp>
        <p:nvSpPr>
          <p:cNvPr id="10" name="Shape 7"/>
          <p:cNvSpPr/>
          <p:nvPr/>
        </p:nvSpPr>
        <p:spPr>
          <a:xfrm>
            <a:off x="9029471" y="2743200"/>
            <a:ext cx="2339264" cy="658368"/>
          </a:xfrm>
          <a:prstGeom prst="roundRect">
            <a:avLst>
              <a:gd name="adj" fmla="val 13889"/>
            </a:avLst>
          </a:prstGeom>
          <a:solidFill>
            <a:srgbClr val="ECF4FC"/>
          </a:solidFill>
          <a:ln/>
        </p:spPr>
        <p:txBody>
          <a:bodyPr/>
          <a:lstStyle/>
          <a:p>
            <a:endParaRPr lang="he-IL"/>
          </a:p>
        </p:txBody>
      </p:sp>
      <p:sp>
        <p:nvSpPr>
          <p:cNvPr id="11" name="Text 8"/>
          <p:cNvSpPr txBox="1"/>
          <p:nvPr/>
        </p:nvSpPr>
        <p:spPr>
          <a:xfrm>
            <a:off x="9139199"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סוכרת סוג 2</a:t>
            </a:r>
            <a:endParaRPr lang="he-IL" sz="1400" dirty="0"/>
          </a:p>
        </p:txBody>
      </p:sp>
      <p:sp>
        <p:nvSpPr>
          <p:cNvPr id="12" name="Shape 9"/>
          <p:cNvSpPr/>
          <p:nvPr/>
        </p:nvSpPr>
        <p:spPr>
          <a:xfrm>
            <a:off x="9029471" y="3520440"/>
            <a:ext cx="2339264" cy="658368"/>
          </a:xfrm>
          <a:prstGeom prst="roundRect">
            <a:avLst>
              <a:gd name="adj" fmla="val 13889"/>
            </a:avLst>
          </a:prstGeom>
          <a:solidFill>
            <a:srgbClr val="ECF4FC"/>
          </a:solidFill>
          <a:ln/>
        </p:spPr>
        <p:txBody>
          <a:bodyPr/>
          <a:lstStyle/>
          <a:p>
            <a:endParaRPr lang="he-IL"/>
          </a:p>
        </p:txBody>
      </p:sp>
      <p:sp>
        <p:nvSpPr>
          <p:cNvPr id="13" name="Text 10"/>
          <p:cNvSpPr txBox="1"/>
          <p:nvPr/>
        </p:nvSpPr>
        <p:spPr>
          <a:xfrm>
            <a:off x="9139199"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מחלות לב וכלי דם</a:t>
            </a:r>
            <a:endParaRPr lang="he-IL" sz="1400" dirty="0"/>
          </a:p>
        </p:txBody>
      </p:sp>
      <p:sp>
        <p:nvSpPr>
          <p:cNvPr id="14" name="Shape 11"/>
          <p:cNvSpPr/>
          <p:nvPr/>
        </p:nvSpPr>
        <p:spPr>
          <a:xfrm>
            <a:off x="9029471" y="4297680"/>
            <a:ext cx="2339264" cy="658368"/>
          </a:xfrm>
          <a:prstGeom prst="roundRect">
            <a:avLst>
              <a:gd name="adj" fmla="val 13889"/>
            </a:avLst>
          </a:prstGeom>
          <a:solidFill>
            <a:srgbClr val="ECF4FC"/>
          </a:solidFill>
          <a:ln/>
        </p:spPr>
        <p:txBody>
          <a:bodyPr/>
          <a:lstStyle/>
          <a:p>
            <a:endParaRPr lang="he-IL"/>
          </a:p>
        </p:txBody>
      </p:sp>
      <p:sp>
        <p:nvSpPr>
          <p:cNvPr id="15" name="Text 12"/>
          <p:cNvSpPr txBox="1"/>
          <p:nvPr/>
        </p:nvSpPr>
        <p:spPr>
          <a:xfrm>
            <a:off x="9139199"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כבד שומני (NAFLD)</a:t>
            </a:r>
            <a:endParaRPr lang="he-IL" sz="1400" dirty="0"/>
          </a:p>
        </p:txBody>
      </p:sp>
      <p:sp>
        <p:nvSpPr>
          <p:cNvPr id="16" name="Shape 13"/>
          <p:cNvSpPr/>
          <p:nvPr/>
        </p:nvSpPr>
        <p:spPr>
          <a:xfrm>
            <a:off x="9029471" y="5074920"/>
            <a:ext cx="2339264" cy="658368"/>
          </a:xfrm>
          <a:prstGeom prst="roundRect">
            <a:avLst>
              <a:gd name="adj" fmla="val 13889"/>
            </a:avLst>
          </a:prstGeom>
          <a:solidFill>
            <a:srgbClr val="ECF4FC"/>
          </a:solidFill>
          <a:ln/>
        </p:spPr>
        <p:txBody>
          <a:bodyPr/>
          <a:lstStyle/>
          <a:p>
            <a:endParaRPr lang="he-IL"/>
          </a:p>
        </p:txBody>
      </p:sp>
      <p:sp>
        <p:nvSpPr>
          <p:cNvPr id="17" name="Text 14"/>
          <p:cNvSpPr txBox="1"/>
          <p:nvPr/>
        </p:nvSpPr>
        <p:spPr>
          <a:xfrm>
            <a:off x="9139199"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דיסליפידמיה</a:t>
            </a:r>
            <a:endParaRPr lang="he-IL" sz="1400" dirty="0"/>
          </a:p>
        </p:txBody>
      </p:sp>
      <p:sp>
        <p:nvSpPr>
          <p:cNvPr id="18" name="Shape 15"/>
          <p:cNvSpPr/>
          <p:nvPr/>
        </p:nvSpPr>
        <p:spPr>
          <a:xfrm>
            <a:off x="6507328" y="2743200"/>
            <a:ext cx="2339264" cy="658368"/>
          </a:xfrm>
          <a:prstGeom prst="roundRect">
            <a:avLst>
              <a:gd name="adj" fmla="val 13889"/>
            </a:avLst>
          </a:prstGeom>
          <a:solidFill>
            <a:srgbClr val="ECF4FC"/>
          </a:solidFill>
          <a:ln/>
        </p:spPr>
        <p:txBody>
          <a:bodyPr/>
          <a:lstStyle/>
          <a:p>
            <a:endParaRPr lang="he-IL"/>
          </a:p>
        </p:txBody>
      </p:sp>
      <p:sp>
        <p:nvSpPr>
          <p:cNvPr id="19" name="Text 16"/>
          <p:cNvSpPr txBox="1"/>
          <p:nvPr/>
        </p:nvSpPr>
        <p:spPr>
          <a:xfrm>
            <a:off x="6617056"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תסמונת מטבולית</a:t>
            </a:r>
            <a:endParaRPr lang="he-IL" sz="1400" dirty="0"/>
          </a:p>
        </p:txBody>
      </p:sp>
      <p:sp>
        <p:nvSpPr>
          <p:cNvPr id="20" name="Shape 17"/>
          <p:cNvSpPr/>
          <p:nvPr/>
        </p:nvSpPr>
        <p:spPr>
          <a:xfrm>
            <a:off x="6507328" y="3520440"/>
            <a:ext cx="2339264" cy="658368"/>
          </a:xfrm>
          <a:prstGeom prst="roundRect">
            <a:avLst>
              <a:gd name="adj" fmla="val 13889"/>
            </a:avLst>
          </a:prstGeom>
          <a:solidFill>
            <a:srgbClr val="ECF4FC"/>
          </a:solidFill>
          <a:ln/>
        </p:spPr>
        <p:txBody>
          <a:bodyPr/>
          <a:lstStyle/>
          <a:p>
            <a:endParaRPr lang="he-IL"/>
          </a:p>
        </p:txBody>
      </p:sp>
      <p:sp>
        <p:nvSpPr>
          <p:cNvPr id="21" name="Text 18"/>
          <p:cNvSpPr txBox="1"/>
          <p:nvPr/>
        </p:nvSpPr>
        <p:spPr>
          <a:xfrm>
            <a:off x="6617056"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מחלת כליות כרונית</a:t>
            </a:r>
            <a:endParaRPr lang="he-IL" sz="1400" dirty="0"/>
          </a:p>
        </p:txBody>
      </p:sp>
      <p:sp>
        <p:nvSpPr>
          <p:cNvPr id="22" name="Shape 19"/>
          <p:cNvSpPr/>
          <p:nvPr/>
        </p:nvSpPr>
        <p:spPr>
          <a:xfrm>
            <a:off x="6507328" y="4297680"/>
            <a:ext cx="2339264" cy="658368"/>
          </a:xfrm>
          <a:prstGeom prst="roundRect">
            <a:avLst>
              <a:gd name="adj" fmla="val 13889"/>
            </a:avLst>
          </a:prstGeom>
          <a:solidFill>
            <a:srgbClr val="ECF4FC"/>
          </a:solidFill>
          <a:ln/>
        </p:spPr>
        <p:txBody>
          <a:bodyPr/>
          <a:lstStyle/>
          <a:p>
            <a:endParaRPr lang="he-IL"/>
          </a:p>
        </p:txBody>
      </p:sp>
      <p:sp>
        <p:nvSpPr>
          <p:cNvPr id="23" name="Text 20"/>
          <p:cNvSpPr txBox="1"/>
          <p:nvPr/>
        </p:nvSpPr>
        <p:spPr>
          <a:xfrm>
            <a:off x="6617056"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דלקת כרונית בדרגה נמוכה</a:t>
            </a:r>
            <a:endParaRPr lang="he-IL" sz="1400" dirty="0"/>
          </a:p>
        </p:txBody>
      </p:sp>
      <p:sp>
        <p:nvSpPr>
          <p:cNvPr id="24" name="Shape 21"/>
          <p:cNvSpPr/>
          <p:nvPr/>
        </p:nvSpPr>
        <p:spPr>
          <a:xfrm>
            <a:off x="6507328" y="5074920"/>
            <a:ext cx="2339264" cy="658368"/>
          </a:xfrm>
          <a:prstGeom prst="roundRect">
            <a:avLst>
              <a:gd name="adj" fmla="val 13889"/>
            </a:avLst>
          </a:prstGeom>
          <a:solidFill>
            <a:srgbClr val="ECF4FC"/>
          </a:solidFill>
          <a:ln/>
        </p:spPr>
        <p:txBody>
          <a:bodyPr/>
          <a:lstStyle/>
          <a:p>
            <a:endParaRPr lang="he-IL"/>
          </a:p>
        </p:txBody>
      </p:sp>
      <p:sp>
        <p:nvSpPr>
          <p:cNvPr id="25" name="Text 22"/>
          <p:cNvSpPr txBox="1"/>
          <p:nvPr/>
        </p:nvSpPr>
        <p:spPr>
          <a:xfrm>
            <a:off x="6617056"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סיכון מוגבר לסוגי סרטן</a:t>
            </a:r>
            <a:endParaRPr lang="he-IL" sz="1400" dirty="0"/>
          </a:p>
        </p:txBody>
      </p:sp>
      <p:sp>
        <p:nvSpPr>
          <p:cNvPr id="26" name="Shape 23"/>
          <p:cNvSpPr/>
          <p:nvPr/>
        </p:nvSpPr>
        <p:spPr>
          <a:xfrm>
            <a:off x="548640" y="1508760"/>
            <a:ext cx="5410048" cy="4526280"/>
          </a:xfrm>
          <a:prstGeom prst="roundRect">
            <a:avLst>
              <a:gd name="adj" fmla="val 242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7" name="Shape 24"/>
          <p:cNvSpPr/>
          <p:nvPr/>
        </p:nvSpPr>
        <p:spPr>
          <a:xfrm rot="5400000">
            <a:off x="4987705" y="1737360"/>
            <a:ext cx="844686" cy="731520"/>
          </a:xfrm>
          <a:prstGeom prst="hexagon">
            <a:avLst/>
          </a:prstGeom>
          <a:solidFill>
            <a:srgbClr val="6E4494"/>
          </a:solidFill>
          <a:ln/>
        </p:spPr>
        <p:txBody>
          <a:bodyPr/>
          <a:lstStyle/>
          <a:p>
            <a:endParaRPr lang="he-IL"/>
          </a:p>
        </p:txBody>
      </p:sp>
      <p:pic>
        <p:nvPicPr>
          <p:cNvPr id="2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41798" y="1934870"/>
            <a:ext cx="336499" cy="336499"/>
          </a:xfrm>
          <a:prstGeom prst="rect">
            <a:avLst/>
          </a:prstGeom>
        </p:spPr>
      </p:pic>
      <p:sp>
        <p:nvSpPr>
          <p:cNvPr id="29" name="Text 25"/>
          <p:cNvSpPr txBox="1"/>
          <p:nvPr/>
        </p:nvSpPr>
        <p:spPr>
          <a:xfrm>
            <a:off x="822960" y="1737360"/>
            <a:ext cx="3947008" cy="411480"/>
          </a:xfrm>
          <a:prstGeom prst="rect">
            <a:avLst/>
          </a:prstGeom>
          <a:noFill/>
          <a:ln/>
        </p:spPr>
        <p:txBody>
          <a:bodyPr wrap="square" lIns="0" tIns="0" rIns="0" bIns="0" rtlCol="0" anchor="t"/>
          <a:lstStyle/>
          <a:p>
            <a:pPr marL="0" indent="0" algn="r" rtl="1">
              <a:buNone/>
            </a:pPr>
            <a:r>
              <a:rPr lang="he-IL" altLang="en-US" sz="2000" b="1" dirty="0">
                <a:solidFill>
                  <a:srgbClr val="6E4494"/>
                </a:solidFill>
                <a:latin typeface="Arial" pitchFamily="34" charset="0"/>
                <a:ea typeface="Arial" pitchFamily="34" charset="-122"/>
                <a:cs typeface="Arial" pitchFamily="34" charset="-120"/>
              </a:rPr>
              <a:t>סיבוכים מכניים</a:t>
            </a:r>
            <a:endParaRPr lang="he-IL" sz="2000" dirty="0"/>
          </a:p>
        </p:txBody>
      </p:sp>
      <p:sp>
        <p:nvSpPr>
          <p:cNvPr id="30" name="Text 26"/>
          <p:cNvSpPr txBox="1"/>
          <p:nvPr/>
        </p:nvSpPr>
        <p:spPr>
          <a:xfrm>
            <a:off x="822960" y="2148840"/>
            <a:ext cx="3947008" cy="32004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השפעה פיזית על מבנה הגוף והתפקוד</a:t>
            </a:r>
            <a:endParaRPr lang="he-IL" sz="1300" dirty="0"/>
          </a:p>
        </p:txBody>
      </p:sp>
      <p:sp>
        <p:nvSpPr>
          <p:cNvPr id="31" name="Shape 27"/>
          <p:cNvSpPr/>
          <p:nvPr/>
        </p:nvSpPr>
        <p:spPr>
          <a:xfrm>
            <a:off x="3345104" y="2743200"/>
            <a:ext cx="2339264" cy="658368"/>
          </a:xfrm>
          <a:prstGeom prst="roundRect">
            <a:avLst>
              <a:gd name="adj" fmla="val 13889"/>
            </a:avLst>
          </a:prstGeom>
          <a:solidFill>
            <a:srgbClr val="F3F0FA"/>
          </a:solidFill>
          <a:ln/>
        </p:spPr>
        <p:txBody>
          <a:bodyPr/>
          <a:lstStyle/>
          <a:p>
            <a:endParaRPr lang="he-IL"/>
          </a:p>
        </p:txBody>
      </p:sp>
      <p:sp>
        <p:nvSpPr>
          <p:cNvPr id="32" name="Text 28"/>
          <p:cNvSpPr txBox="1"/>
          <p:nvPr/>
        </p:nvSpPr>
        <p:spPr>
          <a:xfrm>
            <a:off x="3454832"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דום נשימה חסימתי בשינה</a:t>
            </a:r>
            <a:endParaRPr lang="he-IL" sz="1400" dirty="0"/>
          </a:p>
        </p:txBody>
      </p:sp>
      <p:sp>
        <p:nvSpPr>
          <p:cNvPr id="33" name="Shape 29"/>
          <p:cNvSpPr/>
          <p:nvPr/>
        </p:nvSpPr>
        <p:spPr>
          <a:xfrm>
            <a:off x="3345104" y="3520440"/>
            <a:ext cx="2339264" cy="658368"/>
          </a:xfrm>
          <a:prstGeom prst="roundRect">
            <a:avLst>
              <a:gd name="adj" fmla="val 13889"/>
            </a:avLst>
          </a:prstGeom>
          <a:solidFill>
            <a:srgbClr val="F3F0FA"/>
          </a:solidFill>
          <a:ln/>
        </p:spPr>
        <p:txBody>
          <a:bodyPr/>
          <a:lstStyle/>
          <a:p>
            <a:endParaRPr lang="he-IL"/>
          </a:p>
        </p:txBody>
      </p:sp>
      <p:sp>
        <p:nvSpPr>
          <p:cNvPr id="34" name="Text 30"/>
          <p:cNvSpPr txBox="1"/>
          <p:nvPr/>
        </p:nvSpPr>
        <p:spPr>
          <a:xfrm>
            <a:off x="3454832"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הפרעות נשימתיות</a:t>
            </a:r>
            <a:endParaRPr lang="he-IL" sz="1400" dirty="0"/>
          </a:p>
        </p:txBody>
      </p:sp>
      <p:sp>
        <p:nvSpPr>
          <p:cNvPr id="35" name="Shape 31"/>
          <p:cNvSpPr/>
          <p:nvPr/>
        </p:nvSpPr>
        <p:spPr>
          <a:xfrm>
            <a:off x="3345104" y="4297680"/>
            <a:ext cx="2339264" cy="658368"/>
          </a:xfrm>
          <a:prstGeom prst="roundRect">
            <a:avLst>
              <a:gd name="adj" fmla="val 13889"/>
            </a:avLst>
          </a:prstGeom>
          <a:solidFill>
            <a:srgbClr val="F3F0FA"/>
          </a:solidFill>
          <a:ln/>
        </p:spPr>
        <p:txBody>
          <a:bodyPr/>
          <a:lstStyle/>
          <a:p>
            <a:endParaRPr lang="he-IL"/>
          </a:p>
        </p:txBody>
      </p:sp>
      <p:sp>
        <p:nvSpPr>
          <p:cNvPr id="36" name="Text 32"/>
          <p:cNvSpPr txBox="1"/>
          <p:nvPr/>
        </p:nvSpPr>
        <p:spPr>
          <a:xfrm>
            <a:off x="3454832"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כאבי גב תחתון ועמוד שדרה</a:t>
            </a:r>
            <a:endParaRPr lang="he-IL" sz="1400" dirty="0"/>
          </a:p>
        </p:txBody>
      </p:sp>
      <p:sp>
        <p:nvSpPr>
          <p:cNvPr id="37" name="Shape 33"/>
          <p:cNvSpPr/>
          <p:nvPr/>
        </p:nvSpPr>
        <p:spPr>
          <a:xfrm>
            <a:off x="3345104" y="5074920"/>
            <a:ext cx="2339264" cy="658368"/>
          </a:xfrm>
          <a:prstGeom prst="roundRect">
            <a:avLst>
              <a:gd name="adj" fmla="val 13889"/>
            </a:avLst>
          </a:prstGeom>
          <a:solidFill>
            <a:srgbClr val="F3F0FA"/>
          </a:solidFill>
          <a:ln/>
        </p:spPr>
        <p:txBody>
          <a:bodyPr/>
          <a:lstStyle/>
          <a:p>
            <a:endParaRPr lang="he-IL"/>
          </a:p>
        </p:txBody>
      </p:sp>
      <p:sp>
        <p:nvSpPr>
          <p:cNvPr id="38" name="Text 34"/>
          <p:cNvSpPr txBox="1"/>
          <p:nvPr/>
        </p:nvSpPr>
        <p:spPr>
          <a:xfrm>
            <a:off x="3454832"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אוסטיאוארתריטיס (שחיקת מפרקים)</a:t>
            </a:r>
            <a:endParaRPr lang="he-IL" sz="1400" dirty="0"/>
          </a:p>
        </p:txBody>
      </p:sp>
      <p:sp>
        <p:nvSpPr>
          <p:cNvPr id="39" name="Shape 35"/>
          <p:cNvSpPr/>
          <p:nvPr/>
        </p:nvSpPr>
        <p:spPr>
          <a:xfrm>
            <a:off x="822960" y="2743200"/>
            <a:ext cx="2339264" cy="658368"/>
          </a:xfrm>
          <a:prstGeom prst="roundRect">
            <a:avLst>
              <a:gd name="adj" fmla="val 13889"/>
            </a:avLst>
          </a:prstGeom>
          <a:solidFill>
            <a:srgbClr val="F3F0FA"/>
          </a:solidFill>
          <a:ln/>
        </p:spPr>
        <p:txBody>
          <a:bodyPr/>
          <a:lstStyle/>
          <a:p>
            <a:endParaRPr lang="he-IL"/>
          </a:p>
        </p:txBody>
      </p:sp>
      <p:sp>
        <p:nvSpPr>
          <p:cNvPr id="40" name="Text 36"/>
          <p:cNvSpPr txBox="1"/>
          <p:nvPr/>
        </p:nvSpPr>
        <p:spPr>
          <a:xfrm>
            <a:off x="932688"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בעיות בכפות הרגליים</a:t>
            </a:r>
            <a:endParaRPr lang="he-IL" sz="1400" dirty="0"/>
          </a:p>
        </p:txBody>
      </p:sp>
      <p:sp>
        <p:nvSpPr>
          <p:cNvPr id="41" name="Shape 37"/>
          <p:cNvSpPr/>
          <p:nvPr/>
        </p:nvSpPr>
        <p:spPr>
          <a:xfrm>
            <a:off x="822960" y="3520440"/>
            <a:ext cx="2339264" cy="658368"/>
          </a:xfrm>
          <a:prstGeom prst="roundRect">
            <a:avLst>
              <a:gd name="adj" fmla="val 13889"/>
            </a:avLst>
          </a:prstGeom>
          <a:solidFill>
            <a:srgbClr val="F3F0FA"/>
          </a:solidFill>
          <a:ln/>
        </p:spPr>
        <p:txBody>
          <a:bodyPr/>
          <a:lstStyle/>
          <a:p>
            <a:endParaRPr lang="he-IL"/>
          </a:p>
        </p:txBody>
      </p:sp>
      <p:sp>
        <p:nvSpPr>
          <p:cNvPr id="42" name="Text 38"/>
          <p:cNvSpPr txBox="1"/>
          <p:nvPr/>
        </p:nvSpPr>
        <p:spPr>
          <a:xfrm>
            <a:off x="932688"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הרניה (בקע)</a:t>
            </a:r>
            <a:endParaRPr lang="he-IL" sz="1400" dirty="0"/>
          </a:p>
        </p:txBody>
      </p:sp>
      <p:sp>
        <p:nvSpPr>
          <p:cNvPr id="43" name="Shape 39"/>
          <p:cNvSpPr/>
          <p:nvPr/>
        </p:nvSpPr>
        <p:spPr>
          <a:xfrm>
            <a:off x="822960" y="4297680"/>
            <a:ext cx="2339264" cy="658368"/>
          </a:xfrm>
          <a:prstGeom prst="roundRect">
            <a:avLst>
              <a:gd name="adj" fmla="val 13889"/>
            </a:avLst>
          </a:prstGeom>
          <a:solidFill>
            <a:srgbClr val="F3F0FA"/>
          </a:solidFill>
          <a:ln/>
        </p:spPr>
        <p:txBody>
          <a:bodyPr/>
          <a:lstStyle/>
          <a:p>
            <a:endParaRPr lang="he-IL"/>
          </a:p>
        </p:txBody>
      </p:sp>
      <p:sp>
        <p:nvSpPr>
          <p:cNvPr id="44" name="Text 40"/>
          <p:cNvSpPr txBox="1"/>
          <p:nvPr/>
        </p:nvSpPr>
        <p:spPr>
          <a:xfrm>
            <a:off x="932688"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ירידה בתפקוד הגופני ואיכות החיים</a:t>
            </a:r>
            <a:endParaRPr lang="he-IL" sz="1400" dirty="0"/>
          </a:p>
        </p:txBody>
      </p:sp>
      <p:sp>
        <p:nvSpPr>
          <p:cNvPr id="4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(חלק א'): תחקור המטופל על ידי האחות (אנמנזה)</a:t>
            </a:r>
            <a:endParaRPr lang="he-IL" sz="26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298448"/>
          </a:xfrm>
          <a:prstGeom prst="roundRect">
            <a:avLst>
              <a:gd name="adj" fmla="val 8451"/>
            </a:avLst>
          </a:prstGeom>
          <a:solidFill>
            <a:srgbClr val="F3F0FA"/>
          </a:solidFill>
          <a:ln/>
        </p:spPr>
        <p:txBody>
          <a:bodyPr/>
          <a:lstStyle/>
          <a:p>
            <a:endParaRPr lang="he-IL"/>
          </a:p>
        </p:txBody>
      </p:sp>
      <p:sp>
        <p:nvSpPr>
          <p:cNvPr id="9" name="Shape 7"/>
          <p:cNvSpPr/>
          <p:nvPr/>
        </p:nvSpPr>
        <p:spPr>
          <a:xfrm rot="5400000">
            <a:off x="10326859" y="1865376"/>
            <a:ext cx="633515" cy="548640"/>
          </a:xfrm>
          <a:prstGeom prst="hexagon">
            <a:avLst/>
          </a:prstGeom>
          <a:solidFill>
            <a:srgbClr val="4A90D0"/>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7429" y="2013509"/>
            <a:ext cx="252374" cy="252374"/>
          </a:xfrm>
          <a:prstGeom prst="rect">
            <a:avLst/>
          </a:prstGeom>
        </p:spPr>
      </p:pic>
      <p:sp>
        <p:nvSpPr>
          <p:cNvPr id="11" name="Text 8"/>
          <p:cNvSpPr txBox="1"/>
          <p:nvPr/>
        </p:nvSpPr>
        <p:spPr>
          <a:xfrm>
            <a:off x="9692640" y="2478024"/>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סדר יום ותזונה</a:t>
            </a:r>
            <a:endParaRPr lang="he-IL" sz="1300" dirty="0"/>
          </a:p>
        </p:txBody>
      </p:sp>
      <p:sp>
        <p:nvSpPr>
          <p:cNvPr id="12" name="Shape 9"/>
          <p:cNvSpPr/>
          <p:nvPr/>
        </p:nvSpPr>
        <p:spPr>
          <a:xfrm>
            <a:off x="5806440" y="1719072"/>
            <a:ext cx="3657600" cy="1298448"/>
          </a:xfrm>
          <a:prstGeom prst="roundRect">
            <a:avLst>
              <a:gd name="adj" fmla="val 8451"/>
            </a:avLst>
          </a:prstGeom>
          <a:solidFill>
            <a:srgbClr val="ECF4FC"/>
          </a:solidFill>
          <a:ln/>
        </p:spPr>
        <p:txBody>
          <a:bodyPr/>
          <a:lstStyle/>
          <a:p>
            <a:endParaRPr lang="he-IL"/>
          </a:p>
        </p:txBody>
      </p:sp>
      <p:sp>
        <p:nvSpPr>
          <p:cNvPr id="13" name="Shape 10"/>
          <p:cNvSpPr/>
          <p:nvPr/>
        </p:nvSpPr>
        <p:spPr>
          <a:xfrm rot="5400000">
            <a:off x="8922270" y="1874520"/>
            <a:ext cx="443460" cy="384048"/>
          </a:xfrm>
          <a:prstGeom prst="hexagon">
            <a:avLst/>
          </a:prstGeom>
          <a:solidFill>
            <a:srgbClr val="4A90D0"/>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1978213"/>
            <a:ext cx="176662" cy="176662"/>
          </a:xfrm>
          <a:prstGeom prst="rect">
            <a:avLst/>
          </a:prstGeom>
        </p:spPr>
      </p:pic>
      <p:sp>
        <p:nvSpPr>
          <p:cNvPr id="15" name="Text 11"/>
          <p:cNvSpPr txBox="1"/>
          <p:nvPr/>
        </p:nvSpPr>
        <p:spPr>
          <a:xfrm>
            <a:off x="5989320" y="1856232"/>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1. איך אתה מתנהל ביום יום ומהם הרגלי התזונה שלך?</a:t>
            </a:r>
            <a:endParaRPr lang="he-IL" sz="1450" dirty="0"/>
          </a:p>
        </p:txBody>
      </p:sp>
      <p:sp>
        <p:nvSpPr>
          <p:cNvPr id="16" name="Shape 12"/>
          <p:cNvSpPr/>
          <p:nvPr/>
        </p:nvSpPr>
        <p:spPr>
          <a:xfrm>
            <a:off x="548640" y="1719072"/>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7" name="Shape 13"/>
          <p:cNvSpPr/>
          <p:nvPr/>
        </p:nvSpPr>
        <p:spPr>
          <a:xfrm rot="5400000">
            <a:off x="5081790" y="1874520"/>
            <a:ext cx="443460" cy="384048"/>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1978213"/>
            <a:ext cx="176662" cy="176662"/>
          </a:xfrm>
          <a:prstGeom prst="rect">
            <a:avLst/>
          </a:prstGeom>
        </p:spPr>
      </p:pic>
      <p:sp>
        <p:nvSpPr>
          <p:cNvPr id="19" name="Text 14"/>
          <p:cNvSpPr txBox="1"/>
          <p:nvPr/>
        </p:nvSpPr>
        <p:spPr>
          <a:xfrm>
            <a:off x="731520" y="1856232"/>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"יש לי עבודה מאוד לחוצה, ואני אוכל בנשנושים ולא באופן מסודר."</a:t>
            </a:r>
            <a:endParaRPr lang="he-IL" sz="1450" dirty="0"/>
          </a:p>
        </p:txBody>
      </p:sp>
      <p:sp>
        <p:nvSpPr>
          <p:cNvPr id="20" name="Shape 15"/>
          <p:cNvSpPr/>
          <p:nvPr/>
        </p:nvSpPr>
        <p:spPr>
          <a:xfrm>
            <a:off x="9646920" y="3200400"/>
            <a:ext cx="1993392" cy="1298448"/>
          </a:xfrm>
          <a:prstGeom prst="roundRect">
            <a:avLst>
              <a:gd name="adj" fmla="val 8451"/>
            </a:avLst>
          </a:prstGeom>
          <a:solidFill>
            <a:srgbClr val="F3F0FA"/>
          </a:solidFill>
          <a:ln/>
        </p:spPr>
        <p:txBody>
          <a:bodyPr/>
          <a:lstStyle/>
          <a:p>
            <a:endParaRPr lang="he-IL"/>
          </a:p>
        </p:txBody>
      </p:sp>
      <p:sp>
        <p:nvSpPr>
          <p:cNvPr id="21" name="Shape 16"/>
          <p:cNvSpPr/>
          <p:nvPr/>
        </p:nvSpPr>
        <p:spPr>
          <a:xfrm rot="5400000">
            <a:off x="10326859" y="3346704"/>
            <a:ext cx="633515" cy="548640"/>
          </a:xfrm>
          <a:prstGeom prst="hexagon">
            <a:avLst/>
          </a:prstGeom>
          <a:solidFill>
            <a:srgbClr val="5280C8"/>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517429" y="3494837"/>
            <a:ext cx="252374" cy="252374"/>
          </a:xfrm>
          <a:prstGeom prst="rect">
            <a:avLst/>
          </a:prstGeom>
        </p:spPr>
      </p:pic>
      <p:sp>
        <p:nvSpPr>
          <p:cNvPr id="23" name="Text 17"/>
          <p:cNvSpPr txBox="1"/>
          <p:nvPr/>
        </p:nvSpPr>
        <p:spPr>
          <a:xfrm>
            <a:off x="9692640" y="3959352"/>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פעילות גופנית</a:t>
            </a:r>
            <a:endParaRPr lang="he-IL" sz="1300" dirty="0"/>
          </a:p>
        </p:txBody>
      </p:sp>
      <p:sp>
        <p:nvSpPr>
          <p:cNvPr id="24" name="Shape 18"/>
          <p:cNvSpPr/>
          <p:nvPr/>
        </p:nvSpPr>
        <p:spPr>
          <a:xfrm>
            <a:off x="5806440" y="3200400"/>
            <a:ext cx="3657600" cy="1298448"/>
          </a:xfrm>
          <a:prstGeom prst="roundRect">
            <a:avLst>
              <a:gd name="adj" fmla="val 8451"/>
            </a:avLst>
          </a:prstGeom>
          <a:solidFill>
            <a:srgbClr val="ECF4FC"/>
          </a:solidFill>
          <a:ln/>
        </p:spPr>
        <p:txBody>
          <a:bodyPr/>
          <a:lstStyle/>
          <a:p>
            <a:endParaRPr lang="he-IL"/>
          </a:p>
        </p:txBody>
      </p:sp>
      <p:sp>
        <p:nvSpPr>
          <p:cNvPr id="25" name="Shape 19"/>
          <p:cNvSpPr/>
          <p:nvPr/>
        </p:nvSpPr>
        <p:spPr>
          <a:xfrm rot="5400000">
            <a:off x="8922270" y="3355848"/>
            <a:ext cx="443460" cy="384048"/>
          </a:xfrm>
          <a:prstGeom prst="hexagon">
            <a:avLst/>
          </a:prstGeom>
          <a:solidFill>
            <a:srgbClr val="4A90D0"/>
          </a:solidFill>
          <a:ln/>
        </p:spPr>
        <p:txBody>
          <a:bodyPr/>
          <a:lstStyle/>
          <a:p>
            <a:endParaRPr lang="he-IL"/>
          </a:p>
        </p:txBody>
      </p:sp>
      <p:pic>
        <p:nvPicPr>
          <p:cNvPr id="26" name="Image 4"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3459541"/>
            <a:ext cx="176662" cy="176662"/>
          </a:xfrm>
          <a:prstGeom prst="rect">
            <a:avLst/>
          </a:prstGeom>
        </p:spPr>
      </p:pic>
      <p:sp>
        <p:nvSpPr>
          <p:cNvPr id="27" name="Text 20"/>
          <p:cNvSpPr txBox="1"/>
          <p:nvPr/>
        </p:nvSpPr>
        <p:spPr>
          <a:xfrm>
            <a:off x="5989320" y="3337560"/>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2. האם אתה מבצע פעילות גופנית בחיי היומיום?</a:t>
            </a:r>
            <a:endParaRPr lang="he-IL" sz="1450" dirty="0"/>
          </a:p>
        </p:txBody>
      </p:sp>
      <p:sp>
        <p:nvSpPr>
          <p:cNvPr id="28" name="Shape 21"/>
          <p:cNvSpPr/>
          <p:nvPr/>
        </p:nvSpPr>
        <p:spPr>
          <a:xfrm>
            <a:off x="548640" y="3200400"/>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9" name="Shape 22"/>
          <p:cNvSpPr/>
          <p:nvPr/>
        </p:nvSpPr>
        <p:spPr>
          <a:xfrm rot="5400000">
            <a:off x="5081790" y="3355848"/>
            <a:ext cx="443460" cy="384048"/>
          </a:xfrm>
          <a:prstGeom prst="hexagon">
            <a:avLst/>
          </a:prstGeom>
          <a:solidFill>
            <a:srgbClr val="6E4494"/>
          </a:solidFill>
          <a:ln/>
        </p:spPr>
        <p:txBody>
          <a:bodyPr/>
          <a:lstStyle/>
          <a:p>
            <a:endParaRPr lang="he-IL"/>
          </a:p>
        </p:txBody>
      </p:sp>
      <p:pic>
        <p:nvPicPr>
          <p:cNvPr id="30" name="Image 5"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3459541"/>
            <a:ext cx="176662" cy="176662"/>
          </a:xfrm>
          <a:prstGeom prst="rect">
            <a:avLst/>
          </a:prstGeom>
        </p:spPr>
      </p:pic>
      <p:sp>
        <p:nvSpPr>
          <p:cNvPr id="31" name="Text 23"/>
          <p:cNvSpPr txBox="1"/>
          <p:nvPr/>
        </p:nvSpPr>
        <p:spPr>
          <a:xfrm>
            <a:off x="731520" y="3337560"/>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עושה הרבה הליכות תוך כדי העבודה כי אני רץ ממקום למקום, אבל חוץ מזה אני לא עושה פעילות גופנית כלשהי."</a:t>
            </a:r>
            <a:endParaRPr lang="he-IL" sz="1450" dirty="0"/>
          </a:p>
        </p:txBody>
      </p:sp>
      <p:sp>
        <p:nvSpPr>
          <p:cNvPr id="32" name="Shape 24"/>
          <p:cNvSpPr/>
          <p:nvPr/>
        </p:nvSpPr>
        <p:spPr>
          <a:xfrm>
            <a:off x="9646920" y="4681728"/>
            <a:ext cx="1993392" cy="1298448"/>
          </a:xfrm>
          <a:prstGeom prst="roundRect">
            <a:avLst>
              <a:gd name="adj" fmla="val 8451"/>
            </a:avLst>
          </a:prstGeom>
          <a:solidFill>
            <a:srgbClr val="F3F0FA"/>
          </a:solidFill>
          <a:ln/>
        </p:spPr>
        <p:txBody>
          <a:bodyPr/>
          <a:lstStyle/>
          <a:p>
            <a:endParaRPr lang="he-IL"/>
          </a:p>
        </p:txBody>
      </p:sp>
      <p:sp>
        <p:nvSpPr>
          <p:cNvPr id="33" name="Shape 25"/>
          <p:cNvSpPr/>
          <p:nvPr/>
        </p:nvSpPr>
        <p:spPr>
          <a:xfrm rot="5400000">
            <a:off x="10326859" y="4828032"/>
            <a:ext cx="633515" cy="548640"/>
          </a:xfrm>
          <a:prstGeom prst="hexagon">
            <a:avLst/>
          </a:prstGeom>
          <a:solidFill>
            <a:srgbClr val="5B6BB5"/>
          </a:solidFill>
          <a:ln/>
        </p:spPr>
        <p:txBody>
          <a:bodyPr/>
          <a:lstStyle/>
          <a:p>
            <a:endParaRPr lang="he-IL"/>
          </a:p>
        </p:txBody>
      </p:sp>
      <p:pic>
        <p:nvPicPr>
          <p:cNvPr id="34" name="Image 6"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17429" y="4976165"/>
            <a:ext cx="252374" cy="252374"/>
          </a:xfrm>
          <a:prstGeom prst="rect">
            <a:avLst/>
          </a:prstGeom>
        </p:spPr>
      </p:pic>
      <p:sp>
        <p:nvSpPr>
          <p:cNvPr id="35" name="Text 26"/>
          <p:cNvSpPr txBox="1"/>
          <p:nvPr/>
        </p:nvSpPr>
        <p:spPr>
          <a:xfrm>
            <a:off x="9692640" y="544068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איכות ומשך השינה</a:t>
            </a:r>
            <a:endParaRPr lang="he-IL" sz="1300" dirty="0"/>
          </a:p>
        </p:txBody>
      </p:sp>
      <p:sp>
        <p:nvSpPr>
          <p:cNvPr id="36" name="Shape 27"/>
          <p:cNvSpPr/>
          <p:nvPr/>
        </p:nvSpPr>
        <p:spPr>
          <a:xfrm>
            <a:off x="5806440" y="4681728"/>
            <a:ext cx="3657600" cy="1298448"/>
          </a:xfrm>
          <a:prstGeom prst="roundRect">
            <a:avLst>
              <a:gd name="adj" fmla="val 8451"/>
            </a:avLst>
          </a:prstGeom>
          <a:solidFill>
            <a:srgbClr val="ECF4FC"/>
          </a:solidFill>
          <a:ln/>
        </p:spPr>
        <p:txBody>
          <a:bodyPr/>
          <a:lstStyle/>
          <a:p>
            <a:endParaRPr lang="he-IL"/>
          </a:p>
        </p:txBody>
      </p:sp>
      <p:sp>
        <p:nvSpPr>
          <p:cNvPr id="37" name="Shape 28"/>
          <p:cNvSpPr/>
          <p:nvPr/>
        </p:nvSpPr>
        <p:spPr>
          <a:xfrm rot="5400000">
            <a:off x="8922270" y="4837176"/>
            <a:ext cx="443460" cy="384048"/>
          </a:xfrm>
          <a:prstGeom prst="hexagon">
            <a:avLst/>
          </a:prstGeom>
          <a:solidFill>
            <a:srgbClr val="4A90D0"/>
          </a:solidFill>
          <a:ln/>
        </p:spPr>
        <p:txBody>
          <a:bodyPr/>
          <a:lstStyle/>
          <a:p>
            <a:endParaRPr lang="he-IL"/>
          </a:p>
        </p:txBody>
      </p:sp>
      <p:pic>
        <p:nvPicPr>
          <p:cNvPr id="38" name="Image 7"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4940869"/>
            <a:ext cx="176662" cy="176662"/>
          </a:xfrm>
          <a:prstGeom prst="rect">
            <a:avLst/>
          </a:prstGeom>
        </p:spPr>
      </p:pic>
      <p:sp>
        <p:nvSpPr>
          <p:cNvPr id="39" name="Text 29"/>
          <p:cNvSpPr txBox="1"/>
          <p:nvPr/>
        </p:nvSpPr>
        <p:spPr>
          <a:xfrm>
            <a:off x="5989320" y="4818888"/>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3. איך השינה שלך בלילה?</a:t>
            </a:r>
            <a:endParaRPr lang="he-IL" sz="1450" dirty="0"/>
          </a:p>
        </p:txBody>
      </p:sp>
      <p:sp>
        <p:nvSpPr>
          <p:cNvPr id="40" name="Shape 30"/>
          <p:cNvSpPr/>
          <p:nvPr/>
        </p:nvSpPr>
        <p:spPr>
          <a:xfrm>
            <a:off x="548640" y="4681728"/>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1" name="Shape 31"/>
          <p:cNvSpPr/>
          <p:nvPr/>
        </p:nvSpPr>
        <p:spPr>
          <a:xfrm rot="5400000">
            <a:off x="5081790" y="4837176"/>
            <a:ext cx="443460" cy="384048"/>
          </a:xfrm>
          <a:prstGeom prst="hexagon">
            <a:avLst/>
          </a:prstGeom>
          <a:solidFill>
            <a:srgbClr val="6E4494"/>
          </a:solidFill>
          <a:ln/>
        </p:spPr>
        <p:txBody>
          <a:bodyPr/>
          <a:lstStyle/>
          <a:p>
            <a:endParaRPr lang="he-IL"/>
          </a:p>
        </p:txBody>
      </p:sp>
      <p:pic>
        <p:nvPicPr>
          <p:cNvPr id="42" name="Image 8"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4940869"/>
            <a:ext cx="176662" cy="176662"/>
          </a:xfrm>
          <a:prstGeom prst="rect">
            <a:avLst/>
          </a:prstGeom>
        </p:spPr>
      </p:pic>
      <p:sp>
        <p:nvSpPr>
          <p:cNvPr id="43" name="Text 32"/>
          <p:cNvSpPr txBox="1"/>
          <p:nvPr/>
        </p:nvSpPr>
        <p:spPr>
          <a:xfrm>
            <a:off x="731520" y="4818888"/>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לא ישן הרבה, אולי 4 או 5 שעות בלילה, ואני ישן גרוע."</a:t>
            </a:r>
            <a:endParaRPr lang="he-IL" sz="1450" dirty="0"/>
          </a:p>
        </p:txBody>
      </p:sp>
      <p:sp>
        <p:nvSpPr>
          <p:cNvPr id="44"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1 (חלק א'): תחקור המטופל על ידי האחות (אנמנזה) (המשך)</a:t>
            </a:r>
            <a:endParaRPr lang="he-IL" sz="23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783080"/>
          </a:xfrm>
          <a:prstGeom prst="roundRect">
            <a:avLst>
              <a:gd name="adj" fmla="val 6154"/>
            </a:avLst>
          </a:prstGeom>
          <a:solidFill>
            <a:srgbClr val="F3F0FA"/>
          </a:solidFill>
          <a:ln/>
        </p:spPr>
        <p:txBody>
          <a:bodyPr/>
          <a:lstStyle/>
          <a:p>
            <a:endParaRPr lang="he-IL"/>
          </a:p>
        </p:txBody>
      </p:sp>
      <p:sp>
        <p:nvSpPr>
          <p:cNvPr id="9" name="Shape 7"/>
          <p:cNvSpPr/>
          <p:nvPr/>
        </p:nvSpPr>
        <p:spPr>
          <a:xfrm rot="5400000">
            <a:off x="10326859" y="2107692"/>
            <a:ext cx="633515" cy="548640"/>
          </a:xfrm>
          <a:prstGeom prst="hexagon">
            <a:avLst/>
          </a:prstGeom>
          <a:solidFill>
            <a:srgbClr val="6658A6"/>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7429" y="2255825"/>
            <a:ext cx="252374" cy="252374"/>
          </a:xfrm>
          <a:prstGeom prst="rect">
            <a:avLst/>
          </a:prstGeom>
        </p:spPr>
      </p:pic>
      <p:sp>
        <p:nvSpPr>
          <p:cNvPr id="11" name="Text 8"/>
          <p:cNvSpPr txBox="1"/>
          <p:nvPr/>
        </p:nvSpPr>
        <p:spPr>
          <a:xfrm>
            <a:off x="9692640" y="272034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חששות וגורמים מטרידים</a:t>
            </a:r>
            <a:endParaRPr lang="he-IL" sz="1300" dirty="0"/>
          </a:p>
        </p:txBody>
      </p:sp>
      <p:sp>
        <p:nvSpPr>
          <p:cNvPr id="12" name="Shape 9"/>
          <p:cNvSpPr/>
          <p:nvPr/>
        </p:nvSpPr>
        <p:spPr>
          <a:xfrm>
            <a:off x="5806440" y="1719072"/>
            <a:ext cx="3657600" cy="1783080"/>
          </a:xfrm>
          <a:prstGeom prst="roundRect">
            <a:avLst>
              <a:gd name="adj" fmla="val 6154"/>
            </a:avLst>
          </a:prstGeom>
          <a:solidFill>
            <a:srgbClr val="ECF4FC"/>
          </a:solidFill>
          <a:ln/>
        </p:spPr>
        <p:txBody>
          <a:bodyPr/>
          <a:lstStyle/>
          <a:p>
            <a:endParaRPr lang="he-IL"/>
          </a:p>
        </p:txBody>
      </p:sp>
      <p:sp>
        <p:nvSpPr>
          <p:cNvPr id="13" name="Shape 10"/>
          <p:cNvSpPr/>
          <p:nvPr/>
        </p:nvSpPr>
        <p:spPr>
          <a:xfrm rot="5400000">
            <a:off x="8922270" y="1874520"/>
            <a:ext cx="443460" cy="384048"/>
          </a:xfrm>
          <a:prstGeom prst="hexagon">
            <a:avLst/>
          </a:prstGeom>
          <a:solidFill>
            <a:srgbClr val="4A90D0"/>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1978213"/>
            <a:ext cx="176662" cy="176662"/>
          </a:xfrm>
          <a:prstGeom prst="rect">
            <a:avLst/>
          </a:prstGeom>
        </p:spPr>
      </p:pic>
      <p:sp>
        <p:nvSpPr>
          <p:cNvPr id="15" name="Text 11"/>
          <p:cNvSpPr txBox="1"/>
          <p:nvPr/>
        </p:nvSpPr>
        <p:spPr>
          <a:xfrm>
            <a:off x="5989320" y="1856232"/>
            <a:ext cx="2834640" cy="1508760"/>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4. מה הכי מטריד אותך כרגע מבחינה בריאותית?</a:t>
            </a:r>
            <a:endParaRPr lang="he-IL" sz="1450" dirty="0"/>
          </a:p>
        </p:txBody>
      </p:sp>
      <p:sp>
        <p:nvSpPr>
          <p:cNvPr id="16" name="Shape 12"/>
          <p:cNvSpPr/>
          <p:nvPr/>
        </p:nvSpPr>
        <p:spPr>
          <a:xfrm>
            <a:off x="548640" y="1719072"/>
            <a:ext cx="5074920" cy="1783080"/>
          </a:xfrm>
          <a:prstGeom prst="roundRect">
            <a:avLst>
              <a:gd name="adj" fmla="val 615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7" name="Shape 13"/>
          <p:cNvSpPr/>
          <p:nvPr/>
        </p:nvSpPr>
        <p:spPr>
          <a:xfrm rot="5400000">
            <a:off x="5081790" y="1874520"/>
            <a:ext cx="443460" cy="384048"/>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1978213"/>
            <a:ext cx="176662" cy="176662"/>
          </a:xfrm>
          <a:prstGeom prst="rect">
            <a:avLst/>
          </a:prstGeom>
        </p:spPr>
      </p:pic>
      <p:sp>
        <p:nvSpPr>
          <p:cNvPr id="19" name="Text 14"/>
          <p:cNvSpPr txBox="1"/>
          <p:nvPr/>
        </p:nvSpPr>
        <p:spPr>
          <a:xfrm>
            <a:off x="731520" y="1856232"/>
            <a:ext cx="4206240" cy="1508760"/>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מאוד מפחד מהפצע שיש לי ברגל, כי יש לי שכן שכרתו לו את הרגל ואני מאוד מפחד מזה."</a:t>
            </a:r>
            <a:endParaRPr lang="he-IL" sz="1450" dirty="0"/>
          </a:p>
        </p:txBody>
      </p:sp>
      <p:sp>
        <p:nvSpPr>
          <p:cNvPr id="20" name="Shape 15"/>
          <p:cNvSpPr/>
          <p:nvPr/>
        </p:nvSpPr>
        <p:spPr>
          <a:xfrm>
            <a:off x="9646920" y="3685032"/>
            <a:ext cx="1993392" cy="1783080"/>
          </a:xfrm>
          <a:prstGeom prst="roundRect">
            <a:avLst>
              <a:gd name="adj" fmla="val 6154"/>
            </a:avLst>
          </a:prstGeom>
          <a:solidFill>
            <a:srgbClr val="F3F0FA"/>
          </a:solidFill>
          <a:ln/>
        </p:spPr>
        <p:txBody>
          <a:bodyPr/>
          <a:lstStyle/>
          <a:p>
            <a:endParaRPr lang="he-IL"/>
          </a:p>
        </p:txBody>
      </p:sp>
      <p:sp>
        <p:nvSpPr>
          <p:cNvPr id="21" name="Shape 16"/>
          <p:cNvSpPr/>
          <p:nvPr/>
        </p:nvSpPr>
        <p:spPr>
          <a:xfrm rot="5400000">
            <a:off x="10326859" y="4073652"/>
            <a:ext cx="633515" cy="548640"/>
          </a:xfrm>
          <a:prstGeom prst="hexagon">
            <a:avLst/>
          </a:prstGeom>
          <a:solidFill>
            <a:srgbClr val="6E4494"/>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517429" y="4221785"/>
            <a:ext cx="252374" cy="252374"/>
          </a:xfrm>
          <a:prstGeom prst="rect">
            <a:avLst/>
          </a:prstGeom>
        </p:spPr>
      </p:pic>
      <p:sp>
        <p:nvSpPr>
          <p:cNvPr id="23" name="Text 17"/>
          <p:cNvSpPr txBox="1"/>
          <p:nvPr/>
        </p:nvSpPr>
        <p:spPr>
          <a:xfrm>
            <a:off x="9692640" y="468630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היענות לטיפול התרופתי</a:t>
            </a:r>
            <a:endParaRPr lang="he-IL" sz="1300" dirty="0"/>
          </a:p>
        </p:txBody>
      </p:sp>
      <p:sp>
        <p:nvSpPr>
          <p:cNvPr id="24" name="Shape 18"/>
          <p:cNvSpPr/>
          <p:nvPr/>
        </p:nvSpPr>
        <p:spPr>
          <a:xfrm>
            <a:off x="5806440" y="3685032"/>
            <a:ext cx="3657600" cy="1783080"/>
          </a:xfrm>
          <a:prstGeom prst="roundRect">
            <a:avLst>
              <a:gd name="adj" fmla="val 6154"/>
            </a:avLst>
          </a:prstGeom>
          <a:solidFill>
            <a:srgbClr val="ECF4FC"/>
          </a:solidFill>
          <a:ln/>
        </p:spPr>
        <p:txBody>
          <a:bodyPr/>
          <a:lstStyle/>
          <a:p>
            <a:endParaRPr lang="he-IL"/>
          </a:p>
        </p:txBody>
      </p:sp>
      <p:sp>
        <p:nvSpPr>
          <p:cNvPr id="25" name="Shape 19"/>
          <p:cNvSpPr/>
          <p:nvPr/>
        </p:nvSpPr>
        <p:spPr>
          <a:xfrm rot="5400000">
            <a:off x="8922270" y="3840480"/>
            <a:ext cx="443460" cy="384048"/>
          </a:xfrm>
          <a:prstGeom prst="hexagon">
            <a:avLst/>
          </a:prstGeom>
          <a:solidFill>
            <a:srgbClr val="4A90D0"/>
          </a:solidFill>
          <a:ln/>
        </p:spPr>
        <p:txBody>
          <a:bodyPr/>
          <a:lstStyle/>
          <a:p>
            <a:endParaRPr lang="he-IL"/>
          </a:p>
        </p:txBody>
      </p:sp>
      <p:pic>
        <p:nvPicPr>
          <p:cNvPr id="26" name="Image 4"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3944173"/>
            <a:ext cx="176662" cy="176662"/>
          </a:xfrm>
          <a:prstGeom prst="rect">
            <a:avLst/>
          </a:prstGeom>
        </p:spPr>
      </p:pic>
      <p:sp>
        <p:nvSpPr>
          <p:cNvPr id="27" name="Text 20"/>
          <p:cNvSpPr txBox="1"/>
          <p:nvPr/>
        </p:nvSpPr>
        <p:spPr>
          <a:xfrm>
            <a:off x="5989320" y="3822192"/>
            <a:ext cx="2834640" cy="1508760"/>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5. האם אתה מקפיד לקחת את הטיפול התרופתי הקבוע שלך?</a:t>
            </a:r>
            <a:endParaRPr lang="he-IL" sz="1450" dirty="0"/>
          </a:p>
        </p:txBody>
      </p:sp>
      <p:sp>
        <p:nvSpPr>
          <p:cNvPr id="28" name="Shape 21"/>
          <p:cNvSpPr/>
          <p:nvPr/>
        </p:nvSpPr>
        <p:spPr>
          <a:xfrm>
            <a:off x="548640" y="3685032"/>
            <a:ext cx="5074920" cy="1783080"/>
          </a:xfrm>
          <a:prstGeom prst="roundRect">
            <a:avLst>
              <a:gd name="adj" fmla="val 615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9" name="Shape 22"/>
          <p:cNvSpPr/>
          <p:nvPr/>
        </p:nvSpPr>
        <p:spPr>
          <a:xfrm rot="5400000">
            <a:off x="5081790" y="3840480"/>
            <a:ext cx="443460" cy="384048"/>
          </a:xfrm>
          <a:prstGeom prst="hexagon">
            <a:avLst/>
          </a:prstGeom>
          <a:solidFill>
            <a:srgbClr val="6E4494"/>
          </a:solidFill>
          <a:ln/>
        </p:spPr>
        <p:txBody>
          <a:bodyPr/>
          <a:lstStyle/>
          <a:p>
            <a:endParaRPr lang="he-IL"/>
          </a:p>
        </p:txBody>
      </p:sp>
      <p:pic>
        <p:nvPicPr>
          <p:cNvPr id="30" name="Image 5"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3944173"/>
            <a:ext cx="176662" cy="176662"/>
          </a:xfrm>
          <a:prstGeom prst="rect">
            <a:avLst/>
          </a:prstGeom>
        </p:spPr>
      </p:pic>
      <p:sp>
        <p:nvSpPr>
          <p:cNvPr id="31" name="Text 23"/>
          <p:cNvSpPr txBox="1"/>
          <p:nvPr/>
        </p:nvSpPr>
        <p:spPr>
          <a:xfrm>
            <a:off x="731520" y="3822192"/>
            <a:ext cx="4206240" cy="1508760"/>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לוקח את האוזמפיק (סמגלוטייד </a:t>
            </a:r>
            <a:r>
              <a:rPr lang="en-US" altLang="en-US" sz="1450" i="1" dirty="0">
                <a:solidFill>
                  <a:srgbClr val="2E2A47"/>
                </a:solidFill>
                <a:latin typeface="Arial" pitchFamily="34" charset="0"/>
                <a:ea typeface="Arial" pitchFamily="34" charset="-122"/>
                <a:cs typeface="Arial" pitchFamily="34" charset="-120"/>
              </a:rPr>
              <a:t>SC</a:t>
            </a:r>
            <a:r>
              <a:rPr lang="he-IL" altLang="en-US" sz="1450" i="1" dirty="0">
                <a:solidFill>
                  <a:srgbClr val="2E2A47"/>
                </a:solidFill>
                <a:latin typeface="Arial" pitchFamily="34" charset="0"/>
                <a:ea typeface="Arial" pitchFamily="34" charset="-122"/>
                <a:cs typeface="Arial" pitchFamily="34" charset="-120"/>
              </a:rPr>
              <a:t>) רק לפעמים כי אני חושש שזה יכול לפגוע לי בעיניים, וגם אני חושש לקחת את זה כי אני מרבה לטוס ולעבור בין מדינות וחושש מתופעות לוואי."</a:t>
            </a:r>
            <a:endParaRPr lang="he-IL" sz="1450" dirty="0"/>
          </a:p>
        </p:txBody>
      </p:sp>
      <p:sp>
        <p:nvSpPr>
          <p:cNvPr id="32"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548640" y="1600200"/>
            <a:ext cx="11094415" cy="1828800"/>
          </a:xfrm>
          <a:prstGeom prst="roundRect">
            <a:avLst>
              <a:gd name="adj" fmla="val 6000"/>
            </a:avLst>
          </a:prstGeom>
          <a:solidFill>
            <a:srgbClr val="F3F0FA"/>
          </a:solidFill>
          <a:ln/>
        </p:spPr>
        <p:txBody>
          <a:bodyPr/>
          <a:lstStyle/>
          <a:p>
            <a:endParaRPr lang="he-IL"/>
          </a:p>
        </p:txBody>
      </p:sp>
      <p:sp>
        <p:nvSpPr>
          <p:cNvPr id="6" name="Shape 4"/>
          <p:cNvSpPr/>
          <p:nvPr/>
        </p:nvSpPr>
        <p:spPr>
          <a:xfrm rot="5400000">
            <a:off x="10455723" y="2080260"/>
            <a:ext cx="1003065" cy="868680"/>
          </a:xfrm>
          <a:prstGeom prst="hexagon">
            <a:avLst/>
          </a:prstGeom>
          <a:solidFill>
            <a:srgbClr val="6E4494"/>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57459" y="2314804"/>
            <a:ext cx="399593" cy="399593"/>
          </a:xfrm>
          <a:prstGeom prst="rect">
            <a:avLst/>
          </a:prstGeom>
        </p:spPr>
      </p:pic>
      <p:sp>
        <p:nvSpPr>
          <p:cNvPr id="8" name="Text 5"/>
          <p:cNvSpPr txBox="1"/>
          <p:nvPr/>
        </p:nvSpPr>
        <p:spPr>
          <a:xfrm>
            <a:off x="868680" y="1691640"/>
            <a:ext cx="9357055" cy="1645920"/>
          </a:xfrm>
          <a:prstGeom prst="rect">
            <a:avLst/>
          </a:prstGeom>
          <a:noFill/>
          <a:ln/>
        </p:spPr>
        <p:txBody>
          <a:bodyPr wrap="square" lIns="0" tIns="0" rIns="0" bIns="0" rtlCol="0" anchor="ctr"/>
          <a:lstStyle/>
          <a:p>
            <a:pPr marL="0" indent="0" algn="r" rtl="1">
              <a:buNone/>
            </a:pPr>
            <a:r>
              <a:rPr lang="he-IL" altLang="en-US" sz="1800" dirty="0">
                <a:solidFill>
                  <a:srgbClr val="2B2560"/>
                </a:solidFill>
                <a:latin typeface="Arial" pitchFamily="34" charset="0"/>
                <a:ea typeface="Arial" pitchFamily="34" charset="-122"/>
                <a:cs typeface="Arial" pitchFamily="34" charset="-120"/>
              </a:rPr>
              <a:t>לאחר שיעקב שיתף אותך בעומס הרב בעבודה, בתזונה הבלתי מסודרת, בשינה הירודה ובפחד העמוק שלו מכריתת רגל – קרא/י את תגובות האחות האפשריות, בחר/י תגובה וצפה/י כיצד יעקב מגיב ואיזה סגנון תקשורת זה מייצג:</a:t>
            </a:r>
            <a:endParaRPr lang="he-IL" sz="1800" dirty="0"/>
          </a:p>
        </p:txBody>
      </p:sp>
      <p:sp>
        <p:nvSpPr>
          <p:cNvPr id="9" name="Shape 6"/>
          <p:cNvSpPr/>
          <p:nvPr/>
        </p:nvSpPr>
        <p:spPr>
          <a:xfrm>
            <a:off x="9040901"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9866842" y="4023360"/>
            <a:ext cx="950272" cy="822960"/>
          </a:xfrm>
          <a:prstGeom prst="hexagon">
            <a:avLst/>
          </a:prstGeom>
          <a:solidFill>
            <a:srgbClr val="1F8F83"/>
          </a:solidFill>
          <a:ln/>
        </p:spPr>
        <p:txBody>
          <a:bodyPr/>
          <a:lstStyle/>
          <a:p>
            <a:endParaRPr lang="he-IL"/>
          </a:p>
        </p:txBody>
      </p:sp>
      <p:sp>
        <p:nvSpPr>
          <p:cNvPr id="11" name="Text 8"/>
          <p:cNvSpPr txBox="1"/>
          <p:nvPr/>
        </p:nvSpPr>
        <p:spPr>
          <a:xfrm>
            <a:off x="9930498"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2" name="Text 9"/>
          <p:cNvSpPr txBox="1"/>
          <p:nvPr/>
        </p:nvSpPr>
        <p:spPr>
          <a:xfrm>
            <a:off x="9040901"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1</a:t>
            </a:r>
            <a:endParaRPr lang="he-IL" sz="1700" dirty="0"/>
          </a:p>
        </p:txBody>
      </p:sp>
      <p:sp>
        <p:nvSpPr>
          <p:cNvPr id="13" name="Text 10"/>
          <p:cNvSpPr txBox="1"/>
          <p:nvPr/>
        </p:nvSpPr>
        <p:spPr>
          <a:xfrm>
            <a:off x="9040901"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אמפתית ומגייסת</a:t>
            </a:r>
            <a:endParaRPr lang="he-IL" sz="1500" dirty="0"/>
          </a:p>
        </p:txBody>
      </p:sp>
      <p:sp>
        <p:nvSpPr>
          <p:cNvPr id="14" name="Shape 11"/>
          <p:cNvSpPr/>
          <p:nvPr/>
        </p:nvSpPr>
        <p:spPr>
          <a:xfrm>
            <a:off x="6210148"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2"/>
          <p:cNvSpPr/>
          <p:nvPr/>
        </p:nvSpPr>
        <p:spPr>
          <a:xfrm rot="5400000">
            <a:off x="7036089" y="4023360"/>
            <a:ext cx="950272" cy="822960"/>
          </a:xfrm>
          <a:prstGeom prst="hexagon">
            <a:avLst/>
          </a:prstGeom>
          <a:solidFill>
            <a:srgbClr val="C24863"/>
          </a:solidFill>
          <a:ln/>
        </p:spPr>
        <p:txBody>
          <a:bodyPr/>
          <a:lstStyle/>
          <a:p>
            <a:endParaRPr lang="he-IL"/>
          </a:p>
        </p:txBody>
      </p:sp>
      <p:sp>
        <p:nvSpPr>
          <p:cNvPr id="16" name="Text 13"/>
          <p:cNvSpPr txBox="1"/>
          <p:nvPr/>
        </p:nvSpPr>
        <p:spPr>
          <a:xfrm>
            <a:off x="7099744"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6210148"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2</a:t>
            </a:r>
            <a:endParaRPr lang="he-IL" sz="1700" dirty="0"/>
          </a:p>
        </p:txBody>
      </p:sp>
      <p:sp>
        <p:nvSpPr>
          <p:cNvPr id="18" name="Text 15"/>
          <p:cNvSpPr txBox="1"/>
          <p:nvPr/>
        </p:nvSpPr>
        <p:spPr>
          <a:xfrm>
            <a:off x="6210148"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C24863"/>
                </a:solidFill>
                <a:latin typeface="Arial" pitchFamily="34" charset="0"/>
                <a:ea typeface="Arial" pitchFamily="34" charset="-122"/>
                <a:cs typeface="Arial" pitchFamily="34" charset="-120"/>
              </a:rPr>
              <a:t>שיפוטית</a:t>
            </a:r>
            <a:endParaRPr lang="he-IL" sz="1500" dirty="0"/>
          </a:p>
        </p:txBody>
      </p:sp>
      <p:sp>
        <p:nvSpPr>
          <p:cNvPr id="19" name="Shape 16"/>
          <p:cNvSpPr/>
          <p:nvPr/>
        </p:nvSpPr>
        <p:spPr>
          <a:xfrm>
            <a:off x="3379394"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4205335" y="4023360"/>
            <a:ext cx="950272" cy="822960"/>
          </a:xfrm>
          <a:prstGeom prst="hexagon">
            <a:avLst/>
          </a:prstGeom>
          <a:solidFill>
            <a:srgbClr val="B8741A"/>
          </a:solidFill>
          <a:ln/>
        </p:spPr>
        <p:txBody>
          <a:bodyPr/>
          <a:lstStyle/>
          <a:p>
            <a:endParaRPr lang="he-IL"/>
          </a:p>
        </p:txBody>
      </p:sp>
      <p:sp>
        <p:nvSpPr>
          <p:cNvPr id="21" name="Text 18"/>
          <p:cNvSpPr txBox="1"/>
          <p:nvPr/>
        </p:nvSpPr>
        <p:spPr>
          <a:xfrm>
            <a:off x="4268991"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2" name="Text 19"/>
          <p:cNvSpPr txBox="1"/>
          <p:nvPr/>
        </p:nvSpPr>
        <p:spPr>
          <a:xfrm>
            <a:off x="3379394"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3</a:t>
            </a:r>
            <a:endParaRPr lang="he-IL" sz="1700" dirty="0"/>
          </a:p>
        </p:txBody>
      </p:sp>
      <p:sp>
        <p:nvSpPr>
          <p:cNvPr id="23" name="Text 20"/>
          <p:cNvSpPr txBox="1"/>
          <p:nvPr/>
        </p:nvSpPr>
        <p:spPr>
          <a:xfrm>
            <a:off x="3379394"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B8741A"/>
                </a:solidFill>
                <a:latin typeface="Arial" pitchFamily="34" charset="0"/>
                <a:ea typeface="Arial" pitchFamily="34" charset="-122"/>
                <a:cs typeface="Arial" pitchFamily="34" charset="-120"/>
              </a:rPr>
              <a:t>טכנית</a:t>
            </a:r>
            <a:endParaRPr lang="he-IL" sz="1500" dirty="0"/>
          </a:p>
        </p:txBody>
      </p:sp>
      <p:sp>
        <p:nvSpPr>
          <p:cNvPr id="24" name="Shape 21"/>
          <p:cNvSpPr/>
          <p:nvPr/>
        </p:nvSpPr>
        <p:spPr>
          <a:xfrm>
            <a:off x="548640"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2"/>
          <p:cNvSpPr/>
          <p:nvPr/>
        </p:nvSpPr>
        <p:spPr>
          <a:xfrm rot="5400000">
            <a:off x="1374581" y="4023360"/>
            <a:ext cx="950272" cy="822960"/>
          </a:xfrm>
          <a:prstGeom prst="hexagon">
            <a:avLst/>
          </a:prstGeom>
          <a:solidFill>
            <a:srgbClr val="C24863"/>
          </a:solidFill>
          <a:ln/>
        </p:spPr>
        <p:txBody>
          <a:bodyPr/>
          <a:lstStyle/>
          <a:p>
            <a:endParaRPr lang="he-IL"/>
          </a:p>
        </p:txBody>
      </p:sp>
      <p:sp>
        <p:nvSpPr>
          <p:cNvPr id="26" name="Text 23"/>
          <p:cNvSpPr txBox="1"/>
          <p:nvPr/>
        </p:nvSpPr>
        <p:spPr>
          <a:xfrm>
            <a:off x="1438237"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4"/>
          <p:cNvSpPr txBox="1"/>
          <p:nvPr/>
        </p:nvSpPr>
        <p:spPr>
          <a:xfrm>
            <a:off x="548640"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4</a:t>
            </a:r>
            <a:endParaRPr lang="he-IL" sz="1700" dirty="0"/>
          </a:p>
        </p:txBody>
      </p:sp>
      <p:sp>
        <p:nvSpPr>
          <p:cNvPr id="28" name="Text 25"/>
          <p:cNvSpPr txBox="1"/>
          <p:nvPr/>
        </p:nvSpPr>
        <p:spPr>
          <a:xfrm>
            <a:off x="548640"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C24863"/>
                </a:solidFill>
                <a:latin typeface="Arial" pitchFamily="34" charset="0"/>
                <a:ea typeface="Arial" pitchFamily="34" charset="-122"/>
                <a:cs typeface="Arial" pitchFamily="34" charset="-120"/>
              </a:rPr>
              <a:t>מבטלת</a:t>
            </a:r>
            <a:endParaRPr lang="he-IL" sz="15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6233008" y="1463040"/>
            <a:ext cx="5410048" cy="4663440"/>
          </a:xfrm>
          <a:prstGeom prst="roundRect">
            <a:avLst>
              <a:gd name="adj" fmla="val 2353"/>
            </a:avLst>
          </a:prstGeom>
          <a:solidFill>
            <a:srgbClr val="E5F4F2"/>
          </a:solidFill>
          <a:ln/>
        </p:spPr>
        <p:txBody>
          <a:bodyPr/>
          <a:lstStyle/>
          <a:p>
            <a:endParaRPr lang="he-IL"/>
          </a:p>
        </p:txBody>
      </p:sp>
      <p:sp>
        <p:nvSpPr>
          <p:cNvPr id="6" name="Shape 4"/>
          <p:cNvSpPr/>
          <p:nvPr/>
        </p:nvSpPr>
        <p:spPr>
          <a:xfrm rot="5400000">
            <a:off x="10869098" y="1600200"/>
            <a:ext cx="633515" cy="548640"/>
          </a:xfrm>
          <a:prstGeom prst="hexagon">
            <a:avLst/>
          </a:prstGeom>
          <a:solidFill>
            <a:srgbClr val="1F8F8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1F8F83"/>
                </a:solidFill>
                <a:latin typeface="Arial" pitchFamily="34" charset="0"/>
                <a:ea typeface="Arial" pitchFamily="34" charset="-122"/>
                <a:cs typeface="Arial" pitchFamily="34" charset="-120"/>
              </a:rPr>
              <a:t>תגובה 1 – תגובה אמפתית, מנרמלת ומגייסת (מומלצת)</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txBody>
          <a:bodyPr/>
          <a:lstStyle/>
          <a:p>
            <a:endParaRPr lang="he-IL"/>
          </a:p>
        </p:txBody>
      </p:sp>
      <p:sp>
        <p:nvSpPr>
          <p:cNvPr id="10" name="Text 7"/>
          <p:cNvSpPr txBox="1"/>
          <p:nvPr/>
        </p:nvSpPr>
        <p:spPr>
          <a:xfrm>
            <a:off x="6644488"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אני מבינה אותך לגמרי. זה הכי טבעי בעולם שתפחד מהפצע ברגל, בטח אחרי מה שקרה לשכן שלך. העומס המטורף בעבודה והשינה המועטה בטוח לא מוסיפים לזה... דע שאתה לא לבד בזה, יש פה צוות שלם שיעזור לך ולצידך לאורך כל הדרך. אנחנו הולכים לשמור על הרגל שלך ביחד, וביחד נתקדם ונאזן את הסוכר צעד אחר צעד, בקצב שמתאים לך."</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1F8F8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(נושם לרווחה, מביט באחות בעיניים רגועות יותר ומחייך קלות): "תודה רבה, החשש מסיבוכים לפעמים משתק אותי אבל אני שמח שיש כאן צוות שמבין ועוזר ואני מוכן לעשות מה שצריך כדי להתאזן."</a:t>
            </a:r>
            <a:endParaRPr lang="he-IL" sz="1250" dirty="0"/>
          </a:p>
        </p:txBody>
      </p:sp>
      <p:sp>
        <p:nvSpPr>
          <p:cNvPr id="12" name="Shape 9"/>
          <p:cNvSpPr/>
          <p:nvPr/>
        </p:nvSpPr>
        <p:spPr>
          <a:xfrm>
            <a:off x="6507328" y="5212080"/>
            <a:ext cx="4861408" cy="0"/>
          </a:xfrm>
          <a:prstGeom prst="line">
            <a:avLst/>
          </a:prstGeom>
          <a:noFill/>
          <a:ln w="9525">
            <a:solidFill>
              <a:srgbClr val="1F8F83">
                <a:alpha val="50000"/>
              </a:srgbClr>
            </a:solidFill>
            <a:prstDash val="solid"/>
          </a:ln>
        </p:spPr>
        <p:txBody>
          <a:bodyPr/>
          <a:lstStyle/>
          <a:p>
            <a:endParaRPr lang="he-IL"/>
          </a:p>
        </p:txBody>
      </p:sp>
      <p:sp>
        <p:nvSpPr>
          <p:cNvPr id="13" name="Text 10"/>
          <p:cNvSpPr txBox="1"/>
          <p:nvPr/>
        </p:nvSpPr>
        <p:spPr>
          <a:xfrm>
            <a:off x="6507328"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1F8F83"/>
                </a:solidFill>
                <a:latin typeface="Arial" pitchFamily="34" charset="0"/>
                <a:ea typeface="Arial" pitchFamily="34" charset="-122"/>
                <a:cs typeface="Arial" pitchFamily="34" charset="-120"/>
              </a:rPr>
              <a:t>תגובה מומלצת ביותר! מתן לגיטימציה לחרדה והצעת שותפות בגובה העיניים מפיגים את המתח ויוצרים נכונות גבוהה לשיתוף פעולה.</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txBody>
          <a:bodyPr/>
          <a:lstStyle/>
          <a:p>
            <a:endParaRPr lang="he-IL"/>
          </a:p>
        </p:txBody>
      </p:sp>
      <p:sp>
        <p:nvSpPr>
          <p:cNvPr id="15" name="Shape 12"/>
          <p:cNvSpPr/>
          <p:nvPr/>
        </p:nvSpPr>
        <p:spPr>
          <a:xfrm rot="5400000">
            <a:off x="5184730" y="1600200"/>
            <a:ext cx="633515" cy="548640"/>
          </a:xfrm>
          <a:prstGeom prst="hexagon">
            <a:avLst/>
          </a:prstGeom>
          <a:solidFill>
            <a:srgbClr val="C24863"/>
          </a:solidFill>
          <a:ln/>
        </p:spPr>
        <p:txBody>
          <a:bodyPr/>
          <a:lstStyle/>
          <a:p>
            <a:endParaRPr lang="he-IL"/>
          </a:p>
        </p:txBody>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C24863"/>
                </a:solidFill>
                <a:latin typeface="Arial" pitchFamily="34" charset="0"/>
                <a:ea typeface="Arial" pitchFamily="34" charset="-122"/>
                <a:cs typeface="Arial" pitchFamily="34" charset="-120"/>
              </a:rPr>
              <a:t>תגובה 2 (שיפוטית) - תגובה מאיימת ומעוררת אשמה</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txBody>
          <a:bodyPr/>
          <a:lstStyle/>
          <a:p>
            <a:endParaRPr lang="he-IL"/>
          </a:p>
        </p:txBody>
      </p:sp>
      <p:sp>
        <p:nvSpPr>
          <p:cNvPr id="19" name="Text 15"/>
          <p:cNvSpPr txBox="1"/>
          <p:nvPr/>
        </p:nvSpPr>
        <p:spPr>
          <a:xfrm>
            <a:off x="960120"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אתה חייב להבין שעם HbA1C של 13.4% והתנהלות כזו של נשנושים וחוסר שינה, אתה מסכן את עצמך. אם לא תתחיל לקחת את עצמך בידיים, לעשות דיאטה מסודרת ולהתעמל, הפצע ברגל רק ילך ויידרדר ותגיע למצבים קשים כמו השכן."</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C2486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מתכווץ בכיסא בחוסר אונים: "אני יודע שאני לא בסדר... הדיבורים האלה רק עושים לי יותר חרדה..."</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txBody>
          <a:bodyPr/>
          <a:lstStyle/>
          <a:p>
            <a:endParaRPr lang="he-IL"/>
          </a:p>
        </p:txBody>
      </p:sp>
      <p:sp>
        <p:nvSpPr>
          <p:cNvPr id="22" name="Text 18"/>
          <p:cNvSpPr txBox="1"/>
          <p:nvPr/>
        </p:nvSpPr>
        <p:spPr>
          <a:xfrm>
            <a:off x="822960"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C24863"/>
                </a:solidFill>
                <a:latin typeface="Arial" pitchFamily="34" charset="0"/>
                <a:ea typeface="Arial" pitchFamily="34" charset="-122"/>
                <a:cs typeface="Arial" pitchFamily="34" charset="-120"/>
              </a:rPr>
              <a:t>הטחת אשמה מגבירה חרדה וגורמת להסתגרות והימנעות מטיפול.</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מה תגידי ליעקב כדי לבנות אמון ולגייס אותו לטיפול? (המשך)</a:t>
            </a:r>
            <a:endParaRPr lang="he-IL" sz="2300" dirty="0"/>
          </a:p>
        </p:txBody>
      </p:sp>
      <p:sp>
        <p:nvSpPr>
          <p:cNvPr id="5" name="Shape 3"/>
          <p:cNvSpPr/>
          <p:nvPr/>
        </p:nvSpPr>
        <p:spPr>
          <a:xfrm>
            <a:off x="6233008" y="1463040"/>
            <a:ext cx="5410048" cy="4663440"/>
          </a:xfrm>
          <a:prstGeom prst="roundRect">
            <a:avLst>
              <a:gd name="adj" fmla="val 2353"/>
            </a:avLst>
          </a:prstGeom>
          <a:solidFill>
            <a:srgbClr val="FCF3E3"/>
          </a:solidFill>
          <a:ln/>
        </p:spPr>
        <p:txBody>
          <a:bodyPr/>
          <a:lstStyle/>
          <a:p>
            <a:endParaRPr lang="he-IL"/>
          </a:p>
        </p:txBody>
      </p:sp>
      <p:sp>
        <p:nvSpPr>
          <p:cNvPr id="6" name="Shape 4"/>
          <p:cNvSpPr/>
          <p:nvPr/>
        </p:nvSpPr>
        <p:spPr>
          <a:xfrm rot="5400000">
            <a:off x="10869098" y="1600200"/>
            <a:ext cx="633515" cy="548640"/>
          </a:xfrm>
          <a:prstGeom prst="hexagon">
            <a:avLst/>
          </a:prstGeom>
          <a:solidFill>
            <a:srgbClr val="B8741A"/>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B8741A"/>
                </a:solidFill>
                <a:latin typeface="Arial" pitchFamily="34" charset="0"/>
                <a:ea typeface="Arial" pitchFamily="34" charset="-122"/>
                <a:cs typeface="Arial" pitchFamily="34" charset="-120"/>
              </a:rPr>
              <a:t>תגובה 3 (טכנית) - תגובה פרוטוקולית ללא אמפתיה</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txBody>
          <a:bodyPr/>
          <a:lstStyle/>
          <a:p>
            <a:endParaRPr lang="he-IL"/>
          </a:p>
        </p:txBody>
      </p:sp>
      <p:sp>
        <p:nvSpPr>
          <p:cNvPr id="10" name="Text 7"/>
          <p:cNvSpPr txBox="1"/>
          <p:nvPr/>
        </p:nvSpPr>
        <p:spPr>
          <a:xfrm>
            <a:off x="6644488"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"טוב יעקב, אין מה להיכנס ללחץ ממה שקרה לשכן. לגבי הפצע ברגל - אנחנו נחליף לך חבישה במרפאת פצע, נתאים לך טיפול תרופתי חדש ונשלח אותך לעשות בדיקות מעבדה מעודכנות."</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B8741A"/>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מהנהן בקרירות: "בסדר, מה שתגידי... רק מקווה שלא יהיו תופעות לוואי."</a:t>
            </a:r>
            <a:endParaRPr lang="he-IL" sz="1250" dirty="0"/>
          </a:p>
        </p:txBody>
      </p:sp>
      <p:sp>
        <p:nvSpPr>
          <p:cNvPr id="12" name="Shape 9"/>
          <p:cNvSpPr/>
          <p:nvPr/>
        </p:nvSpPr>
        <p:spPr>
          <a:xfrm>
            <a:off x="6507328" y="5212080"/>
            <a:ext cx="4861408" cy="0"/>
          </a:xfrm>
          <a:prstGeom prst="line">
            <a:avLst/>
          </a:prstGeom>
          <a:noFill/>
          <a:ln w="9525">
            <a:solidFill>
              <a:srgbClr val="B8741A">
                <a:alpha val="50000"/>
              </a:srgbClr>
            </a:solidFill>
            <a:prstDash val="solid"/>
          </a:ln>
        </p:spPr>
        <p:txBody>
          <a:bodyPr/>
          <a:lstStyle/>
          <a:p>
            <a:endParaRPr lang="he-IL"/>
          </a:p>
        </p:txBody>
      </p:sp>
      <p:sp>
        <p:nvSpPr>
          <p:cNvPr id="13" name="Text 10"/>
          <p:cNvSpPr txBox="1"/>
          <p:nvPr/>
        </p:nvSpPr>
        <p:spPr>
          <a:xfrm>
            <a:off x="6507328"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B8741A"/>
                </a:solidFill>
                <a:latin typeface="Arial" pitchFamily="34" charset="0"/>
                <a:ea typeface="Arial" pitchFamily="34" charset="-122"/>
                <a:cs typeface="Arial" pitchFamily="34" charset="-120"/>
              </a:rPr>
              <a:t>התעלמות מהמצוקה הרגשית מונעת בניית אמון טיפולי עמוק.</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txBody>
          <a:bodyPr/>
          <a:lstStyle/>
          <a:p>
            <a:endParaRPr lang="he-IL"/>
          </a:p>
        </p:txBody>
      </p:sp>
      <p:sp>
        <p:nvSpPr>
          <p:cNvPr id="15" name="Shape 12"/>
          <p:cNvSpPr/>
          <p:nvPr/>
        </p:nvSpPr>
        <p:spPr>
          <a:xfrm rot="5400000">
            <a:off x="5184730" y="1600200"/>
            <a:ext cx="633515" cy="548640"/>
          </a:xfrm>
          <a:prstGeom prst="hexagon">
            <a:avLst/>
          </a:prstGeom>
          <a:solidFill>
            <a:srgbClr val="C24863"/>
          </a:solidFill>
          <a:ln/>
        </p:spPr>
        <p:txBody>
          <a:bodyPr/>
          <a:lstStyle/>
          <a:p>
            <a:endParaRPr lang="he-IL"/>
          </a:p>
        </p:txBody>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C24863"/>
                </a:solidFill>
                <a:latin typeface="Arial" pitchFamily="34" charset="0"/>
                <a:ea typeface="Arial" pitchFamily="34" charset="-122"/>
                <a:cs typeface="Arial" pitchFamily="34" charset="-120"/>
              </a:rPr>
              <a:t>תגובה 4 (מבטלת) - ביטול חששות שטחי ("אל תדאג")</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txBody>
          <a:bodyPr/>
          <a:lstStyle/>
          <a:p>
            <a:endParaRPr lang="he-IL"/>
          </a:p>
        </p:txBody>
      </p:sp>
      <p:sp>
        <p:nvSpPr>
          <p:cNvPr id="19" name="Text 15"/>
          <p:cNvSpPr txBox="1"/>
          <p:nvPr/>
        </p:nvSpPr>
        <p:spPr>
          <a:xfrm>
            <a:off x="960120"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"אל תחשוב על דברים רעים כמו כריתות, תהיה אופטימי! יהיה בסדר, רק תדאג לקחת את התרופות בזמן והכל יסתדר."</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C2486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מניע ראשו באי-נוחות: "קל לומר תהיה אופטימי, אבל הפצע עדיין מפחיד אותי..."</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txBody>
          <a:bodyPr/>
          <a:lstStyle/>
          <a:p>
            <a:endParaRPr lang="he-IL"/>
          </a:p>
        </p:txBody>
      </p:sp>
      <p:sp>
        <p:nvSpPr>
          <p:cNvPr id="22" name="Text 18"/>
          <p:cNvSpPr txBox="1"/>
          <p:nvPr/>
        </p:nvSpPr>
        <p:spPr>
          <a:xfrm>
            <a:off x="822960"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C24863"/>
                </a:solidFill>
                <a:latin typeface="Arial" pitchFamily="34" charset="0"/>
                <a:ea typeface="Arial" pitchFamily="34" charset="-122"/>
                <a:cs typeface="Arial" pitchFamily="34" charset="-120"/>
              </a:rPr>
              <a:t>עידוד שטחי מבטל את הרגש של המטופל וגורם לתחושה שלא מקשיבים לו.</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02</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2</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ביקור ראשון (חלק ב')</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החלטה על אינסולין קצר טווח, פריקת Libre, בדיקת הזרקות, דילמה וחשיבה קלינית, יתרונות קליניים ומחקרים נלווים (STEP, SELECT, שב"ן)</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2: החלטה על התחלת טיפול באינסולין קצר טווח (נובורפיד - </a:t>
            </a:r>
            <a:r>
              <a:rPr lang="da-DK" altLang="en-US" sz="2000" b="1" dirty="0">
                <a:solidFill>
                  <a:srgbClr val="2B2560"/>
                </a:solidFill>
                <a:latin typeface="Arial" pitchFamily="34" charset="0"/>
                <a:ea typeface="Arial" pitchFamily="34" charset="-122"/>
                <a:cs typeface="Arial" pitchFamily="34" charset="-120"/>
              </a:rPr>
              <a:t>Insulin aspart </a:t>
            </a:r>
            <a:r>
              <a:rPr lang="he-IL" altLang="en-US" sz="2300" b="1" dirty="0">
                <a:solidFill>
                  <a:srgbClr val="2B2560"/>
                </a:solidFill>
                <a:latin typeface="Arial" pitchFamily="34" charset="0"/>
                <a:ea typeface="Arial" pitchFamily="34" charset="-122"/>
                <a:cs typeface="Arial" pitchFamily="34" charset="-120"/>
              </a:rPr>
              <a:t>)</a:t>
            </a:r>
            <a:endParaRPr lang="he-IL" sz="2300" dirty="0"/>
          </a:p>
        </p:txBody>
      </p:sp>
      <p:sp>
        <p:nvSpPr>
          <p:cNvPr id="5" name="Shape 3"/>
          <p:cNvSpPr/>
          <p:nvPr/>
        </p:nvSpPr>
        <p:spPr>
          <a:xfrm>
            <a:off x="548640" y="1481328"/>
            <a:ext cx="11094415" cy="1600200"/>
          </a:xfrm>
          <a:prstGeom prst="roundRect">
            <a:avLst>
              <a:gd name="adj" fmla="val 6857"/>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72072" y="1915668"/>
            <a:ext cx="844686" cy="731520"/>
          </a:xfrm>
          <a:prstGeom prst="hexagon">
            <a:avLst/>
          </a:prstGeom>
          <a:solidFill>
            <a:srgbClr val="FFFFFF"/>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2113178"/>
            <a:ext cx="336499" cy="336499"/>
          </a:xfrm>
          <a:prstGeom prst="rect">
            <a:avLst/>
          </a:prstGeom>
        </p:spPr>
      </p:pic>
      <p:sp>
        <p:nvSpPr>
          <p:cNvPr id="8" name="Text 5"/>
          <p:cNvSpPr txBox="1"/>
          <p:nvPr/>
        </p:nvSpPr>
        <p:spPr>
          <a:xfrm>
            <a:off x="822960" y="1572768"/>
            <a:ext cx="9631375" cy="1417320"/>
          </a:xfrm>
          <a:prstGeom prst="rect">
            <a:avLst/>
          </a:prstGeom>
          <a:noFill/>
          <a:ln/>
        </p:spPr>
        <p:txBody>
          <a:bodyPr wrap="square" lIns="0" tIns="0" rIns="0" bIns="0" rtlCol="0" anchor="ctr"/>
          <a:lstStyle/>
          <a:p>
            <a:pPr marL="0" indent="0" algn="r" rtl="1">
              <a:spcAft>
                <a:spcPts val="500"/>
              </a:spcAft>
              <a:buNone/>
            </a:pPr>
            <a:r>
              <a:rPr lang="he-IL" altLang="en-US" sz="1700" b="1" dirty="0">
                <a:solidFill>
                  <a:srgbClr val="9CC4EE"/>
                </a:solidFill>
                <a:latin typeface="Arial" pitchFamily="34" charset="0"/>
                <a:ea typeface="Arial" pitchFamily="34" charset="-122"/>
                <a:cs typeface="Arial" pitchFamily="34" charset="-120"/>
              </a:rPr>
              <a:t>ביקור ראשון (חלק ב') • החלטה טיפולית</a:t>
            </a:r>
            <a:endParaRPr lang="he-IL" sz="1400" dirty="0"/>
          </a:p>
          <a:p>
            <a:pPr marL="0" indent="0" algn="r" rtl="1">
              <a:spcAft>
                <a:spcPts val="500"/>
              </a:spcAft>
              <a:buNone/>
            </a:pPr>
            <a:r>
              <a:rPr lang="he-IL" altLang="en-US" sz="1600" dirty="0">
                <a:solidFill>
                  <a:srgbClr val="FFFFFF"/>
                </a:solidFill>
                <a:latin typeface="Arial" pitchFamily="34" charset="0"/>
                <a:ea typeface="Arial" pitchFamily="34" charset="-122"/>
                <a:cs typeface="Arial" pitchFamily="34" charset="-120"/>
              </a:rPr>
              <a:t>עקב היפרגליקמיה משמעותית לאחר האוכל ו-A1C מאוד גבוה, הוחלט להוסיף למטופל טיפול באינסולין קצר טווח נובורפיד 3 פעמים ביום לפני כל ארוחה, והוא חובר לסנסור Libre.</a:t>
            </a:r>
            <a:endParaRPr lang="he-IL" sz="1400" dirty="0"/>
          </a:p>
        </p:txBody>
      </p:sp>
      <p:sp>
        <p:nvSpPr>
          <p:cNvPr id="9" name="Text 6"/>
          <p:cNvSpPr txBox="1"/>
          <p:nvPr/>
        </p:nvSpPr>
        <p:spPr>
          <a:xfrm>
            <a:off x="548640" y="3291840"/>
            <a:ext cx="11094415" cy="365760"/>
          </a:xfrm>
          <a:prstGeom prst="rect">
            <a:avLst/>
          </a:prstGeom>
          <a:noFill/>
          <a:ln/>
        </p:spPr>
        <p:txBody>
          <a:bodyPr wrap="square" lIns="0" tIns="0" rIns="0" bIns="0" rtlCol="0" anchor="t"/>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מרכיבי ההתערבות המיידית:</a:t>
            </a:r>
            <a:endParaRPr lang="he-IL" sz="1800" dirty="0"/>
          </a:p>
        </p:txBody>
      </p:sp>
      <p:sp>
        <p:nvSpPr>
          <p:cNvPr id="10" name="Shape 7"/>
          <p:cNvSpPr/>
          <p:nvPr/>
        </p:nvSpPr>
        <p:spPr>
          <a:xfrm>
            <a:off x="9040901"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9946032" y="3909060"/>
            <a:ext cx="791893" cy="685800"/>
          </a:xfrm>
          <a:prstGeom prst="hexagon">
            <a:avLst/>
          </a:prstGeom>
          <a:solidFill>
            <a:srgbClr val="5280C8"/>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84244" y="4094226"/>
            <a:ext cx="315468" cy="315468"/>
          </a:xfrm>
          <a:prstGeom prst="rect">
            <a:avLst/>
          </a:prstGeom>
        </p:spPr>
      </p:pic>
      <p:sp>
        <p:nvSpPr>
          <p:cNvPr id="13" name="Text 9"/>
          <p:cNvSpPr txBox="1"/>
          <p:nvPr/>
        </p:nvSpPr>
        <p:spPr>
          <a:xfrm>
            <a:off x="9178061"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נובורפיד לפני ארוחות</a:t>
            </a:r>
            <a:endParaRPr lang="he-IL" sz="1600" dirty="0"/>
          </a:p>
        </p:txBody>
      </p:sp>
      <p:sp>
        <p:nvSpPr>
          <p:cNvPr id="14" name="Text 10"/>
          <p:cNvSpPr txBox="1"/>
          <p:nvPr/>
        </p:nvSpPr>
        <p:spPr>
          <a:xfrm>
            <a:off x="9223781"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מתן מענה ספציפי לעליות הסוכר החדות לאחר האוכל והתאמה לגודל הארוחה.</a:t>
            </a:r>
            <a:endParaRPr lang="he-IL" sz="1350" dirty="0"/>
          </a:p>
        </p:txBody>
      </p:sp>
      <p:sp>
        <p:nvSpPr>
          <p:cNvPr id="15" name="Shape 11"/>
          <p:cNvSpPr/>
          <p:nvPr/>
        </p:nvSpPr>
        <p:spPr>
          <a:xfrm>
            <a:off x="6210148"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2"/>
          <p:cNvSpPr/>
          <p:nvPr/>
        </p:nvSpPr>
        <p:spPr>
          <a:xfrm rot="5400000">
            <a:off x="7115278" y="3909060"/>
            <a:ext cx="791893" cy="685800"/>
          </a:xfrm>
          <a:prstGeom prst="hexagon">
            <a:avLst/>
          </a:prstGeom>
          <a:solidFill>
            <a:srgbClr val="5B6BB5"/>
          </a:solidFill>
          <a:ln/>
        </p:spPr>
        <p:txBody>
          <a:bodyPr/>
          <a:lstStyle/>
          <a:p>
            <a:endParaRPr lang="he-IL"/>
          </a:p>
        </p:txBody>
      </p:sp>
      <p:pic>
        <p:nvPicPr>
          <p:cNvPr id="1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353490" y="4094226"/>
            <a:ext cx="315468" cy="315468"/>
          </a:xfrm>
          <a:prstGeom prst="rect">
            <a:avLst/>
          </a:prstGeom>
        </p:spPr>
      </p:pic>
      <p:sp>
        <p:nvSpPr>
          <p:cNvPr id="18" name="Text 13"/>
          <p:cNvSpPr txBox="1"/>
          <p:nvPr/>
        </p:nvSpPr>
        <p:spPr>
          <a:xfrm>
            <a:off x="6347308"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חיבור לחיישן Libre</a:t>
            </a:r>
            <a:endParaRPr lang="he-IL" sz="1600" dirty="0"/>
          </a:p>
        </p:txBody>
      </p:sp>
      <p:sp>
        <p:nvSpPr>
          <p:cNvPr id="19" name="Text 14"/>
          <p:cNvSpPr txBox="1"/>
          <p:nvPr/>
        </p:nvSpPr>
        <p:spPr>
          <a:xfrm>
            <a:off x="6393028"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התחלת ניטור סוכר רציף לקבלת תמונה מלאה של תנודתיות הגלוקוז.</a:t>
            </a:r>
            <a:endParaRPr lang="he-IL" sz="1350" dirty="0"/>
          </a:p>
        </p:txBody>
      </p:sp>
      <p:sp>
        <p:nvSpPr>
          <p:cNvPr id="20" name="Shape 15"/>
          <p:cNvSpPr/>
          <p:nvPr/>
        </p:nvSpPr>
        <p:spPr>
          <a:xfrm>
            <a:off x="3379394"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1" name="Shape 16"/>
          <p:cNvSpPr/>
          <p:nvPr/>
        </p:nvSpPr>
        <p:spPr>
          <a:xfrm rot="5400000">
            <a:off x="4284524" y="3909060"/>
            <a:ext cx="791893" cy="685800"/>
          </a:xfrm>
          <a:prstGeom prst="hexagon">
            <a:avLst/>
          </a:prstGeom>
          <a:solidFill>
            <a:srgbClr val="6658A6"/>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22737" y="4094226"/>
            <a:ext cx="315468" cy="315468"/>
          </a:xfrm>
          <a:prstGeom prst="rect">
            <a:avLst/>
          </a:prstGeom>
        </p:spPr>
      </p:pic>
      <p:sp>
        <p:nvSpPr>
          <p:cNvPr id="23" name="Text 17"/>
          <p:cNvSpPr txBox="1"/>
          <p:nvPr/>
        </p:nvSpPr>
        <p:spPr>
          <a:xfrm>
            <a:off x="3516554"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הדרכת הזרקות</a:t>
            </a:r>
            <a:endParaRPr lang="he-IL" sz="1600" dirty="0"/>
          </a:p>
        </p:txBody>
      </p:sp>
      <p:sp>
        <p:nvSpPr>
          <p:cNvPr id="24" name="Text 18"/>
          <p:cNvSpPr txBox="1"/>
          <p:nvPr/>
        </p:nvSpPr>
        <p:spPr>
          <a:xfrm>
            <a:off x="3562274"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רוטציה קבועה במרחק 4 אצבעות מהטבור לכיוון המותן ומניעת ליפודוסטרופיה.</a:t>
            </a:r>
            <a:endParaRPr lang="he-IL" sz="1350" dirty="0"/>
          </a:p>
        </p:txBody>
      </p:sp>
      <p:sp>
        <p:nvSpPr>
          <p:cNvPr id="25" name="Shape 19"/>
          <p:cNvSpPr/>
          <p:nvPr/>
        </p:nvSpPr>
        <p:spPr>
          <a:xfrm>
            <a:off x="548640"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6" name="Shape 20"/>
          <p:cNvSpPr/>
          <p:nvPr/>
        </p:nvSpPr>
        <p:spPr>
          <a:xfrm rot="5400000">
            <a:off x="1453770" y="3909060"/>
            <a:ext cx="791893" cy="685800"/>
          </a:xfrm>
          <a:prstGeom prst="hexagon">
            <a:avLst/>
          </a:prstGeom>
          <a:solidFill>
            <a:srgbClr val="6E4494"/>
          </a:solidFill>
          <a:ln/>
        </p:spPr>
        <p:txBody>
          <a:bodyPr/>
          <a:lstStyle/>
          <a:p>
            <a:endParaRPr lang="he-IL"/>
          </a:p>
        </p:txBody>
      </p:sp>
      <p:pic>
        <p:nvPicPr>
          <p:cNvPr id="27"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691983" y="4094226"/>
            <a:ext cx="315468" cy="315468"/>
          </a:xfrm>
          <a:prstGeom prst="rect">
            <a:avLst/>
          </a:prstGeom>
        </p:spPr>
      </p:pic>
      <p:sp>
        <p:nvSpPr>
          <p:cNvPr id="28" name="Text 21"/>
          <p:cNvSpPr txBox="1"/>
          <p:nvPr/>
        </p:nvSpPr>
        <p:spPr>
          <a:xfrm>
            <a:off x="685800"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הכנה ל-Wegovy</a:t>
            </a:r>
            <a:r>
              <a:rPr lang="en-US" altLang="en-US" sz="1600" b="1" dirty="0">
                <a:solidFill>
                  <a:srgbClr val="2B2560"/>
                </a:solidFill>
                <a:latin typeface="Arial" pitchFamily="34" charset="0"/>
                <a:ea typeface="Arial" pitchFamily="34" charset="-122"/>
                <a:cs typeface="Arial" pitchFamily="34" charset="-120"/>
              </a:rPr>
              <a:t> (Semaglutide 2.4mg) </a:t>
            </a:r>
            <a:endParaRPr lang="he-IL" sz="1600" dirty="0"/>
          </a:p>
        </p:txBody>
      </p:sp>
      <p:sp>
        <p:nvSpPr>
          <p:cNvPr id="29" name="Text 22"/>
          <p:cNvSpPr txBox="1"/>
          <p:nvPr/>
        </p:nvSpPr>
        <p:spPr>
          <a:xfrm>
            <a:off x="731520" y="5193792"/>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תכנון החלפת </a:t>
            </a:r>
            <a:r>
              <a:rPr lang="en-US" altLang="en-US" sz="1350" dirty="0">
                <a:solidFill>
                  <a:srgbClr val="2E2A47"/>
                </a:solidFill>
                <a:latin typeface="Arial" pitchFamily="34" charset="0"/>
                <a:ea typeface="Arial" pitchFamily="34" charset="-122"/>
                <a:cs typeface="Arial" pitchFamily="34" charset="-120"/>
              </a:rPr>
              <a:t>GLP1-RA </a:t>
            </a:r>
            <a:r>
              <a:rPr lang="he-IL" altLang="en-US" sz="1350" dirty="0">
                <a:solidFill>
                  <a:srgbClr val="2E2A47"/>
                </a:solidFill>
                <a:latin typeface="Arial" pitchFamily="34" charset="0"/>
                <a:ea typeface="Arial" pitchFamily="34" charset="-122"/>
                <a:cs typeface="Arial" pitchFamily="34" charset="-120"/>
              </a:rPr>
              <a:t> להורדת משקל.</a:t>
            </a:r>
            <a:endParaRPr lang="he-IL" sz="1350" dirty="0"/>
          </a:p>
        </p:txBody>
      </p:sp>
      <p:sp>
        <p:nvSpPr>
          <p:cNvPr id="30"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21</a:t>
            </a:fld>
            <a:endParaRPr lang="en-US"/>
          </a:p>
        </p:txBody>
      </p:sp>
      <p:sp>
        <p:nvSpPr>
          <p:cNvPr id="32" name="TextBox 31">
            <a:extLst>
              <a:ext uri="{FF2B5EF4-FFF2-40B4-BE49-F238E27FC236}">
                <a16:creationId xmlns:a16="http://schemas.microsoft.com/office/drawing/2014/main" id="{39DF3E4D-E53A-09E6-7B0D-18A7FDDC22F9}"/>
              </a:ext>
            </a:extLst>
          </p:cNvPr>
          <p:cNvSpPr txBox="1"/>
          <p:nvPr/>
        </p:nvSpPr>
        <p:spPr>
          <a:xfrm>
            <a:off x="621792" y="6053328"/>
            <a:ext cx="6094476" cy="338554"/>
          </a:xfrm>
          <a:prstGeom prst="rect">
            <a:avLst/>
          </a:prstGeom>
          <a:noFill/>
        </p:spPr>
        <p:txBody>
          <a:bodyPr wrap="square">
            <a:spAutoFit/>
          </a:bodyPr>
          <a:lstStyle/>
          <a:p>
            <a:r>
              <a:rPr lang="he-IL" sz="800" dirty="0"/>
              <a:t>When initiating semaglutide in patients with type 2 diabetes, consider reducing the dose of concomitantly administered insulin or insulin secretagogues (such as sulfonylureas) to reduce the risk of hypoglycaemia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2: בדיקת מקומות הזרקה ופריקת נתוני קורא Libre (פברואר 2026)</a:t>
            </a:r>
            <a:endParaRPr lang="he-IL" sz="2100" dirty="0"/>
          </a:p>
        </p:txBody>
      </p:sp>
      <p:sp>
        <p:nvSpPr>
          <p:cNvPr id="5" name="Text 3"/>
          <p:cNvSpPr txBox="1"/>
          <p:nvPr/>
        </p:nvSpPr>
        <p:spPr>
          <a:xfrm>
            <a:off x="6263640" y="1417320"/>
            <a:ext cx="5376672"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בדיקת מקומות הזרקת אינסולין וטכניקה</a:t>
            </a:r>
            <a:endParaRPr lang="he-IL" sz="1800" dirty="0"/>
          </a:p>
        </p:txBody>
      </p:sp>
      <p:sp>
        <p:nvSpPr>
          <p:cNvPr id="6" name="Shape 4"/>
          <p:cNvSpPr/>
          <p:nvPr/>
        </p:nvSpPr>
        <p:spPr>
          <a:xfrm>
            <a:off x="6263640" y="19202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7" name="Shape 5"/>
          <p:cNvSpPr/>
          <p:nvPr/>
        </p:nvSpPr>
        <p:spPr>
          <a:xfrm rot="5400000">
            <a:off x="10930363" y="2263140"/>
            <a:ext cx="633515" cy="548640"/>
          </a:xfrm>
          <a:prstGeom prst="hexagon">
            <a:avLst/>
          </a:prstGeom>
          <a:solidFill>
            <a:srgbClr val="5B6BB5"/>
          </a:solidFill>
          <a:ln/>
        </p:spPr>
        <p:txBody>
          <a:bodyPr/>
          <a:lstStyle/>
          <a:p>
            <a:endParaRPr lang="he-IL"/>
          </a:p>
        </p:txBody>
      </p:sp>
      <p:pic>
        <p:nvPicPr>
          <p:cNvPr id="8"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0933" y="2411273"/>
            <a:ext cx="252374" cy="252374"/>
          </a:xfrm>
          <a:prstGeom prst="rect">
            <a:avLst/>
          </a:prstGeom>
        </p:spPr>
      </p:pic>
      <p:sp>
        <p:nvSpPr>
          <p:cNvPr id="9" name="Text 6"/>
          <p:cNvSpPr txBox="1"/>
          <p:nvPr/>
        </p:nvSpPr>
        <p:spPr>
          <a:xfrm>
            <a:off x="6446520" y="20116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5B6BB5"/>
                </a:solidFill>
                <a:latin typeface="Arial" pitchFamily="34" charset="0"/>
                <a:ea typeface="Arial" pitchFamily="34" charset="-122"/>
                <a:cs typeface="Arial" pitchFamily="34" charset="-120"/>
              </a:rPr>
              <a:t>בדיקה פיזיקלית • אזורי הזרקה</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בדיקת אזורי הזרקה וצורת הזרקת אינסולין.</a:t>
            </a:r>
            <a:endParaRPr lang="he-IL" sz="1400" dirty="0"/>
          </a:p>
        </p:txBody>
      </p:sp>
      <p:sp>
        <p:nvSpPr>
          <p:cNvPr id="10" name="Shape 7"/>
          <p:cNvSpPr/>
          <p:nvPr/>
        </p:nvSpPr>
        <p:spPr>
          <a:xfrm>
            <a:off x="6263640" y="32918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10930363" y="3634740"/>
            <a:ext cx="633515" cy="548640"/>
          </a:xfrm>
          <a:prstGeom prst="hexagon">
            <a:avLst/>
          </a:prstGeom>
          <a:solidFill>
            <a:srgbClr val="1F8F83"/>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20933" y="3782873"/>
            <a:ext cx="252374" cy="252374"/>
          </a:xfrm>
          <a:prstGeom prst="rect">
            <a:avLst/>
          </a:prstGeom>
        </p:spPr>
      </p:pic>
      <p:sp>
        <p:nvSpPr>
          <p:cNvPr id="13" name="Text 9"/>
          <p:cNvSpPr txBox="1"/>
          <p:nvPr/>
        </p:nvSpPr>
        <p:spPr>
          <a:xfrm>
            <a:off x="6446520" y="33832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1F8F83"/>
                </a:solidFill>
                <a:latin typeface="Arial" pitchFamily="34" charset="0"/>
                <a:ea typeface="Arial" pitchFamily="34" charset="-122"/>
                <a:cs typeface="Arial" pitchFamily="34" charset="-120"/>
              </a:rPr>
              <a:t>טכניקה ואחסון תקינים:</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המטופל מזריק נכון במקומות הנכונים ומאחסן נכון את האינסולין.</a:t>
            </a:r>
            <a:endParaRPr lang="he-IL" sz="1400" dirty="0"/>
          </a:p>
        </p:txBody>
      </p:sp>
      <p:sp>
        <p:nvSpPr>
          <p:cNvPr id="14" name="Shape 10"/>
          <p:cNvSpPr/>
          <p:nvPr/>
        </p:nvSpPr>
        <p:spPr>
          <a:xfrm>
            <a:off x="6263640" y="46634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1"/>
          <p:cNvSpPr/>
          <p:nvPr/>
        </p:nvSpPr>
        <p:spPr>
          <a:xfrm rot="5400000">
            <a:off x="10930363" y="5006340"/>
            <a:ext cx="633515" cy="548640"/>
          </a:xfrm>
          <a:prstGeom prst="hexagon">
            <a:avLst/>
          </a:prstGeom>
          <a:solidFill>
            <a:srgbClr val="C24863"/>
          </a:solidFill>
          <a:ln/>
        </p:spPr>
        <p:txBody>
          <a:bodyPr/>
          <a:lstStyle/>
          <a:p>
            <a:endParaRPr lang="he-IL"/>
          </a:p>
        </p:txBody>
      </p:sp>
      <p:pic>
        <p:nvPicPr>
          <p:cNvPr id="16"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20933" y="5154473"/>
            <a:ext cx="252374" cy="252374"/>
          </a:xfrm>
          <a:prstGeom prst="rect">
            <a:avLst/>
          </a:prstGeom>
        </p:spPr>
      </p:pic>
      <p:sp>
        <p:nvSpPr>
          <p:cNvPr id="17" name="Text 12"/>
          <p:cNvSpPr txBox="1"/>
          <p:nvPr/>
        </p:nvSpPr>
        <p:spPr>
          <a:xfrm>
            <a:off x="6446520" y="47548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C24863"/>
                </a:solidFill>
                <a:latin typeface="Arial" pitchFamily="34" charset="0"/>
                <a:ea typeface="Arial" pitchFamily="34" charset="-122"/>
                <a:cs typeface="Arial" pitchFamily="34" charset="-120"/>
              </a:rPr>
              <a:t>ליקוי שנמצא:</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אך לא מקפיד להחליף מחט בכל הזרקה וקיבל הסבר לכך.</a:t>
            </a:r>
            <a:endParaRPr lang="he-IL" sz="1400" dirty="0"/>
          </a:p>
        </p:txBody>
      </p:sp>
      <p:sp>
        <p:nvSpPr>
          <p:cNvPr id="18" name="Shape 13"/>
          <p:cNvSpPr/>
          <p:nvPr/>
        </p:nvSpPr>
        <p:spPr>
          <a:xfrm>
            <a:off x="548640" y="1463040"/>
            <a:ext cx="5440680" cy="4572000"/>
          </a:xfrm>
          <a:prstGeom prst="roundRect">
            <a:avLst>
              <a:gd name="adj" fmla="val 2400"/>
            </a:avLst>
          </a:prstGeom>
          <a:solidFill>
            <a:srgbClr val="F3F0FA"/>
          </a:solidFill>
          <a:ln/>
        </p:spPr>
        <p:txBody>
          <a:bodyPr/>
          <a:lstStyle/>
          <a:p>
            <a:endParaRPr lang="he-IL"/>
          </a:p>
        </p:txBody>
      </p:sp>
      <p:sp>
        <p:nvSpPr>
          <p:cNvPr id="19" name="Shape 14"/>
          <p:cNvSpPr/>
          <p:nvPr/>
        </p:nvSpPr>
        <p:spPr>
          <a:xfrm rot="5400000">
            <a:off x="5188966" y="1668780"/>
            <a:ext cx="686307" cy="594360"/>
          </a:xfrm>
          <a:prstGeom prst="hexagon">
            <a:avLst/>
          </a:prstGeom>
          <a:solidFill>
            <a:srgbClr val="6E4494"/>
          </a:solidFill>
          <a:ln/>
        </p:spPr>
        <p:txBody>
          <a:bodyPr/>
          <a:lstStyle/>
          <a:p>
            <a:endParaRPr lang="he-IL"/>
          </a:p>
        </p:txBody>
      </p:sp>
      <p:pic>
        <p:nvPicPr>
          <p:cNvPr id="20"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395417" y="1829257"/>
            <a:ext cx="273406" cy="273406"/>
          </a:xfrm>
          <a:prstGeom prst="rect">
            <a:avLst/>
          </a:prstGeom>
        </p:spPr>
      </p:pic>
      <p:sp>
        <p:nvSpPr>
          <p:cNvPr id="21" name="Text 15"/>
          <p:cNvSpPr txBox="1"/>
          <p:nvPr/>
        </p:nvSpPr>
        <p:spPr>
          <a:xfrm>
            <a:off x="822960" y="1737360"/>
            <a:ext cx="4206240" cy="457200"/>
          </a:xfrm>
          <a:prstGeom prst="rect">
            <a:avLst/>
          </a:prstGeom>
          <a:noFill/>
          <a:ln/>
        </p:spPr>
        <p:txBody>
          <a:bodyPr wrap="square" lIns="0" tIns="0" rIns="0" bIns="0" rtlCol="0" anchor="ctr"/>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הדרכה קלינית שניתנה:</a:t>
            </a:r>
            <a:endParaRPr lang="he-IL" sz="1800" dirty="0"/>
          </a:p>
        </p:txBody>
      </p:sp>
      <p:sp>
        <p:nvSpPr>
          <p:cNvPr id="22" name="Shape 16"/>
          <p:cNvSpPr/>
          <p:nvPr/>
        </p:nvSpPr>
        <p:spPr>
          <a:xfrm>
            <a:off x="777240" y="2514600"/>
            <a:ext cx="4983480" cy="1005840"/>
          </a:xfrm>
          <a:prstGeom prst="roundRect">
            <a:avLst>
              <a:gd name="adj" fmla="val 10909"/>
            </a:avLst>
          </a:prstGeom>
          <a:solidFill>
            <a:srgbClr val="FFFFFF"/>
          </a:solidFill>
          <a:ln/>
        </p:spPr>
        <p:txBody>
          <a:bodyPr/>
          <a:lstStyle/>
          <a:p>
            <a:endParaRPr lang="he-IL"/>
          </a:p>
        </p:txBody>
      </p:sp>
      <p:sp>
        <p:nvSpPr>
          <p:cNvPr id="23" name="Shape 17"/>
          <p:cNvSpPr/>
          <p:nvPr/>
        </p:nvSpPr>
        <p:spPr>
          <a:xfrm rot="5400000">
            <a:off x="5085276" y="2788920"/>
            <a:ext cx="527929" cy="457200"/>
          </a:xfrm>
          <a:prstGeom prst="hexagon">
            <a:avLst/>
          </a:prstGeom>
          <a:solidFill>
            <a:srgbClr val="6E4494"/>
          </a:solidFill>
          <a:ln/>
        </p:spPr>
        <p:txBody>
          <a:bodyPr/>
          <a:lstStyle/>
          <a:p>
            <a:endParaRPr lang="he-IL"/>
          </a:p>
        </p:txBody>
      </p:sp>
      <p:sp>
        <p:nvSpPr>
          <p:cNvPr id="24" name="Text 18"/>
          <p:cNvSpPr txBox="1"/>
          <p:nvPr/>
        </p:nvSpPr>
        <p:spPr>
          <a:xfrm>
            <a:off x="5120640" y="2788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19"/>
          <p:cNvSpPr txBox="1"/>
          <p:nvPr/>
        </p:nvSpPr>
        <p:spPr>
          <a:xfrm>
            <a:off x="960120" y="2587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החלפת מחט חדשה וסטרילית בכל הזרקה ללא יוצא מן הכלל.</a:t>
            </a:r>
            <a:endParaRPr lang="he-IL" sz="1400" dirty="0"/>
          </a:p>
        </p:txBody>
      </p:sp>
      <p:sp>
        <p:nvSpPr>
          <p:cNvPr id="26" name="Shape 20"/>
          <p:cNvSpPr/>
          <p:nvPr/>
        </p:nvSpPr>
        <p:spPr>
          <a:xfrm>
            <a:off x="777240" y="3657600"/>
            <a:ext cx="4983480" cy="1005840"/>
          </a:xfrm>
          <a:prstGeom prst="roundRect">
            <a:avLst>
              <a:gd name="adj" fmla="val 10909"/>
            </a:avLst>
          </a:prstGeom>
          <a:solidFill>
            <a:srgbClr val="FFFFFF"/>
          </a:solidFill>
          <a:ln/>
        </p:spPr>
        <p:txBody>
          <a:bodyPr/>
          <a:lstStyle/>
          <a:p>
            <a:endParaRPr lang="he-IL"/>
          </a:p>
        </p:txBody>
      </p:sp>
      <p:sp>
        <p:nvSpPr>
          <p:cNvPr id="27" name="Shape 21"/>
          <p:cNvSpPr/>
          <p:nvPr/>
        </p:nvSpPr>
        <p:spPr>
          <a:xfrm rot="5400000">
            <a:off x="5085276" y="3931920"/>
            <a:ext cx="527929" cy="457200"/>
          </a:xfrm>
          <a:prstGeom prst="hexagon">
            <a:avLst/>
          </a:prstGeom>
          <a:solidFill>
            <a:srgbClr val="6E4494"/>
          </a:solidFill>
          <a:ln/>
        </p:spPr>
        <p:txBody>
          <a:bodyPr/>
          <a:lstStyle/>
          <a:p>
            <a:endParaRPr lang="he-IL"/>
          </a:p>
        </p:txBody>
      </p:sp>
      <p:sp>
        <p:nvSpPr>
          <p:cNvPr id="28" name="Text 22"/>
          <p:cNvSpPr txBox="1"/>
          <p:nvPr/>
        </p:nvSpPr>
        <p:spPr>
          <a:xfrm>
            <a:off x="5120640" y="3931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9" name="Text 23"/>
          <p:cNvSpPr txBox="1"/>
          <p:nvPr/>
        </p:nvSpPr>
        <p:spPr>
          <a:xfrm>
            <a:off x="960120" y="3730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רוטציה קבועה במרחק 4 אצבעות מהטבור לכיוון המותן למניעת החמרת הליפודוסטרופיה.</a:t>
            </a:r>
            <a:endParaRPr lang="he-IL" sz="1400" dirty="0"/>
          </a:p>
        </p:txBody>
      </p:sp>
      <p:sp>
        <p:nvSpPr>
          <p:cNvPr id="30" name="Shape 24"/>
          <p:cNvSpPr/>
          <p:nvPr/>
        </p:nvSpPr>
        <p:spPr>
          <a:xfrm>
            <a:off x="777240" y="4800600"/>
            <a:ext cx="4983480" cy="1005840"/>
          </a:xfrm>
          <a:prstGeom prst="roundRect">
            <a:avLst>
              <a:gd name="adj" fmla="val 10909"/>
            </a:avLst>
          </a:prstGeom>
          <a:solidFill>
            <a:srgbClr val="FFFFFF"/>
          </a:solidFill>
          <a:ln/>
        </p:spPr>
        <p:txBody>
          <a:bodyPr/>
          <a:lstStyle/>
          <a:p>
            <a:endParaRPr lang="he-IL"/>
          </a:p>
        </p:txBody>
      </p:sp>
      <p:sp>
        <p:nvSpPr>
          <p:cNvPr id="31" name="Shape 25"/>
          <p:cNvSpPr/>
          <p:nvPr/>
        </p:nvSpPr>
        <p:spPr>
          <a:xfrm rot="5400000">
            <a:off x="5085276" y="5074920"/>
            <a:ext cx="527929" cy="457200"/>
          </a:xfrm>
          <a:prstGeom prst="hexagon">
            <a:avLst/>
          </a:prstGeom>
          <a:solidFill>
            <a:srgbClr val="6E4494"/>
          </a:solidFill>
          <a:ln/>
        </p:spPr>
        <p:txBody>
          <a:bodyPr/>
          <a:lstStyle/>
          <a:p>
            <a:endParaRPr lang="he-IL"/>
          </a:p>
        </p:txBody>
      </p:sp>
      <p:sp>
        <p:nvSpPr>
          <p:cNvPr id="32" name="Text 26"/>
          <p:cNvSpPr txBox="1"/>
          <p:nvPr/>
        </p:nvSpPr>
        <p:spPr>
          <a:xfrm>
            <a:off x="5120640" y="5074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3" name="Text 27"/>
          <p:cNvSpPr txBox="1"/>
          <p:nvPr/>
        </p:nvSpPr>
        <p:spPr>
          <a:xfrm>
            <a:off x="960120" y="4873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הסבר כי הזרקה לתוך רקמה מצולקת/שומנית משבשת קשות את ספיגת האינסולין וגורמת לתנודות גלוקוז בלתי צפויות.</a:t>
            </a:r>
            <a:endParaRPr lang="he-IL" sz="1400" dirty="0"/>
          </a:p>
        </p:txBody>
      </p:sp>
      <p:sp>
        <p:nvSpPr>
          <p:cNvPr id="34"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פריקת נתוני קורא Libre (פברואר 2026)</a:t>
            </a:r>
            <a:endParaRPr lang="he-IL" sz="2600" dirty="0"/>
          </a:p>
        </p:txBody>
      </p:sp>
      <p:pic>
        <p:nvPicPr>
          <p:cNvPr id="5" name="Image 0" descr="/tmp/claude-0/-home-claude/83ba285b-7ef1-5a4f-9afe-ea04c4b9d63d/scratchpad/src/ppt/media/image-14-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463040"/>
            <a:ext cx="5852160" cy="4553712"/>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720840" y="1463040"/>
            <a:ext cx="4919472"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פריקת נתוני קורא Libre (פברואר 2026)</a:t>
            </a:r>
            <a:endParaRPr lang="he-IL" sz="1800" dirty="0"/>
          </a:p>
        </p:txBody>
      </p:sp>
      <p:sp>
        <p:nvSpPr>
          <p:cNvPr id="7" name="Shape 4"/>
          <p:cNvSpPr/>
          <p:nvPr/>
        </p:nvSpPr>
        <p:spPr>
          <a:xfrm>
            <a:off x="6720840" y="1965960"/>
            <a:ext cx="4919472" cy="1371600"/>
          </a:xfrm>
          <a:prstGeom prst="roundRect">
            <a:avLst>
              <a:gd name="adj" fmla="val 8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8" name="Shape 5"/>
          <p:cNvSpPr/>
          <p:nvPr/>
        </p:nvSpPr>
        <p:spPr>
          <a:xfrm rot="5400000">
            <a:off x="10930363" y="2377440"/>
            <a:ext cx="633515" cy="548640"/>
          </a:xfrm>
          <a:prstGeom prst="hexagon">
            <a:avLst/>
          </a:prstGeom>
          <a:solidFill>
            <a:srgbClr val="4A90D0"/>
          </a:solidFill>
          <a:ln/>
        </p:spPr>
        <p:txBody>
          <a:bodyPr/>
          <a:lstStyle/>
          <a:p>
            <a:endParaRPr lang="he-IL"/>
          </a:p>
        </p:txBody>
      </p:sp>
      <p:pic>
        <p:nvPicPr>
          <p:cNvPr id="9"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20933" y="2525573"/>
            <a:ext cx="252374" cy="252374"/>
          </a:xfrm>
          <a:prstGeom prst="rect">
            <a:avLst/>
          </a:prstGeom>
        </p:spPr>
      </p:pic>
      <p:sp>
        <p:nvSpPr>
          <p:cNvPr id="10" name="Text 6"/>
          <p:cNvSpPr txBox="1"/>
          <p:nvPr/>
        </p:nvSpPr>
        <p:spPr>
          <a:xfrm>
            <a:off x="6903720" y="2057400"/>
            <a:ext cx="3931920" cy="1188720"/>
          </a:xfrm>
          <a:prstGeom prst="rect">
            <a:avLst/>
          </a:prstGeom>
          <a:noFill/>
          <a:ln/>
        </p:spPr>
        <p:txBody>
          <a:bodyPr wrap="square" lIns="0" tIns="0" rIns="0" bIns="0" rtlCol="0" anchor="ctr"/>
          <a:lstStyle/>
          <a:p>
            <a:pPr marL="0" indent="0" algn="r" rtl="1">
              <a:buNone/>
            </a:pPr>
            <a:r>
              <a:rPr lang="he-IL" altLang="en-US" sz="1500" dirty="0">
                <a:solidFill>
                  <a:srgbClr val="2E2A47"/>
                </a:solidFill>
                <a:latin typeface="Arial" pitchFamily="34" charset="0"/>
                <a:ea typeface="Arial" pitchFamily="34" charset="-122"/>
                <a:cs typeface="Arial" pitchFamily="34" charset="-120"/>
              </a:rPr>
              <a:t>חיבור קורא ה-Libre הכחול בכבל USB צהוב למחשב המרפאה לפריקת נתוני הסוכר הרציפים מחודש פברואר.</a:t>
            </a:r>
            <a:endParaRPr lang="he-IL" sz="1500" dirty="0"/>
          </a:p>
        </p:txBody>
      </p:sp>
      <p:sp>
        <p:nvSpPr>
          <p:cNvPr id="11" name="Text 7"/>
          <p:cNvSpPr txBox="1"/>
          <p:nvPr/>
        </p:nvSpPr>
        <p:spPr>
          <a:xfrm>
            <a:off x="6720840" y="3520440"/>
            <a:ext cx="4919472" cy="365760"/>
          </a:xfrm>
          <a:prstGeom prst="rect">
            <a:avLst/>
          </a:prstGeom>
          <a:noFill/>
          <a:ln/>
        </p:spPr>
        <p:txBody>
          <a:bodyPr wrap="square" lIns="0" tIns="0" rIns="0" bIns="0" rtlCol="0" anchor="t"/>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דוח AGP • 14 ימים (5 ינו׳ 2026 – 18 ינו׳ 2026)</a:t>
            </a:r>
            <a:endParaRPr lang="he-IL" sz="1400" dirty="0"/>
          </a:p>
        </p:txBody>
      </p:sp>
      <p:sp>
        <p:nvSpPr>
          <p:cNvPr id="12" name="Shape 8"/>
          <p:cNvSpPr/>
          <p:nvPr/>
        </p:nvSpPr>
        <p:spPr>
          <a:xfrm>
            <a:off x="9249156" y="3931920"/>
            <a:ext cx="2391156" cy="978408"/>
          </a:xfrm>
          <a:prstGeom prst="roundRect">
            <a:avLst>
              <a:gd name="adj" fmla="val 11215"/>
            </a:avLst>
          </a:prstGeom>
          <a:solidFill>
            <a:srgbClr val="FBECEF"/>
          </a:solidFill>
          <a:ln/>
        </p:spPr>
        <p:txBody>
          <a:bodyPr/>
          <a:lstStyle/>
          <a:p>
            <a:endParaRPr lang="he-IL"/>
          </a:p>
        </p:txBody>
      </p:sp>
      <p:sp>
        <p:nvSpPr>
          <p:cNvPr id="13" name="Text 9"/>
          <p:cNvSpPr txBox="1"/>
          <p:nvPr/>
        </p:nvSpPr>
        <p:spPr>
          <a:xfrm>
            <a:off x="9358884" y="4005072"/>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זמן בטווח (TIR)</a:t>
            </a:r>
            <a:endParaRPr lang="he-IL" sz="1150" dirty="0"/>
          </a:p>
        </p:txBody>
      </p:sp>
      <p:sp>
        <p:nvSpPr>
          <p:cNvPr id="14" name="Text 10"/>
          <p:cNvSpPr txBox="1"/>
          <p:nvPr/>
        </p:nvSpPr>
        <p:spPr>
          <a:xfrm>
            <a:off x="10325176" y="4279392"/>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30%</a:t>
            </a:r>
            <a:endParaRPr lang="en-US" sz="2400" dirty="0"/>
          </a:p>
        </p:txBody>
      </p:sp>
      <p:sp>
        <p:nvSpPr>
          <p:cNvPr id="15" name="Text 11"/>
          <p:cNvSpPr txBox="1"/>
          <p:nvPr/>
        </p:nvSpPr>
        <p:spPr>
          <a:xfrm>
            <a:off x="9358884" y="4370832"/>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70-180 mg/dL</a:t>
            </a:r>
            <a:endParaRPr lang="en-US" sz="1050" dirty="0"/>
          </a:p>
        </p:txBody>
      </p:sp>
      <p:sp>
        <p:nvSpPr>
          <p:cNvPr id="16" name="Shape 12"/>
          <p:cNvSpPr/>
          <p:nvPr/>
        </p:nvSpPr>
        <p:spPr>
          <a:xfrm>
            <a:off x="6720840" y="3931920"/>
            <a:ext cx="2391156" cy="978408"/>
          </a:xfrm>
          <a:prstGeom prst="roundRect">
            <a:avLst>
              <a:gd name="adj" fmla="val 11215"/>
            </a:avLst>
          </a:prstGeom>
          <a:solidFill>
            <a:srgbClr val="FBECEF"/>
          </a:solidFill>
          <a:ln/>
        </p:spPr>
        <p:txBody>
          <a:bodyPr/>
          <a:lstStyle/>
          <a:p>
            <a:endParaRPr lang="he-IL"/>
          </a:p>
        </p:txBody>
      </p:sp>
      <p:sp>
        <p:nvSpPr>
          <p:cNvPr id="17" name="Text 13"/>
          <p:cNvSpPr txBox="1"/>
          <p:nvPr/>
        </p:nvSpPr>
        <p:spPr>
          <a:xfrm>
            <a:off x="6830568" y="4005072"/>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רמת סוכר ממוצעת</a:t>
            </a:r>
            <a:endParaRPr lang="he-IL" sz="1150" dirty="0"/>
          </a:p>
        </p:txBody>
      </p:sp>
      <p:sp>
        <p:nvSpPr>
          <p:cNvPr id="18" name="Text 14"/>
          <p:cNvSpPr txBox="1"/>
          <p:nvPr/>
        </p:nvSpPr>
        <p:spPr>
          <a:xfrm>
            <a:off x="7796860" y="4279392"/>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220</a:t>
            </a:r>
            <a:endParaRPr lang="en-US" sz="2400" dirty="0"/>
          </a:p>
        </p:txBody>
      </p:sp>
      <p:sp>
        <p:nvSpPr>
          <p:cNvPr id="19" name="Text 15"/>
          <p:cNvSpPr txBox="1"/>
          <p:nvPr/>
        </p:nvSpPr>
        <p:spPr>
          <a:xfrm>
            <a:off x="6830568" y="4370832"/>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mg/dL</a:t>
            </a:r>
            <a:endParaRPr lang="en-US" sz="1050" dirty="0"/>
          </a:p>
        </p:txBody>
      </p:sp>
      <p:sp>
        <p:nvSpPr>
          <p:cNvPr id="20" name="Shape 16"/>
          <p:cNvSpPr/>
          <p:nvPr/>
        </p:nvSpPr>
        <p:spPr>
          <a:xfrm>
            <a:off x="9249156" y="5001768"/>
            <a:ext cx="2391156" cy="978408"/>
          </a:xfrm>
          <a:prstGeom prst="roundRect">
            <a:avLst>
              <a:gd name="adj" fmla="val 11215"/>
            </a:avLst>
          </a:prstGeom>
          <a:solidFill>
            <a:srgbClr val="FBECEF"/>
          </a:solidFill>
          <a:ln/>
        </p:spPr>
        <p:txBody>
          <a:bodyPr/>
          <a:lstStyle/>
          <a:p>
            <a:endParaRPr lang="he-IL"/>
          </a:p>
        </p:txBody>
      </p:sp>
      <p:sp>
        <p:nvSpPr>
          <p:cNvPr id="21" name="Text 17"/>
          <p:cNvSpPr txBox="1"/>
          <p:nvPr/>
        </p:nvSpPr>
        <p:spPr>
          <a:xfrm>
            <a:off x="9358884" y="5074920"/>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מדד לניהול רמת הסוכר (GMI)</a:t>
            </a:r>
            <a:endParaRPr lang="he-IL" sz="1150" dirty="0"/>
          </a:p>
        </p:txBody>
      </p:sp>
      <p:sp>
        <p:nvSpPr>
          <p:cNvPr id="22" name="Text 18"/>
          <p:cNvSpPr txBox="1"/>
          <p:nvPr/>
        </p:nvSpPr>
        <p:spPr>
          <a:xfrm>
            <a:off x="10325176" y="5349240"/>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8.6%</a:t>
            </a:r>
            <a:endParaRPr lang="en-US" sz="2400" dirty="0"/>
          </a:p>
        </p:txBody>
      </p:sp>
      <p:sp>
        <p:nvSpPr>
          <p:cNvPr id="23" name="Text 19"/>
          <p:cNvSpPr txBox="1"/>
          <p:nvPr/>
        </p:nvSpPr>
        <p:spPr>
          <a:xfrm>
            <a:off x="9358884" y="5440680"/>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70 mmol/mol</a:t>
            </a:r>
            <a:endParaRPr lang="en-US" sz="1050" dirty="0"/>
          </a:p>
        </p:txBody>
      </p:sp>
      <p:sp>
        <p:nvSpPr>
          <p:cNvPr id="24" name="Shape 20"/>
          <p:cNvSpPr/>
          <p:nvPr/>
        </p:nvSpPr>
        <p:spPr>
          <a:xfrm>
            <a:off x="6720840" y="5001768"/>
            <a:ext cx="2391156" cy="978408"/>
          </a:xfrm>
          <a:prstGeom prst="roundRect">
            <a:avLst>
              <a:gd name="adj" fmla="val 11215"/>
            </a:avLst>
          </a:prstGeom>
          <a:solidFill>
            <a:srgbClr val="FBECEF"/>
          </a:solidFill>
          <a:ln/>
        </p:spPr>
        <p:txBody>
          <a:bodyPr/>
          <a:lstStyle/>
          <a:p>
            <a:endParaRPr lang="he-IL"/>
          </a:p>
        </p:txBody>
      </p:sp>
      <p:sp>
        <p:nvSpPr>
          <p:cNvPr id="25" name="Text 21"/>
          <p:cNvSpPr txBox="1"/>
          <p:nvPr/>
        </p:nvSpPr>
        <p:spPr>
          <a:xfrm>
            <a:off x="6830568" y="5074920"/>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שונות גלוקוז</a:t>
            </a:r>
            <a:endParaRPr lang="he-IL" sz="1150" dirty="0"/>
          </a:p>
        </p:txBody>
      </p:sp>
      <p:sp>
        <p:nvSpPr>
          <p:cNvPr id="26" name="Text 22"/>
          <p:cNvSpPr txBox="1"/>
          <p:nvPr/>
        </p:nvSpPr>
        <p:spPr>
          <a:xfrm>
            <a:off x="7796860" y="5349240"/>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32.1%</a:t>
            </a:r>
            <a:endParaRPr lang="en-US" sz="2400" dirty="0"/>
          </a:p>
        </p:txBody>
      </p:sp>
      <p:sp>
        <p:nvSpPr>
          <p:cNvPr id="27" name="Text 23"/>
          <p:cNvSpPr txBox="1"/>
          <p:nvPr/>
        </p:nvSpPr>
        <p:spPr>
          <a:xfrm>
            <a:off x="6830568" y="5440680"/>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%CV</a:t>
            </a:r>
            <a:endParaRPr lang="en-US" sz="1050" dirty="0"/>
          </a:p>
        </p:txBody>
      </p:sp>
      <p:sp>
        <p:nvSpPr>
          <p:cNvPr id="28"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דילמה וחשיבה קלינית - שאלות פתוחות</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515876" y="1645920"/>
            <a:ext cx="739100" cy="640080"/>
          </a:xfrm>
          <a:prstGeom prst="hexagon">
            <a:avLst/>
          </a:prstGeom>
          <a:solidFill>
            <a:srgbClr val="4A90D0"/>
          </a:solidFill>
          <a:ln/>
        </p:spPr>
        <p:txBody>
          <a:bodyPr/>
          <a:lstStyle/>
          <a:p>
            <a:endParaRPr lang="he-IL"/>
          </a:p>
        </p:txBody>
      </p:sp>
      <p:sp>
        <p:nvSpPr>
          <p:cNvPr id="7" name="Text 5"/>
          <p:cNvSpPr txBox="1"/>
          <p:nvPr/>
        </p:nvSpPr>
        <p:spPr>
          <a:xfrm>
            <a:off x="9565386"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8356397"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האם המטופל עומד ביעד האיזון שלו?</a:t>
            </a:r>
            <a:endParaRPr lang="he-IL" sz="1600" dirty="0"/>
          </a:p>
        </p:txBody>
      </p:sp>
      <p:sp>
        <p:nvSpPr>
          <p:cNvPr id="9" name="Shape 7"/>
          <p:cNvSpPr/>
          <p:nvPr/>
        </p:nvSpPr>
        <p:spPr>
          <a:xfrm>
            <a:off x="9336786" y="3200400"/>
            <a:ext cx="1097280" cy="411480"/>
          </a:xfrm>
          <a:prstGeom prst="roundRect">
            <a:avLst>
              <a:gd name="adj" fmla="val 48889"/>
            </a:avLst>
          </a:prstGeom>
          <a:solidFill>
            <a:srgbClr val="C24863"/>
          </a:solidFill>
          <a:ln/>
        </p:spPr>
        <p:txBody>
          <a:bodyPr/>
          <a:lstStyle/>
          <a:p>
            <a:endParaRPr lang="he-IL"/>
          </a:p>
        </p:txBody>
      </p:sp>
      <p:sp>
        <p:nvSpPr>
          <p:cNvPr id="10" name="Text 8"/>
          <p:cNvSpPr txBox="1"/>
          <p:nvPr/>
        </p:nvSpPr>
        <p:spPr>
          <a:xfrm>
            <a:off x="9336786" y="3200400"/>
            <a:ext cx="1097280" cy="411480"/>
          </a:xfrm>
          <a:prstGeom prst="rect">
            <a:avLst/>
          </a:prstGeom>
          <a:noFill/>
          <a:ln/>
        </p:spPr>
        <p:txBody>
          <a:bodyPr wrap="square" lIns="0" tIns="0" rIns="0" bIns="0" rtlCol="0" anchor="ctr"/>
          <a:lstStyle/>
          <a:p>
            <a:pPr marL="0" indent="0" algn="ctr" rtl="1">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1" name="Text 9"/>
          <p:cNvSpPr txBox="1"/>
          <p:nvPr/>
        </p:nvSpPr>
        <p:spPr>
          <a:xfrm>
            <a:off x="8447837" y="3886200"/>
            <a:ext cx="2875178" cy="2011680"/>
          </a:xfrm>
          <a:prstGeom prst="rect">
            <a:avLst/>
          </a:prstGeom>
          <a:noFill/>
          <a:ln/>
        </p:spPr>
        <p:txBody>
          <a:bodyPr wrap="square" lIns="0" tIns="0" rIns="0" bIns="0" rtlCol="0" anchor="t"/>
          <a:lstStyle/>
          <a:p>
            <a:pPr marL="0" indent="0" algn="ctr" rtl="1">
              <a:buNone/>
            </a:pPr>
            <a:r>
              <a:rPr lang="he-IL" altLang="en-US" sz="1800" dirty="0">
                <a:solidFill>
                  <a:srgbClr val="2E2A47"/>
                </a:solidFill>
                <a:latin typeface="Arial" pitchFamily="34" charset="0"/>
                <a:ea typeface="Arial" pitchFamily="34" charset="-122"/>
                <a:cs typeface="Arial" pitchFamily="34" charset="-120"/>
              </a:rPr>
              <a:t>כי ה-A1C עדיין 8.6% והמטופל אינו מאוזן.</a:t>
            </a:r>
            <a:endParaRPr lang="he-IL" sz="1800" dirty="0"/>
          </a:p>
        </p:txBody>
      </p:sp>
      <p:sp>
        <p:nvSpPr>
          <p:cNvPr id="12" name="Shape 10"/>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1"/>
          <p:cNvSpPr/>
          <p:nvPr/>
        </p:nvSpPr>
        <p:spPr>
          <a:xfrm rot="5400000">
            <a:off x="5726297" y="1645920"/>
            <a:ext cx="739100" cy="640080"/>
          </a:xfrm>
          <a:prstGeom prst="hexagon">
            <a:avLst/>
          </a:prstGeom>
          <a:solidFill>
            <a:srgbClr val="5B6BB5"/>
          </a:solidFill>
          <a:ln/>
        </p:spPr>
        <p:txBody>
          <a:bodyPr/>
          <a:lstStyle/>
          <a:p>
            <a:endParaRPr lang="he-IL"/>
          </a:p>
        </p:txBody>
      </p:sp>
      <p:sp>
        <p:nvSpPr>
          <p:cNvPr id="14" name="Text 12"/>
          <p:cNvSpPr txBox="1"/>
          <p:nvPr/>
        </p:nvSpPr>
        <p:spPr>
          <a:xfrm>
            <a:off x="5775808"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3"/>
          <p:cNvSpPr txBox="1"/>
          <p:nvPr/>
        </p:nvSpPr>
        <p:spPr>
          <a:xfrm>
            <a:off x="4566818"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האם הטיפול שהמטופל מקבל מספיק אופטימלי למצב שלו?</a:t>
            </a:r>
            <a:endParaRPr lang="he-IL" sz="1600" dirty="0"/>
          </a:p>
        </p:txBody>
      </p:sp>
      <p:sp>
        <p:nvSpPr>
          <p:cNvPr id="16" name="Shape 14"/>
          <p:cNvSpPr/>
          <p:nvPr/>
        </p:nvSpPr>
        <p:spPr>
          <a:xfrm>
            <a:off x="5547208" y="3200400"/>
            <a:ext cx="1097280" cy="411480"/>
          </a:xfrm>
          <a:prstGeom prst="roundRect">
            <a:avLst>
              <a:gd name="adj" fmla="val 48889"/>
            </a:avLst>
          </a:prstGeom>
          <a:solidFill>
            <a:srgbClr val="C24863"/>
          </a:solidFill>
          <a:ln/>
        </p:spPr>
        <p:txBody>
          <a:bodyPr/>
          <a:lstStyle/>
          <a:p>
            <a:endParaRPr lang="he-IL"/>
          </a:p>
        </p:txBody>
      </p:sp>
      <p:sp>
        <p:nvSpPr>
          <p:cNvPr id="17" name="Text 15"/>
          <p:cNvSpPr txBox="1"/>
          <p:nvPr/>
        </p:nvSpPr>
        <p:spPr>
          <a:xfrm>
            <a:off x="5547208" y="3200400"/>
            <a:ext cx="1097280" cy="411480"/>
          </a:xfrm>
          <a:prstGeom prst="rect">
            <a:avLst/>
          </a:prstGeom>
          <a:noFill/>
          <a:ln/>
        </p:spPr>
        <p:txBody>
          <a:bodyPr wrap="square" lIns="0" tIns="0" rIns="0" bIns="0" rtlCol="0" anchor="ctr"/>
          <a:lstStyle/>
          <a:p>
            <a:pPr marL="0" indent="0" algn="ctr" rtl="1">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8" name="Text 16"/>
          <p:cNvSpPr txBox="1"/>
          <p:nvPr/>
        </p:nvSpPr>
        <p:spPr>
          <a:xfrm>
            <a:off x="4658258" y="3886200"/>
            <a:ext cx="2875178" cy="2011680"/>
          </a:xfrm>
          <a:prstGeom prst="rect">
            <a:avLst/>
          </a:prstGeom>
          <a:noFill/>
          <a:ln/>
        </p:spPr>
        <p:txBody>
          <a:bodyPr wrap="square" lIns="0" tIns="0" rIns="0" bIns="0" rtlCol="0" anchor="t"/>
          <a:lstStyle/>
          <a:p>
            <a:pPr marL="0" indent="0" algn="ctr" rtl="1">
              <a:buNone/>
            </a:pPr>
            <a:r>
              <a:rPr lang="he-IL" altLang="en-US" sz="1800" dirty="0">
                <a:solidFill>
                  <a:srgbClr val="2E2A47"/>
                </a:solidFill>
                <a:latin typeface="Arial" pitchFamily="34" charset="0"/>
                <a:ea typeface="Arial" pitchFamily="34" charset="-122"/>
                <a:cs typeface="Arial" pitchFamily="34" charset="-120"/>
              </a:rPr>
              <a:t>מתן מינוני אינסולין גבוהים לא מספק מספיק הגנה נגד סיבוכים טרשתיים.</a:t>
            </a:r>
            <a:endParaRPr lang="he-IL" sz="1800" dirty="0"/>
          </a:p>
        </p:txBody>
      </p:sp>
      <p:sp>
        <p:nvSpPr>
          <p:cNvPr id="19" name="Shape 17"/>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8"/>
          <p:cNvSpPr/>
          <p:nvPr/>
        </p:nvSpPr>
        <p:spPr>
          <a:xfrm rot="5400000">
            <a:off x="1936719" y="1645920"/>
            <a:ext cx="739100" cy="640080"/>
          </a:xfrm>
          <a:prstGeom prst="hexagon">
            <a:avLst/>
          </a:prstGeom>
          <a:solidFill>
            <a:srgbClr val="6E4494"/>
          </a:solidFill>
          <a:ln/>
        </p:spPr>
        <p:txBody>
          <a:bodyPr/>
          <a:lstStyle/>
          <a:p>
            <a:endParaRPr lang="he-IL"/>
          </a:p>
        </p:txBody>
      </p:sp>
      <p:sp>
        <p:nvSpPr>
          <p:cNvPr id="21" name="Text 19"/>
          <p:cNvSpPr txBox="1"/>
          <p:nvPr/>
        </p:nvSpPr>
        <p:spPr>
          <a:xfrm>
            <a:off x="1986229"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2" name="Text 20"/>
          <p:cNvSpPr txBox="1"/>
          <p:nvPr/>
        </p:nvSpPr>
        <p:spPr>
          <a:xfrm>
            <a:off x="777240"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איזה שינויים אפשר ונדרש לבצע? ולמה?</a:t>
            </a:r>
            <a:endParaRPr lang="he-IL" sz="1600" dirty="0"/>
          </a:p>
        </p:txBody>
      </p:sp>
      <p:sp>
        <p:nvSpPr>
          <p:cNvPr id="23" name="Shape 21"/>
          <p:cNvSpPr/>
          <p:nvPr/>
        </p:nvSpPr>
        <p:spPr>
          <a:xfrm>
            <a:off x="777240" y="3154680"/>
            <a:ext cx="3058058" cy="502920"/>
          </a:xfrm>
          <a:prstGeom prst="roundRect">
            <a:avLst>
              <a:gd name="adj" fmla="val 36364"/>
            </a:avLst>
          </a:prstGeom>
          <a:solidFill>
            <a:srgbClr val="E5F4F2"/>
          </a:solidFill>
          <a:ln/>
        </p:spPr>
        <p:txBody>
          <a:bodyPr/>
          <a:lstStyle/>
          <a:p>
            <a:endParaRPr lang="he-IL"/>
          </a:p>
        </p:txBody>
      </p:sp>
      <p:sp>
        <p:nvSpPr>
          <p:cNvPr id="24" name="Text 22"/>
          <p:cNvSpPr txBox="1"/>
          <p:nvPr/>
        </p:nvSpPr>
        <p:spPr>
          <a:xfrm>
            <a:off x="822960" y="3154680"/>
            <a:ext cx="2966618" cy="502920"/>
          </a:xfrm>
          <a:prstGeom prst="rect">
            <a:avLst/>
          </a:prstGeom>
          <a:noFill/>
          <a:ln/>
        </p:spPr>
        <p:txBody>
          <a:bodyPr wrap="square" lIns="0" tIns="0" rIns="0" bIns="0" rtlCol="0" anchor="ct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החלפת טיפול ב-</a:t>
            </a:r>
            <a:r>
              <a:rPr lang="en-US" altLang="en-US" sz="1500" b="1" dirty="0">
                <a:solidFill>
                  <a:srgbClr val="1F8F83"/>
                </a:solidFill>
                <a:latin typeface="Arial" pitchFamily="34" charset="0"/>
                <a:ea typeface="Arial" pitchFamily="34" charset="-122"/>
                <a:cs typeface="Arial" pitchFamily="34" charset="-120"/>
              </a:rPr>
              <a:t>GLP1RA </a:t>
            </a:r>
            <a:r>
              <a:rPr lang="he-IL" altLang="en-US" sz="1500" b="1" dirty="0">
                <a:solidFill>
                  <a:srgbClr val="1F8F83"/>
                </a:solidFill>
                <a:latin typeface="Arial" pitchFamily="34" charset="0"/>
                <a:ea typeface="Arial" pitchFamily="34" charset="-122"/>
                <a:cs typeface="Arial" pitchFamily="34" charset="-120"/>
              </a:rPr>
              <a:t> </a:t>
            </a:r>
          </a:p>
          <a:p>
            <a:pPr marL="0" indent="0" algn="ctr" rtl="1">
              <a:buNone/>
            </a:pPr>
            <a:r>
              <a:rPr lang="he-IL" altLang="en-US" sz="1500" b="1" dirty="0">
                <a:solidFill>
                  <a:srgbClr val="1F8F83"/>
                </a:solidFill>
                <a:latin typeface="Arial" pitchFamily="34" charset="0"/>
                <a:ea typeface="Arial" pitchFamily="34" charset="-122"/>
                <a:cs typeface="Arial" pitchFamily="34" charset="-120"/>
              </a:rPr>
              <a:t>(וויגובי-סמגלוטייד 2.4 מ"ג):</a:t>
            </a:r>
            <a:endParaRPr lang="he-IL" sz="1500" dirty="0"/>
          </a:p>
        </p:txBody>
      </p:sp>
      <p:sp>
        <p:nvSpPr>
          <p:cNvPr id="25" name="Text 23"/>
          <p:cNvSpPr txBox="1"/>
          <p:nvPr/>
        </p:nvSpPr>
        <p:spPr>
          <a:xfrm>
            <a:off x="822960" y="3840480"/>
            <a:ext cx="2966618" cy="2103120"/>
          </a:xfrm>
          <a:prstGeom prst="rect">
            <a:avLst/>
          </a:prstGeom>
          <a:noFill/>
          <a:ln/>
        </p:spPr>
        <p:txBody>
          <a:bodyPr wrap="square" lIns="0" tIns="0" rIns="0" bIns="0" rtlCol="0" anchor="t"/>
          <a:lstStyle/>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הורדת משקל והפחתת תאבון.</a:t>
            </a:r>
            <a:endParaRPr lang="he-IL" sz="1500" dirty="0"/>
          </a:p>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הפחתת הסיכון ל-</a:t>
            </a:r>
            <a:r>
              <a:rPr lang="da-DK" altLang="en-US" sz="1500" dirty="0">
                <a:solidFill>
                  <a:srgbClr val="2E2A47"/>
                </a:solidFill>
                <a:latin typeface="Arial" pitchFamily="34" charset="0"/>
                <a:ea typeface="Arial" pitchFamily="34" charset="-122"/>
                <a:cs typeface="Arial" pitchFamily="34" charset="-120"/>
              </a:rPr>
              <a:t>MACE </a:t>
            </a:r>
            <a:r>
              <a:rPr lang="he-IL" altLang="en-US" sz="1500" dirty="0">
                <a:solidFill>
                  <a:srgbClr val="2E2A47"/>
                </a:solidFill>
                <a:latin typeface="Arial" pitchFamily="34" charset="0"/>
                <a:ea typeface="Arial" pitchFamily="34" charset="-122"/>
                <a:cs typeface="Arial" pitchFamily="34" charset="-120"/>
              </a:rPr>
              <a:t>במטופלים עם השמנה ומחלה </a:t>
            </a:r>
            <a:r>
              <a:rPr lang="en-US" altLang="en-US" sz="1500" dirty="0">
                <a:solidFill>
                  <a:srgbClr val="2E2A47"/>
                </a:solidFill>
                <a:latin typeface="Arial" pitchFamily="34" charset="0"/>
                <a:ea typeface="Arial" pitchFamily="34" charset="-122"/>
                <a:cs typeface="Arial" pitchFamily="34" charset="-120"/>
              </a:rPr>
              <a:t>CV</a:t>
            </a:r>
            <a:r>
              <a:rPr lang="he-IL" altLang="en-US" sz="1500" dirty="0">
                <a:solidFill>
                  <a:srgbClr val="2E2A47"/>
                </a:solidFill>
                <a:latin typeface="Arial" pitchFamily="34" charset="0"/>
                <a:ea typeface="Arial" pitchFamily="34" charset="-122"/>
                <a:cs typeface="Arial" pitchFamily="34" charset="-120"/>
              </a:rPr>
              <a:t> קיימת.</a:t>
            </a:r>
            <a:endParaRPr lang="he-IL" sz="1500" dirty="0"/>
          </a:p>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פוטנציאל לשיפור באיזון הגליקמי.</a:t>
            </a:r>
            <a:endParaRPr lang="he-IL" sz="150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24</a:t>
            </a:fld>
            <a:endParaRPr lang="en-US"/>
          </a:p>
        </p:txBody>
      </p:sp>
      <p:sp>
        <p:nvSpPr>
          <p:cNvPr id="28" name="TextBox 27">
            <a:extLst>
              <a:ext uri="{FF2B5EF4-FFF2-40B4-BE49-F238E27FC236}">
                <a16:creationId xmlns:a16="http://schemas.microsoft.com/office/drawing/2014/main" id="{F20629CE-E10D-0A50-421C-D1AFAE8100AE}"/>
              </a:ext>
            </a:extLst>
          </p:cNvPr>
          <p:cNvSpPr txBox="1"/>
          <p:nvPr/>
        </p:nvSpPr>
        <p:spPr>
          <a:xfrm>
            <a:off x="550012" y="6155025"/>
            <a:ext cx="11227460" cy="246221"/>
          </a:xfrm>
          <a:prstGeom prst="rect">
            <a:avLst/>
          </a:prstGeom>
          <a:noFill/>
        </p:spPr>
        <p:txBody>
          <a:bodyPr wrap="square">
            <a:spAutoFit/>
          </a:bodyPr>
          <a:lstStyle/>
          <a:p>
            <a:r>
              <a:rPr lang="en-GB" sz="1000" dirty="0"/>
              <a:t>Semaglutide 2.4mg (Wegovy®) is indicated as an adjunct to a reduced-calorie diet and increased physical activity for weight management, including weight loss and weight maintenance.</a:t>
            </a:r>
            <a:endParaRPr lang="he-IL" sz="1000" dirty="0"/>
          </a:p>
        </p:txBody>
      </p:sp>
      <p:sp>
        <p:nvSpPr>
          <p:cNvPr id="30" name="TextBox 29">
            <a:extLst>
              <a:ext uri="{FF2B5EF4-FFF2-40B4-BE49-F238E27FC236}">
                <a16:creationId xmlns:a16="http://schemas.microsoft.com/office/drawing/2014/main" id="{81F9E316-FE13-8D2A-CCB9-30840CEDF3D4}"/>
              </a:ext>
            </a:extLst>
          </p:cNvPr>
          <p:cNvSpPr txBox="1"/>
          <p:nvPr/>
        </p:nvSpPr>
        <p:spPr>
          <a:xfrm>
            <a:off x="548640" y="6634299"/>
            <a:ext cx="11594592" cy="230832"/>
          </a:xfrm>
          <a:prstGeom prst="rect">
            <a:avLst/>
          </a:prstGeom>
          <a:noFill/>
        </p:spPr>
        <p:txBody>
          <a:bodyPr wrap="square">
            <a:spAutoFit/>
          </a:bodyPr>
          <a:lstStyle/>
          <a:p>
            <a:r>
              <a:rPr lang="he-IL" sz="900" dirty="0"/>
              <a:t>When initiating semaglutide in patients with type 2 diabetes, consider reducing the dose of concomitantly administered insulin or insulin secretagogues (such as sulfonylureas) to reduce the risk of hypoglycaemia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תוצאות מחקרי STEP - יעילות מוכחת בירידה במשקל</a:t>
            </a:r>
            <a:endParaRPr lang="he-IL" sz="2600" dirty="0"/>
          </a:p>
        </p:txBody>
      </p:sp>
      <p:pic>
        <p:nvPicPr>
          <p:cNvPr id="5" name="Image 0" descr="/tmp/claude-0/-home-claude/83ba285b-7ef1-5a4f-9afe-ea04c4b9d63d/scratchpad/src/ppt/media/image-16-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2258568"/>
            <a:ext cx="5394960" cy="3026664"/>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ירידה במשקל (תוכנית STEP)</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8" name="Shape 5"/>
          <p:cNvSpPr/>
          <p:nvPr/>
        </p:nvSpPr>
        <p:spPr>
          <a:xfrm>
            <a:off x="10378440" y="2057400"/>
            <a:ext cx="1170432" cy="752094"/>
          </a:xfrm>
          <a:prstGeom prst="roundRect">
            <a:avLst>
              <a:gd name="adj" fmla="val 12158"/>
            </a:avLst>
          </a:prstGeom>
          <a:solidFill>
            <a:srgbClr val="F3F0FA"/>
          </a:solidFill>
          <a:ln/>
        </p:spPr>
        <p:txBody>
          <a:bodyPr/>
          <a:lstStyle/>
          <a:p>
            <a:endParaRPr lang="he-IL"/>
          </a:p>
        </p:txBody>
      </p:sp>
      <p:sp>
        <p:nvSpPr>
          <p:cNvPr id="9" name="Text 6"/>
          <p:cNvSpPr txBox="1"/>
          <p:nvPr/>
        </p:nvSpPr>
        <p:spPr>
          <a:xfrm>
            <a:off x="10378440" y="2075688"/>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16.9%</a:t>
            </a:r>
            <a:endParaRPr lang="en-US" sz="20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1</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ירידה משמעותית במשקל (STEP 1): </a:t>
            </a:r>
            <a:r>
              <a:rPr lang="he-IL" altLang="en-US" sz="1250" dirty="0">
                <a:solidFill>
                  <a:srgbClr val="2E2A47"/>
                </a:solidFill>
                <a:latin typeface="Arial" pitchFamily="34" charset="0"/>
                <a:ea typeface="Arial" pitchFamily="34" charset="-122"/>
                <a:cs typeface="Arial" pitchFamily="34" charset="-120"/>
              </a:rPr>
              <a:t>הטיפול ב-Wegovy (סמגלוטייד 2.4 מ"ג) הוביל לירידה ממוצעת מרשימה של 16.9% ממשקל הגוף כעבור 68 שבועות (לעומת 2.4% בלבד בקבוצת הפלצבו).</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3" name="Shape 10"/>
          <p:cNvSpPr/>
          <p:nvPr/>
        </p:nvSpPr>
        <p:spPr>
          <a:xfrm>
            <a:off x="10378440" y="3102102"/>
            <a:ext cx="1170432" cy="752094"/>
          </a:xfrm>
          <a:prstGeom prst="roundRect">
            <a:avLst>
              <a:gd name="adj" fmla="val 12158"/>
            </a:avLst>
          </a:prstGeom>
          <a:solidFill>
            <a:srgbClr val="F3F0FA"/>
          </a:solidFill>
          <a:ln/>
        </p:spPr>
        <p:txBody>
          <a:bodyPr/>
          <a:lstStyle/>
          <a:p>
            <a:endParaRPr lang="he-IL"/>
          </a:p>
        </p:txBody>
      </p:sp>
      <p:sp>
        <p:nvSpPr>
          <p:cNvPr id="14" name="Text 11"/>
          <p:cNvSpPr txBox="1"/>
          <p:nvPr/>
        </p:nvSpPr>
        <p:spPr>
          <a:xfrm>
            <a:off x="10378440" y="3120390"/>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16.7%</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5</a:t>
            </a:r>
            <a:endParaRPr lang="en-US"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ירידה משמעותית במשקל לאורך שנתיים של טיפול(STEP 5): </a:t>
            </a:r>
            <a:r>
              <a:rPr lang="he-IL" altLang="en-US" sz="1250" dirty="0">
                <a:solidFill>
                  <a:srgbClr val="2E2A47"/>
                </a:solidFill>
                <a:latin typeface="Arial" pitchFamily="34" charset="0"/>
                <a:ea typeface="Arial" pitchFamily="34" charset="-122"/>
                <a:cs typeface="Arial" pitchFamily="34" charset="-120"/>
              </a:rPr>
              <a:t>מחקר ארוך הטווח (104 שבועות / שנתיים) הוכיח שמירה יציבה ומתמשכת על הירידה במשקל עם ירידה ממוצעת של 16.7%.</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8" name="Shape 15"/>
          <p:cNvSpPr/>
          <p:nvPr/>
        </p:nvSpPr>
        <p:spPr>
          <a:xfrm>
            <a:off x="10378440" y="4146804"/>
            <a:ext cx="1170432" cy="752094"/>
          </a:xfrm>
          <a:prstGeom prst="roundRect">
            <a:avLst>
              <a:gd name="adj" fmla="val 12158"/>
            </a:avLst>
          </a:prstGeom>
          <a:solidFill>
            <a:srgbClr val="F3F0FA"/>
          </a:solidFill>
          <a:ln/>
        </p:spPr>
        <p:txBody>
          <a:bodyPr/>
          <a:lstStyle/>
          <a:p>
            <a:endParaRPr lang="he-IL"/>
          </a:p>
        </p:txBody>
      </p:sp>
      <p:sp>
        <p:nvSpPr>
          <p:cNvPr id="19" name="Text 16"/>
          <p:cNvSpPr txBox="1"/>
          <p:nvPr/>
        </p:nvSpPr>
        <p:spPr>
          <a:xfrm>
            <a:off x="10378440" y="4165092"/>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17.1%</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8</a:t>
            </a:r>
            <a:endParaRPr lang="en-US"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עליונות של סמגלוטייד 2.4 מ"ג בהשוואה ללירגלוטייד3.0 מ"ג (STEP 8): </a:t>
            </a:r>
            <a:r>
              <a:rPr lang="he-IL" altLang="en-US" sz="1250" dirty="0">
                <a:solidFill>
                  <a:srgbClr val="2E2A47"/>
                </a:solidFill>
                <a:latin typeface="Arial" pitchFamily="34" charset="0"/>
                <a:ea typeface="Arial" pitchFamily="34" charset="-122"/>
                <a:cs typeface="Arial" pitchFamily="34" charset="-120"/>
              </a:rPr>
              <a:t>במחקר השוואתי ישיר (Head to Head), סמגלוטייד 2.4 מ"ג הראתה ירידה גדולה יותר במשקל של 17.1% במשקל לעומת 6.6% בלבד בליראגלוטייד 3.0 מ"ג.</a:t>
            </a:r>
            <a:endParaRPr lang="he-IL" sz="12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23" name="Shape 20"/>
          <p:cNvSpPr/>
          <p:nvPr/>
        </p:nvSpPr>
        <p:spPr>
          <a:xfrm>
            <a:off x="10378440" y="5191506"/>
            <a:ext cx="1170432" cy="752094"/>
          </a:xfrm>
          <a:prstGeom prst="roundRect">
            <a:avLst>
              <a:gd name="adj" fmla="val 12158"/>
            </a:avLst>
          </a:prstGeom>
          <a:solidFill>
            <a:srgbClr val="F3F0FA"/>
          </a:solidFill>
          <a:ln/>
        </p:spPr>
        <p:txBody>
          <a:bodyPr/>
          <a:lstStyle/>
          <a:p>
            <a:endParaRPr lang="he-IL"/>
          </a:p>
        </p:txBody>
      </p:sp>
      <p:sp>
        <p:nvSpPr>
          <p:cNvPr id="24" name="Text 21"/>
          <p:cNvSpPr txBox="1"/>
          <p:nvPr/>
        </p:nvSpPr>
        <p:spPr>
          <a:xfrm>
            <a:off x="10378440" y="5209794"/>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17.6%</a:t>
            </a:r>
            <a:endParaRPr lang="en-US" sz="20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3</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שילוב עם התערבות התנהגותית (STEP 3): </a:t>
            </a:r>
            <a:r>
              <a:rPr lang="he-IL" altLang="en-US" sz="1250" dirty="0">
                <a:solidFill>
                  <a:srgbClr val="2E2A47"/>
                </a:solidFill>
                <a:latin typeface="Arial" pitchFamily="34" charset="0"/>
                <a:ea typeface="Arial" pitchFamily="34" charset="-122"/>
                <a:cs typeface="Arial" pitchFamily="34" charset="-120"/>
              </a:rPr>
              <a:t>בשילוב טיפול התנהגותי אינטנסיבי (IBT) הושגה ירידה של 17.6% במשקל.</a:t>
            </a:r>
            <a:endParaRPr lang="he-IL" sz="125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25</a:t>
            </a:fld>
            <a:endParaRPr lang="en-US"/>
          </a:p>
        </p:txBody>
      </p:sp>
      <p:sp>
        <p:nvSpPr>
          <p:cNvPr id="29" name="TextBox 28">
            <a:extLst>
              <a:ext uri="{FF2B5EF4-FFF2-40B4-BE49-F238E27FC236}">
                <a16:creationId xmlns:a16="http://schemas.microsoft.com/office/drawing/2014/main" id="{5986F8FD-1D11-A59A-F7EA-61C7276BB035}"/>
              </a:ext>
            </a:extLst>
          </p:cNvPr>
          <p:cNvSpPr txBox="1"/>
          <p:nvPr/>
        </p:nvSpPr>
        <p:spPr>
          <a:xfrm>
            <a:off x="6263640" y="5922811"/>
            <a:ext cx="6094476" cy="476925"/>
          </a:xfrm>
          <a:prstGeom prst="rect">
            <a:avLst/>
          </a:prstGeom>
          <a:noFill/>
        </p:spPr>
        <p:txBody>
          <a:bodyPr wrap="square">
            <a:spAutoFit/>
          </a:bodyPr>
          <a:lstStyle/>
          <a:p>
            <a:pPr fontAlgn="t">
              <a:lnSpc>
                <a:spcPct val="119048"/>
              </a:lnSpc>
              <a:buNone/>
            </a:pPr>
            <a:r>
              <a:rPr lang="en-US" sz="1050" b="0" i="0" dirty="0">
                <a:effectLst/>
                <a:latin typeface="Segoe UI" panose="020B0502040204020203" pitchFamily="34" charset="0"/>
              </a:rPr>
              <a:t>R</a:t>
            </a:r>
            <a:r>
              <a:rPr lang="he-IL" sz="1050" b="0" i="0" dirty="0">
                <a:effectLst/>
                <a:latin typeface="Segoe UI" panose="020B0502040204020203" pitchFamily="34" charset="0"/>
              </a:rPr>
              <a:t>esults are derived from separate clinical trials with different study designs, populations, comparators and treatment durations; cross-trial comparisons should not be made.</a:t>
            </a:r>
          </a:p>
        </p:txBody>
      </p:sp>
      <p:sp>
        <p:nvSpPr>
          <p:cNvPr id="31" name="TextBox 30">
            <a:extLst>
              <a:ext uri="{FF2B5EF4-FFF2-40B4-BE49-F238E27FC236}">
                <a16:creationId xmlns:a16="http://schemas.microsoft.com/office/drawing/2014/main" id="{3AFDBA3E-65D3-1F49-583B-8B819857A1EE}"/>
              </a:ext>
            </a:extLst>
          </p:cNvPr>
          <p:cNvSpPr txBox="1"/>
          <p:nvPr/>
        </p:nvSpPr>
        <p:spPr>
          <a:xfrm>
            <a:off x="6181344" y="6514325"/>
            <a:ext cx="6181344" cy="215444"/>
          </a:xfrm>
          <a:prstGeom prst="rect">
            <a:avLst/>
          </a:prstGeom>
          <a:noFill/>
        </p:spPr>
        <p:txBody>
          <a:bodyPr wrap="square">
            <a:spAutoFit/>
          </a:bodyPr>
          <a:lstStyle/>
          <a:p>
            <a:r>
              <a:rPr lang="en-US" sz="800" dirty="0"/>
              <a:t>T</a:t>
            </a:r>
            <a:r>
              <a:rPr lang="en-GB" sz="800" dirty="0"/>
              <a:t>rial product </a:t>
            </a:r>
            <a:r>
              <a:rPr lang="en-GB" sz="800" dirty="0" err="1"/>
              <a:t>estimand</a:t>
            </a:r>
            <a:r>
              <a:rPr lang="en-GB" sz="800" dirty="0"/>
              <a:t>: Evaluates the treatment effect under the assumption that the trial product is taken as intended</a:t>
            </a:r>
            <a:endParaRPr lang="he-IL" sz="800" dirty="0"/>
          </a:p>
        </p:txBody>
      </p:sp>
      <p:sp>
        <p:nvSpPr>
          <p:cNvPr id="33" name="TextBox 32">
            <a:extLst>
              <a:ext uri="{FF2B5EF4-FFF2-40B4-BE49-F238E27FC236}">
                <a16:creationId xmlns:a16="http://schemas.microsoft.com/office/drawing/2014/main" id="{3FB8405A-1AEB-FFC1-7E0A-8868D268460F}"/>
              </a:ext>
            </a:extLst>
          </p:cNvPr>
          <p:cNvSpPr txBox="1"/>
          <p:nvPr/>
        </p:nvSpPr>
        <p:spPr>
          <a:xfrm>
            <a:off x="82296" y="5461146"/>
            <a:ext cx="6181344" cy="461665"/>
          </a:xfrm>
          <a:prstGeom prst="rect">
            <a:avLst/>
          </a:prstGeom>
          <a:noFill/>
        </p:spPr>
        <p:txBody>
          <a:bodyPr wrap="square">
            <a:spAutoFit/>
          </a:bodyPr>
          <a:lstStyle/>
          <a:p>
            <a:r>
              <a:rPr kumimoji="0" lang="en-US" sz="8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1. Wilding et al. N Engl J Med 2021; doi:10.1056/NEJMoa2032183;  2.Wadden et al. JAMA doi:10.1001/jama.2021.1831;3. Rubino et al. JAMA. 2021 Apr 13;325(14):1414-1425. </a:t>
            </a:r>
            <a:r>
              <a:rPr kumimoji="0" lang="en-US" sz="800" b="0" i="0" u="none" strike="noStrike" kern="1200" cap="none" spc="0" normalizeH="0" baseline="0" noProof="0" dirty="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doi</a:t>
            </a:r>
            <a:r>
              <a:rPr kumimoji="0" lang="en-US" sz="8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10.1001/jama.2021.3224. 4. Garvey et al. Nat Med 28, 2083–2091 (2022); 5. Rubino et al. JAMA 2022; 327(2): 138-150</a:t>
            </a:r>
            <a:endParaRPr lang="he-IL"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2: פרופיל סבילות ובטיחות עקבי - תופעת הלוואי של בחילה</a:t>
            </a:r>
            <a:endParaRPr lang="he-IL" sz="2300" dirty="0"/>
          </a:p>
        </p:txBody>
      </p:sp>
      <p:pic>
        <p:nvPicPr>
          <p:cNvPr id="5" name="Image 0" descr="/tmp/claude-0/-home-claude/83ba285b-7ef1-5a4f-9afe-ea04c4b9d63d/scratchpad/src/ppt/media/image-17-2.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2263140"/>
            <a:ext cx="5394960" cy="3017520"/>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סבילות ותופעות לוואי (בחילות)</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8" name="Shape 5"/>
          <p:cNvSpPr/>
          <p:nvPr/>
        </p:nvSpPr>
        <p:spPr>
          <a:xfrm>
            <a:off x="10378440" y="2057400"/>
            <a:ext cx="1170432" cy="752094"/>
          </a:xfrm>
          <a:prstGeom prst="roundRect">
            <a:avLst>
              <a:gd name="adj" fmla="val 12158"/>
            </a:avLst>
          </a:prstGeom>
          <a:solidFill>
            <a:srgbClr val="F3F0FA"/>
          </a:solidFill>
          <a:ln/>
        </p:spPr>
        <p:txBody>
          <a:bodyPr/>
          <a:lstStyle/>
          <a:p>
            <a:endParaRPr lang="he-IL"/>
          </a:p>
        </p:txBody>
      </p:sp>
      <p:sp>
        <p:nvSpPr>
          <p:cNvPr id="9" name="Text 6"/>
          <p:cNvSpPr txBox="1"/>
          <p:nvPr/>
        </p:nvSpPr>
        <p:spPr>
          <a:xfrm>
            <a:off x="10378440" y="2075688"/>
            <a:ext cx="1170432" cy="451256"/>
          </a:xfrm>
          <a:prstGeom prst="rect">
            <a:avLst/>
          </a:prstGeom>
          <a:noFill/>
          <a:ln/>
        </p:spPr>
        <p:txBody>
          <a:bodyPr wrap="square" lIns="0" tIns="0" rIns="0" bIns="0" rtlCol="0" anchor="ctr"/>
          <a:lstStyle/>
          <a:p>
            <a:pPr marL="0" indent="0" algn="ctr" rtl="1">
              <a:buNone/>
            </a:pPr>
            <a:r>
              <a:rPr lang="he-IL" altLang="en-US" sz="1400" b="1" dirty="0">
                <a:solidFill>
                  <a:srgbClr val="6E4494"/>
                </a:solidFill>
                <a:latin typeface="Arial" pitchFamily="34" charset="0"/>
                <a:ea typeface="Arial" pitchFamily="34" charset="-122"/>
                <a:cs typeface="Arial" pitchFamily="34" charset="-120"/>
              </a:rPr>
              <a:t>קלה–בינונית</a:t>
            </a:r>
            <a:endParaRPr lang="he-IL" sz="14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Mild / Moderate</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תופעות לוואי קלות עד בינוניות (Mild/Moderate): </a:t>
            </a:r>
            <a:r>
              <a:rPr lang="he-IL" altLang="en-US" sz="1250" dirty="0">
                <a:solidFill>
                  <a:srgbClr val="2E2A47"/>
                </a:solidFill>
                <a:latin typeface="Arial" pitchFamily="34" charset="0"/>
                <a:ea typeface="Arial" pitchFamily="34" charset="-122"/>
                <a:cs typeface="Arial" pitchFamily="34" charset="-120"/>
              </a:rPr>
              <a:t>בחילות המופיעות תחת הטיפול ב-Wegovy 2.4mg הן ברובן בדרגת חומרה קלה עד בינונית בלבד וחולפות מעצמן.</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3" name="Shape 10"/>
          <p:cNvSpPr/>
          <p:nvPr/>
        </p:nvSpPr>
        <p:spPr>
          <a:xfrm>
            <a:off x="10378440" y="3102102"/>
            <a:ext cx="1170432" cy="752094"/>
          </a:xfrm>
          <a:prstGeom prst="roundRect">
            <a:avLst>
              <a:gd name="adj" fmla="val 12158"/>
            </a:avLst>
          </a:prstGeom>
          <a:solidFill>
            <a:srgbClr val="F3F0FA"/>
          </a:solidFill>
          <a:ln/>
        </p:spPr>
        <p:txBody>
          <a:bodyPr/>
          <a:lstStyle/>
          <a:p>
            <a:endParaRPr lang="he-IL"/>
          </a:p>
        </p:txBody>
      </p:sp>
      <p:sp>
        <p:nvSpPr>
          <p:cNvPr id="14" name="Text 11"/>
          <p:cNvSpPr txBox="1"/>
          <p:nvPr/>
        </p:nvSpPr>
        <p:spPr>
          <a:xfrm>
            <a:off x="10378440" y="3120390"/>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8.0</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ימים (חציון)</a:t>
            </a:r>
            <a:endParaRPr lang="he-IL"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משך זמן חציוני קצר ביותר: </a:t>
            </a:r>
            <a:r>
              <a:rPr lang="he-IL" altLang="en-US" sz="1250" dirty="0">
                <a:solidFill>
                  <a:srgbClr val="2E2A47"/>
                </a:solidFill>
                <a:latin typeface="Arial" pitchFamily="34" charset="0"/>
                <a:ea typeface="Arial" pitchFamily="34" charset="-122"/>
                <a:cs typeface="Arial" pitchFamily="34" charset="-120"/>
              </a:rPr>
              <a:t>משך הזמן החציוני (Median Duration) של תופעת הבחילה המדווחת עומד על 8.0 ימים בלבד.</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8" name="Shape 15"/>
          <p:cNvSpPr/>
          <p:nvPr/>
        </p:nvSpPr>
        <p:spPr>
          <a:xfrm>
            <a:off x="10378440" y="4146804"/>
            <a:ext cx="1170432" cy="752094"/>
          </a:xfrm>
          <a:prstGeom prst="roundRect">
            <a:avLst>
              <a:gd name="adj" fmla="val 12158"/>
            </a:avLst>
          </a:prstGeom>
          <a:solidFill>
            <a:srgbClr val="F3F0FA"/>
          </a:solidFill>
          <a:ln/>
        </p:spPr>
        <p:txBody>
          <a:bodyPr/>
          <a:lstStyle/>
          <a:p>
            <a:endParaRPr lang="he-IL"/>
          </a:p>
        </p:txBody>
      </p:sp>
      <p:sp>
        <p:nvSpPr>
          <p:cNvPr id="19" name="Text 16"/>
          <p:cNvSpPr txBox="1"/>
          <p:nvPr/>
        </p:nvSpPr>
        <p:spPr>
          <a:xfrm>
            <a:off x="10378440" y="4165092"/>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0–16</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שבועות</a:t>
            </a:r>
            <a:endParaRPr lang="he-IL"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שיא זמני בתקופת הטיטרציה (Dose Escalation Period): </a:t>
            </a:r>
            <a:r>
              <a:rPr lang="he-IL" altLang="en-US" sz="1150" dirty="0">
                <a:solidFill>
                  <a:srgbClr val="2E2A47"/>
                </a:solidFill>
                <a:latin typeface="Arial" pitchFamily="34" charset="0"/>
                <a:ea typeface="Arial" pitchFamily="34" charset="-122"/>
                <a:cs typeface="Arial" pitchFamily="34" charset="-120"/>
              </a:rPr>
              <a:t>שכיחות הבחילות עולה בעיקר בשבועות הראשונים (שבועות 0–16) במהלך העלייה ההדרגתית במינון, ולאחר מכן במעבר למינון היעד היא הולכת ויורדת בהתמדה עד להתייצבות מלאה.</a:t>
            </a:r>
            <a:endParaRPr lang="he-IL" sz="11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23" name="Shape 20"/>
          <p:cNvSpPr/>
          <p:nvPr/>
        </p:nvSpPr>
        <p:spPr>
          <a:xfrm>
            <a:off x="10378440" y="5191506"/>
            <a:ext cx="1170432" cy="752094"/>
          </a:xfrm>
          <a:prstGeom prst="roundRect">
            <a:avLst>
              <a:gd name="adj" fmla="val 12158"/>
            </a:avLst>
          </a:prstGeom>
          <a:solidFill>
            <a:srgbClr val="F3F0FA"/>
          </a:solidFill>
          <a:ln/>
        </p:spPr>
        <p:txBody>
          <a:bodyPr/>
          <a:lstStyle/>
          <a:p>
            <a:endParaRPr lang="he-IL"/>
          </a:p>
        </p:txBody>
      </p:sp>
      <p:sp>
        <p:nvSpPr>
          <p:cNvPr id="24" name="Text 21"/>
          <p:cNvSpPr txBox="1"/>
          <p:nvPr/>
        </p:nvSpPr>
        <p:spPr>
          <a:xfrm>
            <a:off x="10378440" y="5209794"/>
            <a:ext cx="1170432" cy="451256"/>
          </a:xfrm>
          <a:prstGeom prst="rect">
            <a:avLst/>
          </a:prstGeom>
          <a:noFill/>
          <a:ln/>
        </p:spPr>
        <p:txBody>
          <a:bodyPr wrap="square" lIns="0" tIns="0" rIns="0" bIns="0" rtlCol="0" anchor="ctr"/>
          <a:lstStyle/>
          <a:p>
            <a:pPr marL="0" indent="0" algn="ctr" rtl="1">
              <a:buNone/>
            </a:pPr>
            <a:r>
              <a:rPr lang="he-IL" altLang="en-US" sz="1800" b="1" dirty="0">
                <a:solidFill>
                  <a:srgbClr val="6E4494"/>
                </a:solidFill>
                <a:latin typeface="Arial" pitchFamily="34" charset="0"/>
                <a:ea typeface="Arial" pitchFamily="34" charset="-122"/>
                <a:cs typeface="Arial" pitchFamily="34" charset="-120"/>
              </a:rPr>
              <a:t>נדיר</a:t>
            </a:r>
            <a:endParaRPr lang="he-IL" sz="18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Severe</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שיעור אפסי של תופעות חמורות (Severe): </a:t>
            </a:r>
            <a:r>
              <a:rPr lang="he-IL" altLang="en-US" sz="1250" dirty="0">
                <a:solidFill>
                  <a:srgbClr val="2E2A47"/>
                </a:solidFill>
                <a:latin typeface="Arial" pitchFamily="34" charset="0"/>
                <a:ea typeface="Arial" pitchFamily="34" charset="-122"/>
                <a:cs typeface="Arial" pitchFamily="34" charset="-120"/>
              </a:rPr>
              <a:t>תופעות לוואי של בחילה בדרגה חמורה הינן נדירות ביותר (הקו הוורוד בתחתית התיעוד שואף לאפס).</a:t>
            </a:r>
            <a:endParaRPr lang="he-IL" sz="125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שלב 2: תוצאות מחקר SELECT - ירידה מובהקת של 20% בסיכון ל- MACE במבוגרים עם מחלה קרדיווסקולרית קיימת ועודף משקל או השמנה, ללא סוכרת </a:t>
            </a:r>
            <a:endParaRPr lang="he-IL" sz="1600" dirty="0"/>
          </a:p>
        </p:txBody>
      </p:sp>
      <p:pic>
        <p:nvPicPr>
          <p:cNvPr id="5" name="Image 0" descr="/tmp/claude-0/-home-claude/83ba285b-7ef1-5a4f-9afe-ea04c4b9d63d/scratchpad/src/ppt/media/image-18-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306324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754880"/>
            <a:ext cx="5394960" cy="1280160"/>
          </a:xfrm>
          <a:prstGeom prst="roundRect">
            <a:avLst>
              <a:gd name="adj" fmla="val 8571"/>
            </a:avLst>
          </a:prstGeom>
          <a:solidFill>
            <a:srgbClr val="E5F4F2"/>
          </a:solidFill>
          <a:ln/>
        </p:spPr>
        <p:txBody>
          <a:bodyPr/>
          <a:lstStyle/>
          <a:p>
            <a:endParaRPr lang="he-IL"/>
          </a:p>
        </p:txBody>
      </p:sp>
      <p:sp>
        <p:nvSpPr>
          <p:cNvPr id="7" name="Shape 4"/>
          <p:cNvSpPr/>
          <p:nvPr/>
        </p:nvSpPr>
        <p:spPr>
          <a:xfrm rot="5400000">
            <a:off x="5104220" y="5111496"/>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264567"/>
            <a:ext cx="260787" cy="260787"/>
          </a:xfrm>
          <a:prstGeom prst="rect">
            <a:avLst/>
          </a:prstGeom>
        </p:spPr>
      </p:pic>
      <p:sp>
        <p:nvSpPr>
          <p:cNvPr id="9" name="Text 5"/>
          <p:cNvSpPr txBox="1"/>
          <p:nvPr/>
        </p:nvSpPr>
        <p:spPr>
          <a:xfrm>
            <a:off x="777240" y="4892040"/>
            <a:ext cx="4279392" cy="1005840"/>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לאור ההיסטוריה הקרדיווסקולרית של המטופל, הפחתת הסיכון הקרדיווסקולרי מהווה שיקול חשוב בבחירת הטיפול</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תוצאים </a:t>
            </a:r>
            <a:r>
              <a:rPr lang="en-US" altLang="en-US" sz="1550" b="1" dirty="0">
                <a:solidFill>
                  <a:srgbClr val="6E4494"/>
                </a:solidFill>
                <a:latin typeface="Arial" pitchFamily="34" charset="0"/>
                <a:ea typeface="Arial" pitchFamily="34" charset="-122"/>
                <a:cs typeface="Arial" pitchFamily="34" charset="-120"/>
              </a:rPr>
              <a:t>CV</a:t>
            </a:r>
            <a:endParaRPr lang="he-IL" sz="1550" dirty="0"/>
          </a:p>
        </p:txBody>
      </p:sp>
      <p:sp>
        <p:nvSpPr>
          <p:cNvPr id="11" name="Shape 7"/>
          <p:cNvSpPr/>
          <p:nvPr/>
        </p:nvSpPr>
        <p:spPr>
          <a:xfrm>
            <a:off x="6263640" y="1965960"/>
            <a:ext cx="5376672" cy="1417320"/>
          </a:xfrm>
          <a:prstGeom prst="roundRect">
            <a:avLst>
              <a:gd name="adj" fmla="val 7742"/>
            </a:avLst>
          </a:prstGeom>
          <a:solidFill>
            <a:srgbClr val="FFFFFF"/>
          </a:solidFill>
          <a:ln w="9525">
            <a:solidFill>
              <a:srgbClr val="E3DFF0"/>
            </a:solidFill>
            <a:prstDash val="solid"/>
          </a:ln>
        </p:spPr>
        <p:txBody>
          <a:bodyPr/>
          <a:lstStyle/>
          <a:p>
            <a:endParaRPr lang="he-IL"/>
          </a:p>
        </p:txBody>
      </p:sp>
      <p:sp>
        <p:nvSpPr>
          <p:cNvPr id="12" name="Shape 8"/>
          <p:cNvSpPr/>
          <p:nvPr/>
        </p:nvSpPr>
        <p:spPr>
          <a:xfrm>
            <a:off x="10378440" y="2057400"/>
            <a:ext cx="1170432" cy="1234440"/>
          </a:xfrm>
          <a:prstGeom prst="roundRect">
            <a:avLst>
              <a:gd name="adj" fmla="val 7813"/>
            </a:avLst>
          </a:prstGeom>
          <a:solidFill>
            <a:srgbClr val="6E4494"/>
          </a:solidFill>
          <a:ln/>
        </p:spPr>
        <p:txBody>
          <a:bodyPr/>
          <a:lstStyle/>
          <a:p>
            <a:endParaRPr lang="he-IL"/>
          </a:p>
        </p:txBody>
      </p:sp>
      <p:sp>
        <p:nvSpPr>
          <p:cNvPr id="13" name="Text 9"/>
          <p:cNvSpPr txBox="1"/>
          <p:nvPr/>
        </p:nvSpPr>
        <p:spPr>
          <a:xfrm>
            <a:off x="10378440" y="2103120"/>
            <a:ext cx="1170432" cy="731520"/>
          </a:xfrm>
          <a:prstGeom prst="rect">
            <a:avLst/>
          </a:prstGeom>
          <a:noFill/>
          <a:ln/>
        </p:spPr>
        <p:txBody>
          <a:bodyPr wrap="square" lIns="0" tIns="0" rIns="0" bIns="0" rtlCol="0" anchor="ctr"/>
          <a:lstStyle/>
          <a:p>
            <a:pPr marL="0" indent="0" algn="ctr">
              <a:buNone/>
            </a:pPr>
            <a:r>
              <a:rPr lang="en-US" altLang="en-US" sz="2600" b="1" dirty="0">
                <a:solidFill>
                  <a:srgbClr val="FFFFFF"/>
                </a:solidFill>
                <a:latin typeface="Arial" pitchFamily="34" charset="0"/>
                <a:ea typeface="Arial" pitchFamily="34" charset="-122"/>
                <a:cs typeface="Arial" pitchFamily="34" charset="-120"/>
              </a:rPr>
              <a:t>20%</a:t>
            </a:r>
            <a:endParaRPr lang="en-US" sz="2600" dirty="0"/>
          </a:p>
        </p:txBody>
      </p:sp>
      <p:sp>
        <p:nvSpPr>
          <p:cNvPr id="14" name="Text 10"/>
          <p:cNvSpPr txBox="1"/>
          <p:nvPr/>
        </p:nvSpPr>
        <p:spPr>
          <a:xfrm>
            <a:off x="10378440" y="2788920"/>
            <a:ext cx="1170432" cy="365760"/>
          </a:xfrm>
          <a:prstGeom prst="rect">
            <a:avLst/>
          </a:prstGeom>
          <a:noFill/>
          <a:ln/>
        </p:spPr>
        <p:txBody>
          <a:bodyPr wrap="square" lIns="0" tIns="0" rIns="0" bIns="0" rtlCol="0" anchor="t"/>
          <a:lstStyle/>
          <a:p>
            <a:pPr marL="0" indent="0" algn="ctr">
              <a:buNone/>
            </a:pPr>
            <a:r>
              <a:rPr lang="en-US" altLang="en-US" sz="1100" b="1" dirty="0">
                <a:solidFill>
                  <a:srgbClr val="D6D0F0"/>
                </a:solidFill>
                <a:latin typeface="Arial" pitchFamily="34" charset="0"/>
                <a:ea typeface="Arial" pitchFamily="34" charset="-122"/>
                <a:cs typeface="Arial" pitchFamily="34" charset="-120"/>
              </a:rPr>
              <a:t>MACE ↓</a:t>
            </a:r>
            <a:endParaRPr lang="en-US" sz="1100" dirty="0"/>
          </a:p>
        </p:txBody>
      </p:sp>
      <p:sp>
        <p:nvSpPr>
          <p:cNvPr id="15" name="Text 11"/>
          <p:cNvSpPr txBox="1"/>
          <p:nvPr/>
        </p:nvSpPr>
        <p:spPr>
          <a:xfrm>
            <a:off x="6400800" y="2011680"/>
            <a:ext cx="3858768" cy="1325880"/>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הפחתה מובהקת של 20% בסיכון ל-MACE: </a:t>
            </a:r>
            <a:r>
              <a:rPr lang="he-IL" altLang="en-US" sz="1150" dirty="0">
                <a:solidFill>
                  <a:srgbClr val="2E2A47"/>
                </a:solidFill>
                <a:latin typeface="Arial" pitchFamily="34" charset="0"/>
                <a:ea typeface="Arial" pitchFamily="34" charset="-122"/>
                <a:cs typeface="Arial" pitchFamily="34" charset="-120"/>
              </a:rPr>
              <a:t>מחקר ה-SELECT  הוכיח כי טיפול ב-Wegovy (סמגלוטייד 2.4 מ"ג) מביא לירידה יחסית דרמטית של 20% בסיכון לאירועים קרדיווסקולריים (3-Point MACE) בהשוואה לפלצבו (HR 0.80, 95% CI: 0.72-0.90, p&lt;0.001).</a:t>
            </a:r>
            <a:endParaRPr lang="he-IL" sz="1150" dirty="0"/>
          </a:p>
        </p:txBody>
      </p:sp>
      <p:sp>
        <p:nvSpPr>
          <p:cNvPr id="16" name="Text 12"/>
          <p:cNvSpPr txBox="1"/>
          <p:nvPr/>
        </p:nvSpPr>
        <p:spPr>
          <a:xfrm>
            <a:off x="6263640" y="3429000"/>
            <a:ext cx="5376672" cy="365760"/>
          </a:xfrm>
          <a:prstGeom prst="rect">
            <a:avLst/>
          </a:prstGeom>
          <a:noFill/>
          <a:ln/>
        </p:spPr>
        <p:txBody>
          <a:bodyPr wrap="square" lIns="0" tIns="0" rIns="0" bIns="0" rtlCol="0" anchor="t"/>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3-Point MACE הוגדר כתוצא משולב הכולל:</a:t>
            </a:r>
            <a:endParaRPr lang="he-IL" sz="1250" dirty="0"/>
          </a:p>
        </p:txBody>
      </p:sp>
      <p:sp>
        <p:nvSpPr>
          <p:cNvPr id="17" name="Shape 13"/>
          <p:cNvSpPr/>
          <p:nvPr/>
        </p:nvSpPr>
        <p:spPr>
          <a:xfrm>
            <a:off x="9921240" y="3840480"/>
            <a:ext cx="1719072" cy="1143000"/>
          </a:xfrm>
          <a:prstGeom prst="roundRect">
            <a:avLst>
              <a:gd name="adj" fmla="val 9600"/>
            </a:avLst>
          </a:prstGeom>
          <a:solidFill>
            <a:srgbClr val="F3F0FA"/>
          </a:solidFill>
          <a:ln/>
        </p:spPr>
        <p:txBody>
          <a:bodyPr/>
          <a:lstStyle/>
          <a:p>
            <a:endParaRPr lang="he-IL"/>
          </a:p>
        </p:txBody>
      </p:sp>
      <p:sp>
        <p:nvSpPr>
          <p:cNvPr id="18" name="Shape 14"/>
          <p:cNvSpPr/>
          <p:nvPr/>
        </p:nvSpPr>
        <p:spPr>
          <a:xfrm rot="5400000">
            <a:off x="10559046" y="3922776"/>
            <a:ext cx="443460" cy="384048"/>
          </a:xfrm>
          <a:prstGeom prst="hexagon">
            <a:avLst/>
          </a:prstGeom>
          <a:solidFill>
            <a:srgbClr val="4A90D0"/>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692445" y="4026469"/>
            <a:ext cx="176662" cy="176662"/>
          </a:xfrm>
          <a:prstGeom prst="rect">
            <a:avLst/>
          </a:prstGeom>
        </p:spPr>
      </p:pic>
      <p:sp>
        <p:nvSpPr>
          <p:cNvPr id="20" name="Text 15"/>
          <p:cNvSpPr txBox="1"/>
          <p:nvPr/>
        </p:nvSpPr>
        <p:spPr>
          <a:xfrm>
            <a:off x="99761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מוות מסיבות קרדיווסקולריות</a:t>
            </a:r>
            <a:endParaRPr lang="he-IL" sz="1150" dirty="0"/>
          </a:p>
        </p:txBody>
      </p:sp>
      <p:sp>
        <p:nvSpPr>
          <p:cNvPr id="21" name="Text 16"/>
          <p:cNvSpPr txBox="1"/>
          <p:nvPr/>
        </p:nvSpPr>
        <p:spPr>
          <a:xfrm>
            <a:off x="99761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CV Death</a:t>
            </a:r>
            <a:endParaRPr lang="en-US" sz="950" dirty="0"/>
          </a:p>
        </p:txBody>
      </p:sp>
      <p:sp>
        <p:nvSpPr>
          <p:cNvPr id="22" name="Shape 17"/>
          <p:cNvSpPr/>
          <p:nvPr/>
        </p:nvSpPr>
        <p:spPr>
          <a:xfrm>
            <a:off x="8092440" y="3840480"/>
            <a:ext cx="1719072" cy="1143000"/>
          </a:xfrm>
          <a:prstGeom prst="roundRect">
            <a:avLst>
              <a:gd name="adj" fmla="val 9600"/>
            </a:avLst>
          </a:prstGeom>
          <a:solidFill>
            <a:srgbClr val="F3F0FA"/>
          </a:solidFill>
          <a:ln/>
        </p:spPr>
        <p:txBody>
          <a:bodyPr/>
          <a:lstStyle/>
          <a:p>
            <a:endParaRPr lang="he-IL"/>
          </a:p>
        </p:txBody>
      </p:sp>
      <p:sp>
        <p:nvSpPr>
          <p:cNvPr id="23" name="Shape 18"/>
          <p:cNvSpPr/>
          <p:nvPr/>
        </p:nvSpPr>
        <p:spPr>
          <a:xfrm rot="5400000">
            <a:off x="8730246" y="3922776"/>
            <a:ext cx="443460" cy="384048"/>
          </a:xfrm>
          <a:prstGeom prst="hexagon">
            <a:avLst/>
          </a:prstGeom>
          <a:solidFill>
            <a:srgbClr val="5B6BB5"/>
          </a:solidFill>
          <a:ln/>
        </p:spPr>
        <p:txBody>
          <a:bodyPr/>
          <a:lstStyle/>
          <a:p>
            <a:endParaRPr lang="he-IL"/>
          </a:p>
        </p:txBody>
      </p:sp>
      <p:pic>
        <p:nvPicPr>
          <p:cNvPr id="24"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863645" y="4026469"/>
            <a:ext cx="176662" cy="176662"/>
          </a:xfrm>
          <a:prstGeom prst="rect">
            <a:avLst/>
          </a:prstGeom>
        </p:spPr>
      </p:pic>
      <p:sp>
        <p:nvSpPr>
          <p:cNvPr id="25" name="Text 19"/>
          <p:cNvSpPr txBox="1"/>
          <p:nvPr/>
        </p:nvSpPr>
        <p:spPr>
          <a:xfrm>
            <a:off x="81473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אוטם שריר הלב לא קטלני</a:t>
            </a:r>
            <a:endParaRPr lang="he-IL" sz="1150" dirty="0"/>
          </a:p>
        </p:txBody>
      </p:sp>
      <p:sp>
        <p:nvSpPr>
          <p:cNvPr id="26" name="Text 20"/>
          <p:cNvSpPr txBox="1"/>
          <p:nvPr/>
        </p:nvSpPr>
        <p:spPr>
          <a:xfrm>
            <a:off x="81473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Non-fatal MI</a:t>
            </a:r>
            <a:endParaRPr lang="en-US" sz="950" dirty="0"/>
          </a:p>
        </p:txBody>
      </p:sp>
      <p:sp>
        <p:nvSpPr>
          <p:cNvPr id="27" name="Shape 21"/>
          <p:cNvSpPr/>
          <p:nvPr/>
        </p:nvSpPr>
        <p:spPr>
          <a:xfrm>
            <a:off x="6263640" y="3840480"/>
            <a:ext cx="1719072" cy="1143000"/>
          </a:xfrm>
          <a:prstGeom prst="roundRect">
            <a:avLst>
              <a:gd name="adj" fmla="val 9600"/>
            </a:avLst>
          </a:prstGeom>
          <a:solidFill>
            <a:srgbClr val="F3F0FA"/>
          </a:solidFill>
          <a:ln/>
        </p:spPr>
        <p:txBody>
          <a:bodyPr/>
          <a:lstStyle/>
          <a:p>
            <a:endParaRPr lang="he-IL"/>
          </a:p>
        </p:txBody>
      </p:sp>
      <p:sp>
        <p:nvSpPr>
          <p:cNvPr id="28" name="Shape 22"/>
          <p:cNvSpPr/>
          <p:nvPr/>
        </p:nvSpPr>
        <p:spPr>
          <a:xfrm rot="5400000">
            <a:off x="6901446" y="3922776"/>
            <a:ext cx="443460" cy="384048"/>
          </a:xfrm>
          <a:prstGeom prst="hexagon">
            <a:avLst/>
          </a:prstGeom>
          <a:solidFill>
            <a:srgbClr val="6E4494"/>
          </a:solidFill>
          <a:ln/>
        </p:spPr>
        <p:txBody>
          <a:bodyPr/>
          <a:lstStyle/>
          <a:p>
            <a:endParaRPr lang="he-IL"/>
          </a:p>
        </p:txBody>
      </p:sp>
      <p:pic>
        <p:nvPicPr>
          <p:cNvPr id="29"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34845" y="4026469"/>
            <a:ext cx="176662" cy="176662"/>
          </a:xfrm>
          <a:prstGeom prst="rect">
            <a:avLst/>
          </a:prstGeom>
        </p:spPr>
      </p:pic>
      <p:sp>
        <p:nvSpPr>
          <p:cNvPr id="30" name="Text 23"/>
          <p:cNvSpPr txBox="1"/>
          <p:nvPr/>
        </p:nvSpPr>
        <p:spPr>
          <a:xfrm>
            <a:off x="63185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אירוע מוחי לא קטלני</a:t>
            </a:r>
            <a:endParaRPr lang="he-IL" sz="1150" dirty="0"/>
          </a:p>
        </p:txBody>
      </p:sp>
      <p:sp>
        <p:nvSpPr>
          <p:cNvPr id="31" name="Text 24"/>
          <p:cNvSpPr txBox="1"/>
          <p:nvPr/>
        </p:nvSpPr>
        <p:spPr>
          <a:xfrm>
            <a:off x="63185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Non-fatal Stroke / CVA</a:t>
            </a:r>
            <a:endParaRPr lang="en-US" sz="950" dirty="0"/>
          </a:p>
        </p:txBody>
      </p:sp>
      <p:sp>
        <p:nvSpPr>
          <p:cNvPr id="32" name="Shape 25"/>
          <p:cNvSpPr/>
          <p:nvPr/>
        </p:nvSpPr>
        <p:spPr>
          <a:xfrm>
            <a:off x="6263640" y="5120640"/>
            <a:ext cx="5376672" cy="914400"/>
          </a:xfrm>
          <a:prstGeom prst="roundRect">
            <a:avLst>
              <a:gd name="adj" fmla="val 12000"/>
            </a:avLst>
          </a:prstGeom>
          <a:solidFill>
            <a:srgbClr val="FFFFFF"/>
          </a:solidFill>
          <a:ln w="9525">
            <a:solidFill>
              <a:srgbClr val="E3DFF0"/>
            </a:solidFill>
            <a:prstDash val="solid"/>
          </a:ln>
        </p:spPr>
        <p:txBody>
          <a:bodyPr/>
          <a:lstStyle/>
          <a:p>
            <a:endParaRPr lang="he-IL"/>
          </a:p>
        </p:txBody>
      </p:sp>
      <p:sp>
        <p:nvSpPr>
          <p:cNvPr id="33" name="Shape 26"/>
          <p:cNvSpPr/>
          <p:nvPr/>
        </p:nvSpPr>
        <p:spPr>
          <a:xfrm rot="5400000">
            <a:off x="11010588" y="5349240"/>
            <a:ext cx="527929" cy="457200"/>
          </a:xfrm>
          <a:prstGeom prst="hexagon">
            <a:avLst/>
          </a:prstGeom>
          <a:solidFill>
            <a:srgbClr val="5B6BB5"/>
          </a:solidFill>
          <a:ln/>
        </p:spPr>
        <p:txBody>
          <a:bodyPr/>
          <a:lstStyle/>
          <a:p>
            <a:endParaRPr lang="he-IL"/>
          </a:p>
        </p:txBody>
      </p:sp>
      <p:pic>
        <p:nvPicPr>
          <p:cNvPr id="34"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1169396" y="5472684"/>
            <a:ext cx="210312" cy="210312"/>
          </a:xfrm>
          <a:prstGeom prst="rect">
            <a:avLst/>
          </a:prstGeom>
        </p:spPr>
      </p:pic>
      <p:sp>
        <p:nvSpPr>
          <p:cNvPr id="35" name="Text 27"/>
          <p:cNvSpPr txBox="1"/>
          <p:nvPr/>
        </p:nvSpPr>
        <p:spPr>
          <a:xfrm>
            <a:off x="6400800" y="5148072"/>
            <a:ext cx="4434840" cy="85953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הכללה בהנחיות הקרדיולוגיה האירופיות (ESC 2024): </a:t>
            </a:r>
            <a:r>
              <a:rPr lang="he-IL" altLang="en-US" sz="1150" dirty="0">
                <a:solidFill>
                  <a:srgbClr val="2E2A47"/>
                </a:solidFill>
                <a:latin typeface="Arial" pitchFamily="34" charset="0"/>
                <a:ea typeface="Arial" pitchFamily="34" charset="-122"/>
                <a:cs typeface="Arial" pitchFamily="34" charset="-120"/>
              </a:rPr>
              <a:t>בעקבות תוצאות מחקר ה-SELECT, הוכנסה Wegovy 2.4mg להנחיות ה-ESC העדכניות (2024) לניהול תסמונת כלילית כרונית (Chronic Coronary Syndrome).</a:t>
            </a:r>
            <a:endParaRPr lang="he-IL" sz="115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27</a:t>
            </a:fld>
            <a:endParaRPr lang="en-US"/>
          </a:p>
        </p:txBody>
      </p:sp>
      <p:sp>
        <p:nvSpPr>
          <p:cNvPr id="38" name="TextBox 37">
            <a:extLst>
              <a:ext uri="{FF2B5EF4-FFF2-40B4-BE49-F238E27FC236}">
                <a16:creationId xmlns:a16="http://schemas.microsoft.com/office/drawing/2014/main" id="{5F0CFEC8-57C7-9D0A-CCCB-1FD19DD30C73}"/>
              </a:ext>
            </a:extLst>
          </p:cNvPr>
          <p:cNvSpPr txBox="1"/>
          <p:nvPr/>
        </p:nvSpPr>
        <p:spPr>
          <a:xfrm>
            <a:off x="512064" y="6007608"/>
            <a:ext cx="6094476" cy="440505"/>
          </a:xfrm>
          <a:prstGeom prst="rect">
            <a:avLst/>
          </a:prstGeom>
          <a:noFill/>
        </p:spPr>
        <p:txBody>
          <a:bodyPr wrap="square">
            <a:spAutoFit/>
          </a:bodyPr>
          <a:lstStyle/>
          <a:p>
            <a:pPr>
              <a:lnSpc>
                <a:spcPct val="116667"/>
              </a:lnSpc>
              <a:spcAft>
                <a:spcPts val="200"/>
              </a:spcAft>
              <a:buNone/>
            </a:pPr>
            <a:r>
              <a:rPr lang="en-US" sz="1000" kern="1200" dirty="0">
                <a:solidFill>
                  <a:srgbClr val="000000"/>
                </a:solidFill>
                <a:effectLst/>
                <a:latin typeface="Apis For Office" panose="020B0504010101010104" pitchFamily="34" charset="0"/>
                <a:ea typeface="DengXian" panose="02010600030101010101" pitchFamily="2" charset="-122"/>
                <a:cs typeface="Apis For Office" panose="020B0504010101010104" pitchFamily="34" charset="0"/>
              </a:rPr>
              <a:t>Semaglutide 2.4mg (Wegovy®) is indicated as an adjunct to a reduced-calorie diet and increased physical activity for weight management, including weight loss and weight maintenance.</a:t>
            </a:r>
            <a:endParaRPr lang="en-US" sz="1000" dirty="0">
              <a:solidFill>
                <a:srgbClr val="000000"/>
              </a:solidFill>
              <a:effectLst/>
              <a:latin typeface="Apis For Office" panose="020B0504010101010104" pitchFamily="34" charset="0"/>
              <a:ea typeface="Apis For Office" panose="020B0504010101010104" pitchFamily="34"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שלב 2: תוצאות מחקר ה-ESSENCE - יעילות </a:t>
            </a:r>
            <a:r>
              <a:rPr lang="da-DK" altLang="en-US" sz="1600" b="1" dirty="0">
                <a:solidFill>
                  <a:srgbClr val="2B2560"/>
                </a:solidFill>
                <a:latin typeface="Arial" pitchFamily="34" charset="0"/>
                <a:ea typeface="Arial" pitchFamily="34" charset="-122"/>
                <a:cs typeface="Arial" pitchFamily="34" charset="-120"/>
              </a:rPr>
              <a:t>semaglutide 2.4 mg </a:t>
            </a:r>
            <a:r>
              <a:rPr lang="he-IL" altLang="en-US" sz="1600" b="1" dirty="0">
                <a:solidFill>
                  <a:srgbClr val="2B2560"/>
                </a:solidFill>
                <a:latin typeface="Arial" pitchFamily="34" charset="0"/>
                <a:ea typeface="Arial" pitchFamily="34" charset="-122"/>
                <a:cs typeface="Arial" pitchFamily="34" charset="-120"/>
              </a:rPr>
              <a:t> בחולי </a:t>
            </a:r>
            <a:r>
              <a:rPr lang="da-DK" altLang="en-US" sz="1600" b="1" dirty="0">
                <a:solidFill>
                  <a:srgbClr val="2B2560"/>
                </a:solidFill>
                <a:latin typeface="Arial" pitchFamily="34" charset="0"/>
                <a:ea typeface="Arial" pitchFamily="34" charset="-122"/>
                <a:cs typeface="Arial" pitchFamily="34" charset="-120"/>
              </a:rPr>
              <a:t>MASH </a:t>
            </a:r>
            <a:r>
              <a:rPr lang="he-IL" altLang="en-US" sz="1600" b="1" dirty="0">
                <a:solidFill>
                  <a:srgbClr val="2B2560"/>
                </a:solidFill>
                <a:latin typeface="Arial" pitchFamily="34" charset="0"/>
                <a:ea typeface="Arial" pitchFamily="34" charset="-122"/>
                <a:cs typeface="Arial" pitchFamily="34" charset="-120"/>
              </a:rPr>
              <a:t> עם פיברוזיס </a:t>
            </a:r>
            <a:r>
              <a:rPr lang="da-DK" altLang="en-US" sz="1600" b="1" dirty="0">
                <a:solidFill>
                  <a:srgbClr val="2B2560"/>
                </a:solidFill>
                <a:latin typeface="Arial" pitchFamily="34" charset="0"/>
                <a:ea typeface="Arial" pitchFamily="34" charset="-122"/>
                <a:cs typeface="Arial" pitchFamily="34" charset="-120"/>
              </a:rPr>
              <a:t>F2-F3</a:t>
            </a:r>
            <a:endParaRPr lang="he-IL" sz="1600" dirty="0"/>
          </a:p>
        </p:txBody>
      </p:sp>
      <p:pic>
        <p:nvPicPr>
          <p:cNvPr id="5" name="Image 0" descr="/tmp/claude-0/-home-claude/83ba285b-7ef1-5a4f-9afe-ea04c4b9d63d/scratchpad/assets/essenc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2706624"/>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398264"/>
            <a:ext cx="5394960" cy="1636776"/>
          </a:xfrm>
          <a:prstGeom prst="roundRect">
            <a:avLst>
              <a:gd name="adj" fmla="val 6704"/>
            </a:avLst>
          </a:prstGeom>
          <a:solidFill>
            <a:srgbClr val="E5F4F2"/>
          </a:solidFill>
          <a:ln/>
        </p:spPr>
        <p:txBody>
          <a:bodyPr/>
          <a:lstStyle/>
          <a:p>
            <a:endParaRPr lang="he-IL"/>
          </a:p>
        </p:txBody>
      </p:sp>
      <p:sp>
        <p:nvSpPr>
          <p:cNvPr id="7" name="Shape 4"/>
          <p:cNvSpPr/>
          <p:nvPr/>
        </p:nvSpPr>
        <p:spPr>
          <a:xfrm rot="5400000">
            <a:off x="5104220" y="4933188"/>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086259"/>
            <a:ext cx="260787" cy="260787"/>
          </a:xfrm>
          <a:prstGeom prst="rect">
            <a:avLst/>
          </a:prstGeom>
        </p:spPr>
      </p:pic>
      <p:sp>
        <p:nvSpPr>
          <p:cNvPr id="9" name="Text 5"/>
          <p:cNvSpPr txBox="1"/>
          <p:nvPr/>
        </p:nvSpPr>
        <p:spPr>
          <a:xfrm>
            <a:off x="777240" y="4535424"/>
            <a:ext cx="4279392" cy="1362456"/>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חשיבות עבור יעקב:</a:t>
            </a:r>
            <a:endParaRPr lang="he-IL" sz="1400" dirty="0"/>
          </a:p>
          <a:p>
            <a:pPr marL="0" indent="0" algn="r" rtl="1">
              <a:spcAft>
                <a:spcPts val="400"/>
              </a:spcAft>
              <a:buNone/>
            </a:pPr>
            <a:r>
              <a:rPr lang="he-IL" altLang="en-US" sz="1350" dirty="0">
                <a:solidFill>
                  <a:srgbClr val="2E2A47"/>
                </a:solidFill>
                <a:latin typeface="Arial" pitchFamily="34" charset="0"/>
                <a:ea typeface="Arial" pitchFamily="34" charset="-122"/>
                <a:cs typeface="Arial" pitchFamily="34" charset="-120"/>
              </a:rPr>
              <a:t>לאור מחלת הכבד מסוג </a:t>
            </a:r>
            <a:r>
              <a:rPr lang="da-DK" altLang="en-US" sz="1350" dirty="0">
                <a:solidFill>
                  <a:srgbClr val="2E2A47"/>
                </a:solidFill>
                <a:latin typeface="Arial" pitchFamily="34" charset="0"/>
                <a:ea typeface="Arial" pitchFamily="34" charset="-122"/>
                <a:cs typeface="Arial" pitchFamily="34" charset="-120"/>
              </a:rPr>
              <a:t>MASLD </a:t>
            </a:r>
            <a:r>
              <a:rPr lang="he-IL" altLang="en-US" sz="1350" dirty="0">
                <a:solidFill>
                  <a:srgbClr val="2E2A47"/>
                </a:solidFill>
                <a:latin typeface="Arial" pitchFamily="34" charset="0"/>
                <a:ea typeface="Arial" pitchFamily="34" charset="-122"/>
                <a:cs typeface="Arial" pitchFamily="34" charset="-120"/>
              </a:rPr>
              <a:t>, הפחתת משקל מהווה יעד טיפולי חשוב. במטופלים עם</a:t>
            </a:r>
            <a:r>
              <a:rPr lang="da-DK" altLang="en-US" sz="1350" dirty="0">
                <a:solidFill>
                  <a:srgbClr val="2E2A47"/>
                </a:solidFill>
                <a:latin typeface="Arial" pitchFamily="34" charset="0"/>
                <a:ea typeface="Arial" pitchFamily="34" charset="-122"/>
                <a:cs typeface="Arial" pitchFamily="34" charset="-120"/>
              </a:rPr>
              <a:t>MASH </a:t>
            </a:r>
            <a:r>
              <a:rPr lang="he-IL" altLang="en-US" sz="1350" dirty="0">
                <a:solidFill>
                  <a:srgbClr val="2E2A47"/>
                </a:solidFill>
                <a:latin typeface="Arial" pitchFamily="34" charset="0"/>
                <a:ea typeface="Arial" pitchFamily="34" charset="-122"/>
                <a:cs typeface="Arial" pitchFamily="34" charset="-120"/>
              </a:rPr>
              <a:t> ופיברוזיס בדרגות </a:t>
            </a:r>
            <a:r>
              <a:rPr lang="da-DK" altLang="en-US" sz="1350" dirty="0">
                <a:solidFill>
                  <a:srgbClr val="2E2A47"/>
                </a:solidFill>
                <a:latin typeface="Arial" pitchFamily="34" charset="0"/>
                <a:ea typeface="Arial" pitchFamily="34" charset="-122"/>
                <a:cs typeface="Arial" pitchFamily="34" charset="-120"/>
              </a:rPr>
              <a:t>F2–F3 semaglutide 2.4 mg </a:t>
            </a:r>
            <a:r>
              <a:rPr lang="he-IL" altLang="en-US" sz="1350" dirty="0">
                <a:solidFill>
                  <a:srgbClr val="2E2A47"/>
                </a:solidFill>
                <a:latin typeface="Arial" pitchFamily="34" charset="0"/>
                <a:ea typeface="Arial" pitchFamily="34" charset="-122"/>
                <a:cs typeface="Arial" pitchFamily="34" charset="-120"/>
              </a:rPr>
              <a:t> הדגים שיפור ב-</a:t>
            </a:r>
            <a:r>
              <a:rPr lang="da-DK" altLang="en-US" sz="1350" dirty="0">
                <a:solidFill>
                  <a:srgbClr val="2E2A47"/>
                </a:solidFill>
                <a:latin typeface="Arial" pitchFamily="34" charset="0"/>
                <a:ea typeface="Arial" pitchFamily="34" charset="-122"/>
                <a:cs typeface="Arial" pitchFamily="34" charset="-120"/>
              </a:rPr>
              <a:t>MASH </a:t>
            </a:r>
            <a:r>
              <a:rPr lang="he-IL" altLang="en-US" sz="1350" dirty="0">
                <a:solidFill>
                  <a:srgbClr val="2E2A47"/>
                </a:solidFill>
                <a:latin typeface="Arial" pitchFamily="34" charset="0"/>
                <a:ea typeface="Arial" pitchFamily="34" charset="-122"/>
                <a:cs typeface="Arial" pitchFamily="34" charset="-120"/>
              </a:rPr>
              <a:t> ובפיברוזיס</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a:t>
            </a:r>
            <a:r>
              <a:rPr lang="da-DK" altLang="en-US" sz="1550" b="1" dirty="0">
                <a:solidFill>
                  <a:srgbClr val="6E4494"/>
                </a:solidFill>
                <a:latin typeface="Arial" pitchFamily="34" charset="0"/>
                <a:ea typeface="Arial" pitchFamily="34" charset="-122"/>
                <a:cs typeface="Arial" pitchFamily="34" charset="-120"/>
              </a:rPr>
              <a:t>MASH </a:t>
            </a:r>
            <a:r>
              <a:rPr lang="he-IL" altLang="en-US" sz="1550" b="1" dirty="0">
                <a:solidFill>
                  <a:srgbClr val="6E4494"/>
                </a:solidFill>
                <a:latin typeface="Arial" pitchFamily="34" charset="0"/>
                <a:ea typeface="Arial" pitchFamily="34" charset="-122"/>
                <a:cs typeface="Arial" pitchFamily="34" charset="-120"/>
              </a:rPr>
              <a:t> ופיברוזיס כבדי</a:t>
            </a:r>
            <a:endParaRPr lang="he-IL" sz="1550" dirty="0"/>
          </a:p>
        </p:txBody>
      </p:sp>
      <p:sp>
        <p:nvSpPr>
          <p:cNvPr id="11" name="Shape 7"/>
          <p:cNvSpPr/>
          <p:nvPr/>
        </p:nvSpPr>
        <p:spPr>
          <a:xfrm>
            <a:off x="6263640" y="1965960"/>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12" name="Shape 8"/>
          <p:cNvSpPr/>
          <p:nvPr/>
        </p:nvSpPr>
        <p:spPr>
          <a:xfrm>
            <a:off x="10378440" y="2057400"/>
            <a:ext cx="1170432" cy="1100328"/>
          </a:xfrm>
          <a:prstGeom prst="roundRect">
            <a:avLst>
              <a:gd name="adj" fmla="val 8310"/>
            </a:avLst>
          </a:prstGeom>
          <a:solidFill>
            <a:srgbClr val="F3F0FA"/>
          </a:solidFill>
          <a:ln/>
        </p:spPr>
        <p:txBody>
          <a:bodyPr/>
          <a:lstStyle/>
          <a:p>
            <a:endParaRPr lang="he-IL"/>
          </a:p>
        </p:txBody>
      </p:sp>
      <p:sp>
        <p:nvSpPr>
          <p:cNvPr id="13" name="Text 9"/>
          <p:cNvSpPr txBox="1"/>
          <p:nvPr/>
        </p:nvSpPr>
        <p:spPr>
          <a:xfrm>
            <a:off x="10378440" y="2075688"/>
            <a:ext cx="1170432" cy="660197"/>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28.7%</a:t>
            </a:r>
            <a:endParaRPr lang="en-US" sz="2000" dirty="0"/>
          </a:p>
        </p:txBody>
      </p:sp>
      <p:sp>
        <p:nvSpPr>
          <p:cNvPr id="14" name="Text 10"/>
          <p:cNvSpPr txBox="1"/>
          <p:nvPr/>
        </p:nvSpPr>
        <p:spPr>
          <a:xfrm>
            <a:off x="10405872" y="2695590"/>
            <a:ext cx="1115568" cy="418125"/>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15" name="Text 11"/>
          <p:cNvSpPr txBox="1"/>
          <p:nvPr/>
        </p:nvSpPr>
        <p:spPr>
          <a:xfrm>
            <a:off x="6400800" y="2002536"/>
            <a:ext cx="3886200" cy="121005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שיפור מובהק בדלקת ובנזק הכבדי (MASH Resolution): </a:t>
            </a:r>
            <a:r>
              <a:rPr lang="he-IL" altLang="en-US" sz="1150" dirty="0">
                <a:solidFill>
                  <a:srgbClr val="2E2A47"/>
                </a:solidFill>
                <a:latin typeface="Arial" pitchFamily="34" charset="0"/>
                <a:ea typeface="Arial" pitchFamily="34" charset="-122"/>
                <a:cs typeface="Arial" pitchFamily="34" charset="-120"/>
              </a:rPr>
              <a:t>במחקר ה-ESSENCE הפאזה ה-3, טיפול ב-Wegovy (סמגלוטייד 2.4 מ"ג) הוביל לנסיגה (Resolution) של דלקת הכבד הסטאטוטית ללא החמרה בפיברוזיס בשיעור גבוה מובהק לעומת פלצבו.</a:t>
            </a:r>
            <a:endParaRPr lang="he-IL" sz="1150" dirty="0"/>
          </a:p>
        </p:txBody>
      </p:sp>
      <p:sp>
        <p:nvSpPr>
          <p:cNvPr id="16" name="Shape 12"/>
          <p:cNvSpPr/>
          <p:nvPr/>
        </p:nvSpPr>
        <p:spPr>
          <a:xfrm>
            <a:off x="6263640" y="3358896"/>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17" name="Shape 13"/>
          <p:cNvSpPr/>
          <p:nvPr/>
        </p:nvSpPr>
        <p:spPr>
          <a:xfrm>
            <a:off x="10378440" y="3450336"/>
            <a:ext cx="1170432" cy="1100328"/>
          </a:xfrm>
          <a:prstGeom prst="roundRect">
            <a:avLst>
              <a:gd name="adj" fmla="val 8310"/>
            </a:avLst>
          </a:prstGeom>
          <a:solidFill>
            <a:srgbClr val="F3F0FA"/>
          </a:solidFill>
          <a:ln/>
        </p:spPr>
        <p:txBody>
          <a:bodyPr/>
          <a:lstStyle/>
          <a:p>
            <a:endParaRPr lang="he-IL"/>
          </a:p>
        </p:txBody>
      </p:sp>
      <p:sp>
        <p:nvSpPr>
          <p:cNvPr id="18" name="Text 14"/>
          <p:cNvSpPr txBox="1"/>
          <p:nvPr/>
        </p:nvSpPr>
        <p:spPr>
          <a:xfrm>
            <a:off x="10378440" y="3468624"/>
            <a:ext cx="1170432" cy="660197"/>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14.4%</a:t>
            </a:r>
            <a:endParaRPr lang="en-US" sz="2000" dirty="0"/>
          </a:p>
        </p:txBody>
      </p:sp>
      <p:sp>
        <p:nvSpPr>
          <p:cNvPr id="19" name="Text 15"/>
          <p:cNvSpPr txBox="1"/>
          <p:nvPr/>
        </p:nvSpPr>
        <p:spPr>
          <a:xfrm>
            <a:off x="10405872" y="4088526"/>
            <a:ext cx="1115568" cy="418125"/>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20" name="Text 16"/>
          <p:cNvSpPr txBox="1"/>
          <p:nvPr/>
        </p:nvSpPr>
        <p:spPr>
          <a:xfrm>
            <a:off x="6400800" y="3395472"/>
            <a:ext cx="3886200" cy="1210056"/>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שיפור בפיברוזיס הכבדי (Fibrosis Improvement): </a:t>
            </a:r>
            <a:r>
              <a:rPr lang="he-IL" altLang="en-US" sz="1250" dirty="0">
                <a:solidFill>
                  <a:srgbClr val="2E2A47"/>
                </a:solidFill>
                <a:latin typeface="Arial" pitchFamily="34" charset="0"/>
                <a:ea typeface="Arial" pitchFamily="34" charset="-122"/>
                <a:cs typeface="Arial" pitchFamily="34" charset="-120"/>
              </a:rPr>
              <a:t>הושג שיפור מובהק בדרגת הפיברוזיס הכבדי (הצטלקות הכבד) ללא החמרה בדלקת הכבד (Steatohepatitis).</a:t>
            </a:r>
            <a:endParaRPr lang="he-IL" sz="1250" dirty="0"/>
          </a:p>
        </p:txBody>
      </p:sp>
      <p:sp>
        <p:nvSpPr>
          <p:cNvPr id="21" name="Shape 17"/>
          <p:cNvSpPr/>
          <p:nvPr/>
        </p:nvSpPr>
        <p:spPr>
          <a:xfrm>
            <a:off x="6263640" y="4751832"/>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22" name="Shape 18"/>
          <p:cNvSpPr/>
          <p:nvPr/>
        </p:nvSpPr>
        <p:spPr>
          <a:xfrm>
            <a:off x="10378440" y="4843272"/>
            <a:ext cx="1170432" cy="1100328"/>
          </a:xfrm>
          <a:prstGeom prst="roundRect">
            <a:avLst>
              <a:gd name="adj" fmla="val 8310"/>
            </a:avLst>
          </a:prstGeom>
          <a:solidFill>
            <a:srgbClr val="F3F0FA"/>
          </a:solidFill>
          <a:ln/>
        </p:spPr>
        <p:txBody>
          <a:bodyPr/>
          <a:lstStyle/>
          <a:p>
            <a:endParaRPr lang="he-IL"/>
          </a:p>
        </p:txBody>
      </p:sp>
      <p:sp>
        <p:nvSpPr>
          <p:cNvPr id="23" name="Shape 19"/>
          <p:cNvSpPr/>
          <p:nvPr/>
        </p:nvSpPr>
        <p:spPr>
          <a:xfrm rot="5400000">
            <a:off x="10636340" y="5109972"/>
            <a:ext cx="654632" cy="566928"/>
          </a:xfrm>
          <a:prstGeom prst="hexagon">
            <a:avLst/>
          </a:prstGeom>
          <a:solidFill>
            <a:srgbClr val="B8741A"/>
          </a:solidFill>
          <a:ln/>
        </p:spPr>
        <p:txBody>
          <a:bodyPr/>
          <a:lstStyle/>
          <a:p>
            <a:endParaRPr lang="he-IL"/>
          </a:p>
        </p:txBody>
      </p:sp>
      <p:pic>
        <p:nvPicPr>
          <p:cNvPr id="24"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3263" y="5263043"/>
            <a:ext cx="260787" cy="260787"/>
          </a:xfrm>
          <a:prstGeom prst="rect">
            <a:avLst/>
          </a:prstGeom>
        </p:spPr>
      </p:pic>
      <p:sp>
        <p:nvSpPr>
          <p:cNvPr id="25" name="Text 20"/>
          <p:cNvSpPr txBox="1"/>
          <p:nvPr/>
        </p:nvSpPr>
        <p:spPr>
          <a:xfrm>
            <a:off x="6400800" y="4788408"/>
            <a:ext cx="3886200" cy="1210056"/>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הפחתת תכולת השומן בכבד ואנזימי כבד (ALT/AST): </a:t>
            </a:r>
            <a:r>
              <a:rPr lang="he-IL" altLang="en-US" sz="1250" dirty="0">
                <a:solidFill>
                  <a:srgbClr val="2E2A47"/>
                </a:solidFill>
                <a:latin typeface="Arial" pitchFamily="34" charset="0"/>
                <a:ea typeface="Arial" pitchFamily="34" charset="-122"/>
                <a:cs typeface="Arial" pitchFamily="34" charset="-120"/>
              </a:rPr>
              <a:t>טיפול ב-Wegovy מפחית משמעותית את אחוז השומן התוך-כבדי ומשפר את ערכי תפקודי הכבד (ALT, AST).</a:t>
            </a:r>
            <a:endParaRPr lang="he-IL" sz="125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28</a:t>
            </a:fld>
            <a:endParaRPr lang="en-US"/>
          </a:p>
        </p:txBody>
      </p:sp>
      <p:sp>
        <p:nvSpPr>
          <p:cNvPr id="28" name="TextBox 27">
            <a:extLst>
              <a:ext uri="{FF2B5EF4-FFF2-40B4-BE49-F238E27FC236}">
                <a16:creationId xmlns:a16="http://schemas.microsoft.com/office/drawing/2014/main" id="{B5FC4075-D75C-55DF-27ED-DA2B5917D7DC}"/>
              </a:ext>
            </a:extLst>
          </p:cNvPr>
          <p:cNvSpPr txBox="1"/>
          <p:nvPr/>
        </p:nvSpPr>
        <p:spPr>
          <a:xfrm>
            <a:off x="512064" y="6007608"/>
            <a:ext cx="6094476" cy="440505"/>
          </a:xfrm>
          <a:prstGeom prst="rect">
            <a:avLst/>
          </a:prstGeom>
          <a:noFill/>
        </p:spPr>
        <p:txBody>
          <a:bodyPr wrap="square">
            <a:spAutoFit/>
          </a:bodyPr>
          <a:lstStyle/>
          <a:p>
            <a:pPr>
              <a:lnSpc>
                <a:spcPct val="116667"/>
              </a:lnSpc>
              <a:spcAft>
                <a:spcPts val="200"/>
              </a:spcAft>
              <a:buNone/>
            </a:pPr>
            <a:r>
              <a:rPr lang="en-US" sz="1000" kern="1200" dirty="0">
                <a:solidFill>
                  <a:srgbClr val="000000"/>
                </a:solidFill>
                <a:effectLst/>
                <a:latin typeface="Apis For Office" panose="020B0504010101010104" pitchFamily="34" charset="0"/>
                <a:ea typeface="DengXian" panose="02010600030101010101" pitchFamily="2" charset="-122"/>
                <a:cs typeface="Apis For Office" panose="020B0504010101010104" pitchFamily="34" charset="0"/>
              </a:rPr>
              <a:t>Semaglutide 2.4mg (Wegovy®) is indicated as an adjunct to a reduced-calorie diet and increased physical activity for weight management, including weight loss and weight maintenance.</a:t>
            </a:r>
            <a:endParaRPr lang="en-US" sz="1000" dirty="0">
              <a:solidFill>
                <a:srgbClr val="000000"/>
              </a:solidFill>
              <a:effectLst/>
              <a:latin typeface="Apis For Office" panose="020B0504010101010104" pitchFamily="34" charset="0"/>
              <a:ea typeface="Apis For Office" panose="020B0504010101010104" pitchFamily="34"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2: קריטריוני זכאות והשתתפות קופות החולים (שב"ן) לטיפול ב-Wegovy®</a:t>
            </a:r>
            <a:endParaRPr lang="he-IL" sz="2100" dirty="0"/>
          </a:p>
        </p:txBody>
      </p:sp>
      <p:pic>
        <p:nvPicPr>
          <p:cNvPr id="5" name="Image 0" descr="/tmp/claude-0/-home-claude/83ba285b-7ef1-5a4f-9afe-ea04c4b9d63d/scratchpad/src/ppt/media/image-19-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301752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709160"/>
            <a:ext cx="5394960" cy="1325880"/>
          </a:xfrm>
          <a:prstGeom prst="roundRect">
            <a:avLst>
              <a:gd name="adj" fmla="val 8276"/>
            </a:avLst>
          </a:prstGeom>
          <a:solidFill>
            <a:srgbClr val="E5F4F2"/>
          </a:solidFill>
          <a:ln/>
        </p:spPr>
        <p:txBody>
          <a:bodyPr/>
          <a:lstStyle/>
          <a:p>
            <a:endParaRPr lang="he-IL"/>
          </a:p>
        </p:txBody>
      </p:sp>
      <p:sp>
        <p:nvSpPr>
          <p:cNvPr id="7" name="Shape 4"/>
          <p:cNvSpPr/>
          <p:nvPr/>
        </p:nvSpPr>
        <p:spPr>
          <a:xfrm rot="5400000">
            <a:off x="5104220" y="5088636"/>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241707"/>
            <a:ext cx="260787" cy="260787"/>
          </a:xfrm>
          <a:prstGeom prst="rect">
            <a:avLst/>
          </a:prstGeom>
        </p:spPr>
      </p:pic>
      <p:sp>
        <p:nvSpPr>
          <p:cNvPr id="9" name="Text 5"/>
          <p:cNvSpPr txBox="1"/>
          <p:nvPr/>
        </p:nvSpPr>
        <p:spPr>
          <a:xfrm>
            <a:off x="777240" y="4846320"/>
            <a:ext cx="4279392" cy="1051560"/>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התאמה מלאה למטופל (יעקב):</a:t>
            </a:r>
            <a:endParaRPr lang="he-IL" sz="1400" dirty="0"/>
          </a:p>
          <a:p>
            <a:pPr marL="0" indent="0" algn="r" rtl="1">
              <a:spcAft>
                <a:spcPts val="400"/>
              </a:spcAft>
              <a:buNone/>
            </a:pPr>
            <a:r>
              <a:rPr lang="he-IL" altLang="en-US" sz="1350" dirty="0">
                <a:solidFill>
                  <a:srgbClr val="2E2A47"/>
                </a:solidFill>
                <a:latin typeface="Arial" pitchFamily="34" charset="0"/>
                <a:ea typeface="Arial" pitchFamily="34" charset="-122"/>
                <a:cs typeface="Arial" pitchFamily="34" charset="-120"/>
              </a:rPr>
              <a:t>יעקב (בן 67, BMI בסיס 36.1, סובל מכבד שומני, CVA, IHD ודום נשימה בשינה) עומד במלוא קריטריוני הזכאות לקבלת Wegovy בסבסוד שב"ן!</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350" b="1" dirty="0">
                <a:solidFill>
                  <a:srgbClr val="6E4494"/>
                </a:solidFill>
                <a:latin typeface="Arial" pitchFamily="34" charset="0"/>
                <a:ea typeface="Arial" pitchFamily="34" charset="-122"/>
                <a:cs typeface="Arial" pitchFamily="34" charset="-120"/>
              </a:rPr>
              <a:t>קריטריוני זכאות לוויגובי (גם דום נשימה בשינה בלבד)</a:t>
            </a:r>
            <a:endParaRPr lang="he-IL" sz="1350" dirty="0"/>
          </a:p>
        </p:txBody>
      </p:sp>
      <p:sp>
        <p:nvSpPr>
          <p:cNvPr id="11" name="Shape 7"/>
          <p:cNvSpPr/>
          <p:nvPr/>
        </p:nvSpPr>
        <p:spPr>
          <a:xfrm>
            <a:off x="6263640" y="1965960"/>
            <a:ext cx="5376672" cy="1371600"/>
          </a:xfrm>
          <a:prstGeom prst="roundRect">
            <a:avLst>
              <a:gd name="adj" fmla="val 8000"/>
            </a:avLst>
          </a:prstGeom>
          <a:solidFill>
            <a:srgbClr val="FFFFFF"/>
          </a:solidFill>
          <a:ln w="9525">
            <a:solidFill>
              <a:srgbClr val="E3DFF0"/>
            </a:solidFill>
            <a:prstDash val="solid"/>
          </a:ln>
        </p:spPr>
        <p:txBody>
          <a:bodyPr/>
          <a:lstStyle/>
          <a:p>
            <a:endParaRPr lang="he-IL"/>
          </a:p>
        </p:txBody>
      </p:sp>
      <p:sp>
        <p:nvSpPr>
          <p:cNvPr id="12" name="Shape 8"/>
          <p:cNvSpPr/>
          <p:nvPr/>
        </p:nvSpPr>
        <p:spPr>
          <a:xfrm rot="5400000">
            <a:off x="10940921" y="2386584"/>
            <a:ext cx="612397" cy="530352"/>
          </a:xfrm>
          <a:prstGeom prst="hexagon">
            <a:avLst/>
          </a:prstGeom>
          <a:solidFill>
            <a:srgbClr val="4A90D0"/>
          </a:solidFill>
          <a:ln/>
        </p:spPr>
        <p:txBody>
          <a:bodyPr/>
          <a:lstStyle/>
          <a:p>
            <a:endParaRPr lang="he-IL"/>
          </a:p>
        </p:txBody>
      </p:sp>
      <p:pic>
        <p:nvPicPr>
          <p:cNvPr id="13"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25139" y="2529779"/>
            <a:ext cx="243962" cy="243962"/>
          </a:xfrm>
          <a:prstGeom prst="rect">
            <a:avLst/>
          </a:prstGeom>
        </p:spPr>
      </p:pic>
      <p:sp>
        <p:nvSpPr>
          <p:cNvPr id="14" name="Text 9"/>
          <p:cNvSpPr txBox="1"/>
          <p:nvPr/>
        </p:nvSpPr>
        <p:spPr>
          <a:xfrm>
            <a:off x="6400800" y="2011680"/>
            <a:ext cx="4389120" cy="1280160"/>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זמינות וסבסוד בביטוחים המשלימים (שב"ן): </a:t>
            </a:r>
            <a:r>
              <a:rPr lang="he-IL" altLang="en-US" sz="1200" dirty="0">
                <a:solidFill>
                  <a:srgbClr val="2E2A47"/>
                </a:solidFill>
                <a:latin typeface="Arial" pitchFamily="34" charset="0"/>
                <a:ea typeface="Arial" pitchFamily="34" charset="-122"/>
                <a:cs typeface="Arial" pitchFamily="34" charset="-120"/>
              </a:rPr>
              <a:t>תרופת Wegovy® (סמגלוטייד 2.4 מ"ג) זמינה בכל קופות החולים (כללית, מכבי, מאוחדת, לאומית) למבוטחי שב"ן ב-50% הנחה (מחיר השתתפות עצמית של 338-562 ₪ בלבד בהתאם למינון).</a:t>
            </a:r>
            <a:endParaRPr lang="he-IL" sz="1200" dirty="0"/>
          </a:p>
        </p:txBody>
      </p:sp>
      <p:sp>
        <p:nvSpPr>
          <p:cNvPr id="15" name="Shape 10"/>
          <p:cNvSpPr/>
          <p:nvPr/>
        </p:nvSpPr>
        <p:spPr>
          <a:xfrm>
            <a:off x="6263640" y="3429000"/>
            <a:ext cx="537667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6" name="Shape 11"/>
          <p:cNvSpPr/>
          <p:nvPr/>
        </p:nvSpPr>
        <p:spPr>
          <a:xfrm rot="5400000">
            <a:off x="10972597" y="3557016"/>
            <a:ext cx="549046" cy="475488"/>
          </a:xfrm>
          <a:prstGeom prst="hexagon">
            <a:avLst/>
          </a:prstGeom>
          <a:solidFill>
            <a:srgbClr val="5B6BB5"/>
          </a:solidFill>
          <a:ln/>
        </p:spPr>
        <p:txBody>
          <a:bodyPr/>
          <a:lstStyle/>
          <a:p>
            <a:endParaRPr lang="he-IL"/>
          </a:p>
        </p:txBody>
      </p:sp>
      <p:sp>
        <p:nvSpPr>
          <p:cNvPr id="17" name="Text 12"/>
          <p:cNvSpPr txBox="1"/>
          <p:nvPr/>
        </p:nvSpPr>
        <p:spPr>
          <a:xfrm>
            <a:off x="11009376" y="3557016"/>
            <a:ext cx="475488" cy="475488"/>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8" name="Text 13"/>
          <p:cNvSpPr txBox="1"/>
          <p:nvPr/>
        </p:nvSpPr>
        <p:spPr>
          <a:xfrm>
            <a:off x="6400800" y="3456432"/>
            <a:ext cx="4389120" cy="676656"/>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קריטריון BMI מעל 30 (BMI &gt; 30 kg/m²): </a:t>
            </a:r>
            <a:r>
              <a:rPr lang="he-IL" altLang="en-US" sz="1200" dirty="0">
                <a:solidFill>
                  <a:srgbClr val="2E2A47"/>
                </a:solidFill>
                <a:latin typeface="Arial" pitchFamily="34" charset="0"/>
                <a:ea typeface="Arial" pitchFamily="34" charset="-122"/>
                <a:cs typeface="Arial" pitchFamily="34" charset="-120"/>
              </a:rPr>
              <a:t>זכאות מלאה למטופלים הסובלים מהשמנה (BMI מעל 30).</a:t>
            </a:r>
            <a:endParaRPr lang="he-IL" sz="1200" dirty="0"/>
          </a:p>
        </p:txBody>
      </p:sp>
      <p:sp>
        <p:nvSpPr>
          <p:cNvPr id="19" name="Shape 14"/>
          <p:cNvSpPr/>
          <p:nvPr/>
        </p:nvSpPr>
        <p:spPr>
          <a:xfrm>
            <a:off x="6263640" y="4251960"/>
            <a:ext cx="5376672" cy="1051560"/>
          </a:xfrm>
          <a:prstGeom prst="roundRect">
            <a:avLst>
              <a:gd name="adj" fmla="val 10435"/>
            </a:avLst>
          </a:prstGeom>
          <a:solidFill>
            <a:srgbClr val="FFFFFF"/>
          </a:solidFill>
          <a:ln w="9525">
            <a:solidFill>
              <a:srgbClr val="E3DFF0"/>
            </a:solidFill>
            <a:prstDash val="solid"/>
          </a:ln>
        </p:spPr>
        <p:txBody>
          <a:bodyPr/>
          <a:lstStyle/>
          <a:p>
            <a:endParaRPr lang="he-IL"/>
          </a:p>
        </p:txBody>
      </p:sp>
      <p:sp>
        <p:nvSpPr>
          <p:cNvPr id="20" name="Shape 15"/>
          <p:cNvSpPr/>
          <p:nvPr/>
        </p:nvSpPr>
        <p:spPr>
          <a:xfrm rot="5400000">
            <a:off x="10972597" y="4539996"/>
            <a:ext cx="549046" cy="475488"/>
          </a:xfrm>
          <a:prstGeom prst="hexagon">
            <a:avLst/>
          </a:prstGeom>
          <a:solidFill>
            <a:srgbClr val="6E4494"/>
          </a:solidFill>
          <a:ln/>
        </p:spPr>
        <p:txBody>
          <a:bodyPr/>
          <a:lstStyle/>
          <a:p>
            <a:endParaRPr lang="he-IL"/>
          </a:p>
        </p:txBody>
      </p:sp>
      <p:sp>
        <p:nvSpPr>
          <p:cNvPr id="21" name="Text 16"/>
          <p:cNvSpPr txBox="1"/>
          <p:nvPr/>
        </p:nvSpPr>
        <p:spPr>
          <a:xfrm>
            <a:off x="11009376" y="4539996"/>
            <a:ext cx="475488" cy="475488"/>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2" name="Text 17"/>
          <p:cNvSpPr txBox="1"/>
          <p:nvPr/>
        </p:nvSpPr>
        <p:spPr>
          <a:xfrm>
            <a:off x="6400800" y="4279392"/>
            <a:ext cx="4389120" cy="99669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קריטריון 27 ≤ BMI &lt; 30 עם מחלות נלוות (כולל כבד שומני!): </a:t>
            </a:r>
            <a:r>
              <a:rPr lang="he-IL" altLang="en-US" sz="1150" dirty="0">
                <a:solidFill>
                  <a:srgbClr val="2E2A47"/>
                </a:solidFill>
                <a:latin typeface="Arial" pitchFamily="34" charset="0"/>
                <a:ea typeface="Arial" pitchFamily="34" charset="-122"/>
                <a:cs typeface="Arial" pitchFamily="34" charset="-120"/>
              </a:rPr>
              <a:t>זכאות למטופלים עם BMI מ-27 ומעלה בנוכחות לפחות סיבוך/גורם סיכון אחד מהבאים: כבד שומני, טרום סוכרת, סוכרת מסוג 2, יתר לחץ דם, דיסליפידמיה, דום נשימה בשינה (OSA), או מחלה קרדיווסקולרית.</a:t>
            </a:r>
            <a:endParaRPr lang="he-IL" sz="1150" dirty="0"/>
          </a:p>
        </p:txBody>
      </p:sp>
      <p:sp>
        <p:nvSpPr>
          <p:cNvPr id="23" name="Shape 18"/>
          <p:cNvSpPr/>
          <p:nvPr/>
        </p:nvSpPr>
        <p:spPr>
          <a:xfrm>
            <a:off x="6263640" y="5394960"/>
            <a:ext cx="5376672" cy="640080"/>
          </a:xfrm>
          <a:prstGeom prst="roundRect">
            <a:avLst>
              <a:gd name="adj" fmla="val 17143"/>
            </a:avLst>
          </a:prstGeom>
          <a:solidFill>
            <a:srgbClr val="FFFFFF"/>
          </a:solidFill>
          <a:ln w="9525">
            <a:solidFill>
              <a:srgbClr val="E3DFF0"/>
            </a:solidFill>
            <a:prstDash val="solid"/>
          </a:ln>
        </p:spPr>
        <p:txBody>
          <a:bodyPr/>
          <a:lstStyle/>
          <a:p>
            <a:endParaRPr lang="he-IL"/>
          </a:p>
        </p:txBody>
      </p:sp>
      <p:sp>
        <p:nvSpPr>
          <p:cNvPr id="24" name="Shape 19"/>
          <p:cNvSpPr/>
          <p:nvPr/>
        </p:nvSpPr>
        <p:spPr>
          <a:xfrm rot="5400000">
            <a:off x="10972597" y="5477256"/>
            <a:ext cx="549046" cy="475488"/>
          </a:xfrm>
          <a:prstGeom prst="hexagon">
            <a:avLst/>
          </a:prstGeom>
          <a:solidFill>
            <a:srgbClr val="1F8F83"/>
          </a:solidFill>
          <a:ln/>
        </p:spPr>
        <p:txBody>
          <a:bodyPr/>
          <a:lstStyle/>
          <a:p>
            <a:endParaRPr lang="he-IL"/>
          </a:p>
        </p:txBody>
      </p:sp>
      <p:pic>
        <p:nvPicPr>
          <p:cNvPr id="25"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137758" y="5605638"/>
            <a:ext cx="218724" cy="218724"/>
          </a:xfrm>
          <a:prstGeom prst="rect">
            <a:avLst/>
          </a:prstGeom>
        </p:spPr>
      </p:pic>
      <p:sp>
        <p:nvSpPr>
          <p:cNvPr id="26" name="Text 20"/>
          <p:cNvSpPr txBox="1"/>
          <p:nvPr/>
        </p:nvSpPr>
        <p:spPr>
          <a:xfrm>
            <a:off x="6400800" y="5422392"/>
            <a:ext cx="4389120" cy="585216"/>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גיל מאושר לשימוש: </a:t>
            </a:r>
            <a:r>
              <a:rPr lang="he-IL" altLang="en-US" sz="1200" dirty="0">
                <a:solidFill>
                  <a:srgbClr val="2E2A47"/>
                </a:solidFill>
                <a:latin typeface="Arial" pitchFamily="34" charset="0"/>
                <a:ea typeface="Arial" pitchFamily="34" charset="-122"/>
                <a:cs typeface="Arial" pitchFamily="34" charset="-120"/>
              </a:rPr>
              <a:t>התרופה מאושרת לשימוש במבוגרים ומתבגרים החל מגיל 12 ומעלה.</a:t>
            </a:r>
            <a:endParaRPr lang="he-IL" sz="120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שינויים בטיפול התרופתי והנחיות אורח חיים</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410290" y="1691640"/>
            <a:ext cx="950272" cy="82296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96145" y="1913839"/>
            <a:ext cx="378562" cy="378562"/>
          </a:xfrm>
          <a:prstGeom prst="rect">
            <a:avLst/>
          </a:prstGeom>
        </p:spPr>
      </p:pic>
      <p:sp>
        <p:nvSpPr>
          <p:cNvPr id="8" name="Text 5"/>
          <p:cNvSpPr txBox="1"/>
          <p:nvPr/>
        </p:nvSpPr>
        <p:spPr>
          <a:xfrm>
            <a:off x="8202168" y="2852928"/>
            <a:ext cx="3438143"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התחלת וויגובי (סמגלוטייד 2.4 מ"ג בטיטרציה המקובלת)</a:t>
            </a:r>
            <a:endParaRPr lang="he-IL" sz="2100" dirty="0"/>
          </a:p>
        </p:txBody>
      </p:sp>
      <p:sp>
        <p:nvSpPr>
          <p:cNvPr id="9" name="Text 6"/>
          <p:cNvSpPr txBox="1"/>
          <p:nvPr/>
        </p:nvSpPr>
        <p:spPr>
          <a:xfrm>
            <a:off x="8356397"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4A90D0"/>
                </a:solidFill>
                <a:latin typeface="Arial" pitchFamily="34" charset="0"/>
                <a:ea typeface="Arial" pitchFamily="34" charset="-122"/>
                <a:cs typeface="Arial" pitchFamily="34" charset="-120"/>
              </a:rPr>
              <a:t>(מעבר מאוזמפיק 1 מ"ג)</a:t>
            </a:r>
            <a:endParaRPr lang="he-IL" sz="1700" dirty="0"/>
          </a:p>
        </p:txBody>
      </p:sp>
      <p:sp>
        <p:nvSpPr>
          <p:cNvPr id="10" name="Text 7"/>
          <p:cNvSpPr txBox="1"/>
          <p:nvPr/>
        </p:nvSpPr>
        <p:spPr>
          <a:xfrm>
            <a:off x="8447837"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תוך הדרכה על ביצוע טיטרציה הדרגתית.</a:t>
            </a:r>
            <a:endParaRPr lang="he-IL" sz="1700" dirty="0"/>
          </a:p>
        </p:txBody>
      </p:sp>
      <p:sp>
        <p:nvSpPr>
          <p:cNvPr id="11" name="Shape 8"/>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5620712" y="1691640"/>
            <a:ext cx="950272" cy="822960"/>
          </a:xfrm>
          <a:prstGeom prst="hexagon">
            <a:avLst/>
          </a:prstGeom>
          <a:solidFill>
            <a:srgbClr val="5B6BB5"/>
          </a:solidFill>
          <a:ln/>
        </p:spPr>
        <p:txBody>
          <a:bodyPr/>
          <a:lstStyle/>
          <a:p>
            <a:endParaRPr lang="he-IL"/>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06567" y="1913839"/>
            <a:ext cx="378562" cy="378562"/>
          </a:xfrm>
          <a:prstGeom prst="rect">
            <a:avLst/>
          </a:prstGeom>
        </p:spPr>
      </p:pic>
      <p:sp>
        <p:nvSpPr>
          <p:cNvPr id="14" name="Text 10"/>
          <p:cNvSpPr txBox="1"/>
          <p:nvPr/>
        </p:nvSpPr>
        <p:spPr>
          <a:xfrm>
            <a:off x="4521098" y="2697480"/>
            <a:ext cx="3149498"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פעילות גופנית מותאמת</a:t>
            </a:r>
            <a:endParaRPr lang="he-IL" sz="2100" dirty="0"/>
          </a:p>
        </p:txBody>
      </p:sp>
      <p:sp>
        <p:nvSpPr>
          <p:cNvPr id="15" name="Text 11"/>
          <p:cNvSpPr txBox="1"/>
          <p:nvPr/>
        </p:nvSpPr>
        <p:spPr>
          <a:xfrm>
            <a:off x="4566818"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5B6BB5"/>
                </a:solidFill>
                <a:latin typeface="Arial" pitchFamily="34" charset="0"/>
                <a:ea typeface="Arial" pitchFamily="34" charset="-122"/>
                <a:cs typeface="Arial" pitchFamily="34" charset="-120"/>
              </a:rPr>
              <a:t>אירובי + אנאירובי</a:t>
            </a:r>
            <a:endParaRPr lang="he-IL" sz="1700" dirty="0"/>
          </a:p>
        </p:txBody>
      </p:sp>
      <p:sp>
        <p:nvSpPr>
          <p:cNvPr id="16" name="Text 12"/>
          <p:cNvSpPr txBox="1"/>
          <p:nvPr/>
        </p:nvSpPr>
        <p:spPr>
          <a:xfrm>
            <a:off x="4658258"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המטופל הודרך על ביצוע פעילות גופנית אירובית ואנאירובית משולבת לשיפור רגישות לאינסולין.</a:t>
            </a:r>
            <a:endParaRPr lang="he-IL" sz="1700" dirty="0"/>
          </a:p>
        </p:txBody>
      </p:sp>
      <p:sp>
        <p:nvSpPr>
          <p:cNvPr id="17" name="Shape 13"/>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1831133" y="1691640"/>
            <a:ext cx="950272" cy="822960"/>
          </a:xfrm>
          <a:prstGeom prst="hexagon">
            <a:avLst/>
          </a:prstGeom>
          <a:solidFill>
            <a:srgbClr val="6E4494"/>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988" y="1913839"/>
            <a:ext cx="378562" cy="378562"/>
          </a:xfrm>
          <a:prstGeom prst="rect">
            <a:avLst/>
          </a:prstGeom>
        </p:spPr>
      </p:pic>
      <p:sp>
        <p:nvSpPr>
          <p:cNvPr id="20" name="Text 15"/>
          <p:cNvSpPr txBox="1"/>
          <p:nvPr/>
        </p:nvSpPr>
        <p:spPr>
          <a:xfrm>
            <a:off x="731520" y="2697480"/>
            <a:ext cx="3149498"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ייעוץ ותמיכה תזונתית</a:t>
            </a:r>
            <a:endParaRPr lang="he-IL" sz="2100" dirty="0"/>
          </a:p>
        </p:txBody>
      </p:sp>
      <p:sp>
        <p:nvSpPr>
          <p:cNvPr id="21" name="Text 16"/>
          <p:cNvSpPr txBox="1"/>
          <p:nvPr/>
        </p:nvSpPr>
        <p:spPr>
          <a:xfrm>
            <a:off x="777240"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6E4494"/>
                </a:solidFill>
                <a:latin typeface="Arial" pitchFamily="34" charset="0"/>
                <a:ea typeface="Arial" pitchFamily="34" charset="-122"/>
                <a:cs typeface="Arial" pitchFamily="34" charset="-120"/>
              </a:rPr>
              <a:t>מעקב דיאטנית קלינית</a:t>
            </a:r>
            <a:endParaRPr lang="he-IL" sz="1700" dirty="0"/>
          </a:p>
        </p:txBody>
      </p:sp>
      <p:sp>
        <p:nvSpPr>
          <p:cNvPr id="22" name="Text 17"/>
          <p:cNvSpPr txBox="1"/>
          <p:nvPr/>
        </p:nvSpPr>
        <p:spPr>
          <a:xfrm>
            <a:off x="868680"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המטופל הודרך והופנה למעקב קבוע אצל דיאטנית קלינית להתאמת תזונה מבוקרת פחמימות.</a:t>
            </a:r>
            <a:endParaRPr lang="he-IL" sz="17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03</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3</a:t>
            </a:r>
            <a:endParaRPr lang="he-IL" sz="2000" dirty="0"/>
          </a:p>
        </p:txBody>
      </p:sp>
      <p:sp>
        <p:nvSpPr>
          <p:cNvPr id="6" name="Text 4"/>
          <p:cNvSpPr txBox="1"/>
          <p:nvPr/>
        </p:nvSpPr>
        <p:spPr>
          <a:xfrm>
            <a:off x="4416552" y="2560320"/>
            <a:ext cx="7223760"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מעקב וויגובי (סמגלוטייד 2.4 מ"ג)</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סולם מינוני Wegovy, הורדת אינסולין בולוס מ-12 ל-8 יחידות לארוחה, הורדת בזאלי מ-40 ל-36 יחידות ומניעת היפוגליקמיה</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3: מעקב תחת Wegovy 2.4mg והתאמת מינונים</a:t>
            </a:r>
            <a:endParaRPr lang="he-IL" sz="2600" dirty="0"/>
          </a:p>
        </p:txBody>
      </p:sp>
      <p:sp>
        <p:nvSpPr>
          <p:cNvPr id="5" name="Text 3"/>
          <p:cNvSpPr txBox="1"/>
          <p:nvPr/>
        </p:nvSpPr>
        <p:spPr>
          <a:xfrm>
            <a:off x="1371600" y="1207008"/>
            <a:ext cx="10268712" cy="347472"/>
          </a:xfrm>
          <a:prstGeom prst="rect">
            <a:avLst/>
          </a:prstGeom>
          <a:noFill/>
          <a:ln/>
        </p:spPr>
        <p:txBody>
          <a:bodyPr wrap="square" lIns="0" tIns="0" rIns="0" bIns="0" rtlCol="0" anchor="t"/>
          <a:lstStyle/>
          <a:p>
            <a:pPr marL="0" indent="0" algn="r" rtl="1">
              <a:buNone/>
            </a:pPr>
            <a:r>
              <a:rPr lang="he-IL" altLang="en-US" sz="1500" dirty="0">
                <a:solidFill>
                  <a:srgbClr val="6B6785"/>
                </a:solidFill>
                <a:latin typeface="Arial" pitchFamily="34" charset="0"/>
                <a:ea typeface="Arial" pitchFamily="34" charset="-122"/>
                <a:cs typeface="Arial" pitchFamily="34" charset="-120"/>
              </a:rPr>
              <a:t>מד סולם מינוני Wegovy (Semaglutide) – תהליך טיטרציה מדורג והגעה למינון היעד</a:t>
            </a:r>
            <a:endParaRPr lang="he-IL" sz="1500" dirty="0"/>
          </a:p>
        </p:txBody>
      </p:sp>
      <p:sp>
        <p:nvSpPr>
          <p:cNvPr id="6" name="Shape 4"/>
          <p:cNvSpPr/>
          <p:nvPr/>
        </p:nvSpPr>
        <p:spPr>
          <a:xfrm>
            <a:off x="640080" y="5440680"/>
            <a:ext cx="10908792" cy="0"/>
          </a:xfrm>
          <a:prstGeom prst="line">
            <a:avLst/>
          </a:prstGeom>
          <a:noFill/>
          <a:ln w="19050">
            <a:solidFill>
              <a:srgbClr val="C9C2E3"/>
            </a:solidFill>
            <a:prstDash val="solid"/>
          </a:ln>
        </p:spPr>
        <p:txBody>
          <a:bodyPr/>
          <a:lstStyle/>
          <a:p>
            <a:endParaRPr lang="he-IL"/>
          </a:p>
        </p:txBody>
      </p:sp>
      <p:sp>
        <p:nvSpPr>
          <p:cNvPr id="7" name="Shape 5"/>
          <p:cNvSpPr/>
          <p:nvPr/>
        </p:nvSpPr>
        <p:spPr>
          <a:xfrm>
            <a:off x="9476842" y="4526280"/>
            <a:ext cx="1889150" cy="1005840"/>
          </a:xfrm>
          <a:prstGeom prst="roundRect">
            <a:avLst>
              <a:gd name="adj" fmla="val 10909"/>
            </a:avLst>
          </a:prstGeom>
          <a:solidFill>
            <a:srgbClr val="4A90D0"/>
          </a:solidFill>
          <a:ln/>
        </p:spPr>
        <p:txBody>
          <a:bodyPr/>
          <a:lstStyle/>
          <a:p>
            <a:endParaRPr lang="he-IL"/>
          </a:p>
        </p:txBody>
      </p:sp>
      <p:sp>
        <p:nvSpPr>
          <p:cNvPr id="8" name="Shape 6"/>
          <p:cNvSpPr/>
          <p:nvPr/>
        </p:nvSpPr>
        <p:spPr>
          <a:xfrm>
            <a:off x="9476842" y="5422392"/>
            <a:ext cx="1889150" cy="128016"/>
          </a:xfrm>
          <a:prstGeom prst="rect">
            <a:avLst/>
          </a:prstGeom>
          <a:solidFill>
            <a:srgbClr val="FFFFFF"/>
          </a:solidFill>
          <a:ln/>
        </p:spPr>
        <p:txBody>
          <a:bodyPr/>
          <a:lstStyle/>
          <a:p>
            <a:endParaRPr lang="he-IL"/>
          </a:p>
        </p:txBody>
      </p:sp>
      <p:sp>
        <p:nvSpPr>
          <p:cNvPr id="9" name="Text 7"/>
          <p:cNvSpPr txBox="1"/>
          <p:nvPr/>
        </p:nvSpPr>
        <p:spPr>
          <a:xfrm>
            <a:off x="9476842" y="461772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0.25 mg</a:t>
            </a:r>
            <a:endParaRPr lang="en-US" sz="2200" dirty="0"/>
          </a:p>
        </p:txBody>
      </p:sp>
      <p:sp>
        <p:nvSpPr>
          <p:cNvPr id="10" name="Text 8"/>
          <p:cNvSpPr txBox="1"/>
          <p:nvPr/>
        </p:nvSpPr>
        <p:spPr>
          <a:xfrm>
            <a:off x="9476842" y="408736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מינון התחלתי</a:t>
            </a:r>
            <a:endParaRPr lang="he-IL" sz="1500" dirty="0"/>
          </a:p>
        </p:txBody>
      </p:sp>
      <p:sp>
        <p:nvSpPr>
          <p:cNvPr id="12" name="Shape 10"/>
          <p:cNvSpPr/>
          <p:nvPr/>
        </p:nvSpPr>
        <p:spPr>
          <a:xfrm>
            <a:off x="7313371" y="3977640"/>
            <a:ext cx="1889150" cy="1554480"/>
          </a:xfrm>
          <a:prstGeom prst="roundRect">
            <a:avLst>
              <a:gd name="adj" fmla="val 7059"/>
            </a:avLst>
          </a:prstGeom>
          <a:solidFill>
            <a:srgbClr val="5280C8"/>
          </a:solidFill>
          <a:ln/>
        </p:spPr>
        <p:txBody>
          <a:bodyPr/>
          <a:lstStyle/>
          <a:p>
            <a:endParaRPr lang="he-IL"/>
          </a:p>
        </p:txBody>
      </p:sp>
      <p:sp>
        <p:nvSpPr>
          <p:cNvPr id="13" name="Shape 11"/>
          <p:cNvSpPr/>
          <p:nvPr/>
        </p:nvSpPr>
        <p:spPr>
          <a:xfrm>
            <a:off x="7313371" y="5422392"/>
            <a:ext cx="1889150" cy="128016"/>
          </a:xfrm>
          <a:prstGeom prst="rect">
            <a:avLst/>
          </a:prstGeom>
          <a:solidFill>
            <a:srgbClr val="FFFFFF"/>
          </a:solidFill>
          <a:ln/>
        </p:spPr>
        <p:txBody>
          <a:bodyPr/>
          <a:lstStyle/>
          <a:p>
            <a:endParaRPr lang="he-IL"/>
          </a:p>
        </p:txBody>
      </p:sp>
      <p:sp>
        <p:nvSpPr>
          <p:cNvPr id="14" name="Text 12"/>
          <p:cNvSpPr txBox="1"/>
          <p:nvPr/>
        </p:nvSpPr>
        <p:spPr>
          <a:xfrm>
            <a:off x="7313371" y="406908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0.5 mg</a:t>
            </a:r>
            <a:endParaRPr lang="en-US" sz="2200" dirty="0"/>
          </a:p>
        </p:txBody>
      </p:sp>
      <p:sp>
        <p:nvSpPr>
          <p:cNvPr id="15" name="Text 13"/>
          <p:cNvSpPr txBox="1"/>
          <p:nvPr/>
        </p:nvSpPr>
        <p:spPr>
          <a:xfrm>
            <a:off x="7313371" y="353872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2</a:t>
            </a:r>
            <a:endParaRPr lang="he-IL" sz="1500" dirty="0"/>
          </a:p>
        </p:txBody>
      </p:sp>
      <p:sp>
        <p:nvSpPr>
          <p:cNvPr id="17" name="Shape 15"/>
          <p:cNvSpPr/>
          <p:nvPr/>
        </p:nvSpPr>
        <p:spPr>
          <a:xfrm>
            <a:off x="5149901" y="3429000"/>
            <a:ext cx="1889150" cy="2103120"/>
          </a:xfrm>
          <a:prstGeom prst="roundRect">
            <a:avLst>
              <a:gd name="adj" fmla="val 5808"/>
            </a:avLst>
          </a:prstGeom>
          <a:solidFill>
            <a:srgbClr val="5B6BB5"/>
          </a:solidFill>
          <a:ln/>
        </p:spPr>
        <p:txBody>
          <a:bodyPr/>
          <a:lstStyle/>
          <a:p>
            <a:endParaRPr lang="he-IL"/>
          </a:p>
        </p:txBody>
      </p:sp>
      <p:sp>
        <p:nvSpPr>
          <p:cNvPr id="18" name="Shape 16"/>
          <p:cNvSpPr/>
          <p:nvPr/>
        </p:nvSpPr>
        <p:spPr>
          <a:xfrm>
            <a:off x="5149901" y="5422392"/>
            <a:ext cx="1889150" cy="128016"/>
          </a:xfrm>
          <a:prstGeom prst="rect">
            <a:avLst/>
          </a:prstGeom>
          <a:solidFill>
            <a:srgbClr val="FFFFFF"/>
          </a:solidFill>
          <a:ln/>
        </p:spPr>
        <p:txBody>
          <a:bodyPr/>
          <a:lstStyle/>
          <a:p>
            <a:endParaRPr lang="he-IL"/>
          </a:p>
        </p:txBody>
      </p:sp>
      <p:sp>
        <p:nvSpPr>
          <p:cNvPr id="19" name="Text 17"/>
          <p:cNvSpPr txBox="1"/>
          <p:nvPr/>
        </p:nvSpPr>
        <p:spPr>
          <a:xfrm>
            <a:off x="5149901" y="352044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1.0 mg</a:t>
            </a:r>
            <a:endParaRPr lang="en-US" sz="2200" dirty="0"/>
          </a:p>
        </p:txBody>
      </p:sp>
      <p:sp>
        <p:nvSpPr>
          <p:cNvPr id="20" name="Text 18"/>
          <p:cNvSpPr txBox="1"/>
          <p:nvPr/>
        </p:nvSpPr>
        <p:spPr>
          <a:xfrm>
            <a:off x="5149901" y="299008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3</a:t>
            </a:r>
            <a:endParaRPr lang="he-IL" sz="1500" dirty="0"/>
          </a:p>
        </p:txBody>
      </p:sp>
      <p:sp>
        <p:nvSpPr>
          <p:cNvPr id="22" name="Shape 20"/>
          <p:cNvSpPr/>
          <p:nvPr/>
        </p:nvSpPr>
        <p:spPr>
          <a:xfrm>
            <a:off x="2986430" y="2880360"/>
            <a:ext cx="1889150" cy="2651760"/>
          </a:xfrm>
          <a:prstGeom prst="roundRect">
            <a:avLst>
              <a:gd name="adj" fmla="val 5808"/>
            </a:avLst>
          </a:prstGeom>
          <a:solidFill>
            <a:srgbClr val="6658A6"/>
          </a:solidFill>
          <a:ln/>
        </p:spPr>
        <p:txBody>
          <a:bodyPr/>
          <a:lstStyle/>
          <a:p>
            <a:endParaRPr lang="he-IL"/>
          </a:p>
        </p:txBody>
      </p:sp>
      <p:sp>
        <p:nvSpPr>
          <p:cNvPr id="23" name="Shape 21"/>
          <p:cNvSpPr/>
          <p:nvPr/>
        </p:nvSpPr>
        <p:spPr>
          <a:xfrm>
            <a:off x="2986430" y="5422392"/>
            <a:ext cx="1889150" cy="128016"/>
          </a:xfrm>
          <a:prstGeom prst="rect">
            <a:avLst/>
          </a:prstGeom>
          <a:solidFill>
            <a:srgbClr val="FFFFFF"/>
          </a:solidFill>
          <a:ln/>
        </p:spPr>
        <p:txBody>
          <a:bodyPr/>
          <a:lstStyle/>
          <a:p>
            <a:endParaRPr lang="he-IL"/>
          </a:p>
        </p:txBody>
      </p:sp>
      <p:sp>
        <p:nvSpPr>
          <p:cNvPr id="24" name="Text 22"/>
          <p:cNvSpPr txBox="1"/>
          <p:nvPr/>
        </p:nvSpPr>
        <p:spPr>
          <a:xfrm>
            <a:off x="2986430" y="297180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1.7 mg</a:t>
            </a:r>
            <a:endParaRPr lang="en-US" sz="2200" dirty="0"/>
          </a:p>
        </p:txBody>
      </p:sp>
      <p:sp>
        <p:nvSpPr>
          <p:cNvPr id="25" name="Text 23"/>
          <p:cNvSpPr txBox="1"/>
          <p:nvPr/>
        </p:nvSpPr>
        <p:spPr>
          <a:xfrm>
            <a:off x="2986430" y="244144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4</a:t>
            </a:r>
            <a:endParaRPr lang="he-IL" sz="1500" dirty="0"/>
          </a:p>
        </p:txBody>
      </p:sp>
      <p:sp>
        <p:nvSpPr>
          <p:cNvPr id="27" name="Shape 25"/>
          <p:cNvSpPr/>
          <p:nvPr/>
        </p:nvSpPr>
        <p:spPr>
          <a:xfrm>
            <a:off x="822960" y="2331720"/>
            <a:ext cx="1889150" cy="3200400"/>
          </a:xfrm>
          <a:prstGeom prst="roundRect">
            <a:avLst>
              <a:gd name="adj" fmla="val 5808"/>
            </a:avLst>
          </a:prstGeom>
          <a:solidFill>
            <a:srgbClr val="6E4494"/>
          </a:solidFill>
          <a:ln/>
          <a:effectLst>
            <a:outerShdw blurRad="127000" dist="38100" dir="5400000" algn="bl" rotWithShape="0">
              <a:srgbClr val="2B2560">
                <a:alpha val="10000"/>
              </a:srgbClr>
            </a:outerShdw>
          </a:effectLst>
        </p:spPr>
        <p:txBody>
          <a:bodyPr/>
          <a:lstStyle/>
          <a:p>
            <a:endParaRPr lang="he-IL"/>
          </a:p>
        </p:txBody>
      </p:sp>
      <p:sp>
        <p:nvSpPr>
          <p:cNvPr id="28" name="Shape 26"/>
          <p:cNvSpPr/>
          <p:nvPr/>
        </p:nvSpPr>
        <p:spPr>
          <a:xfrm>
            <a:off x="822960" y="5422392"/>
            <a:ext cx="1889150" cy="128016"/>
          </a:xfrm>
          <a:prstGeom prst="rect">
            <a:avLst/>
          </a:prstGeom>
          <a:solidFill>
            <a:srgbClr val="FFFFFF"/>
          </a:solidFill>
          <a:ln/>
        </p:spPr>
        <p:txBody>
          <a:bodyPr/>
          <a:lstStyle/>
          <a:p>
            <a:endParaRPr lang="he-IL"/>
          </a:p>
        </p:txBody>
      </p:sp>
      <p:sp>
        <p:nvSpPr>
          <p:cNvPr id="29" name="Text 27"/>
          <p:cNvSpPr txBox="1"/>
          <p:nvPr/>
        </p:nvSpPr>
        <p:spPr>
          <a:xfrm>
            <a:off x="822960" y="2423160"/>
            <a:ext cx="1889150" cy="548640"/>
          </a:xfrm>
          <a:prstGeom prst="rect">
            <a:avLst/>
          </a:prstGeom>
          <a:noFill/>
          <a:ln/>
        </p:spPr>
        <p:txBody>
          <a:bodyPr wrap="square" lIns="0" tIns="0" rIns="0" bIns="0" rtlCol="0" anchor="ctr"/>
          <a:lstStyle/>
          <a:p>
            <a:pPr marL="0" indent="0" algn="ctr">
              <a:buNone/>
            </a:pPr>
            <a:r>
              <a:rPr lang="en-US" altLang="en-US" sz="2600" b="1" dirty="0">
                <a:solidFill>
                  <a:srgbClr val="FFFFFF"/>
                </a:solidFill>
                <a:latin typeface="Arial" pitchFamily="34" charset="0"/>
                <a:ea typeface="Arial" pitchFamily="34" charset="-122"/>
                <a:cs typeface="Arial" pitchFamily="34" charset="-120"/>
              </a:rPr>
              <a:t>2.4 mg</a:t>
            </a:r>
            <a:endParaRPr lang="en-US" sz="2600" dirty="0"/>
          </a:p>
        </p:txBody>
      </p:sp>
      <p:sp>
        <p:nvSpPr>
          <p:cNvPr id="30" name="Text 28"/>
          <p:cNvSpPr txBox="1"/>
          <p:nvPr/>
        </p:nvSpPr>
        <p:spPr>
          <a:xfrm>
            <a:off x="822960" y="189280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6E4494"/>
                </a:solidFill>
                <a:latin typeface="Arial" pitchFamily="34" charset="0"/>
                <a:ea typeface="Arial" pitchFamily="34" charset="-122"/>
                <a:cs typeface="Arial" pitchFamily="34" charset="-120"/>
              </a:rPr>
              <a:t>מינון יעד נוכחי</a:t>
            </a:r>
            <a:endParaRPr lang="he-IL" sz="1500" dirty="0"/>
          </a:p>
        </p:txBody>
      </p:sp>
      <p:sp>
        <p:nvSpPr>
          <p:cNvPr id="31" name="Text 29"/>
          <p:cNvSpPr txBox="1"/>
          <p:nvPr/>
        </p:nvSpPr>
        <p:spPr>
          <a:xfrm>
            <a:off x="822960" y="5550408"/>
            <a:ext cx="1889150" cy="365760"/>
          </a:xfrm>
          <a:prstGeom prst="rect">
            <a:avLst/>
          </a:prstGeom>
          <a:noFill/>
          <a:ln/>
        </p:spPr>
        <p:txBody>
          <a:bodyPr wrap="square" lIns="0" tIns="0" rIns="0" bIns="0" rtlCol="0" anchor="t"/>
          <a:lstStyle/>
          <a:p>
            <a:pPr marL="0" indent="0" algn="ctr" rtl="1">
              <a:buNone/>
            </a:pPr>
            <a:r>
              <a:rPr lang="he-IL" altLang="en-US" sz="1400" b="1" dirty="0">
                <a:solidFill>
                  <a:srgbClr val="6E4494"/>
                </a:solidFill>
                <a:latin typeface="Arial" pitchFamily="34" charset="0"/>
                <a:ea typeface="Arial" pitchFamily="34" charset="-122"/>
                <a:cs typeface="Arial" pitchFamily="34" charset="-120"/>
              </a:rPr>
              <a:t>מינון מלא פעיל!</a:t>
            </a:r>
            <a:endParaRPr lang="he-IL" sz="1400" dirty="0"/>
          </a:p>
        </p:txBody>
      </p:sp>
      <p:sp>
        <p:nvSpPr>
          <p:cNvPr id="32"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32</a:t>
            </a:fld>
            <a:endParaRPr lang="en-US"/>
          </a:p>
        </p:txBody>
      </p:sp>
      <p:sp>
        <p:nvSpPr>
          <p:cNvPr id="33" name="TextBox 32">
            <a:extLst>
              <a:ext uri="{FF2B5EF4-FFF2-40B4-BE49-F238E27FC236}">
                <a16:creationId xmlns:a16="http://schemas.microsoft.com/office/drawing/2014/main" id="{B1E1C73F-124B-D98C-0BF3-D431345CF845}"/>
              </a:ext>
            </a:extLst>
          </p:cNvPr>
          <p:cNvSpPr txBox="1"/>
          <p:nvPr/>
        </p:nvSpPr>
        <p:spPr>
          <a:xfrm>
            <a:off x="1115132" y="6101753"/>
            <a:ext cx="8237436" cy="400110"/>
          </a:xfrm>
          <a:prstGeom prst="rect">
            <a:avLst/>
          </a:prstGeom>
          <a:solidFill>
            <a:srgbClr val="FFFFFF"/>
          </a:solidFill>
        </p:spPr>
        <p:txBody>
          <a:bodyPr wrap="square" rtlCol="0">
            <a:spAutoFit/>
          </a:bodyPr>
          <a:lstStyle/>
          <a:p>
            <a:pPr marL="201295" marR="0" lvl="0" indent="-175895" defTabSz="914400" eaLnBrk="1" fontAlgn="auto" latinLnBrk="0" hangingPunct="1">
              <a:lnSpc>
                <a:spcPct val="100000"/>
              </a:lnSpc>
              <a:spcBef>
                <a:spcPts val="114"/>
              </a:spcBef>
              <a:spcAft>
                <a:spcPts val="0"/>
              </a:spcAft>
              <a:buClrTx/>
              <a:buSzTx/>
              <a:buFontTx/>
              <a:buAutoNum type="arabicPeriod"/>
              <a:tabLst>
                <a:tab pos="201295" algn="l"/>
              </a:tabLst>
              <a:defRPr/>
            </a:pP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Wegovy</a:t>
            </a:r>
            <a:r>
              <a:rPr kumimoji="0" lang="en-US" sz="800" b="0" i="0" u="none" strike="noStrike" kern="0" cap="none" spc="0" normalizeH="0" baseline="37037"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800" b="0" i="0" u="none" strike="noStrike" kern="0" cap="none" spc="292" normalizeH="0" baseline="37037"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IL</a:t>
            </a:r>
            <a:r>
              <a:rPr kumimoji="0" lang="en-US" sz="1000" b="0" i="0" u="none" strike="noStrike" kern="0" cap="none" spc="-3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SPC</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as</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approved</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by</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2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MOH.</a:t>
            </a:r>
            <a:endParaRPr kumimoji="0" lang="en-US" sz="1000" b="0" i="0" u="none" strike="noStrike" kern="0" cap="none" spc="0" normalizeH="0" baseline="0" noProof="0" dirty="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סמגלוטייד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3: התאמות מינוני האינסולין של יעקב במקביל לירידה במשקל</a:t>
            </a:r>
            <a:endParaRPr lang="he-IL" sz="2300" dirty="0"/>
          </a:p>
        </p:txBody>
      </p:sp>
      <p:sp>
        <p:nvSpPr>
          <p:cNvPr id="5" name="Shape 3"/>
          <p:cNvSpPr/>
          <p:nvPr/>
        </p:nvSpPr>
        <p:spPr>
          <a:xfrm>
            <a:off x="6233008" y="1508760"/>
            <a:ext cx="5410048" cy="2697480"/>
          </a:xfrm>
          <a:prstGeom prst="roundRect">
            <a:avLst>
              <a:gd name="adj" fmla="val 406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57052" y="1655064"/>
            <a:ext cx="549046" cy="475488"/>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2213" y="1783446"/>
            <a:ext cx="218724" cy="218724"/>
          </a:xfrm>
          <a:prstGeom prst="rect">
            <a:avLst/>
          </a:prstGeom>
        </p:spPr>
      </p:pic>
      <p:sp>
        <p:nvSpPr>
          <p:cNvPr id="8" name="Text 5"/>
          <p:cNvSpPr txBox="1"/>
          <p:nvPr/>
        </p:nvSpPr>
        <p:spPr>
          <a:xfrm>
            <a:off x="6415888" y="1664208"/>
            <a:ext cx="4541368" cy="457200"/>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אינסולין קצר טווח (נובורפיד בולוס, אינסולין אספארט)</a:t>
            </a:r>
            <a:endParaRPr lang="he-IL" sz="1600" dirty="0"/>
          </a:p>
        </p:txBody>
      </p:sp>
      <p:sp>
        <p:nvSpPr>
          <p:cNvPr id="9" name="Shape 6"/>
          <p:cNvSpPr/>
          <p:nvPr/>
        </p:nvSpPr>
        <p:spPr>
          <a:xfrm>
            <a:off x="9494215" y="2286000"/>
            <a:ext cx="1920240" cy="1097280"/>
          </a:xfrm>
          <a:prstGeom prst="roundRect">
            <a:avLst>
              <a:gd name="adj" fmla="val 10000"/>
            </a:avLst>
          </a:prstGeom>
          <a:solidFill>
            <a:srgbClr val="FBECEF"/>
          </a:solidFill>
          <a:ln/>
        </p:spPr>
        <p:txBody>
          <a:bodyPr/>
          <a:lstStyle/>
          <a:p>
            <a:endParaRPr lang="he-IL"/>
          </a:p>
        </p:txBody>
      </p:sp>
      <p:sp>
        <p:nvSpPr>
          <p:cNvPr id="10" name="Text 7"/>
          <p:cNvSpPr txBox="1"/>
          <p:nvPr/>
        </p:nvSpPr>
        <p:spPr>
          <a:xfrm>
            <a:off x="9494215"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11" name="Text 8"/>
          <p:cNvSpPr txBox="1"/>
          <p:nvPr/>
        </p:nvSpPr>
        <p:spPr>
          <a:xfrm>
            <a:off x="9494215"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C24863"/>
                </a:solidFill>
                <a:latin typeface="Arial" pitchFamily="34" charset="0"/>
                <a:ea typeface="Arial" pitchFamily="34" charset="-122"/>
                <a:cs typeface="Arial" pitchFamily="34" charset="-120"/>
              </a:rPr>
              <a:t>12u </a:t>
            </a:r>
            <a:endParaRPr lang="en-US" sz="2200" dirty="0"/>
          </a:p>
        </p:txBody>
      </p:sp>
      <p:sp>
        <p:nvSpPr>
          <p:cNvPr id="12" name="Text 9"/>
          <p:cNvSpPr txBox="1"/>
          <p:nvPr/>
        </p:nvSpPr>
        <p:spPr>
          <a:xfrm>
            <a:off x="9494215"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לארוחה · לאחר הוספת נובורפיד</a:t>
            </a:r>
            <a:endParaRPr lang="he-IL" sz="1200" dirty="0"/>
          </a:p>
        </p:txBody>
      </p:sp>
      <p:sp>
        <p:nvSpPr>
          <p:cNvPr id="13" name="Shape 10"/>
          <p:cNvSpPr/>
          <p:nvPr/>
        </p:nvSpPr>
        <p:spPr>
          <a:xfrm>
            <a:off x="8553983" y="2670048"/>
            <a:ext cx="768096" cy="329184"/>
          </a:xfrm>
          <a:prstGeom prst="leftArrow">
            <a:avLst/>
          </a:prstGeom>
          <a:solidFill>
            <a:srgbClr val="C9C2E3"/>
          </a:solidFill>
          <a:ln/>
        </p:spPr>
        <p:txBody>
          <a:bodyPr/>
          <a:lstStyle/>
          <a:p>
            <a:endParaRPr lang="he-IL"/>
          </a:p>
        </p:txBody>
      </p:sp>
      <p:sp>
        <p:nvSpPr>
          <p:cNvPr id="14" name="Shape 11"/>
          <p:cNvSpPr/>
          <p:nvPr/>
        </p:nvSpPr>
        <p:spPr>
          <a:xfrm>
            <a:off x="6461608" y="2286000"/>
            <a:ext cx="1920240" cy="1097280"/>
          </a:xfrm>
          <a:prstGeom prst="roundRect">
            <a:avLst>
              <a:gd name="adj" fmla="val 10000"/>
            </a:avLst>
          </a:prstGeom>
          <a:solidFill>
            <a:srgbClr val="E5F4F2"/>
          </a:solidFill>
          <a:ln/>
        </p:spPr>
        <p:txBody>
          <a:bodyPr/>
          <a:lstStyle/>
          <a:p>
            <a:endParaRPr lang="he-IL"/>
          </a:p>
        </p:txBody>
      </p:sp>
      <p:sp>
        <p:nvSpPr>
          <p:cNvPr id="15" name="Text 12"/>
          <p:cNvSpPr txBox="1"/>
          <p:nvPr/>
        </p:nvSpPr>
        <p:spPr>
          <a:xfrm>
            <a:off x="6461608"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16" name="Text 13"/>
          <p:cNvSpPr txBox="1"/>
          <p:nvPr/>
        </p:nvSpPr>
        <p:spPr>
          <a:xfrm>
            <a:off x="6461608"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1F8F83"/>
                </a:solidFill>
                <a:latin typeface="Arial" pitchFamily="34" charset="0"/>
                <a:ea typeface="Arial" pitchFamily="34" charset="-122"/>
                <a:cs typeface="Arial" pitchFamily="34" charset="-120"/>
              </a:rPr>
              <a:t>8u</a:t>
            </a:r>
            <a:endParaRPr lang="en-US" sz="2200" dirty="0"/>
          </a:p>
        </p:txBody>
      </p:sp>
      <p:sp>
        <p:nvSpPr>
          <p:cNvPr id="17" name="Text 14"/>
          <p:cNvSpPr txBox="1"/>
          <p:nvPr/>
        </p:nvSpPr>
        <p:spPr>
          <a:xfrm>
            <a:off x="6461608"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לארוחה · במינון וויגובי 2.4 מ"ג</a:t>
            </a:r>
            <a:endParaRPr lang="he-IL" sz="1200" dirty="0"/>
          </a:p>
        </p:txBody>
      </p:sp>
      <p:sp>
        <p:nvSpPr>
          <p:cNvPr id="18" name="Text 15"/>
          <p:cNvSpPr txBox="1"/>
          <p:nvPr/>
        </p:nvSpPr>
        <p:spPr>
          <a:xfrm>
            <a:off x="6461608" y="3520440"/>
            <a:ext cx="4952848" cy="594360"/>
          </a:xfrm>
          <a:prstGeom prst="rect">
            <a:avLst/>
          </a:prstGeom>
          <a:noFill/>
          <a:ln/>
        </p:spPr>
        <p:txBody>
          <a:bodyPr wrap="square" lIns="0" tIns="0" rIns="0" bIns="0" rtlCol="0" anchor="ctr"/>
          <a:lstStyle/>
          <a:p>
            <a:pPr marL="0" indent="0" algn="r" rtl="1">
              <a:buNone/>
            </a:pPr>
            <a:r>
              <a:rPr lang="he-IL" altLang="en-US" sz="1350" dirty="0">
                <a:solidFill>
                  <a:srgbClr val="2E2A47"/>
                </a:solidFill>
                <a:latin typeface="Arial" pitchFamily="34" charset="0"/>
                <a:ea typeface="Arial" pitchFamily="34" charset="-122"/>
                <a:cs typeface="Arial" pitchFamily="34" charset="-120"/>
              </a:rPr>
              <a:t>המטופל לא קיבל אינסולין קצר טווח בהתחלה. לאחר הוספת נובורפיד הגיע ל-12 יחידות לארוחה, ועם ההגעה למינון המקסימלי של וויגובי (2.4 מ"ג) ירד ל-8 יחידות לארוחה.</a:t>
            </a:r>
            <a:endParaRPr lang="he-IL" sz="1350" dirty="0"/>
          </a:p>
        </p:txBody>
      </p:sp>
      <p:sp>
        <p:nvSpPr>
          <p:cNvPr id="19" name="Shape 16"/>
          <p:cNvSpPr/>
          <p:nvPr/>
        </p:nvSpPr>
        <p:spPr>
          <a:xfrm>
            <a:off x="548640" y="1508760"/>
            <a:ext cx="5410048" cy="2697480"/>
          </a:xfrm>
          <a:prstGeom prst="roundRect">
            <a:avLst>
              <a:gd name="adj" fmla="val 406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5272685" y="1655064"/>
            <a:ext cx="549046" cy="475488"/>
          </a:xfrm>
          <a:prstGeom prst="hexagon">
            <a:avLst/>
          </a:prstGeom>
          <a:solidFill>
            <a:srgbClr val="6E4494"/>
          </a:solidFill>
          <a:ln/>
        </p:spPr>
        <p:txBody>
          <a:bodyPr/>
          <a:lstStyle/>
          <a:p>
            <a:endParaRPr lang="he-IL"/>
          </a:p>
        </p:txBody>
      </p:sp>
      <p:pic>
        <p:nvPicPr>
          <p:cNvPr id="21"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37845" y="1783446"/>
            <a:ext cx="218724" cy="218724"/>
          </a:xfrm>
          <a:prstGeom prst="rect">
            <a:avLst/>
          </a:prstGeom>
        </p:spPr>
      </p:pic>
      <p:sp>
        <p:nvSpPr>
          <p:cNvPr id="22" name="Text 18"/>
          <p:cNvSpPr txBox="1"/>
          <p:nvPr/>
        </p:nvSpPr>
        <p:spPr>
          <a:xfrm>
            <a:off x="731520" y="1664208"/>
            <a:ext cx="4541368" cy="457200"/>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אינסולין בזאלי (טרגלודק Degludec)</a:t>
            </a:r>
            <a:endParaRPr lang="he-IL" sz="1600" dirty="0"/>
          </a:p>
        </p:txBody>
      </p:sp>
      <p:sp>
        <p:nvSpPr>
          <p:cNvPr id="23" name="Shape 19"/>
          <p:cNvSpPr/>
          <p:nvPr/>
        </p:nvSpPr>
        <p:spPr>
          <a:xfrm>
            <a:off x="3809848" y="2286000"/>
            <a:ext cx="1920240" cy="1097280"/>
          </a:xfrm>
          <a:prstGeom prst="roundRect">
            <a:avLst>
              <a:gd name="adj" fmla="val 10000"/>
            </a:avLst>
          </a:prstGeom>
          <a:solidFill>
            <a:srgbClr val="FBECEF"/>
          </a:solidFill>
          <a:ln/>
        </p:spPr>
        <p:txBody>
          <a:bodyPr/>
          <a:lstStyle/>
          <a:p>
            <a:endParaRPr lang="he-IL"/>
          </a:p>
        </p:txBody>
      </p:sp>
      <p:sp>
        <p:nvSpPr>
          <p:cNvPr id="24" name="Text 20"/>
          <p:cNvSpPr txBox="1"/>
          <p:nvPr/>
        </p:nvSpPr>
        <p:spPr>
          <a:xfrm>
            <a:off x="3809848"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25" name="Text 21"/>
          <p:cNvSpPr txBox="1"/>
          <p:nvPr/>
        </p:nvSpPr>
        <p:spPr>
          <a:xfrm>
            <a:off x="3809848"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C24863"/>
                </a:solidFill>
                <a:latin typeface="Arial" pitchFamily="34" charset="0"/>
                <a:ea typeface="Arial" pitchFamily="34" charset="-122"/>
                <a:cs typeface="Arial" pitchFamily="34" charset="-120"/>
              </a:rPr>
              <a:t>40</a:t>
            </a:r>
            <a:endParaRPr lang="en-US" sz="2200" dirty="0"/>
          </a:p>
        </p:txBody>
      </p:sp>
      <p:sp>
        <p:nvSpPr>
          <p:cNvPr id="26" name="Text 22"/>
          <p:cNvSpPr txBox="1"/>
          <p:nvPr/>
        </p:nvSpPr>
        <p:spPr>
          <a:xfrm>
            <a:off x="3809848"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27" name="Shape 23"/>
          <p:cNvSpPr/>
          <p:nvPr/>
        </p:nvSpPr>
        <p:spPr>
          <a:xfrm>
            <a:off x="2869616" y="2670048"/>
            <a:ext cx="768096" cy="329184"/>
          </a:xfrm>
          <a:prstGeom prst="leftArrow">
            <a:avLst/>
          </a:prstGeom>
          <a:solidFill>
            <a:srgbClr val="C9C2E3"/>
          </a:solidFill>
          <a:ln/>
        </p:spPr>
        <p:txBody>
          <a:bodyPr/>
          <a:lstStyle/>
          <a:p>
            <a:endParaRPr lang="he-IL"/>
          </a:p>
        </p:txBody>
      </p:sp>
      <p:sp>
        <p:nvSpPr>
          <p:cNvPr id="28" name="Shape 24"/>
          <p:cNvSpPr/>
          <p:nvPr/>
        </p:nvSpPr>
        <p:spPr>
          <a:xfrm>
            <a:off x="777240" y="2286000"/>
            <a:ext cx="1920240" cy="1097280"/>
          </a:xfrm>
          <a:prstGeom prst="roundRect">
            <a:avLst>
              <a:gd name="adj" fmla="val 10000"/>
            </a:avLst>
          </a:prstGeom>
          <a:solidFill>
            <a:srgbClr val="E5F4F2"/>
          </a:solidFill>
          <a:ln/>
        </p:spPr>
        <p:txBody>
          <a:bodyPr/>
          <a:lstStyle/>
          <a:p>
            <a:endParaRPr lang="he-IL"/>
          </a:p>
        </p:txBody>
      </p:sp>
      <p:sp>
        <p:nvSpPr>
          <p:cNvPr id="29" name="Text 25"/>
          <p:cNvSpPr txBox="1"/>
          <p:nvPr/>
        </p:nvSpPr>
        <p:spPr>
          <a:xfrm>
            <a:off x="777240"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30" name="Text 26"/>
          <p:cNvSpPr txBox="1"/>
          <p:nvPr/>
        </p:nvSpPr>
        <p:spPr>
          <a:xfrm>
            <a:off x="777240"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1F8F83"/>
                </a:solidFill>
                <a:latin typeface="Arial" pitchFamily="34" charset="0"/>
                <a:ea typeface="Arial" pitchFamily="34" charset="-122"/>
                <a:cs typeface="Arial" pitchFamily="34" charset="-120"/>
              </a:rPr>
              <a:t>36</a:t>
            </a:r>
            <a:endParaRPr lang="en-US" sz="2200" dirty="0"/>
          </a:p>
        </p:txBody>
      </p:sp>
      <p:sp>
        <p:nvSpPr>
          <p:cNvPr id="31" name="Text 27"/>
          <p:cNvSpPr txBox="1"/>
          <p:nvPr/>
        </p:nvSpPr>
        <p:spPr>
          <a:xfrm>
            <a:off x="777240"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32" name="Text 28"/>
          <p:cNvSpPr txBox="1"/>
          <p:nvPr/>
        </p:nvSpPr>
        <p:spPr>
          <a:xfrm>
            <a:off x="777240" y="3520440"/>
            <a:ext cx="4952848" cy="594360"/>
          </a:xfrm>
          <a:prstGeom prst="rect">
            <a:avLst/>
          </a:prstGeom>
          <a:noFill/>
          <a:ln/>
        </p:spPr>
        <p:txBody>
          <a:bodyPr wrap="square" lIns="0" tIns="0" rIns="0" bIns="0" rtlCol="0" anchor="ctr"/>
          <a:lstStyle/>
          <a:p>
            <a:pPr marL="0" indent="0" algn="r" rtl="1">
              <a:buNone/>
            </a:pPr>
            <a:r>
              <a:rPr lang="he-IL" altLang="en-US" sz="1350" dirty="0">
                <a:solidFill>
                  <a:srgbClr val="2E2A47"/>
                </a:solidFill>
                <a:latin typeface="Arial" pitchFamily="34" charset="0"/>
                <a:ea typeface="Arial" pitchFamily="34" charset="-122"/>
                <a:cs typeface="Arial" pitchFamily="34" charset="-120"/>
              </a:rPr>
              <a:t>האינסולין הבזאלי ירד מ-40 יחידות ל-36 יחידות פעם ביום.</a:t>
            </a:r>
            <a:endParaRPr lang="he-IL" sz="1350" dirty="0"/>
          </a:p>
        </p:txBody>
      </p:sp>
      <p:sp>
        <p:nvSpPr>
          <p:cNvPr id="33" name="Shape 29"/>
          <p:cNvSpPr/>
          <p:nvPr/>
        </p:nvSpPr>
        <p:spPr>
          <a:xfrm>
            <a:off x="6233008" y="4389120"/>
            <a:ext cx="5410048" cy="1645920"/>
          </a:xfrm>
          <a:prstGeom prst="roundRect">
            <a:avLst>
              <a:gd name="adj" fmla="val 6667"/>
            </a:avLst>
          </a:prstGeom>
          <a:solidFill>
            <a:srgbClr val="ECF4FC"/>
          </a:solidFill>
          <a:ln/>
        </p:spPr>
        <p:txBody>
          <a:bodyPr/>
          <a:lstStyle/>
          <a:p>
            <a:endParaRPr lang="he-IL"/>
          </a:p>
        </p:txBody>
      </p:sp>
      <p:sp>
        <p:nvSpPr>
          <p:cNvPr id="34" name="Shape 30"/>
          <p:cNvSpPr/>
          <p:nvPr/>
        </p:nvSpPr>
        <p:spPr>
          <a:xfrm rot="5400000">
            <a:off x="10803675" y="4928616"/>
            <a:ext cx="654632" cy="566928"/>
          </a:xfrm>
          <a:prstGeom prst="hexagon">
            <a:avLst/>
          </a:prstGeom>
          <a:solidFill>
            <a:srgbClr val="4A90D0"/>
          </a:solidFill>
          <a:ln/>
        </p:spPr>
        <p:txBody>
          <a:bodyPr/>
          <a:lstStyle/>
          <a:p>
            <a:endParaRPr lang="he-IL"/>
          </a:p>
        </p:txBody>
      </p:sp>
      <p:pic>
        <p:nvPicPr>
          <p:cNvPr id="35"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000598" y="5081687"/>
            <a:ext cx="260787" cy="260787"/>
          </a:xfrm>
          <a:prstGeom prst="rect">
            <a:avLst/>
          </a:prstGeom>
        </p:spPr>
      </p:pic>
      <p:sp>
        <p:nvSpPr>
          <p:cNvPr id="36" name="Text 31"/>
          <p:cNvSpPr txBox="1"/>
          <p:nvPr/>
        </p:nvSpPr>
        <p:spPr>
          <a:xfrm>
            <a:off x="6461608" y="4526280"/>
            <a:ext cx="4294480" cy="137160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4A90D0"/>
                </a:solidFill>
                <a:latin typeface="Arial" pitchFamily="34" charset="0"/>
                <a:ea typeface="Arial" pitchFamily="34" charset="-122"/>
                <a:cs typeface="Arial" pitchFamily="34" charset="-120"/>
              </a:rPr>
              <a:t>התאמת האינסולין הבזאלי במקרה זה:</a:t>
            </a:r>
            <a:endParaRPr lang="he-IL" sz="1400" dirty="0"/>
          </a:p>
          <a:p>
            <a:pPr marL="0" indent="0" algn="r" rtl="1">
              <a:spcAft>
                <a:spcPts val="400"/>
              </a:spcAft>
              <a:buNone/>
            </a:pPr>
            <a:r>
              <a:rPr lang="he-IL" altLang="en-US" sz="1450" dirty="0">
                <a:solidFill>
                  <a:srgbClr val="2E2A47"/>
                </a:solidFill>
                <a:latin typeface="Arial" pitchFamily="34" charset="0"/>
                <a:ea typeface="Arial" pitchFamily="34" charset="-122"/>
                <a:cs typeface="Arial" pitchFamily="34" charset="-120"/>
              </a:rPr>
              <a:t>במקרה זה הוחלט על ידי הצוות המטפל כי במידה וערכי הסוכר בצום בבוקר יורדים מתחת ל-90 mg/dL, יופחתו 2 יחידות מהאינסולין הבזאלי (Degludec), תוך ניטור רציף ב-Libre.</a:t>
            </a:r>
            <a:endParaRPr lang="he-IL" sz="1400" dirty="0"/>
          </a:p>
        </p:txBody>
      </p:sp>
      <p:sp>
        <p:nvSpPr>
          <p:cNvPr id="37" name="Shape 32"/>
          <p:cNvSpPr/>
          <p:nvPr/>
        </p:nvSpPr>
        <p:spPr>
          <a:xfrm>
            <a:off x="548640" y="4389120"/>
            <a:ext cx="5410048" cy="1645920"/>
          </a:xfrm>
          <a:prstGeom prst="roundRect">
            <a:avLst>
              <a:gd name="adj" fmla="val 6667"/>
            </a:avLst>
          </a:prstGeom>
          <a:solidFill>
            <a:srgbClr val="FBECEF"/>
          </a:solidFill>
          <a:ln/>
        </p:spPr>
        <p:txBody>
          <a:bodyPr/>
          <a:lstStyle/>
          <a:p>
            <a:endParaRPr lang="he-IL"/>
          </a:p>
        </p:txBody>
      </p:sp>
      <p:sp>
        <p:nvSpPr>
          <p:cNvPr id="38" name="Shape 33"/>
          <p:cNvSpPr/>
          <p:nvPr/>
        </p:nvSpPr>
        <p:spPr>
          <a:xfrm rot="5400000">
            <a:off x="5119308" y="4928616"/>
            <a:ext cx="654632" cy="566928"/>
          </a:xfrm>
          <a:prstGeom prst="hexagon">
            <a:avLst/>
          </a:prstGeom>
          <a:solidFill>
            <a:srgbClr val="C24863"/>
          </a:solidFill>
          <a:ln/>
        </p:spPr>
        <p:txBody>
          <a:bodyPr/>
          <a:lstStyle/>
          <a:p>
            <a:endParaRPr lang="he-IL"/>
          </a:p>
        </p:txBody>
      </p:sp>
      <p:pic>
        <p:nvPicPr>
          <p:cNvPr id="39"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316230" y="5081687"/>
            <a:ext cx="260787" cy="260787"/>
          </a:xfrm>
          <a:prstGeom prst="rect">
            <a:avLst/>
          </a:prstGeom>
        </p:spPr>
      </p:pic>
      <p:sp>
        <p:nvSpPr>
          <p:cNvPr id="40" name="Text 34"/>
          <p:cNvSpPr txBox="1"/>
          <p:nvPr/>
        </p:nvSpPr>
        <p:spPr>
          <a:xfrm>
            <a:off x="777240" y="4526280"/>
            <a:ext cx="4294480" cy="137160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C24863"/>
                </a:solidFill>
                <a:latin typeface="Arial" pitchFamily="34" charset="0"/>
                <a:ea typeface="Arial" pitchFamily="34" charset="-122"/>
                <a:cs typeface="Arial" pitchFamily="34" charset="-120"/>
              </a:rPr>
              <a:t>נקודת בטיחות (מתוך עלון התכשיר):</a:t>
            </a:r>
            <a:endParaRPr lang="he-IL" sz="1400" dirty="0"/>
          </a:p>
          <a:p>
            <a:pPr marL="0" indent="0" algn="r" rtl="1">
              <a:spcAft>
                <a:spcPts val="400"/>
              </a:spcAft>
              <a:buNone/>
            </a:pPr>
            <a:r>
              <a:rPr lang="he-IL" altLang="en-US" sz="1450" dirty="0">
                <a:solidFill>
                  <a:srgbClr val="2E2A47"/>
                </a:solidFill>
                <a:latin typeface="Arial" pitchFamily="34" charset="0"/>
                <a:ea typeface="Arial" pitchFamily="34" charset="-122"/>
                <a:cs typeface="Arial" pitchFamily="34" charset="-120"/>
              </a:rPr>
              <a:t>בעת התחלת טיפול בסמגלוטייד במטופלים עם סוכרת מסוג 2, יש לשקול הפחתת מינון האינסולין הניתן במקביל, להפחתת הסיכון להיפוגליקמיה (Wegovy® IL SPC).</a:t>
            </a:r>
            <a:endParaRPr lang="he-IL" sz="1400" dirty="0"/>
          </a:p>
        </p:txBody>
      </p:sp>
      <p:sp>
        <p:nvSpPr>
          <p:cNvPr id="41"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סמגלוטייד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3: הישגים קליניים במעקב ספטמבר 2026</a:t>
            </a:r>
            <a:endParaRPr lang="he-IL" sz="2600" dirty="0"/>
          </a:p>
        </p:txBody>
      </p:sp>
      <p:sp>
        <p:nvSpPr>
          <p:cNvPr id="5" name="Shape 3"/>
          <p:cNvSpPr/>
          <p:nvPr/>
        </p:nvSpPr>
        <p:spPr>
          <a:xfrm>
            <a:off x="9040901"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014662" y="1682496"/>
            <a:ext cx="654632" cy="566928"/>
          </a:xfrm>
          <a:prstGeom prst="hexagon">
            <a:avLst/>
          </a:prstGeom>
          <a:solidFill>
            <a:srgbClr val="5280C8"/>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11585" y="1835567"/>
            <a:ext cx="260787" cy="260787"/>
          </a:xfrm>
          <a:prstGeom prst="rect">
            <a:avLst/>
          </a:prstGeom>
        </p:spPr>
      </p:pic>
      <p:sp>
        <p:nvSpPr>
          <p:cNvPr id="8" name="Text 5"/>
          <p:cNvSpPr txBox="1"/>
          <p:nvPr/>
        </p:nvSpPr>
        <p:spPr>
          <a:xfrm>
            <a:off x="9178061"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איזון גליקמי HbA1C</a:t>
            </a:r>
            <a:endParaRPr lang="he-IL" sz="1400" dirty="0"/>
          </a:p>
        </p:txBody>
      </p:sp>
      <p:sp>
        <p:nvSpPr>
          <p:cNvPr id="9" name="Text 6"/>
          <p:cNvSpPr txBox="1"/>
          <p:nvPr/>
        </p:nvSpPr>
        <p:spPr>
          <a:xfrm>
            <a:off x="9132341" y="2697480"/>
            <a:ext cx="2419274" cy="594360"/>
          </a:xfrm>
          <a:prstGeom prst="rect">
            <a:avLst/>
          </a:prstGeom>
          <a:noFill/>
          <a:ln/>
        </p:spPr>
        <p:txBody>
          <a:bodyPr wrap="square" lIns="0" tIns="0" rIns="0" bIns="0" rtlCol="0" anchor="ctr"/>
          <a:lstStyle/>
          <a:p>
            <a:pPr marL="0" indent="0" algn="ctr">
              <a:buNone/>
            </a:pPr>
            <a:r>
              <a:rPr lang="en-US" altLang="en-US" sz="3000" b="1" dirty="0">
                <a:solidFill>
                  <a:srgbClr val="6E4494"/>
                </a:solidFill>
                <a:latin typeface="Arial" pitchFamily="34" charset="0"/>
                <a:ea typeface="Arial" pitchFamily="34" charset="-122"/>
                <a:cs typeface="Arial" pitchFamily="34" charset="-120"/>
              </a:rPr>
              <a:t>5.0%</a:t>
            </a:r>
            <a:endParaRPr lang="en-US" sz="3000" dirty="0"/>
          </a:p>
        </p:txBody>
      </p:sp>
      <p:sp>
        <p:nvSpPr>
          <p:cNvPr id="10" name="Text 7"/>
          <p:cNvSpPr txBox="1"/>
          <p:nvPr/>
        </p:nvSpPr>
        <p:spPr>
          <a:xfrm>
            <a:off x="9178061"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ירידה מ-13.4% בבסיס!</a:t>
            </a:r>
            <a:endParaRPr lang="he-IL" sz="1350" dirty="0"/>
          </a:p>
        </p:txBody>
      </p:sp>
      <p:sp>
        <p:nvSpPr>
          <p:cNvPr id="11" name="Text 8"/>
          <p:cNvSpPr txBox="1"/>
          <p:nvPr/>
        </p:nvSpPr>
        <p:spPr>
          <a:xfrm>
            <a:off x="9223781"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ירידה של 8.4% ב-A1C ללא אירועי היפוגליקמיה חמורים.</a:t>
            </a:r>
            <a:endParaRPr lang="he-IL" sz="1250" dirty="0"/>
          </a:p>
        </p:txBody>
      </p:sp>
      <p:sp>
        <p:nvSpPr>
          <p:cNvPr id="12" name="Shape 9"/>
          <p:cNvSpPr/>
          <p:nvPr/>
        </p:nvSpPr>
        <p:spPr>
          <a:xfrm>
            <a:off x="6210148"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0"/>
          <p:cNvSpPr/>
          <p:nvPr/>
        </p:nvSpPr>
        <p:spPr>
          <a:xfrm rot="5400000">
            <a:off x="7183909" y="1682496"/>
            <a:ext cx="654632" cy="566928"/>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380831" y="1835567"/>
            <a:ext cx="260787" cy="260787"/>
          </a:xfrm>
          <a:prstGeom prst="rect">
            <a:avLst/>
          </a:prstGeom>
        </p:spPr>
      </p:pic>
      <p:sp>
        <p:nvSpPr>
          <p:cNvPr id="15" name="Text 11"/>
          <p:cNvSpPr txBox="1"/>
          <p:nvPr/>
        </p:nvSpPr>
        <p:spPr>
          <a:xfrm>
            <a:off x="6347308"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ירידה במשקל וב-BMI</a:t>
            </a:r>
            <a:endParaRPr lang="he-IL" sz="1400" dirty="0"/>
          </a:p>
        </p:txBody>
      </p:sp>
      <p:sp>
        <p:nvSpPr>
          <p:cNvPr id="16" name="Text 12"/>
          <p:cNvSpPr txBox="1"/>
          <p:nvPr/>
        </p:nvSpPr>
        <p:spPr>
          <a:xfrm>
            <a:off x="6301588"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‎-11 ק"ג</a:t>
            </a:r>
            <a:endParaRPr lang="he-IL" sz="3000" dirty="0"/>
          </a:p>
        </p:txBody>
      </p:sp>
      <p:sp>
        <p:nvSpPr>
          <p:cNvPr id="17" name="Text 13"/>
          <p:cNvSpPr txBox="1"/>
          <p:nvPr/>
        </p:nvSpPr>
        <p:spPr>
          <a:xfrm>
            <a:off x="6347308"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משקל: 85 ק"ג (מ-96 ק"ג)</a:t>
            </a:r>
            <a:endParaRPr lang="he-IL" sz="1350" dirty="0"/>
          </a:p>
        </p:txBody>
      </p:sp>
      <p:sp>
        <p:nvSpPr>
          <p:cNvPr id="18" name="Text 14"/>
          <p:cNvSpPr txBox="1"/>
          <p:nvPr/>
        </p:nvSpPr>
        <p:spPr>
          <a:xfrm>
            <a:off x="6393028"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BMI ירד מ-36.1 ל-32.0, הפחתת היקף מותניים והקלה בעומס על הרגליים.</a:t>
            </a:r>
            <a:endParaRPr lang="he-IL" sz="1250" dirty="0"/>
          </a:p>
        </p:txBody>
      </p:sp>
      <p:sp>
        <p:nvSpPr>
          <p:cNvPr id="19" name="Shape 15"/>
          <p:cNvSpPr/>
          <p:nvPr/>
        </p:nvSpPr>
        <p:spPr>
          <a:xfrm>
            <a:off x="3379394"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6"/>
          <p:cNvSpPr/>
          <p:nvPr/>
        </p:nvSpPr>
        <p:spPr>
          <a:xfrm rot="5400000">
            <a:off x="4353155" y="1682496"/>
            <a:ext cx="654632" cy="566928"/>
          </a:xfrm>
          <a:prstGeom prst="hexagon">
            <a:avLst/>
          </a:prstGeom>
          <a:solidFill>
            <a:srgbClr val="6658A6"/>
          </a:solidFill>
          <a:ln/>
        </p:spPr>
        <p:txBody>
          <a:bodyPr/>
          <a:lstStyle/>
          <a:p>
            <a:endParaRPr lang="he-IL"/>
          </a:p>
        </p:txBody>
      </p:sp>
      <p:pic>
        <p:nvPicPr>
          <p:cNvPr id="21"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550077" y="1835567"/>
            <a:ext cx="260787" cy="260787"/>
          </a:xfrm>
          <a:prstGeom prst="rect">
            <a:avLst/>
          </a:prstGeom>
        </p:spPr>
      </p:pic>
      <p:sp>
        <p:nvSpPr>
          <p:cNvPr id="22" name="Text 17"/>
          <p:cNvSpPr txBox="1"/>
          <p:nvPr/>
        </p:nvSpPr>
        <p:spPr>
          <a:xfrm>
            <a:off x="3516554"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אינסולין בולוס (נובורפיד)</a:t>
            </a:r>
            <a:endParaRPr lang="he-IL" sz="1400" dirty="0"/>
          </a:p>
        </p:txBody>
      </p:sp>
      <p:sp>
        <p:nvSpPr>
          <p:cNvPr id="23" name="Text 18"/>
          <p:cNvSpPr txBox="1"/>
          <p:nvPr/>
        </p:nvSpPr>
        <p:spPr>
          <a:xfrm>
            <a:off x="3470834"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8u לארוחה</a:t>
            </a:r>
            <a:endParaRPr lang="he-IL" sz="3000" dirty="0"/>
          </a:p>
        </p:txBody>
      </p:sp>
      <p:sp>
        <p:nvSpPr>
          <p:cNvPr id="24" name="Text 19"/>
          <p:cNvSpPr txBox="1"/>
          <p:nvPr/>
        </p:nvSpPr>
        <p:spPr>
          <a:xfrm>
            <a:off x="3516554"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ירד מ-12u לארוחה</a:t>
            </a:r>
            <a:endParaRPr lang="he-IL" sz="1350" dirty="0"/>
          </a:p>
        </p:txBody>
      </p:sp>
      <p:sp>
        <p:nvSpPr>
          <p:cNvPr id="25" name="Text 20"/>
          <p:cNvSpPr txBox="1"/>
          <p:nvPr/>
        </p:nvSpPr>
        <p:spPr>
          <a:xfrm>
            <a:off x="3562274"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ירידה ל-8 יחידות לארוחה במקביל להגעה למינון המקסימלי של וויגובי (2.4 מ"ג).</a:t>
            </a:r>
            <a:endParaRPr lang="he-IL" sz="1250" dirty="0"/>
          </a:p>
        </p:txBody>
      </p:sp>
      <p:sp>
        <p:nvSpPr>
          <p:cNvPr id="26" name="Shape 21"/>
          <p:cNvSpPr/>
          <p:nvPr/>
        </p:nvSpPr>
        <p:spPr>
          <a:xfrm>
            <a:off x="548640"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7" name="Shape 22"/>
          <p:cNvSpPr/>
          <p:nvPr/>
        </p:nvSpPr>
        <p:spPr>
          <a:xfrm rot="5400000">
            <a:off x="1522401" y="1682496"/>
            <a:ext cx="654632" cy="566928"/>
          </a:xfrm>
          <a:prstGeom prst="hexagon">
            <a:avLst/>
          </a:prstGeom>
          <a:solidFill>
            <a:srgbClr val="6E4494"/>
          </a:solidFill>
          <a:ln/>
        </p:spPr>
        <p:txBody>
          <a:bodyPr/>
          <a:lstStyle/>
          <a:p>
            <a:endParaRPr lang="he-IL"/>
          </a:p>
        </p:txBody>
      </p:sp>
      <p:pic>
        <p:nvPicPr>
          <p:cNvPr id="28"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719323" y="1835567"/>
            <a:ext cx="260787" cy="260787"/>
          </a:xfrm>
          <a:prstGeom prst="rect">
            <a:avLst/>
          </a:prstGeom>
        </p:spPr>
      </p:pic>
      <p:sp>
        <p:nvSpPr>
          <p:cNvPr id="29" name="Text 23"/>
          <p:cNvSpPr txBox="1"/>
          <p:nvPr/>
        </p:nvSpPr>
        <p:spPr>
          <a:xfrm>
            <a:off x="685800"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אינסולין בזאלי (טרגלודק)</a:t>
            </a:r>
            <a:endParaRPr lang="he-IL" sz="1400" dirty="0"/>
          </a:p>
        </p:txBody>
      </p:sp>
      <p:sp>
        <p:nvSpPr>
          <p:cNvPr id="30" name="Text 24"/>
          <p:cNvSpPr txBox="1"/>
          <p:nvPr/>
        </p:nvSpPr>
        <p:spPr>
          <a:xfrm>
            <a:off x="640080"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36 יחידות</a:t>
            </a:r>
            <a:endParaRPr lang="he-IL" sz="3000" dirty="0"/>
          </a:p>
        </p:txBody>
      </p:sp>
      <p:sp>
        <p:nvSpPr>
          <p:cNvPr id="31" name="Text 25"/>
          <p:cNvSpPr txBox="1"/>
          <p:nvPr/>
        </p:nvSpPr>
        <p:spPr>
          <a:xfrm>
            <a:off x="685800"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ירד מ-40 יחידות</a:t>
            </a:r>
            <a:endParaRPr lang="he-IL" sz="1350" dirty="0"/>
          </a:p>
        </p:txBody>
      </p:sp>
      <p:sp>
        <p:nvSpPr>
          <p:cNvPr id="32" name="Text 26"/>
          <p:cNvSpPr txBox="1"/>
          <p:nvPr/>
        </p:nvSpPr>
        <p:spPr>
          <a:xfrm>
            <a:off x="731520"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התאמה מבוקרת עם פרוטוקול צום &lt;90 mg/dL לשמירה מפני DKA.</a:t>
            </a:r>
            <a:endParaRPr lang="he-IL" sz="1250" dirty="0"/>
          </a:p>
        </p:txBody>
      </p:sp>
      <p:sp>
        <p:nvSpPr>
          <p:cNvPr id="33" name="Shape 27"/>
          <p:cNvSpPr/>
          <p:nvPr/>
        </p:nvSpPr>
        <p:spPr>
          <a:xfrm>
            <a:off x="548640" y="4800600"/>
            <a:ext cx="11094415" cy="1261872"/>
          </a:xfrm>
          <a:prstGeom prst="roundRect">
            <a:avLst>
              <a:gd name="adj" fmla="val 8696"/>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34" name="Shape 28"/>
          <p:cNvSpPr/>
          <p:nvPr/>
        </p:nvSpPr>
        <p:spPr>
          <a:xfrm rot="5400000">
            <a:off x="10796981" y="5134356"/>
            <a:ext cx="686307" cy="594360"/>
          </a:xfrm>
          <a:prstGeom prst="hexagon">
            <a:avLst/>
          </a:prstGeom>
          <a:solidFill>
            <a:srgbClr val="FFFFFF"/>
          </a:solidFill>
          <a:ln/>
        </p:spPr>
        <p:txBody>
          <a:bodyPr/>
          <a:lstStyle/>
          <a:p>
            <a:endParaRPr lang="he-IL"/>
          </a:p>
        </p:txBody>
      </p:sp>
      <p:pic>
        <p:nvPicPr>
          <p:cNvPr id="35"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003432" y="5294833"/>
            <a:ext cx="273406" cy="273406"/>
          </a:xfrm>
          <a:prstGeom prst="rect">
            <a:avLst/>
          </a:prstGeom>
        </p:spPr>
      </p:pic>
      <p:sp>
        <p:nvSpPr>
          <p:cNvPr id="36" name="Text 29"/>
          <p:cNvSpPr txBox="1"/>
          <p:nvPr/>
        </p:nvSpPr>
        <p:spPr>
          <a:xfrm>
            <a:off x="822960" y="4864608"/>
            <a:ext cx="9722815" cy="1133856"/>
          </a:xfrm>
          <a:prstGeom prst="rect">
            <a:avLst/>
          </a:prstGeom>
          <a:noFill/>
          <a:ln/>
        </p:spPr>
        <p:txBody>
          <a:bodyPr wrap="square" lIns="0" tIns="0" rIns="0" bIns="0" rtlCol="0" anchor="ctr"/>
          <a:lstStyle/>
          <a:p>
            <a:pPr marL="0" indent="0" algn="r" rtl="1">
              <a:spcAft>
                <a:spcPts val="400"/>
              </a:spcAft>
              <a:buNone/>
            </a:pPr>
            <a:r>
              <a:rPr lang="he-IL" altLang="en-US" sz="1500" dirty="0">
                <a:solidFill>
                  <a:srgbClr val="FFFFFF"/>
                </a:solidFill>
                <a:latin typeface="Arial" pitchFamily="34" charset="0"/>
                <a:ea typeface="Arial" pitchFamily="34" charset="-122"/>
                <a:cs typeface="Arial" pitchFamily="34" charset="-120"/>
              </a:rPr>
              <a:t>נקודת בטיחות קלינית ב- </a:t>
            </a:r>
            <a:r>
              <a:rPr lang="en-US" altLang="en-US" sz="1500" dirty="0">
                <a:solidFill>
                  <a:srgbClr val="FFFFFF"/>
                </a:solidFill>
                <a:latin typeface="Arial" pitchFamily="34" charset="0"/>
                <a:ea typeface="Arial" pitchFamily="34" charset="-122"/>
                <a:cs typeface="Arial" pitchFamily="34" charset="-120"/>
              </a:rPr>
              <a:t>T1D</a:t>
            </a:r>
            <a:r>
              <a:rPr lang="he-IL" altLang="en-US" sz="1500" dirty="0">
                <a:solidFill>
                  <a:srgbClr val="FFFFFF"/>
                </a:solidFill>
                <a:latin typeface="Arial" pitchFamily="34" charset="0"/>
                <a:ea typeface="Arial" pitchFamily="34" charset="-122"/>
                <a:cs typeface="Arial" pitchFamily="34" charset="-120"/>
              </a:rPr>
              <a:t>: </a:t>
            </a:r>
            <a:r>
              <a:rPr lang="da-DK" altLang="en-US" sz="1500" dirty="0">
                <a:solidFill>
                  <a:srgbClr val="FFFFFF"/>
                </a:solidFill>
                <a:latin typeface="Arial" pitchFamily="34" charset="0"/>
                <a:ea typeface="Arial" pitchFamily="34" charset="-122"/>
                <a:cs typeface="Arial" pitchFamily="34" charset="-120"/>
              </a:rPr>
              <a:t> </a:t>
            </a:r>
            <a:r>
              <a:rPr lang="he-IL" altLang="en-US" sz="1500" dirty="0">
                <a:solidFill>
                  <a:srgbClr val="FFFFFF"/>
                </a:solidFill>
                <a:latin typeface="Arial" pitchFamily="34" charset="0"/>
                <a:ea typeface="Arial" pitchFamily="34" charset="-122"/>
                <a:cs typeface="Arial" pitchFamily="34" charset="-120"/>
              </a:rPr>
              <a:t>נדרש ניטור גליקמי והתאמה אינדיבידואלית של מינוני האינסולין. טיפול ב-</a:t>
            </a:r>
            <a:r>
              <a:rPr lang="da-DK" altLang="en-US" sz="1500" dirty="0">
                <a:solidFill>
                  <a:srgbClr val="FFFFFF"/>
                </a:solidFill>
                <a:latin typeface="Arial" pitchFamily="34" charset="0"/>
                <a:ea typeface="Arial" pitchFamily="34" charset="-122"/>
                <a:cs typeface="Arial" pitchFamily="34" charset="-120"/>
              </a:rPr>
              <a:t>semaglutide </a:t>
            </a:r>
            <a:r>
              <a:rPr lang="he-IL" altLang="en-US" sz="1500" dirty="0">
                <a:solidFill>
                  <a:srgbClr val="FFFFFF"/>
                </a:solidFill>
                <a:latin typeface="Arial" pitchFamily="34" charset="0"/>
                <a:ea typeface="Arial" pitchFamily="34" charset="-122"/>
                <a:cs typeface="Arial" pitchFamily="34" charset="-120"/>
              </a:rPr>
              <a:t> אינו מהווה תחליף לטיפול באינסולין</a:t>
            </a:r>
            <a:endParaRPr lang="he-IL" sz="1500" dirty="0"/>
          </a:p>
        </p:txBody>
      </p:sp>
      <p:sp>
        <p:nvSpPr>
          <p:cNvPr id="3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34</a:t>
            </a:fld>
            <a:endParaRPr lang="en-US"/>
          </a:p>
        </p:txBody>
      </p:sp>
      <p:sp>
        <p:nvSpPr>
          <p:cNvPr id="39" name="TextBox 38">
            <a:extLst>
              <a:ext uri="{FF2B5EF4-FFF2-40B4-BE49-F238E27FC236}">
                <a16:creationId xmlns:a16="http://schemas.microsoft.com/office/drawing/2014/main" id="{BBC0D392-2C59-6E71-9628-A43C6BCEA906}"/>
              </a:ext>
            </a:extLst>
          </p:cNvPr>
          <p:cNvSpPr txBox="1"/>
          <p:nvPr/>
        </p:nvSpPr>
        <p:spPr>
          <a:xfrm>
            <a:off x="640080" y="5988365"/>
            <a:ext cx="6094476" cy="284630"/>
          </a:xfrm>
          <a:prstGeom prst="rect">
            <a:avLst/>
          </a:prstGeom>
          <a:noFill/>
        </p:spPr>
        <p:txBody>
          <a:bodyPr wrap="square">
            <a:spAutoFit/>
          </a:bodyPr>
          <a:lstStyle/>
          <a:p>
            <a:pPr fontAlgn="t">
              <a:lnSpc>
                <a:spcPct val="119048"/>
              </a:lnSpc>
              <a:buNone/>
            </a:pPr>
            <a:r>
              <a:rPr lang="he-IL" sz="1050" b="0" i="0" dirty="0">
                <a:effectLst/>
                <a:latin typeface="Segoe UI" panose="020B0502040204020203" pitchFamily="34" charset="0"/>
              </a:rPr>
              <a:t>Individual patient case; outcomes may not be representative of those observed in other patient</a:t>
            </a:r>
            <a:r>
              <a:rPr lang="en-US" sz="1050" b="0" i="0" dirty="0">
                <a:effectLst/>
                <a:latin typeface="Segoe UI" panose="020B0502040204020203" pitchFamily="34" charset="0"/>
              </a:rPr>
              <a:t>s</a:t>
            </a:r>
            <a:endParaRPr lang="he-IL" sz="1050" b="0" i="0" dirty="0">
              <a:effectLst/>
              <a:latin typeface="Segoe UI" panose="020B0502040204020203"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04</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4</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מעקב ספטמבר 2026</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ניתוח מדדי חיישן סוכר Libre 2 / AGP: זינוק ב-TIR מ-30% ל-79%, סוכר ממוצע 116 mg/dL, GMI 6.1% וניתוח פרופיל יממתי מלא</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4: ניתוח מדדי חיישן FreeStyle Libre 2 ו-AGP</a:t>
            </a:r>
            <a:endParaRPr lang="he-IL" sz="2100" dirty="0"/>
          </a:p>
        </p:txBody>
      </p:sp>
      <p:sp>
        <p:nvSpPr>
          <p:cNvPr id="5" name="Text 3"/>
          <p:cNvSpPr txBox="1"/>
          <p:nvPr/>
        </p:nvSpPr>
        <p:spPr>
          <a:xfrm>
            <a:off x="548640" y="1444752"/>
            <a:ext cx="5120640" cy="365760"/>
          </a:xfrm>
          <a:prstGeom prst="rect">
            <a:avLst/>
          </a:prstGeom>
          <a:noFill/>
          <a:ln/>
        </p:spPr>
        <p:txBody>
          <a:bodyPr wrap="square" lIns="0" tIns="0" rIns="0" bIns="0" rtlCol="0" anchor="t"/>
          <a:lstStyle/>
          <a:p>
            <a:pPr marL="0" indent="0" algn="r" rtl="1">
              <a:buNone/>
            </a:pPr>
            <a:r>
              <a:rPr lang="he-IL" altLang="en-US" sz="1450" b="1" dirty="0">
                <a:solidFill>
                  <a:srgbClr val="6E4494"/>
                </a:solidFill>
                <a:latin typeface="Arial" pitchFamily="34" charset="0"/>
                <a:ea typeface="Arial" pitchFamily="34" charset="-122"/>
                <a:cs typeface="Arial" pitchFamily="34" charset="-120"/>
              </a:rPr>
              <a:t>תוצאות דוח ה-AGP המעודכן (24/8/2026 - 6/9/2026)</a:t>
            </a:r>
            <a:endParaRPr lang="he-IL" sz="1450" dirty="0"/>
          </a:p>
        </p:txBody>
      </p:sp>
      <p:pic>
        <p:nvPicPr>
          <p:cNvPr id="6" name="Image 0" descr="/tmp/claude-0/-home-claude/83ba285b-7ef1-5a4f-9afe-ea04c4b9d63d/scratchpad/src/ppt/media/image-23-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874520"/>
            <a:ext cx="5120640" cy="4023360"/>
          </a:xfrm>
          <a:prstGeom prst="rect">
            <a:avLst/>
          </a:prstGeom>
          <a:effectLst>
            <a:outerShdw blurRad="127000" dist="38100" dir="5400000" algn="bl" rotWithShape="0">
              <a:srgbClr val="2B2560">
                <a:alpha val="10000"/>
              </a:srgbClr>
            </a:outerShdw>
          </a:effectLst>
        </p:spPr>
      </p:pic>
      <p:sp>
        <p:nvSpPr>
          <p:cNvPr id="7" name="Shape 4"/>
          <p:cNvSpPr/>
          <p:nvPr/>
        </p:nvSpPr>
        <p:spPr>
          <a:xfrm>
            <a:off x="8883396" y="1508760"/>
            <a:ext cx="2756916" cy="1399032"/>
          </a:xfrm>
          <a:prstGeom prst="roundRect">
            <a:avLst>
              <a:gd name="adj" fmla="val 7843"/>
            </a:avLst>
          </a:prstGeom>
          <a:solidFill>
            <a:srgbClr val="6E4494"/>
          </a:solidFill>
          <a:ln/>
          <a:effectLst>
            <a:outerShdw blurRad="127000" dist="38100" dir="5400000" algn="bl" rotWithShape="0">
              <a:srgbClr val="2B2560">
                <a:alpha val="10000"/>
              </a:srgbClr>
            </a:outerShdw>
          </a:effectLst>
        </p:spPr>
        <p:txBody>
          <a:bodyPr/>
          <a:lstStyle/>
          <a:p>
            <a:endParaRPr lang="he-IL"/>
          </a:p>
        </p:txBody>
      </p:sp>
      <p:sp>
        <p:nvSpPr>
          <p:cNvPr id="8" name="Text 5"/>
          <p:cNvSpPr txBox="1"/>
          <p:nvPr/>
        </p:nvSpPr>
        <p:spPr>
          <a:xfrm>
            <a:off x="9047988" y="1618488"/>
            <a:ext cx="2427732" cy="292608"/>
          </a:xfrm>
          <a:prstGeom prst="rect">
            <a:avLst/>
          </a:prstGeom>
          <a:noFill/>
          <a:ln/>
        </p:spPr>
        <p:txBody>
          <a:bodyPr wrap="square" lIns="0" tIns="0" rIns="0" bIns="0" rtlCol="0" anchor="t"/>
          <a:lstStyle/>
          <a:p>
            <a:pPr marL="0" indent="0" algn="r" rtl="1">
              <a:buNone/>
            </a:pPr>
            <a:r>
              <a:rPr lang="he-IL" altLang="en-US" sz="1250" b="1" dirty="0">
                <a:solidFill>
                  <a:srgbClr val="D6D0F0"/>
                </a:solidFill>
                <a:latin typeface="Arial" pitchFamily="34" charset="0"/>
                <a:ea typeface="Arial" pitchFamily="34" charset="-122"/>
                <a:cs typeface="Arial" pitchFamily="34" charset="-120"/>
              </a:rPr>
              <a:t>זמן בטווח היעד (TIR 70-180 mg/dL)</a:t>
            </a:r>
            <a:endParaRPr lang="he-IL" sz="1250" dirty="0"/>
          </a:p>
        </p:txBody>
      </p:sp>
      <p:sp>
        <p:nvSpPr>
          <p:cNvPr id="9" name="Text 6"/>
          <p:cNvSpPr txBox="1"/>
          <p:nvPr/>
        </p:nvSpPr>
        <p:spPr>
          <a:xfrm>
            <a:off x="9047988" y="1920240"/>
            <a:ext cx="2427732" cy="530352"/>
          </a:xfrm>
          <a:prstGeom prst="rect">
            <a:avLst/>
          </a:prstGeom>
          <a:noFill/>
          <a:ln/>
        </p:spPr>
        <p:txBody>
          <a:bodyPr wrap="square" lIns="0" tIns="0" rIns="0" bIns="0" rtlCol="0" anchor="ctr"/>
          <a:lstStyle/>
          <a:p>
            <a:pPr marL="0" indent="0" algn="r">
              <a:buNone/>
            </a:pPr>
            <a:r>
              <a:rPr lang="en-US" altLang="en-US" sz="2800" b="1" dirty="0">
                <a:solidFill>
                  <a:srgbClr val="FFFFFF"/>
                </a:solidFill>
                <a:latin typeface="Arial" pitchFamily="34" charset="0"/>
                <a:ea typeface="Arial" pitchFamily="34" charset="-122"/>
                <a:cs typeface="Arial" pitchFamily="34" charset="-120"/>
              </a:rPr>
              <a:t>79%</a:t>
            </a:r>
            <a:endParaRPr lang="en-US" sz="2800" dirty="0"/>
          </a:p>
        </p:txBody>
      </p:sp>
      <p:sp>
        <p:nvSpPr>
          <p:cNvPr id="10" name="Text 7"/>
          <p:cNvSpPr txBox="1"/>
          <p:nvPr/>
        </p:nvSpPr>
        <p:spPr>
          <a:xfrm>
            <a:off x="9047988" y="2478024"/>
            <a:ext cx="2427732" cy="365760"/>
          </a:xfrm>
          <a:prstGeom prst="rect">
            <a:avLst/>
          </a:prstGeom>
          <a:noFill/>
          <a:ln/>
        </p:spPr>
        <p:txBody>
          <a:bodyPr wrap="square" lIns="0" tIns="0" rIns="0" bIns="0" rtlCol="0" anchor="t"/>
          <a:lstStyle/>
          <a:p>
            <a:pPr marL="0" indent="0" algn="r" rtl="1">
              <a:buNone/>
            </a:pPr>
            <a:r>
              <a:rPr lang="he-IL" altLang="en-US" sz="1200" dirty="0">
                <a:solidFill>
                  <a:srgbClr val="FFFFFF"/>
                </a:solidFill>
                <a:latin typeface="Arial" pitchFamily="34" charset="0"/>
                <a:ea typeface="Arial" pitchFamily="34" charset="-122"/>
                <a:cs typeface="Arial" pitchFamily="34" charset="-120"/>
              </a:rPr>
              <a:t>עבר בהצלחה רבה את היעד הבינלאומי (&gt;70%)!</a:t>
            </a:r>
            <a:endParaRPr lang="he-IL" sz="1200" dirty="0"/>
          </a:p>
        </p:txBody>
      </p:sp>
      <p:sp>
        <p:nvSpPr>
          <p:cNvPr id="11" name="Shape 8"/>
          <p:cNvSpPr/>
          <p:nvPr/>
        </p:nvSpPr>
        <p:spPr>
          <a:xfrm>
            <a:off x="5943600" y="1508760"/>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Text 9"/>
          <p:cNvSpPr txBox="1"/>
          <p:nvPr/>
        </p:nvSpPr>
        <p:spPr>
          <a:xfrm>
            <a:off x="6108192" y="1618488"/>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רמת גלוקוז ממוצעת</a:t>
            </a:r>
            <a:endParaRPr lang="he-IL" sz="1250" dirty="0"/>
          </a:p>
        </p:txBody>
      </p:sp>
      <p:sp>
        <p:nvSpPr>
          <p:cNvPr id="13" name="Text 10"/>
          <p:cNvSpPr txBox="1"/>
          <p:nvPr/>
        </p:nvSpPr>
        <p:spPr>
          <a:xfrm>
            <a:off x="6108192" y="1920240"/>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116 mg/dL</a:t>
            </a:r>
            <a:endParaRPr lang="en-US" sz="2800" dirty="0"/>
          </a:p>
        </p:txBody>
      </p:sp>
      <p:sp>
        <p:nvSpPr>
          <p:cNvPr id="14" name="Text 11"/>
          <p:cNvSpPr txBox="1"/>
          <p:nvPr/>
        </p:nvSpPr>
        <p:spPr>
          <a:xfrm>
            <a:off x="6108192" y="2478024"/>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ירדה מ-220 mg/dL בדוח הקודם!</a:t>
            </a:r>
            <a:endParaRPr lang="he-IL" sz="1200" dirty="0"/>
          </a:p>
        </p:txBody>
      </p:sp>
      <p:sp>
        <p:nvSpPr>
          <p:cNvPr id="15" name="Shape 12"/>
          <p:cNvSpPr/>
          <p:nvPr/>
        </p:nvSpPr>
        <p:spPr>
          <a:xfrm>
            <a:off x="8883396" y="3044952"/>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Text 13"/>
          <p:cNvSpPr txBox="1"/>
          <p:nvPr/>
        </p:nvSpPr>
        <p:spPr>
          <a:xfrm>
            <a:off x="9047988" y="3154680"/>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מדד ניהול גלוקוז משוער (GMI)</a:t>
            </a:r>
            <a:endParaRPr lang="he-IL" sz="1250" dirty="0"/>
          </a:p>
        </p:txBody>
      </p:sp>
      <p:sp>
        <p:nvSpPr>
          <p:cNvPr id="17" name="Text 14"/>
          <p:cNvSpPr txBox="1"/>
          <p:nvPr/>
        </p:nvSpPr>
        <p:spPr>
          <a:xfrm>
            <a:off x="9047988" y="3456432"/>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6.1%</a:t>
            </a:r>
            <a:endParaRPr lang="en-US" sz="2800" dirty="0"/>
          </a:p>
        </p:txBody>
      </p:sp>
      <p:sp>
        <p:nvSpPr>
          <p:cNvPr id="18" name="Text 15"/>
          <p:cNvSpPr txBox="1"/>
          <p:nvPr/>
        </p:nvSpPr>
        <p:spPr>
          <a:xfrm>
            <a:off x="9047988" y="4014216"/>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תואם A1C של כ-6.1% (43 mmol/mol)</a:t>
            </a:r>
            <a:endParaRPr lang="he-IL" sz="1200" dirty="0"/>
          </a:p>
        </p:txBody>
      </p:sp>
      <p:sp>
        <p:nvSpPr>
          <p:cNvPr id="19" name="Shape 16"/>
          <p:cNvSpPr/>
          <p:nvPr/>
        </p:nvSpPr>
        <p:spPr>
          <a:xfrm>
            <a:off x="5943600" y="3044952"/>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Text 17"/>
          <p:cNvSpPr txBox="1"/>
          <p:nvPr/>
        </p:nvSpPr>
        <p:spPr>
          <a:xfrm>
            <a:off x="6108192" y="3154680"/>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ערכים מעל הטווח (&gt;180 mg/dL)</a:t>
            </a:r>
            <a:endParaRPr lang="he-IL" sz="1250" dirty="0"/>
          </a:p>
        </p:txBody>
      </p:sp>
      <p:sp>
        <p:nvSpPr>
          <p:cNvPr id="21" name="Text 18"/>
          <p:cNvSpPr txBox="1"/>
          <p:nvPr/>
        </p:nvSpPr>
        <p:spPr>
          <a:xfrm>
            <a:off x="6108192" y="3456432"/>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8%</a:t>
            </a:r>
            <a:endParaRPr lang="en-US" sz="2800" dirty="0"/>
          </a:p>
        </p:txBody>
      </p:sp>
      <p:sp>
        <p:nvSpPr>
          <p:cNvPr id="22" name="Text 19"/>
          <p:cNvSpPr txBox="1"/>
          <p:nvPr/>
        </p:nvSpPr>
        <p:spPr>
          <a:xfrm>
            <a:off x="6108192" y="4014216"/>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ירדו מ-70% ל-8% בלבד (0% מעל 250!)</a:t>
            </a:r>
            <a:endParaRPr lang="he-IL" sz="1200" dirty="0"/>
          </a:p>
        </p:txBody>
      </p:sp>
      <p:sp>
        <p:nvSpPr>
          <p:cNvPr id="23" name="Shape 20"/>
          <p:cNvSpPr/>
          <p:nvPr/>
        </p:nvSpPr>
        <p:spPr>
          <a:xfrm>
            <a:off x="8883396" y="4581144"/>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Text 21"/>
          <p:cNvSpPr txBox="1"/>
          <p:nvPr/>
        </p:nvSpPr>
        <p:spPr>
          <a:xfrm>
            <a:off x="9047988" y="4690872"/>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שונות גלוקוז (%CV)</a:t>
            </a:r>
            <a:endParaRPr lang="he-IL" sz="1250" dirty="0"/>
          </a:p>
        </p:txBody>
      </p:sp>
      <p:sp>
        <p:nvSpPr>
          <p:cNvPr id="25" name="Text 22"/>
          <p:cNvSpPr txBox="1"/>
          <p:nvPr/>
        </p:nvSpPr>
        <p:spPr>
          <a:xfrm>
            <a:off x="9047988" y="4992624"/>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37.3%</a:t>
            </a:r>
            <a:endParaRPr lang="en-US" sz="2800" dirty="0"/>
          </a:p>
        </p:txBody>
      </p:sp>
      <p:sp>
        <p:nvSpPr>
          <p:cNvPr id="26" name="Text 23"/>
          <p:cNvSpPr txBox="1"/>
          <p:nvPr/>
        </p:nvSpPr>
        <p:spPr>
          <a:xfrm>
            <a:off x="9047988" y="5550408"/>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קרובה מאוד ליעד היציבות (≤36%)</a:t>
            </a:r>
            <a:endParaRPr lang="he-IL" sz="1200" dirty="0"/>
          </a:p>
        </p:txBody>
      </p:sp>
      <p:sp>
        <p:nvSpPr>
          <p:cNvPr id="27" name="Shape 24"/>
          <p:cNvSpPr/>
          <p:nvPr/>
        </p:nvSpPr>
        <p:spPr>
          <a:xfrm>
            <a:off x="5943600" y="4581144"/>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8" name="Text 25"/>
          <p:cNvSpPr txBox="1"/>
          <p:nvPr/>
        </p:nvSpPr>
        <p:spPr>
          <a:xfrm>
            <a:off x="6108192" y="4690872"/>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אירועי היפוגליקמיה (&lt;70 mg/dL)</a:t>
            </a:r>
            <a:endParaRPr lang="he-IL" sz="1250" dirty="0"/>
          </a:p>
        </p:txBody>
      </p:sp>
      <p:sp>
        <p:nvSpPr>
          <p:cNvPr id="29" name="Text 26"/>
          <p:cNvSpPr txBox="1"/>
          <p:nvPr/>
        </p:nvSpPr>
        <p:spPr>
          <a:xfrm>
            <a:off x="6108192" y="4992624"/>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13%</a:t>
            </a:r>
            <a:endParaRPr lang="en-US" sz="2800" dirty="0"/>
          </a:p>
        </p:txBody>
      </p:sp>
      <p:sp>
        <p:nvSpPr>
          <p:cNvPr id="30" name="Text 27"/>
          <p:cNvSpPr txBox="1"/>
          <p:nvPr/>
        </p:nvSpPr>
        <p:spPr>
          <a:xfrm>
            <a:off x="6108192" y="5550408"/>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אירועים קלים (54-69), 0% אירועים חמורים (&lt;54)</a:t>
            </a:r>
            <a:endParaRPr lang="he-IL" sz="1200" dirty="0"/>
          </a:p>
        </p:txBody>
      </p:sp>
      <p:sp>
        <p:nvSpPr>
          <p:cNvPr id="31"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4: השוואת מדדי החיישן – לפני השינוי בטיפול ולאחריו</a:t>
            </a:r>
            <a:endParaRPr lang="he-IL" sz="2100" dirty="0"/>
          </a:p>
        </p:txBody>
      </p:sp>
      <p:graphicFrame>
        <p:nvGraphicFramePr>
          <p:cNvPr id="38" name="Table 0"/>
          <p:cNvGraphicFramePr>
            <a:graphicFrameLocks noGrp="1"/>
          </p:cNvGraphicFramePr>
          <p:nvPr>
            <p:extLst>
              <p:ext uri="{D42A27DB-BD31-4B8C-83A1-F6EECF244321}">
                <p14:modId xmlns:p14="http://schemas.microsoft.com/office/powerpoint/2010/main" val="2552817401"/>
              </p:ext>
            </p:extLst>
          </p:nvPr>
        </p:nvGraphicFramePr>
        <p:xfrm>
          <a:off x="548640" y="1554480"/>
          <a:ext cx="11094415" cy="4443984"/>
        </p:xfrm>
        <a:graphic>
          <a:graphicData uri="http://schemas.openxmlformats.org/drawingml/2006/table">
            <a:tbl>
              <a:tblPr/>
              <a:tblGrid>
                <a:gridCol w="3840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687775">
                  <a:extLst>
                    <a:ext uri="{9D8B030D-6E8A-4147-A177-3AD203B41FA5}">
                      <a16:colId xmlns:a16="http://schemas.microsoft.com/office/drawing/2014/main" val="20002"/>
                    </a:ext>
                  </a:extLst>
                </a:gridCol>
              </a:tblGrid>
              <a:tr h="493776">
                <a:tc>
                  <a:txBody>
                    <a:bodyPr/>
                    <a:lstStyle/>
                    <a:p>
                      <a:pPr marL="0" indent="0" algn="ctr" rtl="1">
                        <a:buNone/>
                      </a:pPr>
                      <a:r>
                        <a:rPr lang="he-IL" altLang="en-US" sz="1500" b="1" dirty="0">
                          <a:solidFill>
                            <a:srgbClr val="FFFFFF"/>
                          </a:solidFill>
                          <a:latin typeface="Arial" pitchFamily="34" charset="0"/>
                          <a:ea typeface="Arial" pitchFamily="34" charset="-122"/>
                          <a:cs typeface="Arial" pitchFamily="34" charset="-120"/>
                        </a:rPr>
                        <a:t>בעקבות השינוי (ספטמבר 2026)</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marL="0" indent="0" algn="ctr" rtl="1">
                        <a:buNone/>
                      </a:pPr>
                      <a:r>
                        <a:rPr lang="he-IL" altLang="en-US" sz="1500" b="1" dirty="0">
                          <a:solidFill>
                            <a:srgbClr val="FFFFFF"/>
                          </a:solidFill>
                          <a:latin typeface="Arial" pitchFamily="34" charset="0"/>
                          <a:ea typeface="Arial" pitchFamily="34" charset="-122"/>
                          <a:cs typeface="Arial" pitchFamily="34" charset="-120"/>
                        </a:rPr>
                        <a:t>לפני השינוי (פברואר 2026)</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marL="0" indent="0" algn="r" rtl="1">
                        <a:buNone/>
                      </a:pPr>
                      <a:r>
                        <a:rPr lang="he-IL" altLang="en-US" sz="1500" b="1" dirty="0">
                          <a:solidFill>
                            <a:srgbClr val="FFFFFF"/>
                          </a:solidFill>
                          <a:latin typeface="Arial" pitchFamily="34" charset="0"/>
                          <a:ea typeface="Arial" pitchFamily="34" charset="-122"/>
                          <a:cs typeface="Arial" pitchFamily="34" charset="-120"/>
                        </a:rPr>
                        <a:t>מדד קליני ב-AGP</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extLst>
                  <a:ext uri="{0D108BD9-81ED-4DB2-BD59-A6C34878D82A}">
                    <a16:rowId xmlns:a16="http://schemas.microsoft.com/office/drawing/2014/main" val="10000"/>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79% (עבר את היעד!)</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30% בלבד</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זמן בטווח היעד (TIR 70-180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1"/>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116 mg/dL (נחתך בחצי!)</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220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רמת גלוקוז ממוצעת</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6.1%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8.6%</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מדד ניהול גלוקוז משוער (GMI)</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3"/>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 בלבד (0% מעל 250!)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70% (מתוכם 27% מעל 250!)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ערכים מעל הטווח (&gt;180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37.3%</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32.1%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שונות גלוקוז (%CV)</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5"/>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85 ק"ג (BMI 32.0)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96 ק"ג (BMI 36.1)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משקל המטופל ו-BMI</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 יחידות לארוחה</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12 יחידות לארוחה</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מינון אינסולין בולוס (נובורפיד - אספארט)</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7"/>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36 יחידות פעם ביום</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40 יחידות פעם ביום</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מינון אינסולין בזאלי (טרגלודק - דגלודק)</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05</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5</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סיכום מקרה</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עקרונות לפרקטיקה</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מקרה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סיכום קליני של המקרה</a:t>
            </a:r>
            <a:endParaRPr lang="he-IL" sz="2600" dirty="0"/>
          </a:p>
        </p:txBody>
      </p:sp>
      <p:sp>
        <p:nvSpPr>
          <p:cNvPr id="5" name="Shape 3"/>
          <p:cNvSpPr/>
          <p:nvPr/>
        </p:nvSpPr>
        <p:spPr>
          <a:xfrm>
            <a:off x="548640" y="1481328"/>
            <a:ext cx="11094415" cy="2240280"/>
          </a:xfrm>
          <a:prstGeom prst="roundRect">
            <a:avLst>
              <a:gd name="adj" fmla="val 4898"/>
            </a:avLst>
          </a:prstGeom>
          <a:solidFill>
            <a:srgbClr val="F3F0FA"/>
          </a:solidFill>
          <a:ln/>
        </p:spPr>
        <p:txBody>
          <a:bodyPr/>
          <a:lstStyle/>
          <a:p>
            <a:endParaRPr lang="he-IL"/>
          </a:p>
        </p:txBody>
      </p:sp>
      <p:sp>
        <p:nvSpPr>
          <p:cNvPr id="6" name="Shape 4"/>
          <p:cNvSpPr/>
          <p:nvPr/>
        </p:nvSpPr>
        <p:spPr>
          <a:xfrm rot="5400000">
            <a:off x="10672072" y="2235708"/>
            <a:ext cx="844686" cy="731520"/>
          </a:xfrm>
          <a:prstGeom prst="hexagon">
            <a:avLst/>
          </a:prstGeom>
          <a:solidFill>
            <a:srgbClr val="6E4494"/>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2433218"/>
            <a:ext cx="336499" cy="336499"/>
          </a:xfrm>
          <a:prstGeom prst="rect">
            <a:avLst/>
          </a:prstGeom>
        </p:spPr>
      </p:pic>
      <p:sp>
        <p:nvSpPr>
          <p:cNvPr id="8" name="Text 5"/>
          <p:cNvSpPr txBox="1"/>
          <p:nvPr/>
        </p:nvSpPr>
        <p:spPr>
          <a:xfrm>
            <a:off x="822960" y="1572768"/>
            <a:ext cx="9585655" cy="2057400"/>
          </a:xfrm>
          <a:prstGeom prst="rect">
            <a:avLst/>
          </a:prstGeom>
          <a:noFill/>
          <a:ln/>
        </p:spPr>
        <p:txBody>
          <a:bodyPr wrap="square" lIns="0" tIns="0" rIns="0" bIns="0" rtlCol="0" anchor="ctr"/>
          <a:lstStyle/>
          <a:p>
            <a:pPr marL="0" indent="0" algn="r" rtl="1">
              <a:spcAft>
                <a:spcPts val="500"/>
              </a:spcAft>
              <a:buNone/>
            </a:pPr>
            <a:r>
              <a:rPr lang="he-IL" altLang="en-US" sz="1700" b="1" dirty="0">
                <a:solidFill>
                  <a:srgbClr val="6E4494"/>
                </a:solidFill>
                <a:latin typeface="Arial" pitchFamily="34" charset="0"/>
                <a:ea typeface="Arial" pitchFamily="34" charset="-122"/>
                <a:cs typeface="Arial" pitchFamily="34" charset="-120"/>
              </a:rPr>
              <a:t>סיכום המקרה המרפאי:</a:t>
            </a:r>
            <a:endParaRPr lang="he-IL" sz="1400" dirty="0"/>
          </a:p>
          <a:p>
            <a:pPr marL="0" indent="0" algn="r" rtl="1">
              <a:spcAft>
                <a:spcPts val="500"/>
              </a:spcAft>
              <a:buNone/>
            </a:pPr>
            <a:r>
              <a:rPr lang="he-IL" altLang="en-US" sz="1550" dirty="0">
                <a:solidFill>
                  <a:srgbClr val="2E2A47"/>
                </a:solidFill>
                <a:latin typeface="Arial" pitchFamily="34" charset="0"/>
                <a:ea typeface="Arial" pitchFamily="34" charset="-122"/>
                <a:cs typeface="Arial" pitchFamily="34" charset="-120"/>
              </a:rPr>
              <a:t>המטופל סבל מהשמנה וריבוי של סיבוכי השמנה וסוכרת, ביניהם כבד שומני, דום נשימה בשינה, ומחלות טרשתיות כמו CVA ו-IHD. במהלך המעקב לאחר כל השינויים בטיפול והתחלת טיפול ב-</a:t>
            </a:r>
            <a:r>
              <a:rPr lang="da-DK" altLang="en-US" sz="1550" dirty="0">
                <a:solidFill>
                  <a:srgbClr val="2E2A47"/>
                </a:solidFill>
                <a:latin typeface="Arial" pitchFamily="34" charset="0"/>
                <a:ea typeface="Arial" pitchFamily="34" charset="-122"/>
                <a:cs typeface="Arial" pitchFamily="34" charset="-120"/>
              </a:rPr>
              <a:t>Wegovy® </a:t>
            </a:r>
            <a:r>
              <a:rPr lang="he-IL" altLang="en-US" sz="1550" dirty="0">
                <a:solidFill>
                  <a:srgbClr val="2E2A47"/>
                </a:solidFill>
                <a:latin typeface="Arial" pitchFamily="34" charset="0"/>
                <a:ea typeface="Arial" pitchFamily="34" charset="-122"/>
                <a:cs typeface="Arial" pitchFamily="34" charset="-120"/>
              </a:rPr>
              <a:t> (</a:t>
            </a:r>
            <a:r>
              <a:rPr lang="en-US" altLang="en-US" sz="1550" dirty="0">
                <a:solidFill>
                  <a:srgbClr val="2E2A47"/>
                </a:solidFill>
                <a:latin typeface="Arial" pitchFamily="34" charset="0"/>
                <a:ea typeface="Arial" pitchFamily="34" charset="-122"/>
                <a:cs typeface="Arial" pitchFamily="34" charset="-120"/>
              </a:rPr>
              <a:t>Semaglutide 2.4mg</a:t>
            </a:r>
            <a:r>
              <a:rPr lang="he-IL" altLang="en-US" sz="1550" dirty="0">
                <a:solidFill>
                  <a:srgbClr val="2E2A47"/>
                </a:solidFill>
                <a:latin typeface="Arial" pitchFamily="34" charset="0"/>
                <a:ea typeface="Arial" pitchFamily="34" charset="-122"/>
                <a:cs typeface="Arial" pitchFamily="34" charset="-120"/>
              </a:rPr>
              <a:t>) נצפו ירידה במשקל, שיפור במדדים הגליקמיים והפחתה במינוני האינסולין. בנוסף, המטופל דיווח על שיפור בשינה ונצפה שיפור בפצע בכף הרגל.</a:t>
            </a:r>
            <a:endParaRPr lang="he-IL" sz="1400" dirty="0"/>
          </a:p>
        </p:txBody>
      </p:sp>
      <p:sp>
        <p:nvSpPr>
          <p:cNvPr id="9" name="Shape 6"/>
          <p:cNvSpPr/>
          <p:nvPr/>
        </p:nvSpPr>
        <p:spPr>
          <a:xfrm>
            <a:off x="9040901"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9734860" y="4046220"/>
            <a:ext cx="1214236" cy="1051560"/>
          </a:xfrm>
          <a:prstGeom prst="hexagon">
            <a:avLst/>
          </a:prstGeom>
          <a:solidFill>
            <a:srgbClr val="5280C8"/>
          </a:solidFill>
          <a:ln/>
        </p:spPr>
        <p:txBody>
          <a:bodyPr/>
          <a:lstStyle/>
          <a:p>
            <a:endParaRPr lang="he-IL"/>
          </a:p>
        </p:txBody>
      </p:sp>
      <p:sp>
        <p:nvSpPr>
          <p:cNvPr id="11" name="Text 8"/>
          <p:cNvSpPr txBox="1"/>
          <p:nvPr/>
        </p:nvSpPr>
        <p:spPr>
          <a:xfrm>
            <a:off x="9747618"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79%</a:t>
            </a:r>
            <a:endParaRPr lang="en-US" sz="2100" dirty="0"/>
          </a:p>
        </p:txBody>
      </p:sp>
      <p:sp>
        <p:nvSpPr>
          <p:cNvPr id="12" name="Text 9"/>
          <p:cNvSpPr txBox="1"/>
          <p:nvPr/>
        </p:nvSpPr>
        <p:spPr>
          <a:xfrm>
            <a:off x="9178061"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זמן בטווח היעד (TIR)</a:t>
            </a:r>
            <a:endParaRPr lang="he-IL" sz="1400" dirty="0"/>
          </a:p>
        </p:txBody>
      </p:sp>
      <p:sp>
        <p:nvSpPr>
          <p:cNvPr id="13" name="Text 10"/>
          <p:cNvSpPr txBox="1"/>
          <p:nvPr/>
        </p:nvSpPr>
        <p:spPr>
          <a:xfrm>
            <a:off x="9178061"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עלה מ-30% ל-79%!</a:t>
            </a:r>
            <a:endParaRPr lang="he-IL" sz="1300" dirty="0"/>
          </a:p>
        </p:txBody>
      </p:sp>
      <p:sp>
        <p:nvSpPr>
          <p:cNvPr id="14" name="Shape 11"/>
          <p:cNvSpPr/>
          <p:nvPr/>
        </p:nvSpPr>
        <p:spPr>
          <a:xfrm>
            <a:off x="6210148"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2"/>
          <p:cNvSpPr/>
          <p:nvPr/>
        </p:nvSpPr>
        <p:spPr>
          <a:xfrm rot="5400000">
            <a:off x="6904106" y="4046220"/>
            <a:ext cx="1214236" cy="1051560"/>
          </a:xfrm>
          <a:prstGeom prst="hexagon">
            <a:avLst/>
          </a:prstGeom>
          <a:solidFill>
            <a:srgbClr val="5B6BB5"/>
          </a:solidFill>
          <a:ln/>
        </p:spPr>
        <p:txBody>
          <a:bodyPr/>
          <a:lstStyle/>
          <a:p>
            <a:endParaRPr lang="he-IL"/>
          </a:p>
        </p:txBody>
      </p:sp>
      <p:sp>
        <p:nvSpPr>
          <p:cNvPr id="16" name="Text 13"/>
          <p:cNvSpPr txBox="1"/>
          <p:nvPr/>
        </p:nvSpPr>
        <p:spPr>
          <a:xfrm>
            <a:off x="6916864"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6.1%</a:t>
            </a:r>
            <a:endParaRPr lang="en-US" sz="2100" dirty="0"/>
          </a:p>
        </p:txBody>
      </p:sp>
      <p:sp>
        <p:nvSpPr>
          <p:cNvPr id="17" name="Text 14"/>
          <p:cNvSpPr txBox="1"/>
          <p:nvPr/>
        </p:nvSpPr>
        <p:spPr>
          <a:xfrm>
            <a:off x="6347308"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אינדיקטור גליקמי (GMI)</a:t>
            </a:r>
            <a:endParaRPr lang="he-IL" sz="1400" dirty="0"/>
          </a:p>
        </p:txBody>
      </p:sp>
      <p:sp>
        <p:nvSpPr>
          <p:cNvPr id="18" name="Text 15"/>
          <p:cNvSpPr txBox="1"/>
          <p:nvPr/>
        </p:nvSpPr>
        <p:spPr>
          <a:xfrm>
            <a:off x="6347308"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סוכר ממוצע 116 mg/dL</a:t>
            </a:r>
            <a:endParaRPr lang="he-IL" sz="1300" dirty="0"/>
          </a:p>
        </p:txBody>
      </p:sp>
      <p:sp>
        <p:nvSpPr>
          <p:cNvPr id="19" name="Shape 16"/>
          <p:cNvSpPr/>
          <p:nvPr/>
        </p:nvSpPr>
        <p:spPr>
          <a:xfrm>
            <a:off x="3379394"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4073353" y="4046220"/>
            <a:ext cx="1214236" cy="1051560"/>
          </a:xfrm>
          <a:prstGeom prst="hexagon">
            <a:avLst/>
          </a:prstGeom>
          <a:solidFill>
            <a:srgbClr val="6658A6"/>
          </a:solidFill>
          <a:ln/>
        </p:spPr>
        <p:txBody>
          <a:bodyPr/>
          <a:lstStyle/>
          <a:p>
            <a:endParaRPr lang="he-IL"/>
          </a:p>
        </p:txBody>
      </p:sp>
      <p:sp>
        <p:nvSpPr>
          <p:cNvPr id="21" name="Text 18"/>
          <p:cNvSpPr txBox="1"/>
          <p:nvPr/>
        </p:nvSpPr>
        <p:spPr>
          <a:xfrm>
            <a:off x="4086111" y="4046220"/>
            <a:ext cx="1188720" cy="1051560"/>
          </a:xfrm>
          <a:prstGeom prst="rect">
            <a:avLst/>
          </a:prstGeom>
          <a:noFill/>
          <a:ln/>
        </p:spPr>
        <p:txBody>
          <a:bodyPr wrap="square" lIns="0" tIns="0" rIns="0" bIns="0" rtlCol="0" anchor="ctr"/>
          <a:lstStyle/>
          <a:p>
            <a:pPr marL="0" indent="0" algn="ctr" rtl="1">
              <a:buNone/>
            </a:pPr>
            <a:r>
              <a:rPr lang="he-IL" altLang="en-US" sz="2100" b="1" dirty="0">
                <a:solidFill>
                  <a:srgbClr val="FFFFFF"/>
                </a:solidFill>
                <a:latin typeface="Arial" pitchFamily="34" charset="0"/>
                <a:ea typeface="Arial" pitchFamily="34" charset="-122"/>
                <a:cs typeface="Arial" pitchFamily="34" charset="-120"/>
              </a:rPr>
              <a:t>85 ק"ג</a:t>
            </a:r>
            <a:endParaRPr lang="he-IL" sz="2100" dirty="0"/>
          </a:p>
        </p:txBody>
      </p:sp>
      <p:sp>
        <p:nvSpPr>
          <p:cNvPr id="22" name="Text 19"/>
          <p:cNvSpPr txBox="1"/>
          <p:nvPr/>
        </p:nvSpPr>
        <p:spPr>
          <a:xfrm>
            <a:off x="3516554"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ירידה במשקל המטופל</a:t>
            </a:r>
            <a:endParaRPr lang="he-IL" sz="1400" dirty="0"/>
          </a:p>
        </p:txBody>
      </p:sp>
      <p:sp>
        <p:nvSpPr>
          <p:cNvPr id="23" name="Text 20"/>
          <p:cNvSpPr txBox="1"/>
          <p:nvPr/>
        </p:nvSpPr>
        <p:spPr>
          <a:xfrm>
            <a:off x="3516554"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הפחתה של 11 ק"ג</a:t>
            </a:r>
            <a:endParaRPr lang="he-IL" sz="1300" dirty="0"/>
          </a:p>
        </p:txBody>
      </p:sp>
      <p:sp>
        <p:nvSpPr>
          <p:cNvPr id="24" name="Shape 21"/>
          <p:cNvSpPr/>
          <p:nvPr/>
        </p:nvSpPr>
        <p:spPr>
          <a:xfrm>
            <a:off x="548640"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2"/>
          <p:cNvSpPr/>
          <p:nvPr/>
        </p:nvSpPr>
        <p:spPr>
          <a:xfrm rot="5400000">
            <a:off x="1242599" y="4046220"/>
            <a:ext cx="1214236" cy="1051560"/>
          </a:xfrm>
          <a:prstGeom prst="hexagon">
            <a:avLst/>
          </a:prstGeom>
          <a:solidFill>
            <a:srgbClr val="6E4494"/>
          </a:solidFill>
          <a:ln/>
        </p:spPr>
        <p:txBody>
          <a:bodyPr/>
          <a:lstStyle/>
          <a:p>
            <a:endParaRPr lang="he-IL"/>
          </a:p>
        </p:txBody>
      </p:sp>
      <p:sp>
        <p:nvSpPr>
          <p:cNvPr id="26" name="Text 23"/>
          <p:cNvSpPr txBox="1"/>
          <p:nvPr/>
        </p:nvSpPr>
        <p:spPr>
          <a:xfrm>
            <a:off x="1255357"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36u</a:t>
            </a:r>
            <a:endParaRPr lang="en-US" sz="2100" dirty="0"/>
          </a:p>
        </p:txBody>
      </p:sp>
      <p:sp>
        <p:nvSpPr>
          <p:cNvPr id="27" name="Text 24"/>
          <p:cNvSpPr txBox="1"/>
          <p:nvPr/>
        </p:nvSpPr>
        <p:spPr>
          <a:xfrm>
            <a:off x="685800"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אינסולין בזאלי מותאם</a:t>
            </a:r>
            <a:endParaRPr lang="he-IL" sz="1400" dirty="0"/>
          </a:p>
        </p:txBody>
      </p:sp>
      <p:sp>
        <p:nvSpPr>
          <p:cNvPr id="28" name="Text 25"/>
          <p:cNvSpPr txBox="1"/>
          <p:nvPr/>
        </p:nvSpPr>
        <p:spPr>
          <a:xfrm>
            <a:off x="685800"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טרגלודק (דגלודק) ליום</a:t>
            </a:r>
            <a:endParaRPr lang="he-IL" sz="13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39</a:t>
            </a:fld>
            <a:endParaRPr lang="en-US"/>
          </a:p>
        </p:txBody>
      </p:sp>
      <p:sp>
        <p:nvSpPr>
          <p:cNvPr id="31" name="TextBox 30">
            <a:extLst>
              <a:ext uri="{FF2B5EF4-FFF2-40B4-BE49-F238E27FC236}">
                <a16:creationId xmlns:a16="http://schemas.microsoft.com/office/drawing/2014/main" id="{CC7ABE5A-7776-8727-0F3F-54DBB8BE7EB1}"/>
              </a:ext>
            </a:extLst>
          </p:cNvPr>
          <p:cNvSpPr txBox="1"/>
          <p:nvPr/>
        </p:nvSpPr>
        <p:spPr>
          <a:xfrm>
            <a:off x="548640" y="6053539"/>
            <a:ext cx="6094476" cy="284630"/>
          </a:xfrm>
          <a:prstGeom prst="rect">
            <a:avLst/>
          </a:prstGeom>
          <a:noFill/>
        </p:spPr>
        <p:txBody>
          <a:bodyPr wrap="square">
            <a:spAutoFit/>
          </a:bodyPr>
          <a:lstStyle/>
          <a:p>
            <a:pPr fontAlgn="t">
              <a:lnSpc>
                <a:spcPct val="119048"/>
              </a:lnSpc>
              <a:buNone/>
            </a:pPr>
            <a:r>
              <a:rPr lang="en-US" sz="1050" b="0" i="0" dirty="0">
                <a:effectLst/>
                <a:latin typeface="Segoe UI" panose="020B0502040204020203" pitchFamily="34" charset="0"/>
              </a:rPr>
              <a:t>I</a:t>
            </a:r>
            <a:r>
              <a:rPr lang="he-IL" sz="1050" b="0" i="0" dirty="0">
                <a:effectLst/>
                <a:latin typeface="Segoe UI" panose="020B0502040204020203" pitchFamily="34" charset="0"/>
              </a:rPr>
              <a:t>ndividual patient case; outcomes may not be representative of results in other patients.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עקרונות לפרקטיקה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ארבע תובנות מרכזיות מהמקרה</a:t>
            </a:r>
            <a:endParaRPr lang="he-IL" sz="2600" dirty="0"/>
          </a:p>
        </p:txBody>
      </p:sp>
      <p:sp>
        <p:nvSpPr>
          <p:cNvPr id="5" name="Shape 3"/>
          <p:cNvSpPr/>
          <p:nvPr/>
        </p:nvSpPr>
        <p:spPr>
          <a:xfrm>
            <a:off x="6233008" y="150876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27388" y="1714500"/>
            <a:ext cx="897479" cy="777240"/>
          </a:xfrm>
          <a:prstGeom prst="hexagon">
            <a:avLst/>
          </a:prstGeom>
          <a:solidFill>
            <a:srgbClr val="5280C8"/>
          </a:solidFill>
          <a:ln/>
        </p:spPr>
        <p:txBody>
          <a:bodyPr/>
          <a:lstStyle/>
          <a:p>
            <a:endParaRPr lang="he-IL"/>
          </a:p>
        </p:txBody>
      </p:sp>
      <p:sp>
        <p:nvSpPr>
          <p:cNvPr id="7" name="Text 5"/>
          <p:cNvSpPr txBox="1"/>
          <p:nvPr/>
        </p:nvSpPr>
        <p:spPr>
          <a:xfrm>
            <a:off x="10687507" y="171450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6507328" y="178308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מעקב אורח חיים ותזונה</a:t>
            </a:r>
            <a:endParaRPr lang="he-IL" sz="1800" dirty="0"/>
          </a:p>
        </p:txBody>
      </p:sp>
      <p:sp>
        <p:nvSpPr>
          <p:cNvPr id="9" name="Text 7"/>
          <p:cNvSpPr txBox="1"/>
          <p:nvPr/>
        </p:nvSpPr>
        <p:spPr>
          <a:xfrm>
            <a:off x="6507328" y="251460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המטופל נמצא במעקב רציף של דיאטנית קלינית ומבצע, גם אם בצורה מוגבלת, פעילות גופנית סדירה המותאמת למצבו הבריאותי.</a:t>
            </a:r>
            <a:endParaRPr lang="he-IL" sz="1450" dirty="0"/>
          </a:p>
        </p:txBody>
      </p:sp>
      <p:sp>
        <p:nvSpPr>
          <p:cNvPr id="10" name="Shape 8"/>
          <p:cNvSpPr/>
          <p:nvPr/>
        </p:nvSpPr>
        <p:spPr>
          <a:xfrm>
            <a:off x="548640" y="150876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9"/>
          <p:cNvSpPr/>
          <p:nvPr/>
        </p:nvSpPr>
        <p:spPr>
          <a:xfrm rot="5400000">
            <a:off x="4943020" y="1714500"/>
            <a:ext cx="897479" cy="777240"/>
          </a:xfrm>
          <a:prstGeom prst="hexagon">
            <a:avLst/>
          </a:prstGeom>
          <a:solidFill>
            <a:srgbClr val="5B6BB5"/>
          </a:solidFill>
          <a:ln/>
        </p:spPr>
        <p:txBody>
          <a:bodyPr/>
          <a:lstStyle/>
          <a:p>
            <a:endParaRPr lang="he-IL"/>
          </a:p>
        </p:txBody>
      </p:sp>
      <p:sp>
        <p:nvSpPr>
          <p:cNvPr id="12" name="Text 10"/>
          <p:cNvSpPr txBox="1"/>
          <p:nvPr/>
        </p:nvSpPr>
        <p:spPr>
          <a:xfrm>
            <a:off x="5003140" y="171450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822960" y="178308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הורדת משקל</a:t>
            </a:r>
            <a:endParaRPr lang="he-IL" sz="1800" dirty="0"/>
          </a:p>
        </p:txBody>
      </p:sp>
      <p:sp>
        <p:nvSpPr>
          <p:cNvPr id="14" name="Text 12"/>
          <p:cNvSpPr txBox="1"/>
          <p:nvPr/>
        </p:nvSpPr>
        <p:spPr>
          <a:xfrm>
            <a:off x="822960" y="251460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הטיפול ב- </a:t>
            </a:r>
            <a:r>
              <a:rPr lang="en-US" altLang="en-US" sz="1450" dirty="0">
                <a:solidFill>
                  <a:srgbClr val="2E2A47"/>
                </a:solidFill>
                <a:latin typeface="Arial" pitchFamily="34" charset="0"/>
                <a:ea typeface="Arial" pitchFamily="34" charset="-122"/>
                <a:cs typeface="Arial" pitchFamily="34" charset="-120"/>
              </a:rPr>
              <a:t>Wegovy (Semaglutide 2.4mg)</a:t>
            </a:r>
            <a:r>
              <a:rPr lang="he-IL" altLang="en-US" sz="1450" dirty="0">
                <a:solidFill>
                  <a:srgbClr val="2E2A47"/>
                </a:solidFill>
                <a:latin typeface="Arial" pitchFamily="34" charset="0"/>
                <a:ea typeface="Arial" pitchFamily="34" charset="-122"/>
                <a:cs typeface="Arial" pitchFamily="34" charset="-120"/>
              </a:rPr>
              <a:t> הביא לירידה במשקל מ-96 ק"ג ל-85 ק"ג לצד הפחתה  במינון האינסולין הבולוס (מ-12u ל-8u לארוחה) והאינסולין הבזאלי (מ-40u ל-36u).</a:t>
            </a:r>
            <a:endParaRPr lang="he-IL" sz="1450" dirty="0"/>
          </a:p>
        </p:txBody>
      </p:sp>
      <p:sp>
        <p:nvSpPr>
          <p:cNvPr id="15" name="Shape 13"/>
          <p:cNvSpPr/>
          <p:nvPr/>
        </p:nvSpPr>
        <p:spPr>
          <a:xfrm>
            <a:off x="6233008" y="384048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4"/>
          <p:cNvSpPr/>
          <p:nvPr/>
        </p:nvSpPr>
        <p:spPr>
          <a:xfrm rot="5400000">
            <a:off x="10627388" y="4046220"/>
            <a:ext cx="897479" cy="777240"/>
          </a:xfrm>
          <a:prstGeom prst="hexagon">
            <a:avLst/>
          </a:prstGeom>
          <a:solidFill>
            <a:srgbClr val="6658A6"/>
          </a:solidFill>
          <a:ln/>
        </p:spPr>
        <p:txBody>
          <a:bodyPr/>
          <a:lstStyle/>
          <a:p>
            <a:endParaRPr lang="he-IL"/>
          </a:p>
        </p:txBody>
      </p:sp>
      <p:sp>
        <p:nvSpPr>
          <p:cNvPr id="17" name="Text 15"/>
          <p:cNvSpPr txBox="1"/>
          <p:nvPr/>
        </p:nvSpPr>
        <p:spPr>
          <a:xfrm>
            <a:off x="10687507" y="404622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txBox="1"/>
          <p:nvPr/>
        </p:nvSpPr>
        <p:spPr>
          <a:xfrm>
            <a:off x="6507328" y="411480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תועלת קרדיווסקולרית רלוונטית למטופל בסיכון גבוה</a:t>
            </a:r>
            <a:endParaRPr lang="he-IL" sz="1800" dirty="0"/>
          </a:p>
        </p:txBody>
      </p:sp>
      <p:sp>
        <p:nvSpPr>
          <p:cNvPr id="19" name="Text 17"/>
          <p:cNvSpPr txBox="1"/>
          <p:nvPr/>
        </p:nvSpPr>
        <p:spPr>
          <a:xfrm>
            <a:off x="6507328" y="484632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המטופל דיווח על שיפור משמעותי באיכות השינה (דום נשימה בשינה), במהלך המעקב נצפה שיפור בפצע בכף הרגל.</a:t>
            </a:r>
          </a:p>
          <a:p>
            <a:pPr marL="0" indent="0" algn="r" rtl="1">
              <a:buNone/>
            </a:pPr>
            <a:r>
              <a:rPr lang="he-IL" altLang="en-US" sz="1450" dirty="0">
                <a:solidFill>
                  <a:srgbClr val="2E2A47"/>
                </a:solidFill>
                <a:latin typeface="Arial" pitchFamily="34" charset="0"/>
                <a:ea typeface="Arial" pitchFamily="34" charset="-122"/>
                <a:cs typeface="Arial" pitchFamily="34" charset="-120"/>
              </a:rPr>
              <a:t>לאור היסטוריה של </a:t>
            </a:r>
            <a:r>
              <a:rPr lang="da-DK" altLang="en-US" sz="1450" dirty="0">
                <a:solidFill>
                  <a:srgbClr val="2E2A47"/>
                </a:solidFill>
                <a:latin typeface="Arial" pitchFamily="34" charset="0"/>
                <a:ea typeface="Arial" pitchFamily="34" charset="-122"/>
                <a:cs typeface="Arial" pitchFamily="34" charset="-120"/>
              </a:rPr>
              <a:t>CVA </a:t>
            </a:r>
            <a:r>
              <a:rPr lang="he-IL" altLang="en-US" sz="1450" dirty="0">
                <a:solidFill>
                  <a:srgbClr val="2E2A47"/>
                </a:solidFill>
                <a:latin typeface="Arial" pitchFamily="34" charset="0"/>
                <a:ea typeface="Arial" pitchFamily="34" charset="-122"/>
                <a:cs typeface="Arial" pitchFamily="34" charset="-120"/>
              </a:rPr>
              <a:t>ו- </a:t>
            </a:r>
            <a:r>
              <a:rPr lang="da-DK" altLang="en-US" sz="1450" dirty="0">
                <a:solidFill>
                  <a:srgbClr val="2E2A47"/>
                </a:solidFill>
                <a:latin typeface="Arial" pitchFamily="34" charset="0"/>
                <a:ea typeface="Arial" pitchFamily="34" charset="-122"/>
                <a:cs typeface="Arial" pitchFamily="34" charset="-120"/>
              </a:rPr>
              <a:t>IHD </a:t>
            </a:r>
            <a:r>
              <a:rPr lang="he-IL" altLang="en-US" sz="1450" dirty="0">
                <a:solidFill>
                  <a:srgbClr val="2E2A47"/>
                </a:solidFill>
                <a:latin typeface="Arial" pitchFamily="34" charset="0"/>
                <a:ea typeface="Arial" pitchFamily="34" charset="-122"/>
                <a:cs typeface="Arial" pitchFamily="34" charset="-120"/>
              </a:rPr>
              <a:t> והשמנה, שיפור בגורמי הסיכון מהווה שיקול טיפולי משמעותי.</a:t>
            </a:r>
            <a:endParaRPr lang="he-IL" sz="1450" dirty="0"/>
          </a:p>
        </p:txBody>
      </p:sp>
      <p:sp>
        <p:nvSpPr>
          <p:cNvPr id="20" name="Shape 18"/>
          <p:cNvSpPr/>
          <p:nvPr/>
        </p:nvSpPr>
        <p:spPr>
          <a:xfrm>
            <a:off x="548640" y="384048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1" name="Shape 19"/>
          <p:cNvSpPr/>
          <p:nvPr/>
        </p:nvSpPr>
        <p:spPr>
          <a:xfrm rot="5400000">
            <a:off x="4943020" y="4046220"/>
            <a:ext cx="897479" cy="777240"/>
          </a:xfrm>
          <a:prstGeom prst="hexagon">
            <a:avLst/>
          </a:prstGeom>
          <a:solidFill>
            <a:srgbClr val="6E4494"/>
          </a:solidFill>
          <a:ln/>
        </p:spPr>
        <p:txBody>
          <a:bodyPr/>
          <a:lstStyle/>
          <a:p>
            <a:endParaRPr lang="he-IL"/>
          </a:p>
        </p:txBody>
      </p:sp>
      <p:sp>
        <p:nvSpPr>
          <p:cNvPr id="22" name="Text 20"/>
          <p:cNvSpPr txBox="1"/>
          <p:nvPr/>
        </p:nvSpPr>
        <p:spPr>
          <a:xfrm>
            <a:off x="5003140" y="404622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3" name="Text 21"/>
          <p:cNvSpPr txBox="1"/>
          <p:nvPr/>
        </p:nvSpPr>
        <p:spPr>
          <a:xfrm>
            <a:off x="822960" y="411480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שיפור במדדים גליקמיים שנמדדו באמצעות </a:t>
            </a:r>
            <a:r>
              <a:rPr lang="da-DK" altLang="en-US" sz="1800" b="1" dirty="0">
                <a:solidFill>
                  <a:srgbClr val="2B2560"/>
                </a:solidFill>
                <a:latin typeface="Arial" pitchFamily="34" charset="0"/>
                <a:ea typeface="Arial" pitchFamily="34" charset="-122"/>
                <a:cs typeface="Arial" pitchFamily="34" charset="-120"/>
              </a:rPr>
              <a:t>CGM</a:t>
            </a:r>
            <a:endParaRPr lang="he-IL" sz="1800" dirty="0"/>
          </a:p>
        </p:txBody>
      </p:sp>
      <p:sp>
        <p:nvSpPr>
          <p:cNvPr id="24" name="Text 22"/>
          <p:cNvSpPr txBox="1"/>
          <p:nvPr/>
        </p:nvSpPr>
        <p:spPr>
          <a:xfrm>
            <a:off x="822960" y="484632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חיישן Libre 2 מדגים זינוק מרהיב מ-30% ל-79% בטווח היעד (TIR) וירידה בסוכר הממוצע מ-220 ל-116 mg/dL עם GMI של 6.1%.</a:t>
            </a:r>
            <a:endParaRPr lang="he-IL" sz="14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40</a:t>
            </a:fld>
            <a:endParaRPr lang="en-US"/>
          </a:p>
        </p:txBody>
      </p:sp>
      <p:sp>
        <p:nvSpPr>
          <p:cNvPr id="27" name="TextBox 26">
            <a:extLst>
              <a:ext uri="{FF2B5EF4-FFF2-40B4-BE49-F238E27FC236}">
                <a16:creationId xmlns:a16="http://schemas.microsoft.com/office/drawing/2014/main" id="{BCC286E2-5B0E-F58B-FEF2-7AB3EE60403C}"/>
              </a:ext>
            </a:extLst>
          </p:cNvPr>
          <p:cNvSpPr txBox="1"/>
          <p:nvPr/>
        </p:nvSpPr>
        <p:spPr>
          <a:xfrm>
            <a:off x="5958688" y="6495580"/>
            <a:ext cx="6094476" cy="400110"/>
          </a:xfrm>
          <a:prstGeom prst="rect">
            <a:avLst/>
          </a:prstGeom>
          <a:noFill/>
        </p:spPr>
        <p:txBody>
          <a:bodyPr wrap="square">
            <a:spAutoFit/>
          </a:bodyPr>
          <a:lstStyle/>
          <a:p>
            <a:r>
              <a:rPr lang="en-GB" sz="1000" dirty="0"/>
              <a:t>Semaglutide 2.4mg (Wegovy®) is indicated as an adjunct to a reduced-calorie diet and increased physical activity for weight management, including weight loss and weight maintenance.</a:t>
            </a:r>
            <a:endParaRPr lang="he-IL"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ומעקב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תוכנית המשך מעקב וסגירה</a:t>
            </a:r>
            <a:endParaRPr lang="he-IL" sz="26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lgn="r" rtl="1">
              <a:buNone/>
            </a:pPr>
            <a:r>
              <a:rPr lang="he-IL" altLang="en-US" sz="1900" b="1" dirty="0">
                <a:solidFill>
                  <a:srgbClr val="6E4494"/>
                </a:solidFill>
                <a:latin typeface="Arial" pitchFamily="34" charset="0"/>
                <a:ea typeface="Arial" pitchFamily="34" charset="-122"/>
                <a:cs typeface="Arial" pitchFamily="34" charset="-120"/>
              </a:rPr>
              <a:t>הנחיות המשך מעקב קליני עבור יעקב:</a:t>
            </a:r>
            <a:endParaRPr lang="he-IL" sz="1900" dirty="0"/>
          </a:p>
        </p:txBody>
      </p:sp>
      <p:sp>
        <p:nvSpPr>
          <p:cNvPr id="6" name="Shape 4"/>
          <p:cNvSpPr/>
          <p:nvPr/>
        </p:nvSpPr>
        <p:spPr>
          <a:xfrm>
            <a:off x="6492240" y="1920240"/>
            <a:ext cx="5148072" cy="4114800"/>
          </a:xfrm>
          <a:prstGeom prst="roundRect">
            <a:avLst>
              <a:gd name="adj" fmla="val 2667"/>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7" name="Text 5"/>
          <p:cNvSpPr txBox="1"/>
          <p:nvPr/>
        </p:nvSpPr>
        <p:spPr>
          <a:xfrm>
            <a:off x="6766560" y="2103120"/>
            <a:ext cx="4599432" cy="411480"/>
          </a:xfrm>
          <a:prstGeom prst="rect">
            <a:avLst/>
          </a:prstGeom>
          <a:noFill/>
          <a:ln/>
        </p:spPr>
        <p:txBody>
          <a:bodyPr wrap="square" lIns="0" tIns="0" rIns="0" bIns="0" rtlCol="0" anchor="t"/>
          <a:lstStyle/>
          <a:p>
            <a:pPr marL="0" indent="0" algn="r" rtl="1">
              <a:buNone/>
            </a:pPr>
            <a:r>
              <a:rPr lang="he-IL" altLang="en-US" sz="1800" b="1" dirty="0">
                <a:solidFill>
                  <a:srgbClr val="9CC4EE"/>
                </a:solidFill>
                <a:latin typeface="Arial" pitchFamily="34" charset="0"/>
                <a:ea typeface="Arial" pitchFamily="34" charset="-122"/>
                <a:cs typeface="Arial" pitchFamily="34" charset="-120"/>
              </a:rPr>
              <a:t>מינונים תרופתיים מעודכנים:</a:t>
            </a:r>
            <a:endParaRPr lang="he-IL" sz="1800" dirty="0"/>
          </a:p>
        </p:txBody>
      </p:sp>
      <p:sp>
        <p:nvSpPr>
          <p:cNvPr id="8" name="Shape 6"/>
          <p:cNvSpPr/>
          <p:nvPr/>
        </p:nvSpPr>
        <p:spPr>
          <a:xfrm>
            <a:off x="6720840" y="2697480"/>
            <a:ext cx="4690872" cy="932688"/>
          </a:xfrm>
          <a:prstGeom prst="roundRect">
            <a:avLst>
              <a:gd name="adj" fmla="val 11765"/>
            </a:avLst>
          </a:prstGeom>
          <a:solidFill>
            <a:srgbClr val="3A3377"/>
          </a:solidFill>
          <a:ln/>
        </p:spPr>
        <p:txBody>
          <a:bodyPr/>
          <a:lstStyle/>
          <a:p>
            <a:endParaRPr lang="he-IL"/>
          </a:p>
        </p:txBody>
      </p:sp>
      <p:sp>
        <p:nvSpPr>
          <p:cNvPr id="9" name="Shape 7"/>
          <p:cNvSpPr/>
          <p:nvPr/>
        </p:nvSpPr>
        <p:spPr>
          <a:xfrm rot="5400000">
            <a:off x="10728159" y="2912364"/>
            <a:ext cx="580722" cy="502920"/>
          </a:xfrm>
          <a:prstGeom prst="hexagon">
            <a:avLst/>
          </a:prstGeom>
          <a:solidFill>
            <a:srgbClr val="4A90D0"/>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3048152"/>
            <a:ext cx="231343" cy="231343"/>
          </a:xfrm>
          <a:prstGeom prst="rect">
            <a:avLst/>
          </a:prstGeom>
        </p:spPr>
      </p:pic>
      <p:sp>
        <p:nvSpPr>
          <p:cNvPr id="11" name="Text 8"/>
          <p:cNvSpPr txBox="1"/>
          <p:nvPr/>
        </p:nvSpPr>
        <p:spPr>
          <a:xfrm>
            <a:off x="6903720" y="2770632"/>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המשך מינון אחזקתי של Wegovy 2.4 mg (סמגלוטייד) אחת לשבוע.</a:t>
            </a:r>
            <a:endParaRPr lang="he-IL" sz="1450" dirty="0"/>
          </a:p>
        </p:txBody>
      </p:sp>
      <p:sp>
        <p:nvSpPr>
          <p:cNvPr id="12" name="Shape 9"/>
          <p:cNvSpPr/>
          <p:nvPr/>
        </p:nvSpPr>
        <p:spPr>
          <a:xfrm>
            <a:off x="6720840" y="3776472"/>
            <a:ext cx="4690872" cy="932688"/>
          </a:xfrm>
          <a:prstGeom prst="roundRect">
            <a:avLst>
              <a:gd name="adj" fmla="val 11765"/>
            </a:avLst>
          </a:prstGeom>
          <a:solidFill>
            <a:srgbClr val="3A3377"/>
          </a:solidFill>
          <a:ln/>
        </p:spPr>
        <p:txBody>
          <a:bodyPr/>
          <a:lstStyle/>
          <a:p>
            <a:endParaRPr lang="he-IL"/>
          </a:p>
        </p:txBody>
      </p:sp>
      <p:sp>
        <p:nvSpPr>
          <p:cNvPr id="13" name="Shape 10"/>
          <p:cNvSpPr/>
          <p:nvPr/>
        </p:nvSpPr>
        <p:spPr>
          <a:xfrm rot="5400000">
            <a:off x="10728159" y="3991356"/>
            <a:ext cx="580722" cy="502920"/>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4127144"/>
            <a:ext cx="231343" cy="231343"/>
          </a:xfrm>
          <a:prstGeom prst="rect">
            <a:avLst/>
          </a:prstGeom>
        </p:spPr>
      </p:pic>
      <p:sp>
        <p:nvSpPr>
          <p:cNvPr id="15" name="Text 11"/>
          <p:cNvSpPr txBox="1"/>
          <p:nvPr/>
        </p:nvSpPr>
        <p:spPr>
          <a:xfrm>
            <a:off x="6903720" y="3849624"/>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המשך אינסולין בזאלי Degludec (טרגלודק) 36 יחידות ליום.</a:t>
            </a:r>
            <a:endParaRPr lang="he-IL" sz="1450" dirty="0"/>
          </a:p>
        </p:txBody>
      </p:sp>
      <p:sp>
        <p:nvSpPr>
          <p:cNvPr id="16" name="Shape 12"/>
          <p:cNvSpPr/>
          <p:nvPr/>
        </p:nvSpPr>
        <p:spPr>
          <a:xfrm>
            <a:off x="6720840" y="4855464"/>
            <a:ext cx="4690872" cy="932688"/>
          </a:xfrm>
          <a:prstGeom prst="roundRect">
            <a:avLst>
              <a:gd name="adj" fmla="val 11765"/>
            </a:avLst>
          </a:prstGeom>
          <a:solidFill>
            <a:srgbClr val="3A3377"/>
          </a:solidFill>
          <a:ln/>
        </p:spPr>
        <p:txBody>
          <a:bodyPr/>
          <a:lstStyle/>
          <a:p>
            <a:endParaRPr lang="he-IL"/>
          </a:p>
        </p:txBody>
      </p:sp>
      <p:sp>
        <p:nvSpPr>
          <p:cNvPr id="17" name="Shape 13"/>
          <p:cNvSpPr/>
          <p:nvPr/>
        </p:nvSpPr>
        <p:spPr>
          <a:xfrm rot="5400000">
            <a:off x="10728159" y="5070348"/>
            <a:ext cx="580722" cy="502920"/>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5206136"/>
            <a:ext cx="231343" cy="231343"/>
          </a:xfrm>
          <a:prstGeom prst="rect">
            <a:avLst/>
          </a:prstGeom>
        </p:spPr>
      </p:pic>
      <p:sp>
        <p:nvSpPr>
          <p:cNvPr id="19" name="Text 14"/>
          <p:cNvSpPr txBox="1"/>
          <p:nvPr/>
        </p:nvSpPr>
        <p:spPr>
          <a:xfrm>
            <a:off x="6903720" y="4928616"/>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אינסולין נובורפיד (אספארט) 8 יחידות לפני כל ארוחה לפי מעקב ערכים.</a:t>
            </a:r>
            <a:endParaRPr lang="he-IL" sz="1450" dirty="0"/>
          </a:p>
        </p:txBody>
      </p:sp>
      <p:sp>
        <p:nvSpPr>
          <p:cNvPr id="20" name="Shape 15"/>
          <p:cNvSpPr/>
          <p:nvPr/>
        </p:nvSpPr>
        <p:spPr>
          <a:xfrm>
            <a:off x="548640" y="192024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1" name="Shape 16"/>
          <p:cNvSpPr/>
          <p:nvPr/>
        </p:nvSpPr>
        <p:spPr>
          <a:xfrm rot="5400000">
            <a:off x="5561799" y="2135124"/>
            <a:ext cx="580722" cy="502920"/>
          </a:xfrm>
          <a:prstGeom prst="hexagon">
            <a:avLst/>
          </a:prstGeom>
          <a:solidFill>
            <a:srgbClr val="5280C8"/>
          </a:solidFill>
          <a:ln/>
        </p:spPr>
        <p:txBody>
          <a:bodyPr/>
          <a:lstStyle/>
          <a:p>
            <a:endParaRPr lang="he-IL"/>
          </a:p>
        </p:txBody>
      </p:sp>
      <p:pic>
        <p:nvPicPr>
          <p:cNvPr id="22" name="Image 3"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36488" y="2270912"/>
            <a:ext cx="231343" cy="231343"/>
          </a:xfrm>
          <a:prstGeom prst="rect">
            <a:avLst/>
          </a:prstGeom>
        </p:spPr>
      </p:pic>
      <p:sp>
        <p:nvSpPr>
          <p:cNvPr id="23" name="Text 17"/>
          <p:cNvSpPr txBox="1"/>
          <p:nvPr/>
        </p:nvSpPr>
        <p:spPr>
          <a:xfrm>
            <a:off x="731520" y="199339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מעקב מרפאת פצע: </a:t>
            </a:r>
            <a:r>
              <a:rPr lang="he-IL" altLang="en-US" sz="1400" dirty="0">
                <a:solidFill>
                  <a:srgbClr val="2E2A47"/>
                </a:solidFill>
                <a:latin typeface="Arial" pitchFamily="34" charset="0"/>
                <a:ea typeface="Arial" pitchFamily="34" charset="-122"/>
                <a:cs typeface="Arial" pitchFamily="34" charset="-120"/>
              </a:rPr>
              <a:t>המשך ביקורים שבועיים במרפאת פצע להשלמת סגירת הכיב ברגל ימין.</a:t>
            </a:r>
            <a:endParaRPr lang="he-IL" sz="1400" dirty="0"/>
          </a:p>
        </p:txBody>
      </p:sp>
      <p:sp>
        <p:nvSpPr>
          <p:cNvPr id="24" name="Shape 18"/>
          <p:cNvSpPr/>
          <p:nvPr/>
        </p:nvSpPr>
        <p:spPr>
          <a:xfrm>
            <a:off x="548640" y="297180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5" name="Shape 19"/>
          <p:cNvSpPr/>
          <p:nvPr/>
        </p:nvSpPr>
        <p:spPr>
          <a:xfrm rot="5400000">
            <a:off x="5561799" y="3186684"/>
            <a:ext cx="580722" cy="502920"/>
          </a:xfrm>
          <a:prstGeom prst="hexagon">
            <a:avLst/>
          </a:prstGeom>
          <a:solidFill>
            <a:srgbClr val="5B6BB5"/>
          </a:solidFill>
          <a:ln/>
        </p:spPr>
        <p:txBody>
          <a:bodyPr/>
          <a:lstStyle/>
          <a:p>
            <a:endParaRPr lang="he-IL"/>
          </a:p>
        </p:txBody>
      </p:sp>
      <p:pic>
        <p:nvPicPr>
          <p:cNvPr id="26" name="Image 4"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36488" y="3322472"/>
            <a:ext cx="231343" cy="231343"/>
          </a:xfrm>
          <a:prstGeom prst="rect">
            <a:avLst/>
          </a:prstGeom>
        </p:spPr>
      </p:pic>
      <p:sp>
        <p:nvSpPr>
          <p:cNvPr id="27" name="Text 20"/>
          <p:cNvSpPr txBox="1"/>
          <p:nvPr/>
        </p:nvSpPr>
        <p:spPr>
          <a:xfrm>
            <a:off x="731520" y="304495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ניטור רציף ב-Libre 2: </a:t>
            </a:r>
            <a:r>
              <a:rPr lang="he-IL" altLang="en-US" sz="1400" dirty="0">
                <a:solidFill>
                  <a:srgbClr val="2E2A47"/>
                </a:solidFill>
                <a:latin typeface="Arial" pitchFamily="34" charset="0"/>
                <a:ea typeface="Arial" pitchFamily="34" charset="-122"/>
                <a:cs typeface="Arial" pitchFamily="34" charset="-120"/>
              </a:rPr>
              <a:t>המשך סריקה יומיומית, מעקב אחר התראות היפוגליקמיה ליליות ושמירה על TIR &gt; 70%.</a:t>
            </a:r>
            <a:endParaRPr lang="he-IL" sz="1400" dirty="0"/>
          </a:p>
        </p:txBody>
      </p:sp>
      <p:sp>
        <p:nvSpPr>
          <p:cNvPr id="28" name="Shape 21"/>
          <p:cNvSpPr/>
          <p:nvPr/>
        </p:nvSpPr>
        <p:spPr>
          <a:xfrm>
            <a:off x="548640" y="402336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9" name="Shape 22"/>
          <p:cNvSpPr/>
          <p:nvPr/>
        </p:nvSpPr>
        <p:spPr>
          <a:xfrm rot="5400000">
            <a:off x="5561799" y="4238244"/>
            <a:ext cx="580722" cy="502920"/>
          </a:xfrm>
          <a:prstGeom prst="hexagon">
            <a:avLst/>
          </a:prstGeom>
          <a:solidFill>
            <a:srgbClr val="6658A6"/>
          </a:solidFill>
          <a:ln/>
        </p:spPr>
        <p:txBody>
          <a:bodyPr/>
          <a:lstStyle/>
          <a:p>
            <a:endParaRPr lang="he-IL"/>
          </a:p>
        </p:txBody>
      </p:sp>
      <p:pic>
        <p:nvPicPr>
          <p:cNvPr id="30" name="Image 5"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736488" y="4374032"/>
            <a:ext cx="231343" cy="231343"/>
          </a:xfrm>
          <a:prstGeom prst="rect">
            <a:avLst/>
          </a:prstGeom>
        </p:spPr>
      </p:pic>
      <p:sp>
        <p:nvSpPr>
          <p:cNvPr id="31" name="Text 23"/>
          <p:cNvSpPr txBox="1"/>
          <p:nvPr/>
        </p:nvSpPr>
        <p:spPr>
          <a:xfrm>
            <a:off x="731520" y="409651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תזונה ופעילות גופנית: </a:t>
            </a:r>
            <a:r>
              <a:rPr lang="he-IL" altLang="en-US" sz="1400" dirty="0">
                <a:solidFill>
                  <a:srgbClr val="2E2A47"/>
                </a:solidFill>
                <a:latin typeface="Arial" pitchFamily="34" charset="0"/>
                <a:ea typeface="Arial" pitchFamily="34" charset="-122"/>
                <a:cs typeface="Arial" pitchFamily="34" charset="-120"/>
              </a:rPr>
              <a:t>מפגש חודשי עם דיאטנית קלינית ושמירה על שגרת הליכות מותאמת.</a:t>
            </a:r>
            <a:endParaRPr lang="he-IL" sz="1400" dirty="0"/>
          </a:p>
        </p:txBody>
      </p:sp>
      <p:sp>
        <p:nvSpPr>
          <p:cNvPr id="32" name="Shape 24"/>
          <p:cNvSpPr/>
          <p:nvPr/>
        </p:nvSpPr>
        <p:spPr>
          <a:xfrm>
            <a:off x="548640" y="507492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33" name="Shape 25"/>
          <p:cNvSpPr/>
          <p:nvPr/>
        </p:nvSpPr>
        <p:spPr>
          <a:xfrm rot="5400000">
            <a:off x="5561799" y="5289804"/>
            <a:ext cx="580722" cy="502920"/>
          </a:xfrm>
          <a:prstGeom prst="hexagon">
            <a:avLst/>
          </a:prstGeom>
          <a:solidFill>
            <a:srgbClr val="6E4494"/>
          </a:solidFill>
          <a:ln/>
        </p:spPr>
        <p:txBody>
          <a:bodyPr/>
          <a:lstStyle/>
          <a:p>
            <a:endParaRPr lang="he-IL"/>
          </a:p>
        </p:txBody>
      </p:sp>
      <p:pic>
        <p:nvPicPr>
          <p:cNvPr id="34" name="Image 6"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736488" y="5425592"/>
            <a:ext cx="231343" cy="231343"/>
          </a:xfrm>
          <a:prstGeom prst="rect">
            <a:avLst/>
          </a:prstGeom>
        </p:spPr>
      </p:pic>
      <p:sp>
        <p:nvSpPr>
          <p:cNvPr id="35" name="Text 26"/>
          <p:cNvSpPr txBox="1"/>
          <p:nvPr/>
        </p:nvSpPr>
        <p:spPr>
          <a:xfrm>
            <a:off x="731520" y="514807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בדיקות מעבדה תקופתיות: </a:t>
            </a:r>
            <a:r>
              <a:rPr lang="he-IL" altLang="en-US" sz="1400" dirty="0">
                <a:solidFill>
                  <a:srgbClr val="2E2A47"/>
                </a:solidFill>
                <a:latin typeface="Arial" pitchFamily="34" charset="0"/>
                <a:ea typeface="Arial" pitchFamily="34" charset="-122"/>
                <a:cs typeface="Arial" pitchFamily="34" charset="-120"/>
              </a:rPr>
              <a:t>בדיקת HbA1C, ליפידים ותפקודי כליה (eGFR, ACR) בעוד 3 חודשים.</a:t>
            </a:r>
            <a:endParaRPr lang="he-IL" sz="140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24248" y="685800"/>
            <a:ext cx="2743200" cy="2258568"/>
          </a:xfrm>
          <a:prstGeom prst="rect">
            <a:avLst/>
          </a:prstGeom>
        </p:spPr>
      </p:pic>
      <p:sp>
        <p:nvSpPr>
          <p:cNvPr id="3" name="Text 0"/>
          <p:cNvSpPr txBox="1"/>
          <p:nvPr/>
        </p:nvSpPr>
        <p:spPr>
          <a:xfrm>
            <a:off x="914400" y="3246120"/>
            <a:ext cx="10362895" cy="731520"/>
          </a:xfrm>
          <a:prstGeom prst="rect">
            <a:avLst/>
          </a:prstGeom>
          <a:noFill/>
          <a:ln/>
        </p:spPr>
        <p:txBody>
          <a:bodyPr wrap="square" lIns="0" tIns="0" rIns="0" bIns="0" rtlCol="0" anchor="ctr"/>
          <a:lstStyle/>
          <a:p>
            <a:pPr marL="0" indent="0" algn="ctr" rtl="1">
              <a:buNone/>
            </a:pPr>
            <a:r>
              <a:rPr lang="he-IL" altLang="en-US" sz="3800" b="1" dirty="0">
                <a:solidFill>
                  <a:srgbClr val="FFFFFF"/>
                </a:solidFill>
                <a:latin typeface="Arial" pitchFamily="34" charset="0"/>
                <a:ea typeface="Arial" pitchFamily="34" charset="-122"/>
                <a:cs typeface="Arial" pitchFamily="34" charset="-120"/>
              </a:rPr>
              <a:t>סיום הלומדה והמצגת בהצלחה!</a:t>
            </a:r>
            <a:endParaRPr lang="he-IL" sz="3800" dirty="0"/>
          </a:p>
        </p:txBody>
      </p:sp>
      <p:sp>
        <p:nvSpPr>
          <p:cNvPr id="4" name="Text 1"/>
          <p:cNvSpPr txBox="1"/>
          <p:nvPr/>
        </p:nvSpPr>
        <p:spPr>
          <a:xfrm>
            <a:off x="1188720" y="4160520"/>
            <a:ext cx="9619488" cy="1371600"/>
          </a:xfrm>
          <a:prstGeom prst="rect">
            <a:avLst/>
          </a:prstGeom>
          <a:noFill/>
          <a:ln/>
        </p:spPr>
        <p:txBody>
          <a:bodyPr wrap="square" lIns="0" tIns="0" rIns="0" bIns="0" rtlCol="0" anchor="t"/>
          <a:lstStyle/>
          <a:p>
            <a:pPr marL="0" indent="0" algn="ctr" rtl="1">
              <a:buNone/>
            </a:pPr>
            <a:r>
              <a:rPr lang="he-IL" altLang="en-US" sz="1800" dirty="0">
                <a:solidFill>
                  <a:srgbClr val="D6D0F0"/>
                </a:solidFill>
                <a:latin typeface="Arial" pitchFamily="34" charset="0"/>
                <a:ea typeface="Arial" pitchFamily="34" charset="-122"/>
                <a:cs typeface="Arial" pitchFamily="34" charset="-120"/>
              </a:rPr>
              <a:t>המקרה של יעקב מדגים את השינויים הקליניים שנצפו במהלך טיפול ב-</a:t>
            </a:r>
            <a:r>
              <a:rPr lang="da-DK" altLang="en-US" sz="1800" dirty="0">
                <a:solidFill>
                  <a:srgbClr val="D6D0F0"/>
                </a:solidFill>
                <a:latin typeface="Arial" pitchFamily="34" charset="0"/>
                <a:ea typeface="Arial" pitchFamily="34" charset="-122"/>
                <a:cs typeface="Arial" pitchFamily="34" charset="-120"/>
              </a:rPr>
              <a:t>Wegovy® </a:t>
            </a:r>
            <a:r>
              <a:rPr lang="en-US" altLang="en-US" sz="1800" dirty="0">
                <a:solidFill>
                  <a:srgbClr val="D6D0F0"/>
                </a:solidFill>
                <a:latin typeface="Arial" pitchFamily="34" charset="0"/>
                <a:ea typeface="Arial" pitchFamily="34" charset="-122"/>
                <a:cs typeface="Arial" pitchFamily="34" charset="-120"/>
              </a:rPr>
              <a:t>(Semaglutide </a:t>
            </a:r>
            <a:r>
              <a:rPr lang="da-DK" altLang="en-US" sz="1800" dirty="0">
                <a:solidFill>
                  <a:srgbClr val="D6D0F0"/>
                </a:solidFill>
                <a:latin typeface="Arial" pitchFamily="34" charset="0"/>
                <a:ea typeface="Arial" pitchFamily="34" charset="-122"/>
                <a:cs typeface="Arial" pitchFamily="34" charset="-120"/>
              </a:rPr>
              <a:t>2.4 mg) </a:t>
            </a:r>
            <a:r>
              <a:rPr lang="he-IL" altLang="en-US" sz="1800" dirty="0">
                <a:solidFill>
                  <a:srgbClr val="D6D0F0"/>
                </a:solidFill>
                <a:latin typeface="Arial" pitchFamily="34" charset="0"/>
                <a:ea typeface="Arial" pitchFamily="34" charset="-122"/>
                <a:cs typeface="Arial" pitchFamily="34" charset="-120"/>
              </a:rPr>
              <a:t> כחלק מגישה טיפולית כוללת: ירידה במשקל, שיפור באיזון הגליקמי והפחתה במינוני האינסולין לצד שיפור במספר גורמי סיכון קרדיו-מטבוליים</a:t>
            </a:r>
          </a:p>
        </p:txBody>
      </p:sp>
      <p:sp>
        <p:nvSpPr>
          <p:cNvPr id="5" name="Text 2"/>
          <p:cNvSpPr txBox="1"/>
          <p:nvPr/>
        </p:nvSpPr>
        <p:spPr>
          <a:xfrm>
            <a:off x="914400" y="5943600"/>
            <a:ext cx="10362895" cy="365760"/>
          </a:xfrm>
          <a:prstGeom prst="rect">
            <a:avLst/>
          </a:prstGeom>
          <a:noFill/>
          <a:ln/>
        </p:spPr>
        <p:txBody>
          <a:bodyPr wrap="square" lIns="0" tIns="0" rIns="0" bIns="0" rtlCol="0" anchor="t"/>
          <a:lstStyle/>
          <a:p>
            <a:pPr marL="0" indent="0" algn="ctr">
              <a:buNone/>
            </a:pPr>
            <a:r>
              <a:rPr lang="en-US" altLang="en-US" sz="1300" b="1" kern="0" spc="200" dirty="0">
                <a:solidFill>
                  <a:srgbClr val="9CC4EE"/>
                </a:solidFill>
                <a:latin typeface="Arial" pitchFamily="34" charset="0"/>
                <a:ea typeface="Arial" pitchFamily="34" charset="-122"/>
                <a:cs typeface="Arial" pitchFamily="34" charset="-120"/>
              </a:rPr>
              <a:t>TIFERET ELIAV • Diabetes &amp; AI</a:t>
            </a:r>
            <a:endParaRPr lang="en-US" sz="1300" dirty="0"/>
          </a:p>
        </p:txBody>
      </p:sp>
      <p:pic>
        <p:nvPicPr>
          <p:cNvPr id="7" name="תמונה 6">
            <a:extLst>
              <a:ext uri="{FF2B5EF4-FFF2-40B4-BE49-F238E27FC236}">
                <a16:creationId xmlns:a16="http://schemas.microsoft.com/office/drawing/2014/main" id="{97CE205C-2970-9C05-46D3-205A9B522A1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26227" y="234408"/>
            <a:ext cx="3111668" cy="315080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38CB3E-62AC-40BE-824F-4BC7B7B78215}"/>
              </a:ext>
            </a:extLst>
          </p:cNvPr>
          <p:cNvSpPr>
            <a:spLocks noGrp="1"/>
          </p:cNvSpPr>
          <p:nvPr>
            <p:ph type="ctrTitle"/>
          </p:nvPr>
        </p:nvSpPr>
        <p:spPr>
          <a:xfrm>
            <a:off x="158637" y="169683"/>
            <a:ext cx="5690475" cy="339366"/>
          </a:xfrm>
        </p:spPr>
        <p:txBody>
          <a:bodyPr/>
          <a:lstStyle/>
          <a:p>
            <a:r>
              <a:rPr lang="en-US" sz="1600" err="1"/>
              <a:t>Wegovy</a:t>
            </a:r>
            <a:r>
              <a:rPr lang="en-US" sz="1600" baseline="30000"/>
              <a:t>®</a:t>
            </a:r>
            <a:br>
              <a:rPr lang="en-IL" sz="1600"/>
            </a:br>
            <a:endParaRPr lang="en-US" sz="1600"/>
          </a:p>
        </p:txBody>
      </p:sp>
      <p:sp>
        <p:nvSpPr>
          <p:cNvPr id="8" name="Footer Placeholder 7">
            <a:extLst>
              <a:ext uri="{FF2B5EF4-FFF2-40B4-BE49-F238E27FC236}">
                <a16:creationId xmlns:a16="http://schemas.microsoft.com/office/drawing/2014/main" id="{D19C0A48-D5CB-48FD-BD17-ED27110C6D7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 b="0" i="0" u="none" strike="noStrike" kern="1200" cap="none" spc="0" normalizeH="0" baseline="0" noProof="0">
              <a:ln>
                <a:noFill/>
              </a:ln>
              <a:noFill/>
              <a:effectLst/>
              <a:uLnTx/>
              <a:uFillTx/>
              <a:latin typeface="Apis For Office"/>
              <a:ea typeface="+mn-ea"/>
              <a:cs typeface="+mn-cs"/>
            </a:endParaRPr>
          </a:p>
        </p:txBody>
      </p:sp>
      <p:sp>
        <p:nvSpPr>
          <p:cNvPr id="9" name="Slide Number Placeholder 8">
            <a:extLst>
              <a:ext uri="{FF2B5EF4-FFF2-40B4-BE49-F238E27FC236}">
                <a16:creationId xmlns:a16="http://schemas.microsoft.com/office/drawing/2014/main" id="{A7A4B6A3-2F32-4E08-8977-44A2E775F659}"/>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3AA811B-2EBD-4900-905E-5BE206449611}" type="slidenum">
              <a:rPr kumimoji="0" lang="en-US" sz="100" b="0" i="0" u="none" strike="noStrike" kern="1200" cap="none" spc="0" normalizeH="0" baseline="0" noProof="0" smtClean="0">
                <a:ln>
                  <a:noFill/>
                </a:ln>
                <a:noFill/>
                <a:effectLst/>
                <a:uLnTx/>
                <a:uFillTx/>
                <a:latin typeface="Apis For Offic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00" b="0" i="0" u="none" strike="noStrike" kern="1200" cap="none" spc="0" normalizeH="0" baseline="0" noProof="0">
              <a:ln>
                <a:noFill/>
              </a:ln>
              <a:noFill/>
              <a:effectLst/>
              <a:uLnTx/>
              <a:uFillTx/>
              <a:latin typeface="Apis For Office"/>
              <a:ea typeface="+mn-ea"/>
              <a:cs typeface="+mn-cs"/>
            </a:endParaRPr>
          </a:p>
        </p:txBody>
      </p:sp>
      <p:sp>
        <p:nvSpPr>
          <p:cNvPr id="13" name="TextBox 12">
            <a:extLst>
              <a:ext uri="{FF2B5EF4-FFF2-40B4-BE49-F238E27FC236}">
                <a16:creationId xmlns:a16="http://schemas.microsoft.com/office/drawing/2014/main" id="{47531F85-1C17-4642-B811-8497C8D4F729}"/>
              </a:ext>
            </a:extLst>
          </p:cNvPr>
          <p:cNvSpPr txBox="1"/>
          <p:nvPr/>
        </p:nvSpPr>
        <p:spPr>
          <a:xfrm>
            <a:off x="0" y="339366"/>
            <a:ext cx="12192000" cy="626325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Therapeutic </a:t>
            </a:r>
            <a:r>
              <a:rPr kumimoji="0" lang="en-GB" sz="1050" b="1" i="0" u="sng"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mn-cs"/>
              </a:rPr>
              <a:t>i</a:t>
            </a:r>
            <a:r>
              <a:rPr kumimoji="0" lang="en-US" sz="1050" b="1" i="0" u="sng"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mn-cs"/>
              </a:rPr>
              <a:t>ndications</a:t>
            </a:r>
            <a:r>
              <a:rPr kumimoji="0" lang="en-US"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t>
            </a: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US" sz="1050" b="0" i="0" u="none" strike="noStrike" kern="1200" cap="none" spc="0" normalizeH="0" baseline="0" noProof="0">
              <a:ln>
                <a:noFill/>
              </a:ln>
              <a:solidFill>
                <a:srgbClr val="000000"/>
              </a:solidFill>
              <a:effectLst/>
              <a:uLnTx/>
              <a:uFillTx/>
              <a:latin typeface="Times New Roman" panose="02020603050405020304" pitchFamily="18"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Adults:</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is indicated as an adjunct to a reduced-calorie diet and increased physical activity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for weight management, including weight loss and weight maintenance, in adults with an initial Body Mass Index (BMI) of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≥30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(obesity), or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≥27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to &lt;30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(overweight) in the presence of at least one weight-related comorbidity e.g.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dysglycaemia</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(prediabetes or type 2 diabetes mellitus), hypertension, dyslipidaemia, obstructive sleep apnoea or cardiovascular disease.</a:t>
            </a:r>
            <a:endParaRPr kumimoji="0" lang="he-IL"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L" sz="1050" b="1" i="0" u="none" strike="noStrike" kern="1200" cap="none" spc="0" normalizeH="0" baseline="0" noProof="0">
                <a:ln>
                  <a:noFill/>
                </a:ln>
                <a:solidFill>
                  <a:srgbClr val="000000"/>
                </a:solidFill>
                <a:effectLst/>
                <a:uLnTx/>
                <a:uFillTx/>
                <a:latin typeface="Apis For Office"/>
                <a:ea typeface="+mn-ea"/>
                <a:cs typeface="+mn-cs"/>
              </a:rPr>
              <a:t>For trial results with respect to cardiovascular risk reduction and populations studied, see section 5.1</a:t>
            </a:r>
            <a:r>
              <a:rPr kumimoji="0" lang="en-US" sz="1050" b="1" i="0" u="none" strike="noStrike" kern="1200" cap="none" spc="0" normalizeH="0" baseline="0" noProof="0">
                <a:ln>
                  <a:noFill/>
                </a:ln>
                <a:solidFill>
                  <a:srgbClr val="000000"/>
                </a:solidFill>
                <a:effectLst/>
                <a:uLnTx/>
                <a:uFillTx/>
                <a:latin typeface="Apis For Office"/>
                <a:ea typeface="+mn-ea"/>
                <a:cs typeface="+mn-cs"/>
              </a:rPr>
              <a:t> of the </a:t>
            </a:r>
            <a:r>
              <a:rPr kumimoji="0" lang="en-GB" sz="1050" b="1" i="0" u="none" strike="noStrike" kern="1200" cap="none" spc="0" normalizeH="0" baseline="0" noProof="0">
                <a:ln>
                  <a:noFill/>
                </a:ln>
                <a:solidFill>
                  <a:srgbClr val="000000"/>
                </a:solidFill>
                <a:effectLst/>
                <a:uLnTx/>
                <a:uFillTx/>
                <a:latin typeface="Apis For Office"/>
                <a:ea typeface="+mn-ea"/>
                <a:cs typeface="+mn-cs"/>
              </a:rPr>
              <a:t>full Israeli physician leaflet.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he-IL" sz="1050" b="1" i="0" u="none" strike="noStrike" kern="1200" cap="none" spc="0" normalizeH="0" baseline="0" noProof="0">
              <a:ln>
                <a:noFill/>
              </a:ln>
              <a:solidFill>
                <a:srgbClr val="000000"/>
              </a:solidFill>
              <a:effectLst/>
              <a:uLnTx/>
              <a:uFillTx/>
              <a:latin typeface="Apis For Office"/>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tab pos="90170" algn="l"/>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Adolescents (≥12 years):</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is indicated as an adjunct to a reduced-calorie diet and increased physical activity for weight management in adolescents ages 12 years and above with obesity (BMI ≥95th percentile as defined on sex- and age-specific BMI growth charts -CDC.gov), and body weight above 60 kg.</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Treatment with 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should be discontinued and re-evaluated if adolescent patients have not reduced their BMI by at least 5% after 12 weeks on the 2.4 mg or maximum tolerated dose.</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Contraindication: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Hypersensitivity to the active substance or to any of the excipients listed in section 6.1 of the full Israeli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physician leaflet.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Special warnings:</a:t>
            </a:r>
            <a:endParaRPr kumimoji="0" lang="he-IL"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Aspiration in association with general </a:t>
            </a:r>
            <a:r>
              <a:rPr kumimoji="0" lang="en-US" sz="1050" b="0" i="0" u="sng"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Cases of pulmonary aspiration have been reported in patients receiving GLP-1 receptor</a:t>
            </a: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agonists undergoing general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 Therefore the increase risk of residual gastric content due to delayed gastric emptying should be considered prior to performing procedures with general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Gastrointestinal effects and Dehydration: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Use of GLP-1 receptor agonists may be associated with gastrointestinal adverse reactions. This should be considered when treating patients with impaired renal function, as nausea, vomiting, and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diarrhoea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may cause dehydration, which in rare cases can lead to a deterioration of renal function. Patients treated with semaglutide should be advised of the potential risk of dehydration in relation to gastrointestinal side effects and take precautions to avoid fluid depletion.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Acute pancreatitis</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Acute pancreatitis has been observed with the use of GLP-1 receptor agonists. Patients should be informed of the characteristic symptoms of acute pancreatitis.</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Hypoglycaemia in patients with type 2 diabetes</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Patients treated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in combination with a sulfonylurea or insulin may have an increased risk of hypoglycaemia</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Diabetic retinopathy in patients with type 2 diabetes</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In patients with diabetic retinopathy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an increased risk of developing diabetic retinopathy complications has been observed.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Non-arteritic anterior ischaemic optic neuropathy (NAION):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Data from epidemiological studies indicates an increased risk for non-</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arteritic</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anterior ischaemic optic neuropathy (NAION) during treatment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There is no identified time interval for when NAION may develop following treatment start. A sudden loss of vision should lead to ophthalmological examination and treatment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should be discontinued if NAION is confirmed.</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Patients with gastroparesis: </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Semaglutide treated patients with gastroparesis may experience more serious or severe gastrointestinal adverse events. Semaglutide should be used with caution in these patients, and semaglutide is not recommended if gastroparesis is severe.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For full information regarding special warnings and precautions please refer to the full </a:t>
            </a:r>
            <a:r>
              <a:rPr kumimoji="0" lang="en-GB"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Israeli physician leaflet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as appears in the MoH website.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Safety profile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The most frequently reported adverse reactions during treatment with 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are: vomiting, diarrhoea, constipation, nausea, abdominal pain, headache and fatigue</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t>
            </a:r>
            <a:r>
              <a:rPr kumimoji="0" lang="en-GB"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For further information please refer to the full Israeli physician leaflet as </a:t>
            </a:r>
            <a:r>
              <a:rPr kumimoji="0" lang="en-GB" sz="1050" b="0" i="0" u="none" strike="noStrike" kern="1200" cap="none" spc="0" normalizeH="0" baseline="0" noProof="0">
                <a:ln>
                  <a:noFill/>
                </a:ln>
                <a:solidFill>
                  <a:srgbClr val="1D1D1D"/>
                </a:solidFill>
                <a:effectLst/>
                <a:uLnTx/>
                <a:uFillTx/>
                <a:latin typeface="Arial" panose="020B0604020202020204" pitchFamily="34" charset="0"/>
                <a:ea typeface="+mn-ea"/>
                <a:cs typeface="+mn-cs"/>
              </a:rPr>
              <a:t>appears in the MoH website.</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ptos" panose="020B0004020202020204" pitchFamily="34" charset="0"/>
              </a:rPr>
              <a:t>Marketing registration holder: </a:t>
            </a:r>
            <a:r>
              <a:rPr kumimoji="0" lang="en-US" sz="1050" b="0" i="0" u="none" strike="noStrike" kern="1200" cap="none" spc="0" normalizeH="0" baseline="0" noProof="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rPr>
              <a:t>Novo Nordisk LTD, Israel  </a:t>
            </a:r>
            <a:r>
              <a:rPr kumimoji="0" lang="he-IL" sz="1050" b="0" i="0" u="none" strike="noStrike" kern="1200" cap="none" spc="0" normalizeH="0" baseline="0" noProof="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rPr>
              <a:t>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rPr>
              <a:t> </a:t>
            </a: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p:txBody>
      </p:sp>
    </p:spTree>
    <p:custDataLst>
      <p:custData r:id="rId1"/>
      <p:custData r:id="rId2"/>
    </p:custDataLst>
    <p:extLst>
      <p:ext uri="{BB962C8B-B14F-4D97-AF65-F5344CB8AC3E}">
        <p14:creationId xmlns:p14="http://schemas.microsoft.com/office/powerpoint/2010/main" val="2899921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SUBGRID]" val="[SubGrid]"/>
</p:tagLst>
</file>

<file path=ppt/tags/tag17.xml><?xml version="1.0" encoding="utf-8"?>
<p:tagLst xmlns:a="http://schemas.openxmlformats.org/drawingml/2006/main" xmlns:r="http://schemas.openxmlformats.org/officeDocument/2006/relationships" xmlns:p="http://schemas.openxmlformats.org/presentationml/2006/main">
  <p:tag name="[SUBGRID]" val="[SubGrid]"/>
</p:tagLst>
</file>

<file path=ppt/tags/tag18.xml><?xml version="1.0" encoding="utf-8"?>
<p:tagLst xmlns:a="http://schemas.openxmlformats.org/drawingml/2006/main" xmlns:r="http://schemas.openxmlformats.org/officeDocument/2006/relationships" xmlns:p="http://schemas.openxmlformats.org/presentationml/2006/main">
  <p:tag name="[SUBGRID]" val="[SubGrid]"/>
</p:tagLst>
</file>

<file path=ppt/tags/tag19.xml><?xml version="1.0" encoding="utf-8"?>
<p:tagLst xmlns:a="http://schemas.openxmlformats.org/drawingml/2006/main" xmlns:r="http://schemas.openxmlformats.org/officeDocument/2006/relationships" xmlns:p="http://schemas.openxmlformats.org/presentationml/2006/main">
  <p:tag name="[SUBGRID]" val="[SubGrid]"/>
</p:tagLst>
</file>

<file path=ppt/tags/tag20.xml><?xml version="1.0" encoding="utf-8"?>
<p:tagLst xmlns:a="http://schemas.openxmlformats.org/drawingml/2006/main" xmlns:r="http://schemas.openxmlformats.org/officeDocument/2006/relationships" xmlns:p="http://schemas.openxmlformats.org/presentationml/2006/main">
  <p:tag name="[SUBGRID]" val="[SubGrid]"/>
</p:tagLst>
</file>

<file path=ppt/tags/tag21.xml><?xml version="1.0" encoding="utf-8"?>
<p:tagLst xmlns:a="http://schemas.openxmlformats.org/drawingml/2006/main" xmlns:r="http://schemas.openxmlformats.org/officeDocument/2006/relationships" xmlns:p="http://schemas.openxmlformats.org/presentationml/2006/main">
  <p:tag name="[SUBGRID]" val="[SubGrid]"/>
</p:tagLst>
</file>

<file path=ppt/tags/tag22.xml><?xml version="1.0" encoding="utf-8"?>
<p:tagLst xmlns:a="http://schemas.openxmlformats.org/drawingml/2006/main" xmlns:r="http://schemas.openxmlformats.org/officeDocument/2006/relationships" xmlns:p="http://schemas.openxmlformats.org/presentationml/2006/main">
  <p:tag name="[SUBGRID]" val="[SubGrid]"/>
</p:tagLst>
</file>

<file path=ppt/tags/tag23.xml><?xml version="1.0" encoding="utf-8"?>
<p:tagLst xmlns:a="http://schemas.openxmlformats.org/drawingml/2006/main" xmlns:r="http://schemas.openxmlformats.org/officeDocument/2006/relationships" xmlns:p="http://schemas.openxmlformats.org/presentationml/2006/main">
  <p:tag name="[SUBGRID]" val="[SubGrid]"/>
</p:tagLst>
</file>

<file path=ppt/tags/tag24.xml><?xml version="1.0" encoding="utf-8"?>
<p:tagLst xmlns:a="http://schemas.openxmlformats.org/drawingml/2006/main" xmlns:r="http://schemas.openxmlformats.org/officeDocument/2006/relationships" xmlns:p="http://schemas.openxmlformats.org/presentationml/2006/main">
  <p:tag name="[SUBGRID]" val="[SubGrid]"/>
</p:tagLst>
</file>

<file path=ppt/tags/tag25.xml><?xml version="1.0" encoding="utf-8"?>
<p:tagLst xmlns:a="http://schemas.openxmlformats.org/drawingml/2006/main" xmlns:r="http://schemas.openxmlformats.org/officeDocument/2006/relationships" xmlns:p="http://schemas.openxmlformats.org/presentationml/2006/main">
  <p:tag name="[SUBGRID]" val="[SubGrid]"/>
</p:tagLst>
</file>

<file path=ppt/tags/tag26.xml><?xml version="1.0" encoding="utf-8"?>
<p:tagLst xmlns:a="http://schemas.openxmlformats.org/drawingml/2006/main" xmlns:r="http://schemas.openxmlformats.org/officeDocument/2006/relationships" xmlns:p="http://schemas.openxmlformats.org/presentationml/2006/main">
  <p:tag name="[SUBGRID]" val="[SubGrid]"/>
</p:tagLst>
</file>

<file path=ppt/tags/tag27.xml><?xml version="1.0" encoding="utf-8"?>
<p:tagLst xmlns:a="http://schemas.openxmlformats.org/drawingml/2006/main" xmlns:r="http://schemas.openxmlformats.org/officeDocument/2006/relationships" xmlns:p="http://schemas.openxmlformats.org/presentationml/2006/main">
  <p:tag name="[SUBGRID]" val="[SubGrid]"/>
</p:tagLst>
</file>

<file path=ppt/tags/tag28.xml><?xml version="1.0" encoding="utf-8"?>
<p:tagLst xmlns:a="http://schemas.openxmlformats.org/drawingml/2006/main" xmlns:r="http://schemas.openxmlformats.org/officeDocument/2006/relationships" xmlns:p="http://schemas.openxmlformats.org/presentationml/2006/main">
  <p:tag name="[SUBGRID]" val="[SubGrid]"/>
</p:tagLst>
</file>

<file path=ppt/tags/tag29.xml><?xml version="1.0" encoding="utf-8"?>
<p:tagLst xmlns:a="http://schemas.openxmlformats.org/drawingml/2006/main" xmlns:r="http://schemas.openxmlformats.org/officeDocument/2006/relationships" xmlns:p="http://schemas.openxmlformats.org/presentationml/2006/main">
  <p:tag name="[SUBGRID]" val="[SubGrid]"/>
</p:tagLst>
</file>

<file path=ppt/tags/tag30.xml><?xml version="1.0" encoding="utf-8"?>
<p:tagLst xmlns:a="http://schemas.openxmlformats.org/drawingml/2006/main" xmlns:r="http://schemas.openxmlformats.org/officeDocument/2006/relationships" xmlns:p="http://schemas.openxmlformats.org/presentationml/2006/main">
  <p:tag name="[SUBGRID]" val="[SubGrid]"/>
</p:tagLst>
</file>

<file path=ppt/tags/tag31.xml><?xml version="1.0" encoding="utf-8"?>
<p:tagLst xmlns:a="http://schemas.openxmlformats.org/drawingml/2006/main" xmlns:r="http://schemas.openxmlformats.org/officeDocument/2006/relationships" xmlns:p="http://schemas.openxmlformats.org/presentationml/2006/main">
  <p:tag name="[SUBGRID]" val="[SubGrid]"/>
</p:tagLst>
</file>

<file path=ppt/tags/tag32.xml><?xml version="1.0" encoding="utf-8"?>
<p:tagLst xmlns:a="http://schemas.openxmlformats.org/drawingml/2006/main" xmlns:r="http://schemas.openxmlformats.org/officeDocument/2006/relationships" xmlns:p="http://schemas.openxmlformats.org/presentationml/2006/main">
  <p:tag name="[SUBGRID]" val="[SubGrid]"/>
</p:tagLst>
</file>

<file path=ppt/tags/tag33.xml><?xml version="1.0" encoding="utf-8"?>
<p:tagLst xmlns:a="http://schemas.openxmlformats.org/drawingml/2006/main" xmlns:r="http://schemas.openxmlformats.org/officeDocument/2006/relationships" xmlns:p="http://schemas.openxmlformats.org/presentationml/2006/main">
  <p:tag name="[SUBGRID]" val="[SubGrid]"/>
</p:tagLst>
</file>

<file path=ppt/tags/tag34.xml><?xml version="1.0" encoding="utf-8"?>
<p:tagLst xmlns:a="http://schemas.openxmlformats.org/drawingml/2006/main" xmlns:r="http://schemas.openxmlformats.org/officeDocument/2006/relationships" xmlns:p="http://schemas.openxmlformats.org/presentationml/2006/main">
  <p:tag name="[SUBGRID]" val="[SubGrid]"/>
</p:tagLst>
</file>

<file path=ppt/tags/tag35.xml><?xml version="1.0" encoding="utf-8"?>
<p:tagLst xmlns:a="http://schemas.openxmlformats.org/drawingml/2006/main" xmlns:r="http://schemas.openxmlformats.org/officeDocument/2006/relationships" xmlns:p="http://schemas.openxmlformats.org/presentationml/2006/main">
  <p:tag name="[SUBGRID]" val="[SubGrid]"/>
</p:tagLst>
</file>

<file path=ppt/tags/tag36.xml><?xml version="1.0" encoding="utf-8"?>
<p:tagLst xmlns:a="http://schemas.openxmlformats.org/drawingml/2006/main" xmlns:r="http://schemas.openxmlformats.org/officeDocument/2006/relationships" xmlns:p="http://schemas.openxmlformats.org/presentationml/2006/main">
  <p:tag name="[SUBGRID]" val="[SubGrid]"/>
</p:tagLst>
</file>

<file path=ppt/tags/tag37.xml><?xml version="1.0" encoding="utf-8"?>
<p:tagLst xmlns:a="http://schemas.openxmlformats.org/drawingml/2006/main" xmlns:r="http://schemas.openxmlformats.org/officeDocument/2006/relationships" xmlns:p="http://schemas.openxmlformats.org/presentationml/2006/main">
  <p:tag name="[SUBGRID]" val="[SubGrid]"/>
</p:tagLst>
</file>

<file path=ppt/tags/tag38.xml><?xml version="1.0" encoding="utf-8"?>
<p:tagLst xmlns:a="http://schemas.openxmlformats.org/drawingml/2006/main" xmlns:r="http://schemas.openxmlformats.org/officeDocument/2006/relationships" xmlns:p="http://schemas.openxmlformats.org/presentationml/2006/main">
  <p:tag name="[SUBGRID]" val="[SubGrid]"/>
</p:tagLst>
</file>

<file path=ppt/tags/tag39.xml><?xml version="1.0" encoding="utf-8"?>
<p:tagLst xmlns:a="http://schemas.openxmlformats.org/drawingml/2006/main" xmlns:r="http://schemas.openxmlformats.org/officeDocument/2006/relationships" xmlns:p="http://schemas.openxmlformats.org/presentationml/2006/main">
  <p:tag name="[SUBGRID]" val="[SubGrid]"/>
</p:tagLst>
</file>

<file path=ppt/tags/tag40.xml><?xml version="1.0" encoding="utf-8"?>
<p:tagLst xmlns:a="http://schemas.openxmlformats.org/drawingml/2006/main" xmlns:r="http://schemas.openxmlformats.org/officeDocument/2006/relationships" xmlns:p="http://schemas.openxmlformats.org/presentationml/2006/main">
  <p:tag name="[SUBGRID]" val="[SubGrid]"/>
</p:tagLst>
</file>

<file path=ppt/tags/tag41.xml><?xml version="1.0" encoding="utf-8"?>
<p:tagLst xmlns:a="http://schemas.openxmlformats.org/drawingml/2006/main" xmlns:r="http://schemas.openxmlformats.org/officeDocument/2006/relationships" xmlns:p="http://schemas.openxmlformats.org/presentationml/2006/main">
  <p:tag name="[SUBGRID]" val="[SubGrid]"/>
</p:tagLst>
</file>

<file path=ppt/tags/tag42.xml><?xml version="1.0" encoding="utf-8"?>
<p:tagLst xmlns:a="http://schemas.openxmlformats.org/drawingml/2006/main" xmlns:r="http://schemas.openxmlformats.org/officeDocument/2006/relationships" xmlns:p="http://schemas.openxmlformats.org/presentationml/2006/main">
  <p:tag name="[SUBGRID]" val="[SubGrid]"/>
</p:tagLst>
</file>

<file path=ppt/tags/tag43.xml><?xml version="1.0" encoding="utf-8"?>
<p:tagLst xmlns:a="http://schemas.openxmlformats.org/drawingml/2006/main" xmlns:r="http://schemas.openxmlformats.org/officeDocument/2006/relationships" xmlns:p="http://schemas.openxmlformats.org/presentationml/2006/main">
  <p:tag name="[SUBGRID]" val="[SubGrid]"/>
</p:tagLst>
</file>

<file path=ppt/tags/tag44.xml><?xml version="1.0" encoding="utf-8"?>
<p:tagLst xmlns:a="http://schemas.openxmlformats.org/drawingml/2006/main" xmlns:r="http://schemas.openxmlformats.org/officeDocument/2006/relationships" xmlns:p="http://schemas.openxmlformats.org/presentationml/2006/main">
  <p:tag name="[SUBGRID]" val="[SubGrid]"/>
</p:tagLst>
</file>

<file path=ppt/tags/tag45.xml><?xml version="1.0" encoding="utf-8"?>
<p:tagLst xmlns:a="http://schemas.openxmlformats.org/drawingml/2006/main" xmlns:r="http://schemas.openxmlformats.org/officeDocument/2006/relationships" xmlns:p="http://schemas.openxmlformats.org/presentationml/2006/main">
  <p:tag name="[SUBGRID]" val="[SubGrid]"/>
</p:tagLst>
</file>

<file path=ppt/tags/tag46.xml><?xml version="1.0" encoding="utf-8"?>
<p:tagLst xmlns:a="http://schemas.openxmlformats.org/drawingml/2006/main" xmlns:r="http://schemas.openxmlformats.org/officeDocument/2006/relationships" xmlns:p="http://schemas.openxmlformats.org/presentationml/2006/main">
  <p:tag name="[SUBGRID]" val="[SubGrid]"/>
</p:tagLst>
</file>

<file path=ppt/tags/tag47.xml><?xml version="1.0" encoding="utf-8"?>
<p:tagLst xmlns:a="http://schemas.openxmlformats.org/drawingml/2006/main" xmlns:r="http://schemas.openxmlformats.org/officeDocument/2006/relationships" xmlns:p="http://schemas.openxmlformats.org/presentationml/2006/main">
  <p:tag name="[SUBGRID]" val="[SubGrid]"/>
</p:tagLst>
</file>

<file path=ppt/tags/tag48.xml><?xml version="1.0" encoding="utf-8"?>
<p:tagLst xmlns:a="http://schemas.openxmlformats.org/drawingml/2006/main" xmlns:r="http://schemas.openxmlformats.org/officeDocument/2006/relationships" xmlns:p="http://schemas.openxmlformats.org/presentationml/2006/main">
  <p:tag name="[SUBGRID]" val="[SubGrid]"/>
</p:tagLst>
</file>

<file path=ppt/tags/tag49.xml><?xml version="1.0" encoding="utf-8"?>
<p:tagLst xmlns:a="http://schemas.openxmlformats.org/drawingml/2006/main" xmlns:r="http://schemas.openxmlformats.org/officeDocument/2006/relationships" xmlns:p="http://schemas.openxmlformats.org/presentationml/2006/main">
  <p:tag name="[SUBGRID]" val="[SubGrid]"/>
</p:tagLst>
</file>

<file path=ppt/tags/tag50.xml><?xml version="1.0" encoding="utf-8"?>
<p:tagLst xmlns:a="http://schemas.openxmlformats.org/drawingml/2006/main" xmlns:r="http://schemas.openxmlformats.org/officeDocument/2006/relationships" xmlns:p="http://schemas.openxmlformats.org/presentationml/2006/main">
  <p:tag name="[SUBGRID]" val="[SubGrid]"/>
</p:tagLst>
</file>

<file path=ppt/tags/tag51.xml><?xml version="1.0" encoding="utf-8"?>
<p:tagLst xmlns:a="http://schemas.openxmlformats.org/drawingml/2006/main" xmlns:r="http://schemas.openxmlformats.org/officeDocument/2006/relationships" xmlns:p="http://schemas.openxmlformats.org/presentationml/2006/main">
  <p:tag name="[SUBGRID]" val="[SubGrid]"/>
</p:tagLst>
</file>

<file path=ppt/tags/tag52.xml><?xml version="1.0" encoding="utf-8"?>
<p:tagLst xmlns:a="http://schemas.openxmlformats.org/drawingml/2006/main" xmlns:r="http://schemas.openxmlformats.org/officeDocument/2006/relationships" xmlns:p="http://schemas.openxmlformats.org/presentationml/2006/main">
  <p:tag name="[SUBGRID]" val="[SubGrid]"/>
</p:tagLst>
</file>

<file path=ppt/tags/tag53.xml><?xml version="1.0" encoding="utf-8"?>
<p:tagLst xmlns:a="http://schemas.openxmlformats.org/drawingml/2006/main" xmlns:r="http://schemas.openxmlformats.org/officeDocument/2006/relationships" xmlns:p="http://schemas.openxmlformats.org/presentationml/2006/main">
  <p:tag name="[SUBGRID]" val="[SubGrid]"/>
</p:tagLst>
</file>

<file path=ppt/tags/tag54.xml><?xml version="1.0" encoding="utf-8"?>
<p:tagLst xmlns:a="http://schemas.openxmlformats.org/drawingml/2006/main" xmlns:r="http://schemas.openxmlformats.org/officeDocument/2006/relationships" xmlns:p="http://schemas.openxmlformats.org/presentationml/2006/main">
  <p:tag name="[SUBGRID]" val="[SubGrid]"/>
</p:tagLst>
</file>

<file path=ppt/tags/tag55.xml><?xml version="1.0" encoding="utf-8"?>
<p:tagLst xmlns:a="http://schemas.openxmlformats.org/drawingml/2006/main" xmlns:r="http://schemas.openxmlformats.org/officeDocument/2006/relationships" xmlns:p="http://schemas.openxmlformats.org/presentationml/2006/main">
  <p:tag name="[SUBGRID]" val="[SubGrid]"/>
</p:tagLst>
</file>

<file path=ppt/tags/tag56.xml><?xml version="1.0" encoding="utf-8"?>
<p:tagLst xmlns:a="http://schemas.openxmlformats.org/drawingml/2006/main" xmlns:r="http://schemas.openxmlformats.org/officeDocument/2006/relationships" xmlns:p="http://schemas.openxmlformats.org/presentationml/2006/main">
  <p:tag name="[SUBGRID]" val="[SubGrid]"/>
</p:tagLst>
</file>

<file path=ppt/tags/tag57.xml><?xml version="1.0" encoding="utf-8"?>
<p:tagLst xmlns:a="http://schemas.openxmlformats.org/drawingml/2006/main" xmlns:r="http://schemas.openxmlformats.org/officeDocument/2006/relationships" xmlns:p="http://schemas.openxmlformats.org/presentationml/2006/main">
  <p:tag name="[SUBGRID]" val="[SubGrid]"/>
</p:tagLst>
</file>

<file path=ppt/tags/tag58.xml><?xml version="1.0" encoding="utf-8"?>
<p:tagLst xmlns:a="http://schemas.openxmlformats.org/drawingml/2006/main" xmlns:r="http://schemas.openxmlformats.org/officeDocument/2006/relationships" xmlns:p="http://schemas.openxmlformats.org/presentationml/2006/main">
  <p:tag name="[SUBGRID]" val="[SubGrid]"/>
</p:tagLst>
</file>

<file path=ppt/tags/tag59.xml><?xml version="1.0" encoding="utf-8"?>
<p:tagLst xmlns:a="http://schemas.openxmlformats.org/drawingml/2006/main" xmlns:r="http://schemas.openxmlformats.org/officeDocument/2006/relationships" xmlns:p="http://schemas.openxmlformats.org/presentationml/2006/main">
  <p:tag name="[SUBGRID]" val="[SubGrid]"/>
</p:tagLst>
</file>

<file path=ppt/tags/tag60.xml><?xml version="1.0" encoding="utf-8"?>
<p:tagLst xmlns:a="http://schemas.openxmlformats.org/drawingml/2006/main" xmlns:r="http://schemas.openxmlformats.org/officeDocument/2006/relationships" xmlns:p="http://schemas.openxmlformats.org/presentationml/2006/main">
  <p:tag name="[SUBGRID]" val="[SubGrid]"/>
</p:tagLst>
</file>

<file path=ppt/tags/tag61.xml><?xml version="1.0" encoding="utf-8"?>
<p:tagLst xmlns:a="http://schemas.openxmlformats.org/drawingml/2006/main" xmlns:r="http://schemas.openxmlformats.org/officeDocument/2006/relationships" xmlns:p="http://schemas.openxmlformats.org/presentationml/2006/main">
  <p:tag name="[SUBGRID]" val="[SubGrid]"/>
</p:tagLst>
</file>

<file path=ppt/tags/tag62.xml><?xml version="1.0" encoding="utf-8"?>
<p:tagLst xmlns:a="http://schemas.openxmlformats.org/drawingml/2006/main" xmlns:r="http://schemas.openxmlformats.org/officeDocument/2006/relationships" xmlns:p="http://schemas.openxmlformats.org/presentationml/2006/main">
  <p:tag name="[SUBGRID]" val="[SubGrid]"/>
</p:tagLst>
</file>

<file path=ppt/tags/tag63.xml><?xml version="1.0" encoding="utf-8"?>
<p:tagLst xmlns:a="http://schemas.openxmlformats.org/drawingml/2006/main" xmlns:r="http://schemas.openxmlformats.org/officeDocument/2006/relationships" xmlns:p="http://schemas.openxmlformats.org/presentationml/2006/main">
  <p:tag name="[SUBGRID]" val="[SubGrid]"/>
</p:tagLst>
</file>

<file path=ppt/tags/tag64.xml><?xml version="1.0" encoding="utf-8"?>
<p:tagLst xmlns:a="http://schemas.openxmlformats.org/drawingml/2006/main" xmlns:r="http://schemas.openxmlformats.org/officeDocument/2006/relationships" xmlns:p="http://schemas.openxmlformats.org/presentationml/2006/main">
  <p:tag name="[SUBGRID]" val="[SubGrid]"/>
</p:tagLst>
</file>

<file path=ppt/tags/tag65.xml><?xml version="1.0" encoding="utf-8"?>
<p:tagLst xmlns:a="http://schemas.openxmlformats.org/drawingml/2006/main" xmlns:r="http://schemas.openxmlformats.org/officeDocument/2006/relationships" xmlns:p="http://schemas.openxmlformats.org/presentationml/2006/main">
  <p:tag name="[SUBGRID]" val="[SubGrid]"/>
</p:tagLst>
</file>

<file path=ppt/tags/tag66.xml><?xml version="1.0" encoding="utf-8"?>
<p:tagLst xmlns:a="http://schemas.openxmlformats.org/drawingml/2006/main" xmlns:r="http://schemas.openxmlformats.org/officeDocument/2006/relationships" xmlns:p="http://schemas.openxmlformats.org/presentationml/2006/main">
  <p:tag name="[SUBGRID]" val="[SubGrid]"/>
</p:tagLst>
</file>

<file path=ppt/tags/tag67.xml><?xml version="1.0" encoding="utf-8"?>
<p:tagLst xmlns:a="http://schemas.openxmlformats.org/drawingml/2006/main" xmlns:r="http://schemas.openxmlformats.org/officeDocument/2006/relationships" xmlns:p="http://schemas.openxmlformats.org/presentationml/2006/main">
  <p:tag name="[SUBGRID]" val="[SubGrid]"/>
</p:tagLst>
</file>

<file path=ppt/tags/tag68.xml><?xml version="1.0" encoding="utf-8"?>
<p:tagLst xmlns:a="http://schemas.openxmlformats.org/drawingml/2006/main" xmlns:r="http://schemas.openxmlformats.org/officeDocument/2006/relationships" xmlns:p="http://schemas.openxmlformats.org/presentationml/2006/main">
  <p:tag name="[SUBGRID]" val="[SubGrid]"/>
</p:tagLst>
</file>

<file path=ppt/tags/tag69.xml><?xml version="1.0" encoding="utf-8"?>
<p:tagLst xmlns:a="http://schemas.openxmlformats.org/drawingml/2006/main" xmlns:r="http://schemas.openxmlformats.org/officeDocument/2006/relationships" xmlns:p="http://schemas.openxmlformats.org/presentationml/2006/main">
  <p:tag name="[SUBGRID]" val="[SubGrid]"/>
</p:tagLst>
</file>

<file path=ppt/tags/tag70.xml><?xml version="1.0" encoding="utf-8"?>
<p:tagLst xmlns:a="http://schemas.openxmlformats.org/drawingml/2006/main" xmlns:r="http://schemas.openxmlformats.org/officeDocument/2006/relationships" xmlns:p="http://schemas.openxmlformats.org/presentationml/2006/main">
  <p:tag name="[SUBGRID]" val="[SubGrid]"/>
</p:tagLst>
</file>

<file path=ppt/tags/tag71.xml><?xml version="1.0" encoding="utf-8"?>
<p:tagLst xmlns:a="http://schemas.openxmlformats.org/drawingml/2006/main" xmlns:r="http://schemas.openxmlformats.org/officeDocument/2006/relationships" xmlns:p="http://schemas.openxmlformats.org/presentationml/2006/main">
  <p:tag name="[SUBGRID]" val="[SubGrid]"/>
</p:tagLst>
</file>

<file path=ppt/tags/tag72.xml><?xml version="1.0" encoding="utf-8"?>
<p:tagLst xmlns:a="http://schemas.openxmlformats.org/drawingml/2006/main" xmlns:r="http://schemas.openxmlformats.org/officeDocument/2006/relationships" xmlns:p="http://schemas.openxmlformats.org/presentationml/2006/main">
  <p:tag name="[SUBGRID]" val="[SubGrid]"/>
</p:tagLst>
</file>

<file path=ppt/tags/tag73.xml><?xml version="1.0" encoding="utf-8"?>
<p:tagLst xmlns:a="http://schemas.openxmlformats.org/drawingml/2006/main" xmlns:r="http://schemas.openxmlformats.org/officeDocument/2006/relationships" xmlns:p="http://schemas.openxmlformats.org/presentationml/2006/main">
  <p:tag name="[SUBGRID]" val="[SubGrid]"/>
</p:tagLst>
</file>

<file path=ppt/tags/tag74.xml><?xml version="1.0" encoding="utf-8"?>
<p:tagLst xmlns:a="http://schemas.openxmlformats.org/drawingml/2006/main" xmlns:r="http://schemas.openxmlformats.org/officeDocument/2006/relationships" xmlns:p="http://schemas.openxmlformats.org/presentationml/2006/main">
  <p:tag name="[SUBGRID]" val="[SubGrid]"/>
</p:tagLst>
</file>

<file path=ppt/tags/tag75.xml><?xml version="1.0" encoding="utf-8"?>
<p:tagLst xmlns:a="http://schemas.openxmlformats.org/drawingml/2006/main" xmlns:r="http://schemas.openxmlformats.org/officeDocument/2006/relationships" xmlns:p="http://schemas.openxmlformats.org/presentationml/2006/main">
  <p:tag name="[SUBGRID]" val="[SubGrid]"/>
</p:tagLst>
</file>

<file path=ppt/tags/tag76.xml><?xml version="1.0" encoding="utf-8"?>
<p:tagLst xmlns:a="http://schemas.openxmlformats.org/drawingml/2006/main" xmlns:r="http://schemas.openxmlformats.org/officeDocument/2006/relationships" xmlns:p="http://schemas.openxmlformats.org/presentationml/2006/main">
  <p:tag name="[SUBGRID]" val="[SubGrid]"/>
</p:tagLst>
</file>

<file path=ppt/tags/tag77.xml><?xml version="1.0" encoding="utf-8"?>
<p:tagLst xmlns:a="http://schemas.openxmlformats.org/drawingml/2006/main" xmlns:r="http://schemas.openxmlformats.org/officeDocument/2006/relationships" xmlns:p="http://schemas.openxmlformats.org/presentationml/2006/main">
  <p:tag name="[SUBGRID]" val="[SubGrid]"/>
</p:tagLst>
</file>

<file path=ppt/tags/tag78.xml><?xml version="1.0" encoding="utf-8"?>
<p:tagLst xmlns:a="http://schemas.openxmlformats.org/drawingml/2006/main" xmlns:r="http://schemas.openxmlformats.org/officeDocument/2006/relationships" xmlns:p="http://schemas.openxmlformats.org/presentationml/2006/main">
  <p:tag name="[SUBGRID]" val="[SubGrid]"/>
</p:tagLst>
</file>

<file path=ppt/tags/tag79.xml><?xml version="1.0" encoding="utf-8"?>
<p:tagLst xmlns:a="http://schemas.openxmlformats.org/drawingml/2006/main" xmlns:r="http://schemas.openxmlformats.org/officeDocument/2006/relationships" xmlns:p="http://schemas.openxmlformats.org/presentationml/2006/main">
  <p:tag name="[SUBGRID]" val="[SubGrid]"/>
</p:tagLst>
</file>

<file path=ppt/tags/tag80.xml><?xml version="1.0" encoding="utf-8"?>
<p:tagLst xmlns:a="http://schemas.openxmlformats.org/drawingml/2006/main" xmlns:r="http://schemas.openxmlformats.org/officeDocument/2006/relationships" xmlns:p="http://schemas.openxmlformats.org/presentationml/2006/main">
  <p:tag name="[SUBGRID]" val="[SubGrid]"/>
</p:tagLst>
</file>

<file path=ppt/tags/tag81.xml><?xml version="1.0" encoding="utf-8"?>
<p:tagLst xmlns:a="http://schemas.openxmlformats.org/drawingml/2006/main" xmlns:r="http://schemas.openxmlformats.org/officeDocument/2006/relationships" xmlns:p="http://schemas.openxmlformats.org/presentationml/2006/main">
  <p:tag name="[SUBGRID]" val="[SubGrid]"/>
</p:tagLst>
</file>

<file path=ppt/tags/tag82.xml><?xml version="1.0" encoding="utf-8"?>
<p:tagLst xmlns:a="http://schemas.openxmlformats.org/drawingml/2006/main" xmlns:r="http://schemas.openxmlformats.org/officeDocument/2006/relationships" xmlns:p="http://schemas.openxmlformats.org/presentationml/2006/main">
  <p:tag name="[SUBGRID]" val="[SubGrid]"/>
</p:tagLst>
</file>

<file path=ppt/tags/tag83.xml><?xml version="1.0" encoding="utf-8"?>
<p:tagLst xmlns:a="http://schemas.openxmlformats.org/drawingml/2006/main" xmlns:r="http://schemas.openxmlformats.org/officeDocument/2006/relationships" xmlns:p="http://schemas.openxmlformats.org/presentationml/2006/main">
  <p:tag name="[SUBGRID]" val="[SubGrid]"/>
</p:tagLst>
</file>

<file path=ppt/tags/tag84.xml><?xml version="1.0" encoding="utf-8"?>
<p:tagLst xmlns:a="http://schemas.openxmlformats.org/drawingml/2006/main" xmlns:r="http://schemas.openxmlformats.org/officeDocument/2006/relationships" xmlns:p="http://schemas.openxmlformats.org/presentationml/2006/main">
  <p:tag name="[SUBGRID]" val="[SubGrid]"/>
</p:tagLst>
</file>

<file path=ppt/tags/tag85.xml><?xml version="1.0" encoding="utf-8"?>
<p:tagLst xmlns:a="http://schemas.openxmlformats.org/drawingml/2006/main" xmlns:r="http://schemas.openxmlformats.org/officeDocument/2006/relationships" xmlns:p="http://schemas.openxmlformats.org/presentationml/2006/main">
  <p:tag name="[SUBGRID]" val="[SubGrid]"/>
</p:tagLst>
</file>

<file path=ppt/tags/tag86.xml><?xml version="1.0" encoding="utf-8"?>
<p:tagLst xmlns:a="http://schemas.openxmlformats.org/drawingml/2006/main" xmlns:r="http://schemas.openxmlformats.org/officeDocument/2006/relationships" xmlns:p="http://schemas.openxmlformats.org/presentationml/2006/main">
  <p:tag name="[SUBGRID]" val="[SubGrid]"/>
</p:tagLst>
</file>

<file path=ppt/tags/tag87.xml><?xml version="1.0" encoding="utf-8"?>
<p:tagLst xmlns:a="http://schemas.openxmlformats.org/drawingml/2006/main" xmlns:r="http://schemas.openxmlformats.org/officeDocument/2006/relationships" xmlns:p="http://schemas.openxmlformats.org/presentationml/2006/main">
  <p:tag name="[SUBGRID]" val="[SubGrid]"/>
</p:tagLst>
</file>

<file path=ppt/tags/tag88.xml><?xml version="1.0" encoding="utf-8"?>
<p:tagLst xmlns:a="http://schemas.openxmlformats.org/drawingml/2006/main" xmlns:r="http://schemas.openxmlformats.org/officeDocument/2006/relationships" xmlns:p="http://schemas.openxmlformats.org/presentationml/2006/main">
  <p:tag name="[SUBGRID]" val="[SubGrid]"/>
</p:tagLst>
</file>

<file path=ppt/theme/theme1.xml><?xml version="1.0" encoding="utf-8"?>
<a:theme xmlns:a="http://schemas.openxmlformats.org/drawingml/2006/main" name="Tiferet Eliav">
  <a:themeElements>
    <a:clrScheme name="Tiferet Eliav">
      <a:dk1>
        <a:srgbClr val="2E2A47"/>
      </a:dk1>
      <a:lt1>
        <a:srgbClr val="FFFFFF"/>
      </a:lt1>
      <a:dk2>
        <a:srgbClr val="2B2560"/>
      </a:dk2>
      <a:lt2>
        <a:srgbClr val="F3F0FA"/>
      </a:lt2>
      <a:accent1>
        <a:srgbClr val="4A90D0"/>
      </a:accent1>
      <a:accent2>
        <a:srgbClr val="6E4494"/>
      </a:accent2>
      <a:accent3>
        <a:srgbClr val="5B6BB5"/>
      </a:accent3>
      <a:accent4>
        <a:srgbClr val="1F8F83"/>
      </a:accent4>
      <a:accent5>
        <a:srgbClr val="C24863"/>
      </a:accent5>
      <a:accent6>
        <a:srgbClr val="B8741A"/>
      </a:accent6>
      <a:hlink>
        <a:srgbClr val="4A90D0"/>
      </a:hlink>
      <a:folHlink>
        <a:srgbClr val="6E4494"/>
      </a:folHlink>
    </a:clrScheme>
    <a:fontScheme name="Tiferet Eliav">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Novo Nordisk UDC 16:9">
  <a:themeElements>
    <a:clrScheme name="NovoNordisk 2020">
      <a:dk1>
        <a:srgbClr val="000000"/>
      </a:dk1>
      <a:lt1>
        <a:srgbClr val="FFFFFF"/>
      </a:lt1>
      <a:dk2>
        <a:srgbClr val="001965"/>
      </a:dk2>
      <a:lt2>
        <a:srgbClr val="CCC5BD"/>
      </a:lt2>
      <a:accent1>
        <a:srgbClr val="001965"/>
      </a:accent1>
      <a:accent2>
        <a:srgbClr val="005AD2"/>
      </a:accent2>
      <a:accent3>
        <a:srgbClr val="2A918B"/>
      </a:accent3>
      <a:accent4>
        <a:srgbClr val="EEA7BF"/>
      </a:accent4>
      <a:accent5>
        <a:srgbClr val="3B97DE"/>
      </a:accent5>
      <a:accent6>
        <a:srgbClr val="939AA7"/>
      </a:accent6>
      <a:hlink>
        <a:srgbClr val="005AD2"/>
      </a:hlink>
      <a:folHlink>
        <a:srgbClr val="3B97DE"/>
      </a:folHlink>
    </a:clrScheme>
    <a:fontScheme name="Apis Novo Nordisk">
      <a:majorFont>
        <a:latin typeface="Apis For Office"/>
        <a:ea typeface=""/>
        <a:cs typeface=""/>
      </a:majorFont>
      <a:minorFont>
        <a:latin typeface="Apis For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20000"/>
          </a:lnSpc>
          <a:defRPr sz="2000" dirty="0" err="1" smtClean="0">
            <a:solidFill>
              <a:schemeClr val="tx2"/>
            </a:solidFill>
          </a:defRPr>
        </a:defPPr>
      </a:lstStyle>
    </a:txDef>
  </a:objectDefaults>
  <a:extraClrSchemeLst/>
  <a:custClrLst>
    <a:custClr name="True Blue">
      <a:srgbClr val="001965"/>
    </a:custClr>
    <a:custClr name="Light Blue">
      <a:srgbClr val="3B97DE"/>
    </a:custClr>
    <a:custClr name="Sea Blue">
      <a:srgbClr val="005AD2"/>
    </a:custClr>
    <a:custClr name="Rose Pink">
      <a:srgbClr val="EEA7BF"/>
    </a:custClr>
    <a:custClr name="Ocean Green">
      <a:srgbClr val="2A918B"/>
    </a:custClr>
    <a:custClr name="Concrete Grey">
      <a:srgbClr val="939AA7"/>
    </a:custClr>
    <a:custClr name="Sand Grey">
      <a:srgbClr val="CCC5BD"/>
    </a:custClr>
    <a:custClr name="Color has no name">
      <a:srgbClr val="FFFFFF"/>
    </a:custClr>
    <a:custClr name="Color has no name">
      <a:srgbClr val="FFFFFF"/>
    </a:custClr>
    <a:custClr name="Color has no name">
      <a:srgbClr val="FFFFFF"/>
    </a:custClr>
    <a:custClr name="Color has no name">
      <a:srgbClr val="FFFFFF"/>
    </a:custClr>
    <a:custClr name="Light Blue 40%">
      <a:srgbClr val="B1D5F2"/>
    </a:custClr>
    <a:custClr name="Sea Blue 40%">
      <a:srgbClr val="99BDED"/>
    </a:custClr>
    <a:custClr name="Rose Pink 40%">
      <a:srgbClr val="F8DCE5"/>
    </a:custClr>
    <a:custClr name="Ocean Green 40%">
      <a:srgbClr val="AAD3D1"/>
    </a:custClr>
    <a:custClr name="Concrete Grey 40%">
      <a:srgbClr val="D4D7DC"/>
    </a:custClr>
    <a:custClr name="Sand Grey 40%">
      <a:srgbClr val="EBE8E5"/>
    </a:custClr>
    <a:custClr name="Color has no name">
      <a:srgbClr val="FFFFFF"/>
    </a:custClr>
    <a:custClr name="Color has no name">
      <a:srgbClr val="FFFFFF"/>
    </a:custClr>
    <a:custClr name="Color has no name">
      <a:srgbClr val="FFFFFF"/>
    </a:custClr>
    <a:custClr name="Color has no name">
      <a:srgbClr val="FFFFFF"/>
    </a:custClr>
    <a:custClr name="Light Blue 20%">
      <a:srgbClr val="D8EAF8"/>
    </a:custClr>
    <a:custClr name="Sea Blue 20%">
      <a:srgbClr val="CCDEF6"/>
    </a:custClr>
    <a:custClr name="Rose Pink 20%">
      <a:srgbClr val="FCEDF2"/>
    </a:custClr>
    <a:custClr name="Ocean Green 20%">
      <a:srgbClr val="D4E9E8"/>
    </a:custClr>
    <a:custClr name="Concrete Grey 20%">
      <a:srgbClr val="E9EBED"/>
    </a:custClr>
    <a:custClr name="Sand Grey 20%">
      <a:srgbClr val="F5F3F2"/>
    </a:custClr>
    <a:custClr name="Color has no name">
      <a:srgbClr val="FFFFFF"/>
    </a:custClr>
    <a:custClr name="Color has no name">
      <a:srgbClr val="FFFFFF"/>
    </a:custClr>
    <a:custClr name="Color has no name">
      <a:srgbClr val="FFFFFF"/>
    </a:custClr>
    <a:custClr name="Color has no name">
      <a:srgbClr val="FFFFFF"/>
    </a:custClr>
    <a:custClr name="Golden Sun">
      <a:srgbClr val="EAAB00"/>
    </a:custClr>
    <a:custClr name="Lava Red">
      <a:srgbClr val="E6553F"/>
    </a:custClr>
    <a:custClr name="Forest Green">
      <a:srgbClr val="3F9C35"/>
    </a:custClr>
  </a:custClrLst>
  <a:extLst>
    <a:ext uri="{05A4C25C-085E-4340-85A3-A5531E510DB2}">
      <thm15:themeFamily xmlns:thm15="http://schemas.microsoft.com/office/thememl/2012/main" name="Blank.potx" id="{E74F5A70-44BF-4AEF-9F91-978B11132E07}" vid="{565FA72A-7CC8-47B7-A269-0957194D19A6}"/>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TemplafySlideFormConfiguration><![CDATA[{"formFields":[],"formDataEntries":[]}]]></TemplafySlideFormConfiguration>
</file>

<file path=customXml/item2.xml><?xml version="1.0" encoding="utf-8"?>
<TemplafySlideTemplateConfiguration><![CDATA[{"documentContentValidatorConfiguration":{"enableDocumentContentValidator":false,"documentContentValidatorVersion":0},"elementsMetadata":[],"slideId":"637352323190490566","enableDocumentContentUpdater":true,"version":"1.1"}]]></TemplafySlideTemplateConfiguration>
</file>

<file path=customXml/itemProps1.xml><?xml version="1.0" encoding="utf-8"?>
<ds:datastoreItem xmlns:ds="http://schemas.openxmlformats.org/officeDocument/2006/customXml" ds:itemID="{430C189E-5797-466D-9094-E89DD7BFCB5A}">
  <ds:schemaRefs/>
</ds:datastoreItem>
</file>

<file path=customXml/itemProps2.xml><?xml version="1.0" encoding="utf-8"?>
<ds:datastoreItem xmlns:ds="http://schemas.openxmlformats.org/officeDocument/2006/customXml" ds:itemID="{AF0149D5-864D-4C26-8E6D-35CDB0E687CF}">
  <ds:schemaRefs/>
</ds:datastoreItem>
</file>

<file path=docMetadata/LabelInfo.xml><?xml version="1.0" encoding="utf-8"?>
<clbl:labelList xmlns:clbl="http://schemas.microsoft.com/office/2020/mipLabelMetadata">
  <clbl:label id="{33dbb6de-3369-4fc4-a3fd-6c17fefa0f44}" enabled="1" method="Privileged" siteId="{fdfed7bd-9f6a-44a1-b694-6e39c468c150}" removed="0"/>
</clbl:labelList>
</file>

<file path=docProps/app.xml><?xml version="1.0" encoding="utf-8"?>
<Properties xmlns="http://schemas.openxmlformats.org/officeDocument/2006/extended-properties" xmlns:vt="http://schemas.openxmlformats.org/officeDocument/2006/docPropsVTypes">
  <TotalTime>155</TotalTime>
  <Words>6165</Words>
  <Application>Microsoft Office PowerPoint</Application>
  <PresentationFormat>Widescreen</PresentationFormat>
  <Paragraphs>747</Paragraphs>
  <Slides>43</Slides>
  <Notes>42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43</vt:i4>
      </vt:variant>
    </vt:vector>
  </HeadingPairs>
  <TitlesOfParts>
    <vt:vector size="54" baseType="lpstr">
      <vt:lpstr>Apis For Office</vt:lpstr>
      <vt:lpstr>Apis For Office Light</vt:lpstr>
      <vt:lpstr>Aptos</vt:lpstr>
      <vt:lpstr>Arial</vt:lpstr>
      <vt:lpstr>Calibri</vt:lpstr>
      <vt:lpstr>Open Sans</vt:lpstr>
      <vt:lpstr>Segoe UI</vt:lpstr>
      <vt:lpstr>Times New Roman</vt:lpstr>
      <vt:lpstr>Verdana</vt:lpstr>
      <vt:lpstr>Tiferet Eliav</vt:lpstr>
      <vt:lpstr>2_Novo Nordisk UDC 16:9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Wegovy®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סימולציית טיפול ב-GLP1 במטופל הסובל מסוכרת והשמנה וסיבוכים נילווים</dc:title>
  <dc:subject>PptxGenJS Presentation</dc:subject>
  <dc:creator>Tiferet Eliav</dc:creator>
  <cp:lastModifiedBy>ILML (Inbal Alona Segev Milber)</cp:lastModifiedBy>
  <cp:revision>2</cp:revision>
  <dcterms:created xsi:type="dcterms:W3CDTF">2026-10-10T17:42:45Z</dcterms:created>
  <dcterms:modified xsi:type="dcterms:W3CDTF">2026-10-12T10:05:33Z</dcterms:modified>
</cp:coreProperties>
</file>